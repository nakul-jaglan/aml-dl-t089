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2.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fa5ec9679a84e08" /><Relationship Type="http://schemas.openxmlformats.org/officeDocument/2006/relationships/extended-properties" Target="/docProps/app.xml" Id="Rc77bb05f601246ad" /><Relationship Type="http://schemas.openxmlformats.org/officeDocument/2006/relationships/officeDocument" Target="/ppt/presentation.xml" Id="Ra0f4f8c23bfa416e" /></Relationships>
</file>

<file path=ppt/presentation.xml><?xml version="1.0" encoding="utf-8"?>
<p:presentation xmlns:p="http://schemas.openxmlformats.org/presentationml/2006/main">
  <p:sldMasterIdLst>
    <p:sldMasterId xmlns:r="http://schemas.openxmlformats.org/officeDocument/2006/relationships" id="2147483648" r:id="Rad4dba8cfb7f493e"/>
  </p:sldMasterIdLst>
  <p:notesMasterIdLst>
    <p:notesMasterId xmlns:r="http://schemas.openxmlformats.org/officeDocument/2006/relationships" r:id="R154dceae7c4b4cd3"/>
  </p:notesMasterIdLst>
  <p:sldIdLst>
    <p:sldId xmlns:r="http://schemas.openxmlformats.org/officeDocument/2006/relationships" id="256" r:id="Rd53f32a92b104cad"/>
    <p:sldId xmlns:r="http://schemas.openxmlformats.org/officeDocument/2006/relationships" id="257" r:id="Rd2bacc2834724f69"/>
    <p:sldId xmlns:r="http://schemas.openxmlformats.org/officeDocument/2006/relationships" id="258" r:id="R9867991ac58b4956"/>
    <p:sldId xmlns:r="http://schemas.openxmlformats.org/officeDocument/2006/relationships" id="259" r:id="R69ce7354fad74444"/>
    <p:sldId xmlns:r="http://schemas.openxmlformats.org/officeDocument/2006/relationships" id="260" r:id="Rfbf4a21542834ced"/>
    <p:sldId xmlns:r="http://schemas.openxmlformats.org/officeDocument/2006/relationships" id="261" r:id="Rf2262572b12d42b7"/>
    <p:sldId xmlns:r="http://schemas.openxmlformats.org/officeDocument/2006/relationships" id="262" r:id="R4a6016920fee468a"/>
    <p:sldId xmlns:r="http://schemas.openxmlformats.org/officeDocument/2006/relationships" id="263" r:id="Rf69cd7752354473b"/>
    <p:sldId xmlns:r="http://schemas.openxmlformats.org/officeDocument/2006/relationships" id="264" r:id="R02b771b3aed6431e"/>
    <p:sldId xmlns:r="http://schemas.openxmlformats.org/officeDocument/2006/relationships" id="265" r:id="Rf3217f0674ac459b"/>
    <p:sldId xmlns:r="http://schemas.openxmlformats.org/officeDocument/2006/relationships" id="266" r:id="R21fb1fa1299b4e52"/>
    <p:sldId xmlns:r="http://schemas.openxmlformats.org/officeDocument/2006/relationships" id="267" r:id="R7fdba9584d6a4b58"/>
    <p:sldId xmlns:r="http://schemas.openxmlformats.org/officeDocument/2006/relationships" id="268" r:id="R5b9526e70404463f"/>
    <p:sldId xmlns:r="http://schemas.openxmlformats.org/officeDocument/2006/relationships" id="269" r:id="Raa5ecb69bc30422e"/>
    <p:sldId xmlns:r="http://schemas.openxmlformats.org/officeDocument/2006/relationships" id="270" r:id="Rae68bb87a3ca4289"/>
    <p:sldId xmlns:r="http://schemas.openxmlformats.org/officeDocument/2006/relationships" id="271" r:id="R120279b2a0334eb9"/>
    <p:sldId xmlns:r="http://schemas.openxmlformats.org/officeDocument/2006/relationships" id="272" r:id="Ree4241d18a5f4ce6"/>
    <p:sldId xmlns:r="http://schemas.openxmlformats.org/officeDocument/2006/relationships" id="273" r:id="R27c86e93b2534a2a"/>
    <p:sldId xmlns:r="http://schemas.openxmlformats.org/officeDocument/2006/relationships" id="274" r:id="R41885029c79c4fc3"/>
    <p:sldId xmlns:r="http://schemas.openxmlformats.org/officeDocument/2006/relationships" id="275" r:id="R807367284dbb4fde"/>
    <p:sldId xmlns:r="http://schemas.openxmlformats.org/officeDocument/2006/relationships" id="276" r:id="R13a78938e414488a"/>
    <p:sldId xmlns:r="http://schemas.openxmlformats.org/officeDocument/2006/relationships" id="277" r:id="R2f273fd1719d40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6c3c01268a54baf" /><Relationship Type="http://schemas.openxmlformats.org/officeDocument/2006/relationships/slideMaster" Target="/ppt/slideMasters/slideMaster1.xml" Id="Rad4dba8cfb7f493e" /><Relationship Type="http://schemas.openxmlformats.org/officeDocument/2006/relationships/notesMaster" Target="/ppt/notesMasters/notesMaster1.xml" Id="R154dceae7c4b4cd3" /><Relationship Type="http://schemas.openxmlformats.org/officeDocument/2006/relationships/presProps" Target="/ppt/presProps.xml" Id="R99ba6f9ded984014" /><Relationship Type="http://schemas.openxmlformats.org/officeDocument/2006/relationships/tableStyles" Target="/ppt/tableStyles.xml" Id="Rdb66a3ed7154448b" /><Relationship Type="http://schemas.openxmlformats.org/officeDocument/2006/relationships/slide" Target="/ppt/slides/slide1.xml" Id="Rd53f32a92b104cad" /><Relationship Type="http://schemas.openxmlformats.org/officeDocument/2006/relationships/slide" Target="/ppt/slides/slide2.xml" Id="Rd2bacc2834724f69" /><Relationship Type="http://schemas.openxmlformats.org/officeDocument/2006/relationships/slide" Target="/ppt/slides/slide3.xml" Id="R9867991ac58b4956" /><Relationship Type="http://schemas.openxmlformats.org/officeDocument/2006/relationships/slide" Target="/ppt/slides/slide4.xml" Id="R69ce7354fad74444" /><Relationship Type="http://schemas.openxmlformats.org/officeDocument/2006/relationships/slide" Target="/ppt/slides/slide5.xml" Id="Rfbf4a21542834ced" /><Relationship Type="http://schemas.openxmlformats.org/officeDocument/2006/relationships/slide" Target="/ppt/slides/slide6.xml" Id="Rf2262572b12d42b7" /><Relationship Type="http://schemas.openxmlformats.org/officeDocument/2006/relationships/slide" Target="/ppt/slides/slide7.xml" Id="R4a6016920fee468a" /><Relationship Type="http://schemas.openxmlformats.org/officeDocument/2006/relationships/slide" Target="/ppt/slides/slide8.xml" Id="Rf69cd7752354473b" /><Relationship Type="http://schemas.openxmlformats.org/officeDocument/2006/relationships/slide" Target="/ppt/slides/slide9.xml" Id="R02b771b3aed6431e" /><Relationship Type="http://schemas.openxmlformats.org/officeDocument/2006/relationships/slide" Target="/ppt/slides/slide10.xml" Id="Rf3217f0674ac459b" /><Relationship Type="http://schemas.openxmlformats.org/officeDocument/2006/relationships/slide" Target="/ppt/slides/slide11.xml" Id="R21fb1fa1299b4e52" /><Relationship Type="http://schemas.openxmlformats.org/officeDocument/2006/relationships/slide" Target="/ppt/slides/slide12.xml" Id="R7fdba9584d6a4b58" /><Relationship Type="http://schemas.openxmlformats.org/officeDocument/2006/relationships/slide" Target="/ppt/slides/slide13.xml" Id="R5b9526e70404463f" /><Relationship Type="http://schemas.openxmlformats.org/officeDocument/2006/relationships/slide" Target="/ppt/slides/slide14.xml" Id="Raa5ecb69bc30422e" /><Relationship Type="http://schemas.openxmlformats.org/officeDocument/2006/relationships/slide" Target="/ppt/slides/slide15.xml" Id="Rae68bb87a3ca4289" /><Relationship Type="http://schemas.openxmlformats.org/officeDocument/2006/relationships/slide" Target="/ppt/slides/slide16.xml" Id="R120279b2a0334eb9" /><Relationship Type="http://schemas.openxmlformats.org/officeDocument/2006/relationships/slide" Target="/ppt/slides/slide17.xml" Id="Ree4241d18a5f4ce6" /><Relationship Type="http://schemas.openxmlformats.org/officeDocument/2006/relationships/slide" Target="/ppt/slides/slide18.xml" Id="R27c86e93b2534a2a" /><Relationship Type="http://schemas.openxmlformats.org/officeDocument/2006/relationships/slide" Target="/ppt/slides/slide19.xml" Id="R41885029c79c4fc3" /><Relationship Type="http://schemas.openxmlformats.org/officeDocument/2006/relationships/slide" Target="/ppt/slides/slide20.xml" Id="R807367284dbb4fde" /><Relationship Type="http://schemas.openxmlformats.org/officeDocument/2006/relationships/slide" Target="/ppt/slides/slide21.xml" Id="R13a78938e414488a" /><Relationship Type="http://schemas.openxmlformats.org/officeDocument/2006/relationships/slide" Target="/ppt/slides/slide22.xml" Id="R2f273fd1719d40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a2c1c12f90f42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30e132e8ee4975" /><Relationship Type="http://schemas.openxmlformats.org/officeDocument/2006/relationships/notesMaster" Target="/ppt/notesMasters/notesMaster1.xml" Id="Ra7bf66a8445549c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b5b6cebd80c484d" /><Relationship Type="http://schemas.openxmlformats.org/officeDocument/2006/relationships/notesMaster" Target="/ppt/notesMasters/notesMaster1.xml" Id="R326722b15bf443da" /></Relationships>
</file>

<file path=ppt/notesSlides/_rels/notesSlide3.xml.rels>&#65279;<?xml version="1.0" encoding="utf-8"?><Relationships xmlns="http://schemas.openxmlformats.org/package/2006/relationships"><Relationship Type="http://schemas.openxmlformats.org/officeDocument/2006/relationships/slide" Target="/ppt/slides/slide3.xml" Id="Reb243d79d7af43e1" /><Relationship Type="http://schemas.openxmlformats.org/officeDocument/2006/relationships/notesMaster" Target="/ppt/notesMasters/notesMaster1.xml" Id="R974787ba57bd44e1"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6058ed913c4100" /><Relationship Type="http://schemas.openxmlformats.org/officeDocument/2006/relationships/notesMaster" Target="/ppt/notesMasters/notesMaster1.xml" Id="R878a3780fac245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979f8629da42ab" /><Relationship Type="http://schemas.openxmlformats.org/officeDocument/2006/relationships/notesMaster" Target="/ppt/notesMasters/notesMaster1.xml" Id="R24477f1799f04bb9"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27c51d10464a4e" /><Relationship Type="http://schemas.openxmlformats.org/officeDocument/2006/relationships/notesMaster" Target="/ppt/notesMasters/notesMaster1.xml" Id="Ra6cbffd124ab43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3df756e2a534c16" /><Relationship Type="http://schemas.openxmlformats.org/officeDocument/2006/relationships/notesMaster" Target="/ppt/notesMasters/notesMaster1.xml" Id="R74b2cd5b36a746ec" /></Relationships>
</file>

<file path=ppt/notesSlides/_rels/notesSlide8.xml.rels>&#65279;<?xml version="1.0" encoding="utf-8"?><Relationships xmlns="http://schemas.openxmlformats.org/package/2006/relationships"><Relationship Type="http://schemas.openxmlformats.org/officeDocument/2006/relationships/slide" Target="/ppt/slides/slide8.xml" Id="R25013cf7baa84a4e" /><Relationship Type="http://schemas.openxmlformats.org/officeDocument/2006/relationships/notesMaster" Target="/ppt/notesMasters/notesMaster1.xml" Id="R60aaf65388dc43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af49f1222dbe4abb" /><Relationship Type="http://schemas.openxmlformats.org/officeDocument/2006/relationships/notesMaster" Target="/ppt/notesMasters/notesMaster1.xml" Id="R5250b9111cb1465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9aa124bb15e4e14" /><Relationship Type="http://schemas.openxmlformats.org/officeDocument/2006/relationships/notesMaster" Target="/ppt/notesMasters/notesMaster1.xml" Id="Rf370769bc4a74c5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84b5c429620401e" /><Relationship Type="http://schemas.openxmlformats.org/officeDocument/2006/relationships/notesMaster" Target="/ppt/notesMasters/notesMaster1.xml" Id="R4180235c760b439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bea3945cbf340a0" /><Relationship Type="http://schemas.openxmlformats.org/officeDocument/2006/relationships/notesMaster" Target="/ppt/notesMasters/notesMaster1.xml" Id="Rf5590da8f8934a5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8928d4bc1a745b2" /><Relationship Type="http://schemas.openxmlformats.org/officeDocument/2006/relationships/notesMaster" Target="/ppt/notesMasters/notesMaster1.xml" Id="Rcedf30455b4844b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10abe3cad994474" /><Relationship Type="http://schemas.openxmlformats.org/officeDocument/2006/relationships/notesMaster" Target="/ppt/notesMasters/notesMaster1.xml" Id="R752e4a3c9c54486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7d35190dd914eea" /><Relationship Type="http://schemas.openxmlformats.org/officeDocument/2006/relationships/notesMaster" Target="/ppt/notesMasters/notesMaster1.xml" Id="Rd73c321c5b9f4b8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73a65a787064219" /><Relationship Type="http://schemas.openxmlformats.org/officeDocument/2006/relationships/notesMaster" Target="/ppt/notesMasters/notesMaster1.xml" Id="R14e3583dda8d4d4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59574a73e9c4d64" /><Relationship Type="http://schemas.openxmlformats.org/officeDocument/2006/relationships/notesMaster" Target="/ppt/notesMasters/notesMaster1.xml" Id="R9f1050380be341c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792ce4b1f3d4559" /><Relationship Type="http://schemas.openxmlformats.org/officeDocument/2006/relationships/notesMaster" Target="/ppt/notesMasters/notesMaster1.xml" Id="R667a0fde5bb84f3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55ffcb3192c4aa1" /><Relationship Type="http://schemas.openxmlformats.org/officeDocument/2006/relationships/notesMaster" Target="/ppt/notesMasters/notesMaster1.xml" Id="R890c77a4b4f747e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fbede862a374cfa" /><Relationship Type="http://schemas.openxmlformats.org/officeDocument/2006/relationships/notesMaster" Target="/ppt/notesMasters/notesMaster1.xml" Id="Rf8f9c1c154504cc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ff97ec247a14f1c" /><Relationship Type="http://schemas.openxmlformats.org/officeDocument/2006/relationships/notesMaster" Target="/ppt/notesMasters/notesMaster1.xml" Id="R54ef85b0ba9b403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636806275d24c8f" /><Relationship Type="http://schemas.openxmlformats.org/officeDocument/2006/relationships/notesMaster" Target="/ppt/notesMasters/notesMaster1.xml" Id="R88d39f461f334f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Nakul</a:t>
            </a:r>
          </a:p>
          <a:p xmlns:a="http://schemas.openxmlformats.org/drawingml/2006/main">
            <a:r>
              <a:t/>
            </a:r>
          </a:p>
          <a:p xmlns:a="http://schemas.openxmlformats.org/drawingml/2006/main">
            <a:r>
              <a:t>Is project mein clothing ki image se uski category predict karni hai, jaise shirt, trouser ya sneaker. Input 28 by 28 grayscale image hai aur total 10 categories hain. Abhi Phase 1 mein classical ML models ka comparison hai. CNN Phase 2 mein aayega.</a:t>
            </a:r>
          </a:p>
          <a:p xmlns:a="http://schemas.openxmlformats.org/drawingml/2006/main">
            <a:r>
              <a:t/>
            </a:r>
          </a:p>
          <a:p xmlns:a="http://schemas.openxmlformats.org/drawingml/2006/main">
            <a:r>
              <a:t>Sources:</a:t>
            </a:r>
          </a:p>
          <a:p xmlns:a="http://schemas.openxmlformats.org/drawingml/2006/main">
            <a:r>
              <a:t>docs/course_instructions.md</a:t>
            </a:r>
          </a:p>
          <a:p xmlns:a="http://schemas.openxmlformats.org/drawingml/2006/main">
            <a:r>
              <a:t>data/provenance.json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Nakul</a:t>
            </a:r>
          </a:p>
          <a:p xmlns:a="http://schemas.openxmlformats.org/drawingml/2006/main">
            <a:r>
              <a:t/>
            </a:r>
          </a:p>
          <a:p xmlns:a="http://schemas.openxmlformats.org/drawingml/2006/main">
            <a:r>
              <a:t>Main question yeh hai ki raw pixels ke comparison mein HOG ke edge features kitne useful hain. Aur kya har classifier ko same benefit milta hai? Fashion-MNIST dataset ka base hai, aur HOG ka idea Dalal aur Triggs ke paper se aata hai.</a:t>
            </a:r>
          </a:p>
          <a:p xmlns:a="http://schemas.openxmlformats.org/drawingml/2006/main">
            <a:r>
              <a:t/>
            </a:r>
          </a:p>
          <a:p xmlns:a="http://schemas.openxmlformats.org/drawingml/2006/main">
            <a:r>
              <a:t>Sources:</a:t>
            </a:r>
          </a:p>
          <a:p xmlns:a="http://schemas.openxmlformats.org/drawingml/2006/main">
            <a:r>
              <a:t>https://arxiv.org/abs/1708.07747</a:t>
            </a:r>
          </a:p>
          <a:p xmlns:a="http://schemas.openxmlformats.org/drawingml/2006/main">
            <a:r>
              <a:t>https://doi.org/10.1109/CVPR.2005.177</a:t>
            </a:r>
          </a:p>
          <a:p xmlns:a="http://schemas.openxmlformats.org/drawingml/2006/main">
            <a:r>
              <a:t>https://doi.org/10.1023/A:1010933404324</a:t>
            </a:r>
          </a:p>
          <a:p xmlns:a="http://schemas.openxmlformats.org/drawingml/2006/main">
            <a:r>
              <a:t>https://doi.org/10.1007/BF00994018</a:t>
            </a:r>
          </a:p>
          <a:p xmlns:a="http://schemas.openxmlformats.org/drawingml/2006/main">
            <a:r>
              <a:t>docs/literature_review.md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Nakul</a:t>
            </a:r>
          </a:p>
          <a:p xmlns:a="http://schemas.openxmlformats.org/drawingml/2006/main">
            <a:r>
              <a:t/>
            </a:r>
          </a:p>
          <a:p xmlns:a="http://schemas.openxmlformats.org/drawingml/2006/main">
            <a:r>
              <a:t>Team mein responsibilities aise divided hain: main integration aur reporting explain karunga, Sudeshhna data aur splits, Puneet features aur LR-kNN, Samarth RF-SVM aur selection, aur Neelanshu results aur errors. Ab dataset ke liye Sudeshhna continue karegi.</a:t>
            </a:r>
          </a:p>
          <a:p xmlns:a="http://schemas.openxmlformats.org/drawingml/2006/main">
            <a:r>
              <a:t/>
            </a:r>
          </a:p>
          <a:p xmlns:a="http://schemas.openxmlformats.org/drawingml/2006/main">
            <a:r>
              <a:t>Sources:</a:t>
            </a:r>
          </a:p>
          <a:p xmlns:a="http://schemas.openxmlformats.org/drawingml/2006/main">
            <a:r>
              <a:t>docs/contributions.md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Sudeshhna</a:t>
            </a:r>
          </a:p>
          <a:p xmlns:a="http://schemas.openxmlformats.org/drawingml/2006/main">
            <a:r>
              <a:t/>
            </a:r>
          </a:p>
          <a:p xmlns:a="http://schemas.openxmlformats.org/drawingml/2006/main">
            <a:r>
              <a:t>Fashion-MNIST mein 60,000 training aur 10,000 test images hain. Har image 28 by 28 grayscale hai. Yahan 10 categories ke training examples dikh rahe hain. Classes balanced hain, lekin real-world photos mein background aur lighting alag ho sakti hai.</a:t>
            </a:r>
          </a:p>
          <a:p xmlns:a="http://schemas.openxmlformats.org/drawingml/2006/main">
            <a:r>
              <a:t/>
            </a:r>
          </a:p>
          <a:p xmlns:a="http://schemas.openxmlformats.org/drawingml/2006/main">
            <a:r>
              <a:t>Sources:</a:t>
            </a:r>
          </a:p>
          <a:p xmlns:a="http://schemas.openxmlformats.org/drawingml/2006/main">
            <a:r>
              <a:t>https://github.com/zalandoresearch/fashion-mnist</a:t>
            </a:r>
          </a:p>
          <a:p xmlns:a="http://schemas.openxmlformats.org/drawingml/2006/main">
            <a:r>
              <a:t>data/training_audit.json</a:t>
            </a:r>
          </a:p>
          <a:p xmlns:a="http://schemas.openxmlformats.org/drawingml/2006/main">
            <a:r>
              <a:t>figures/eda/gallery_ids.json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Sudeshhna</a:t>
            </a:r>
          </a:p>
          <a:p xmlns:a="http://schemas.openxmlformats.org/drawingml/2006/main">
            <a:r>
              <a:t/>
            </a:r>
          </a:p>
          <a:p xmlns:a="http://schemas.openxmlformats.org/drawingml/2006/main">
            <a:r>
              <a:t>60,000 training images ko 48,000 fit aur 12,000 validation mein divide kiya hai. Official test ke 10,000 images alag rakhe hain. Shape, pixel range aur exact duplicates ke checks pass hue. Scaler sirf fit data se seekhta hai, taaki validation ki information leak na ho.</a:t>
            </a:r>
          </a:p>
          <a:p xmlns:a="http://schemas.openxmlformats.org/drawingml/2006/main">
            <a:r>
              <a:t/>
            </a:r>
          </a:p>
          <a:p xmlns:a="http://schemas.openxmlformats.org/drawingml/2006/main">
            <a:r>
              <a:t>Sources:</a:t>
            </a:r>
          </a:p>
          <a:p xmlns:a="http://schemas.openxmlformats.org/drawingml/2006/main">
            <a:r>
              <a:t>data/training_audit.json</a:t>
            </a:r>
          </a:p>
          <a:p xmlns:a="http://schemas.openxmlformats.org/drawingml/2006/main">
            <a:r>
              <a:t>data/provenance.json</a:t>
            </a:r>
          </a:p>
          <a:p xmlns:a="http://schemas.openxmlformats.org/drawingml/2006/main">
            <a:r>
              <a:t>data/split_indices.npz</a:t>
            </a:r>
          </a:p>
          <a:p xmlns:a="http://schemas.openxmlformats.org/drawingml/2006/main">
            <a:r>
              <a:t>src/clothing_ml/data.py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Puneet</a:t>
            </a:r>
          </a:p>
          <a:p xmlns:a="http://schemas.openxmlformats.org/drawingml/2006/main">
            <a:r>
              <a:t/>
            </a:r>
          </a:p>
          <a:p xmlns:a="http://schemas.openxmlformats.org/drawingml/2006/main">
            <a:r>
              <a:t>Pehle pixel values ko 255 se divide karke zero se one range mein laate hain. Flatten karne par 784 features milte hain. HOG local edge directions capture karta hai. In settings mein 1,296 features bante hain, matlab HOG vector pixels se bada hai.</a:t>
            </a:r>
          </a:p>
          <a:p xmlns:a="http://schemas.openxmlformats.org/drawingml/2006/main">
            <a:r>
              <a:t/>
            </a:r>
          </a:p>
          <a:p xmlns:a="http://schemas.openxmlformats.org/drawingml/2006/main">
            <a:r>
              <a:t>Sources:</a:t>
            </a:r>
          </a:p>
          <a:p xmlns:a="http://schemas.openxmlformats.org/drawingml/2006/main">
            <a:r>
              <a:t>src/clothing_ml/features.py</a:t>
            </a:r>
          </a:p>
          <a:p xmlns:a="http://schemas.openxmlformats.org/drawingml/2006/main">
            <a:r>
              <a:t>figures/eda/hog_example.png</a:t>
            </a:r>
          </a:p>
          <a:p xmlns:a="http://schemas.openxmlformats.org/drawingml/2006/main">
            <a:r>
              <a:t>https://doi.org/10.1109/CVPR.2005.177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Puneet</a:t>
            </a:r>
          </a:p>
          <a:p xmlns:a="http://schemas.openxmlformats.org/drawingml/2006/main">
            <a:r>
              <a:t/>
            </a:r>
          </a:p>
          <a:p xmlns:a="http://schemas.openxmlformats.org/drawingml/2006/main">
            <a:r>
              <a:t>Logistic Regression har category ke liye linear score seekhta hai. kNN nearby training examples ke votes se prediction karta hai. LR mein dono features scale hote hain. kNN mein HOG scale hota hai, pixels sirf normalize hote hain. kNN ka prediction stored examples par depend karta hai.</a:t>
            </a:r>
          </a:p>
          <a:p xmlns:a="http://schemas.openxmlformats.org/drawingml/2006/main">
            <a:r>
              <a:t/>
            </a:r>
          </a:p>
          <a:p xmlns:a="http://schemas.openxmlformats.org/drawingml/2006/main">
            <a:r>
              <a:t>Sources:</a:t>
            </a:r>
          </a:p>
          <a:p xmlns:a="http://schemas.openxmlformats.org/drawingml/2006/main">
            <a:r>
              <a:t>src/clothing_ml/models.py</a:t>
            </a:r>
          </a:p>
          <a:p xmlns:a="http://schemas.openxmlformats.org/drawingml/2006/main">
            <a:r>
              <a:t>docs/protocol.md</a:t>
            </a:r>
          </a:p>
          <a:p xmlns:a="http://schemas.openxmlformats.org/drawingml/2006/main">
            <a:r>
              <a:t>results/full/freeze.json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Samarth</a:t>
            </a:r>
          </a:p>
          <a:p xmlns:a="http://schemas.openxmlformats.org/drawingml/2006/main">
            <a:r>
              <a:t/>
            </a:r>
          </a:p>
          <a:p xmlns:a="http://schemas.openxmlformats.org/drawingml/2006/main">
            <a:r>
              <a:t>Random Forest mein 200 decision trees ke results combine hote hain. RBF SVM nonlinear patterns handle karta hai. SVM mein C error penalty ko control karta hai aur gamma similarity ka spread. SVM ke inputs scale hote hain, Random Forest ke nahi.</a:t>
            </a:r>
          </a:p>
          <a:p xmlns:a="http://schemas.openxmlformats.org/drawingml/2006/main">
            <a:r>
              <a:t/>
            </a:r>
          </a:p>
          <a:p xmlns:a="http://schemas.openxmlformats.org/drawingml/2006/main">
            <a:r>
              <a:t>Sources:</a:t>
            </a:r>
          </a:p>
          <a:p xmlns:a="http://schemas.openxmlformats.org/drawingml/2006/main">
            <a:r>
              <a:t>src/clothing_ml/models.py</a:t>
            </a:r>
          </a:p>
          <a:p xmlns:a="http://schemas.openxmlformats.org/drawingml/2006/main">
            <a:r>
              <a:t>results/full/freeze.json</a:t>
            </a:r>
          </a:p>
          <a:p xmlns:a="http://schemas.openxmlformats.org/drawingml/2006/main">
            <a:r>
              <a:t>https://doi.org/10.1023/A:1010933404324</a:t>
            </a:r>
          </a:p>
          <a:p xmlns:a="http://schemas.openxmlformats.org/drawingml/2006/main">
            <a:r>
              <a:t>https://doi.org/10.1007/BF00994018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Samarth</a:t>
            </a:r>
          </a:p>
          <a:p xmlns:a="http://schemas.openxmlformats.org/drawingml/2006/main">
            <a:r>
              <a:t/>
            </a:r>
          </a:p>
          <a:p xmlns:a="http://schemas.openxmlformats.org/drawingml/2006/main">
            <a:r>
              <a:t>Pehle small smoke run se pipeline check hoti hai. Phir 12,000 fit images par har combination ke do settings compare hote hain. Selected settings se saare eight models 48,000 images par fit hote hain. Validation macro F1 se winner freeze hota hai, uske baad official test evaluate hota hai.</a:t>
            </a:r>
          </a:p>
          <a:p xmlns:a="http://schemas.openxmlformats.org/drawingml/2006/main">
            <a:r>
              <a:t/>
            </a:r>
          </a:p>
          <a:p xmlns:a="http://schemas.openxmlformats.org/drawingml/2006/main">
            <a:r>
              <a:t>Sources:</a:t>
            </a:r>
          </a:p>
          <a:p xmlns:a="http://schemas.openxmlformats.org/drawingml/2006/main">
            <a:r>
              <a:t>docs/protocol.md</a:t>
            </a:r>
          </a:p>
          <a:p xmlns:a="http://schemas.openxmlformats.org/drawingml/2006/main">
            <a:r>
              <a:t>results/budget/validation_candidates.csv</a:t>
            </a:r>
          </a:p>
          <a:p xmlns:a="http://schemas.openxmlformats.org/drawingml/2006/main">
            <a:r>
              <a:t>results/full/freeze.json</a:t>
            </a:r>
          </a:p>
          <a:p xmlns:a="http://schemas.openxmlformats.org/drawingml/2006/main">
            <a:r>
              <a:t>results/full/test_receipt.json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Neelanshu</a:t>
            </a:r>
          </a:p>
          <a:p xmlns:a="http://schemas.openxmlformats.org/drawingml/2006/main">
            <a:r>
              <a:t/>
            </a:r>
          </a:p>
          <a:p xmlns:a="http://schemas.openxmlformats.org/drawingml/2006/main">
            <a:r>
              <a:t>Accuracy batati hai total predictions mein se kitni correct hain. Recall batata hai kisi class ke actual examples mein se kitne identify hue. Macro F1 har class ke F1 ko equal weight deta hai. Saath mein prediction time aur model size bhi compare karte hain.</a:t>
            </a:r>
          </a:p>
          <a:p xmlns:a="http://schemas.openxmlformats.org/drawingml/2006/main">
            <a:r>
              <a:t/>
            </a:r>
          </a:p>
          <a:p xmlns:a="http://schemas.openxmlformats.org/drawingml/2006/main">
            <a:r>
              <a:t>Sources:</a:t>
            </a:r>
          </a:p>
          <a:p xmlns:a="http://schemas.openxmlformats.org/drawingml/2006/main">
            <a:r>
              <a:t>src/clothing_ml/evaluate.py</a:t>
            </a:r>
          </a:p>
          <a:p xmlns:a="http://schemas.openxmlformats.org/drawingml/2006/main">
            <a:r>
              <a:t>tests/test_integrity.py</a:t>
            </a:r>
          </a:p>
          <a:p xmlns:a="http://schemas.openxmlformats.org/drawingml/2006/main">
            <a:r>
              <a:t>results/full/per_class_recall.csv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Neelanshu</a:t>
            </a:r>
          </a:p>
          <a:p xmlns:a="http://schemas.openxmlformats.org/drawingml/2006/main">
            <a:r>
              <a:t/>
            </a:r>
          </a:p>
          <a:p xmlns:a="http://schemas.openxmlformats.org/drawingml/2006/main">
            <a:r>
              <a:t>Chart mein HOG se LR, kNN aur SVM ka macro F1 improve hua, lekin Random Forest ka thoda kam hua. Validation-selected HOG plus RBF SVM ki test accuracy 90.91 percent aur macro F1 0.9090 hai. Yeh result isi split aur search setup ke liye hai.</a:t>
            </a:r>
          </a:p>
          <a:p xmlns:a="http://schemas.openxmlformats.org/drawingml/2006/main">
            <a:r>
              <a:t/>
            </a:r>
          </a:p>
          <a:p xmlns:a="http://schemas.openxmlformats.org/drawingml/2006/main">
            <a:r>
              <a:t>Sources:</a:t>
            </a:r>
          </a:p>
          <a:p xmlns:a="http://schemas.openxmlformats.org/drawingml/2006/main">
            <a:r>
              <a:t>results/full/test_summary.csv</a:t>
            </a:r>
          </a:p>
          <a:p xmlns:a="http://schemas.openxmlformats.org/drawingml/2006/main">
            <a:r>
              <a:t>results/full/freeze.json</a:t>
            </a:r>
          </a:p>
          <a:p xmlns:a="http://schemas.openxmlformats.org/drawingml/2006/main">
            <a:r>
              <a:t>presentation/evidence.json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Neelanshu</a:t>
            </a:r>
          </a:p>
          <a:p xmlns:a="http://schemas.openxmlformats.org/drawingml/2006/main">
            <a:r>
              <a:t/>
            </a:r>
          </a:p>
          <a:p xmlns:a="http://schemas.openxmlformats.org/drawingml/2006/main">
            <a:r>
              <a:t>Overall accuracy achhi hai, lekin Shirt sabse weak category hai. Uska recall 73.3 percent hai, matlab 1,000 actual Shirts mein se 733 correct identify hue. Bag ka recall 98.3 percent hai. Isliye category-wise result dekhna bhi zaroori hai.</a:t>
            </a:r>
          </a:p>
          <a:p xmlns:a="http://schemas.openxmlformats.org/drawingml/2006/main">
            <a:r>
              <a:t/>
            </a:r>
          </a:p>
          <a:p xmlns:a="http://schemas.openxmlformats.org/drawingml/2006/main">
            <a:r>
              <a:t>Sources:</a:t>
            </a:r>
          </a:p>
          <a:p xmlns:a="http://schemas.openxmlformats.org/drawingml/2006/main">
            <a:r>
              <a:t>results/full/full_hog_svm_3fd9d87a_test_metrics.json</a:t>
            </a:r>
          </a:p>
          <a:p xmlns:a="http://schemas.openxmlformats.org/drawingml/2006/main">
            <a:r>
              <a:t>results/full/per_class_recall.csv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Neelanshu</a:t>
            </a:r>
          </a:p>
          <a:p xmlns:a="http://schemas.openxmlformats.org/drawingml/2006/main">
            <a:r>
              <a:t/>
            </a:r>
          </a:p>
          <a:p xmlns:a="http://schemas.openxmlformats.org/drawingml/2006/main">
            <a:r>
              <a:t>Table mein rows actual labels hain aur columns predictions. 104 T-shirt images Shirt predict hui, aur 103 Shirts T-shirt predict hui. Shirt ka Pullover aur Coat se bhi confusion hai. Other column remaining six categories ko combine karta hai, isliye har row ka total 1,000 hai.</a:t>
            </a:r>
          </a:p>
          <a:p xmlns:a="http://schemas.openxmlformats.org/drawingml/2006/main">
            <a:r>
              <a:t/>
            </a:r>
          </a:p>
          <a:p xmlns:a="http://schemas.openxmlformats.org/drawingml/2006/main">
            <a:r>
              <a:t>Sources:</a:t>
            </a:r>
          </a:p>
          <a:p xmlns:a="http://schemas.openxmlformats.org/drawingml/2006/main">
            <a:r>
              <a:t>results/full/full_hog_svm_3fd9d87a_test_metrics.json</a:t>
            </a:r>
          </a:p>
          <a:p xmlns:a="http://schemas.openxmlformats.org/drawingml/2006/main">
            <a:r>
              <a:t>presentation/evidence.json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Neelanshu</a:t>
            </a:r>
          </a:p>
          <a:p xmlns:a="http://schemas.openxmlformats.org/drawingml/2006/main">
            <a:r>
              <a:t/>
            </a:r>
          </a:p>
          <a:p xmlns:a="http://schemas.openxmlformats.org/drawingml/2006/main">
            <a:r>
              <a:t>Same test images par dono SVM predictions compare hain. Pehle do examples mein sirf HOG sahi hai, last do mein dono wrong hain. Examples group ke first IDs se choose hue hain. Yeh errors samjhate hain, lekin inse saare errors ka proportion ya exact cause prove nahi hota.</a:t>
            </a:r>
          </a:p>
          <a:p xmlns:a="http://schemas.openxmlformats.org/drawingml/2006/main">
            <a:r>
              <a:t/>
            </a:r>
          </a:p>
          <a:p xmlns:a="http://schemas.openxmlformats.org/drawingml/2006/main">
            <a:r>
              <a:t>Sources:</a:t>
            </a:r>
          </a:p>
          <a:p xmlns:a="http://schemas.openxmlformats.org/drawingml/2006/main">
            <a:r>
              <a:t>results/full/error_example_ids.csv</a:t>
            </a:r>
          </a:p>
          <a:p xmlns:a="http://schemas.openxmlformats.org/drawingml/2006/main">
            <a:r>
              <a:t>report/figures/error_examples.png</a:t>
            </a:r>
          </a:p>
          <a:p xmlns:a="http://schemas.openxmlformats.org/drawingml/2006/main">
            <a:r>
              <a:t>src/clothing_ml/plots.py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Neelanshu</a:t>
            </a:r>
          </a:p>
          <a:p xmlns:a="http://schemas.openxmlformats.org/drawingml/2006/main">
            <a:r>
              <a:t/>
            </a:r>
          </a:p>
          <a:p xmlns:a="http://schemas.openxmlformats.org/drawingml/2006/main">
            <a:r>
              <a:t>HOG plus SVM ki accuracy better hai, lekin is machine par end-to-end cost lagbhag 21.7 milliseconds per image hai. Timing mein feature extraction included hai, loading nahi. Yeh batch 128 aur five repeats ka median hai, single-image response time nahi.</a:t>
            </a:r>
          </a:p>
          <a:p xmlns:a="http://schemas.openxmlformats.org/drawingml/2006/main">
            <a:r>
              <a:t/>
            </a:r>
          </a:p>
          <a:p xmlns:a="http://schemas.openxmlformats.org/drawingml/2006/main">
            <a:r>
              <a:t>Sources:</a:t>
            </a:r>
          </a:p>
          <a:p xmlns:a="http://schemas.openxmlformats.org/drawingml/2006/main">
            <a:r>
              <a:t>results/full/timing.json</a:t>
            </a:r>
          </a:p>
          <a:p xmlns:a="http://schemas.openxmlformats.org/drawingml/2006/main">
            <a:r>
              <a:t>results/full/test_summary.csv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Nakul</a:t>
            </a:r>
          </a:p>
          <a:p xmlns:a="http://schemas.openxmlformats.org/drawingml/2006/main">
            <a:r>
              <a:t/>
            </a:r>
          </a:p>
          <a:p xmlns:a="http://schemas.openxmlformats.org/drawingml/2006/main">
            <a:r>
              <a:t>Repo mein saved splits, prediction files, model settings aur executed notebook available hain. Inse reported numbers trace aur recheck ho sakte hain. Eight integrity tests bhi pass hue hain. Fresh run ke results alag folder mein save hote hain, taaki original experiment evidence preserve rahe.</a:t>
            </a:r>
          </a:p>
          <a:p xmlns:a="http://schemas.openxmlformats.org/drawingml/2006/main">
            <a:r>
              <a:t/>
            </a:r>
          </a:p>
          <a:p xmlns:a="http://schemas.openxmlformats.org/drawingml/2006/main">
            <a:r>
              <a:t>Sources:</a:t>
            </a:r>
          </a:p>
          <a:p xmlns:a="http://schemas.openxmlformats.org/drawingml/2006/main">
            <a:r>
              <a:t>results/full/evidence_audit.json</a:t>
            </a:r>
          </a:p>
          <a:p xmlns:a="http://schemas.openxmlformats.org/drawingml/2006/main">
            <a:r>
              <a:t>tests/test_integrity.py</a:t>
            </a:r>
          </a:p>
          <a:p xmlns:a="http://schemas.openxmlformats.org/drawingml/2006/main">
            <a:r>
              <a:t>.github/workflows/checks.yml</a:t>
            </a:r>
          </a:p>
          <a:p xmlns:a="http://schemas.openxmlformats.org/drawingml/2006/main">
            <a:r>
              <a:t>notebooks/00_phase1_master.ipynb</a:t>
            </a:r>
          </a:p>
          <a:p xmlns:a="http://schemas.openxmlformats.org/drawingml/2006/main">
            <a:r>
              <a:t>docs/protocol.md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Nakul</a:t>
            </a:r>
          </a:p>
          <a:p xmlns:a="http://schemas.openxmlformats.org/drawingml/2006/main">
            <a:r>
              <a:t/>
            </a:r>
          </a:p>
          <a:p xmlns:a="http://schemas.openxmlformats.org/drawingml/2006/main">
            <a:r>
              <a:t>Phase 1 mein HOG plus RBF SVM strongest selected model raha. Lekin Shirt confusion aur inference cost abhi limitations hain. Phase 2 mein same splits par small CNN compare karna hai. CNN better hoga ya nahi, woh experiment ke baad hi pata chalega.</a:t>
            </a:r>
          </a:p>
          <a:p xmlns:a="http://schemas.openxmlformats.org/drawingml/2006/main">
            <a:r>
              <a:t/>
            </a:r>
          </a:p>
          <a:p xmlns:a="http://schemas.openxmlformats.org/drawingml/2006/main">
            <a:r>
              <a:t>Sources:</a:t>
            </a:r>
          </a:p>
          <a:p xmlns:a="http://schemas.openxmlformats.org/drawingml/2006/main">
            <a:r>
              <a:t>results/full/test_summary.csv</a:t>
            </a:r>
          </a:p>
          <a:p xmlns:a="http://schemas.openxmlformats.org/drawingml/2006/main">
            <a:r>
              <a:t>results/full/full_hog_svm_3fd9d87a_test_metrics.json</a:t>
            </a:r>
          </a:p>
          <a:p xmlns:a="http://schemas.openxmlformats.org/drawingml/2006/main">
            <a:r>
              <a:t>docs/course_instructions.md</a:t>
            </a:r>
          </a:p>
          <a:p xmlns:a="http://schemas.openxmlformats.org/drawingml/2006/main">
            <a:r>
              <a:t>report/main.tex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Nakul</a:t>
            </a:r>
          </a:p>
          <a:p xmlns:a="http://schemas.openxmlformats.org/drawingml/2006/main">
            <a:r>
              <a:t/>
            </a:r>
          </a:p>
          <a:p xmlns:a="http://schemas.openxmlformats.org/drawingml/2006/main">
            <a:r>
              <a:t>Yeh main references hain. Fashion-MNIST dataset ke liye Xiao aur colleagues, HOG ke liye Dalal aur Triggs, aur model background ke liye Random Forest aur SVM papers use hue hain. Full references report mein hain. Thank you, ab questions le sakte hain.</a:t>
            </a:r>
          </a:p>
          <a:p xmlns:a="http://schemas.openxmlformats.org/drawingml/2006/main">
            <a:r>
              <a:t/>
            </a:r>
          </a:p>
          <a:p xmlns:a="http://schemas.openxmlformats.org/drawingml/2006/main">
            <a:r>
              <a:t>Sources:</a:t>
            </a:r>
          </a:p>
          <a:p xmlns:a="http://schemas.openxmlformats.org/drawingml/2006/main">
            <a:r>
              <a:t>docs/literature_review.md</a:t>
            </a:r>
          </a:p>
          <a:p xmlns:a="http://schemas.openxmlformats.org/drawingml/2006/main">
            <a:r>
              <a:t>report/references.bib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Samarth and Neelanshu</a:t>
            </a:r>
          </a:p>
          <a:p xmlns:a="http://schemas.openxmlformats.org/drawingml/2006/main">
            <a:r>
              <a:t/>
            </a:r>
          </a:p>
          <a:p xmlns:a="http://schemas.openxmlformats.org/drawingml/2006/main">
            <a:r>
              <a:t>Yeh backup table saare eight finalists ke validation F1, test accuracy aur test F1 dikhata hai. Har model ka final fit size same hai. HOG plus SVM validation par select hua tha, test result dekhkar nahi. Exact values source CSVs mein available hain.</a:t>
            </a:r>
          </a:p>
          <a:p xmlns:a="http://schemas.openxmlformats.org/drawingml/2006/main">
            <a:r>
              <a:t/>
            </a:r>
          </a:p>
          <a:p xmlns:a="http://schemas.openxmlformats.org/drawingml/2006/main">
            <a:r>
              <a:t>Sources:</a:t>
            </a:r>
          </a:p>
          <a:p xmlns:a="http://schemas.openxmlformats.org/drawingml/2006/main">
            <a:r>
              <a:t>results/full/validation_summary.csv</a:t>
            </a:r>
          </a:p>
          <a:p xmlns:a="http://schemas.openxmlformats.org/drawingml/2006/main">
            <a:r>
              <a:t>results/full/test_summary.csv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Samarth</a:t>
            </a:r>
          </a:p>
          <a:p xmlns:a="http://schemas.openxmlformats.org/drawingml/2006/main">
            <a:r>
              <a:t/>
            </a:r>
          </a:p>
          <a:p xmlns:a="http://schemas.openxmlformats.org/drawingml/2006/main">
            <a:r>
              <a:t>Yahan selected settings aur scaling policy hain. Search chhota tha: LR aur SVM ke liye C, kNN ke liye k, aur Forest ke liye depth compare hui. Isliye in results ko har model ki best possible performance nahi keh sakte.</a:t>
            </a:r>
          </a:p>
          <a:p xmlns:a="http://schemas.openxmlformats.org/drawingml/2006/main">
            <a:r>
              <a:t/>
            </a:r>
          </a:p>
          <a:p xmlns:a="http://schemas.openxmlformats.org/drawingml/2006/main">
            <a:r>
              <a:t>Sources:</a:t>
            </a:r>
          </a:p>
          <a:p xmlns:a="http://schemas.openxmlformats.org/drawingml/2006/main">
            <a:r>
              <a:t>results/full/freeze.json</a:t>
            </a:r>
          </a:p>
          <a:p xmlns:a="http://schemas.openxmlformats.org/drawingml/2006/main">
            <a:r>
              <a:t>results/budget/validation_candidates.csv</a:t>
            </a:r>
          </a:p>
          <a:p xmlns:a="http://schemas.openxmlformats.org/drawingml/2006/main">
            <a:r>
              <a:t>src/clothing_ml/models.py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Nakul</a:t>
            </a:r>
          </a:p>
          <a:p xmlns:a="http://schemas.openxmlformats.org/drawingml/2006/main">
            <a:r>
              <a:t/>
            </a:r>
          </a:p>
          <a:p xmlns:a="http://schemas.openxmlformats.org/drawingml/2006/main">
            <a:r>
              <a:t>Model complexity ka meaning har family mein alag hai. LR mein weights, kNN mein stored features, Forest mein nodes, aur SVM mein decision arrays count hue hain. MiB column saved file size hai, RAM usage nahi. In counts ko CNN parameter count se directly compare nahi karna chahiye.</a:t>
            </a:r>
          </a:p>
          <a:p xmlns:a="http://schemas.openxmlformats.org/drawingml/2006/main">
            <a:r>
              <a:t/>
            </a:r>
          </a:p>
          <a:p xmlns:a="http://schemas.openxmlformats.org/drawingml/2006/main">
            <a:r>
              <a:t>Sources:</a:t>
            </a:r>
          </a:p>
          <a:p xmlns:a="http://schemas.openxmlformats.org/drawingml/2006/main">
            <a:r>
              <a:t>results/full/complexity.json</a:t>
            </a:r>
          </a:p>
          <a:p xmlns:a="http://schemas.openxmlformats.org/drawingml/2006/main">
            <a:r>
              <a:t>results/full/freeze.json</a:t>
            </a:r>
          </a:p>
          <a:p xmlns:a="http://schemas.openxmlformats.org/drawingml/2006/main">
            <a:r>
              <a:t>results/full/test_summary.csv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All five members</a:t>
            </a:r>
          </a:p>
          <a:p xmlns:a="http://schemas.openxmlformats.org/drawingml/2006/main">
            <a:r>
              <a:t/>
            </a:r>
          </a:p>
          <a:p xmlns:a="http://schemas.openxmlformats.org/drawingml/2006/main">
            <a:r>
              <a:t>Demo mein saved notebook kholkar test ID zero dikha sakte hain. Actual label aur selected model ki prediction dono Ankle boot hain. Phir saved predictions se accuracy recalculate kar sakte hain. CNN ka result abhi available nahi hai, toh uske performance ka claim nahi karenge.</a:t>
            </a:r>
          </a:p>
          <a:p xmlns:a="http://schemas.openxmlformats.org/drawingml/2006/main">
            <a:r>
              <a:t/>
            </a:r>
          </a:p>
          <a:p xmlns:a="http://schemas.openxmlformats.org/drawingml/2006/main">
            <a:r>
              <a:t>Sources:</a:t>
            </a:r>
          </a:p>
          <a:p xmlns:a="http://schemas.openxmlformats.org/drawingml/2006/main">
            <a:r>
              <a:t>notebooks/00_phase1_master.ipynb</a:t>
            </a:r>
          </a:p>
          <a:p xmlns:a="http://schemas.openxmlformats.org/drawingml/2006/main">
            <a:r>
              <a:t>notebooks/00_phase1_master.html</a:t>
            </a:r>
          </a:p>
          <a:p xmlns:a="http://schemas.openxmlformats.org/drawingml/2006/main">
            <a:r>
              <a:t>results/full/predictions/full_hog_svm_3fd9d87a_test.csv.gz</a:t>
            </a:r>
          </a:p>
          <a:p xmlns:a="http://schemas.openxmlformats.org/drawingml/2006/main">
            <a:r>
              <a:t>docs/START_HERE_NAKUL.md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237e8fb83ac414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d39647dac934fd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9450cfb543d495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65a8d4a258e4d9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cb343e5d3ec477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c9adef21ccd4ca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9A1BDA9-CC93-4045-BA28-AF3E1C3DED4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4FDCACC-0F23-4345-B7AB-F4A34142D97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8E62E41-BCFB-4C7D-B0F4-82E0D953920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689CD9-0435-4E68-90D1-34548BD3E0B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EAEFE42-B966-4035-B1F1-65D198E4B0D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E510FF3-E960-4DB4-96CA-F80BACEE742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C8D7781-D756-467C-8569-BB583BE7EF8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88D11D0-D4AE-46F7-97CE-5A612EB1B06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652653-690F-49EF-8DE5-260213236D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19F7C2-190C-41F4-99CA-2167AE00A1D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872584186684cb0" /><Relationship Type="http://schemas.openxmlformats.org/officeDocument/2006/relationships/slideLayout" Target="/ppt/slideLayouts/slideLayout1.xml" Id="R1f54d4a3603e46ee" /><Relationship Type="http://schemas.openxmlformats.org/officeDocument/2006/relationships/slideLayout" Target="/ppt/slideLayouts/slideLayout2.xml" Id="Rb658155172134026" /><Relationship Type="http://schemas.openxmlformats.org/officeDocument/2006/relationships/slideLayout" Target="/ppt/slideLayouts/slideLayout3.xml" Id="R66f0e7f486194494" /><Relationship Type="http://schemas.openxmlformats.org/officeDocument/2006/relationships/slideLayout" Target="/ppt/slideLayouts/slideLayout4.xml" Id="Ra29dc4c64fd34fd5" /><Relationship Type="http://schemas.openxmlformats.org/officeDocument/2006/relationships/slideLayout" Target="/ppt/slideLayouts/slideLayout5.xml" Id="Red0bd1828cd545b3" /><Relationship Type="http://schemas.openxmlformats.org/officeDocument/2006/relationships/slideLayout" Target="/ppt/slideLayouts/slideLayout6.xml" Id="R3feb2d0b06394a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f54d4a3603e46ee"/>
    <p:sldLayoutId xmlns:r="http://schemas.openxmlformats.org/officeDocument/2006/relationships" id="2147483650" r:id="Rb658155172134026"/>
    <p:sldLayoutId xmlns:r="http://schemas.openxmlformats.org/officeDocument/2006/relationships" id="2147483651" r:id="R66f0e7f486194494"/>
    <p:sldLayoutId xmlns:r="http://schemas.openxmlformats.org/officeDocument/2006/relationships" id="2147483652" r:id="Ra29dc4c64fd34fd5"/>
    <p:sldLayoutId xmlns:r="http://schemas.openxmlformats.org/officeDocument/2006/relationships" id="2147483653" r:id="Red0bd1828cd545b3"/>
    <p:sldLayoutId xmlns:r="http://schemas.openxmlformats.org/officeDocument/2006/relationships" id="2147483654" r:id="R3feb2d0b06394a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51bca15a3614664" /><Relationship Type="http://schemas.openxmlformats.org/officeDocument/2006/relationships/notesSlide" Target="/ppt/notesSlides/notesSlide1.xml" Id="Rcb2a2eec440246c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25e24ebaa6f495b" /><Relationship Type="http://schemas.openxmlformats.org/officeDocument/2006/relationships/notesSlide" Target="/ppt/notesSlides/notesSlide2.xml" Id="R824352633df44a0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c703c592957454f" /><Relationship Type="http://schemas.openxmlformats.org/officeDocument/2006/relationships/notesSlide" Target="/ppt/notesSlides/notesSlide3.xml" Id="Rb63463ff47b043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d31aeedbd7f4a23" /><Relationship Type="http://schemas.openxmlformats.org/officeDocument/2006/relationships/image" Target="/ppt/media/image.png" Id="R66dcc6d9f72d4f8c" /><Relationship Type="http://schemas.openxmlformats.org/officeDocument/2006/relationships/image" Target="/ppt/media/image2.png" Id="R13e60aa75f844d02" /><Relationship Type="http://schemas.openxmlformats.org/officeDocument/2006/relationships/image" Target="/ppt/media/image3.png" Id="Ra47c38743c71423c" /><Relationship Type="http://schemas.openxmlformats.org/officeDocument/2006/relationships/image" Target="/ppt/media/image4.png" Id="R2277c71abebd45fe" /><Relationship Type="http://schemas.openxmlformats.org/officeDocument/2006/relationships/image" Target="/ppt/media/image5.png" Id="R1276d34c7c65419e" /><Relationship Type="http://schemas.openxmlformats.org/officeDocument/2006/relationships/image" Target="/ppt/media/image6.png" Id="Rbbecdaa790584553" /><Relationship Type="http://schemas.openxmlformats.org/officeDocument/2006/relationships/image" Target="/ppt/media/image7.png" Id="Re37cabed944d41b5" /><Relationship Type="http://schemas.openxmlformats.org/officeDocument/2006/relationships/image" Target="/ppt/media/image8.png" Id="R668aad7162af438e" /><Relationship Type="http://schemas.openxmlformats.org/officeDocument/2006/relationships/image" Target="/ppt/media/image9.png" Id="R5389732680654758" /><Relationship Type="http://schemas.openxmlformats.org/officeDocument/2006/relationships/image" Target="/ppt/media/image10.png" Id="R5c90748356c44faf" /><Relationship Type="http://schemas.openxmlformats.org/officeDocument/2006/relationships/notesSlide" Target="/ppt/notesSlides/notesSlide4.xml" Id="Rd4ef1b90e6fc4f1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667f8e6d8ee43b8" /><Relationship Type="http://schemas.openxmlformats.org/officeDocument/2006/relationships/notesSlide" Target="/ppt/notesSlides/notesSlide5.xml" Id="Rc299396c2c9e451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148043d9e2b4d53" /><Relationship Type="http://schemas.openxmlformats.org/officeDocument/2006/relationships/image" Target="/ppt/media/image11.png" Id="R77e053e78d564a41" /><Relationship Type="http://schemas.openxmlformats.org/officeDocument/2006/relationships/notesSlide" Target="/ppt/notesSlides/notesSlide6.xml" Id="R35d338bc3b764bc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36a9cb0f3cd42fe" /><Relationship Type="http://schemas.openxmlformats.org/officeDocument/2006/relationships/notesSlide" Target="/ppt/notesSlides/notesSlide7.xml" Id="Raaf6ed10073945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736b695255049a2" /><Relationship Type="http://schemas.openxmlformats.org/officeDocument/2006/relationships/notesSlide" Target="/ppt/notesSlides/notesSlide8.xml" Id="R5bfd24992256417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df08827fa134c8c" /><Relationship Type="http://schemas.openxmlformats.org/officeDocument/2006/relationships/notesSlide" Target="/ppt/notesSlides/notesSlide9.xml" Id="Rb8a583e9998e407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bcbeaf3b25f499f" /><Relationship Type="http://schemas.openxmlformats.org/officeDocument/2006/relationships/notesSlide" Target="/ppt/notesSlides/notesSlide10.xml" Id="R0c0625da73444d0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5da4530ff904b24" /><Relationship Type="http://schemas.openxmlformats.org/officeDocument/2006/relationships/chart" Target="/ppt/slides/charts/chart1.xml" Id="R432329bc865143ac" /><Relationship Type="http://schemas.openxmlformats.org/officeDocument/2006/relationships/notesSlide" Target="/ppt/notesSlides/notesSlide11.xml" Id="R2d7e4b0f833b447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faa54c0f5fe4607" /><Relationship Type="http://schemas.openxmlformats.org/officeDocument/2006/relationships/chart" Target="/ppt/slides/charts/chart2.xml" Id="Rad0bbbd1049f4480" /><Relationship Type="http://schemas.openxmlformats.org/officeDocument/2006/relationships/notesSlide" Target="/ppt/notesSlides/notesSlide12.xml" Id="R07553d7457b24c9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59154bb9f0b4302" /><Relationship Type="http://schemas.openxmlformats.org/officeDocument/2006/relationships/notesSlide" Target="/ppt/notesSlides/notesSlide13.xml" Id="R99166c80ab8c4ee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3aa6eb2460e48d5" /><Relationship Type="http://schemas.openxmlformats.org/officeDocument/2006/relationships/image" Target="/ppt/media/image12.png" Id="R0cc7f8aa75c74742" /><Relationship Type="http://schemas.openxmlformats.org/officeDocument/2006/relationships/image" Target="/ppt/media/image13.png" Id="Rc8578d03097249f4" /><Relationship Type="http://schemas.openxmlformats.org/officeDocument/2006/relationships/image" Target="/ppt/media/image14.png" Id="R6ed8637ef3464559" /><Relationship Type="http://schemas.openxmlformats.org/officeDocument/2006/relationships/image" Target="/ppt/media/image15.png" Id="Rbcce0140e97245fe" /><Relationship Type="http://schemas.openxmlformats.org/officeDocument/2006/relationships/notesSlide" Target="/ppt/notesSlides/notesSlide14.xml" Id="R0a2a6d5ea858491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09384740a464722" /><Relationship Type="http://schemas.openxmlformats.org/officeDocument/2006/relationships/notesSlide" Target="/ppt/notesSlides/notesSlide15.xml" Id="Rc4156584172c403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681d1ce84874e7f" /><Relationship Type="http://schemas.openxmlformats.org/officeDocument/2006/relationships/notesSlide" Target="/ppt/notesSlides/notesSlide16.xml" Id="R65e057a99695467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5fa9e2daae64036" /><Relationship Type="http://schemas.openxmlformats.org/officeDocument/2006/relationships/notesSlide" Target="/ppt/notesSlides/notesSlide17.xml" Id="R11e0a1818a7549a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b444c04b1f0480f" /><Relationship Type="http://schemas.openxmlformats.org/officeDocument/2006/relationships/notesSlide" Target="/ppt/notesSlides/notesSlide18.xml" Id="R7a0854c26a52482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228030f915946a3" /><Relationship Type="http://schemas.openxmlformats.org/officeDocument/2006/relationships/notesSlide" Target="/ppt/notesSlides/notesSlide19.xml" Id="Ra794cd646e0d445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10dfb227fcf4f82" /><Relationship Type="http://schemas.openxmlformats.org/officeDocument/2006/relationships/notesSlide" Target="/ppt/notesSlides/notesSlide20.xml" Id="R3045cffc8aff4d4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b157ff86f904633" /><Relationship Type="http://schemas.openxmlformats.org/officeDocument/2006/relationships/notesSlide" Target="/ppt/notesSlides/notesSlide21.xml" Id="Rcfdeab545b9b481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4e5352094e54a5e" /><Relationship Type="http://schemas.openxmlformats.org/officeDocument/2006/relationships/notesSlide" Target="/ppt/notesSlides/notesSlide22.xml" Id="Rc4222a030b4e45b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Pixels</c:v>
          </c:tx>
          <c:spPr>
            <a:solidFill xmlns:a="http://schemas.openxmlformats.org/drawingml/2006/main">
              <a:srgbClr val="285F99"/>
            </a:solidFill>
          </c:spPr>
          <c:invertIfNegative val="0"/>
          <c:cat>
            <c:strRef>
              <c:f>'Chart Data'!$A$2:$A$5</c:f>
              <c:strCache>
                <c:ptCount val="4"/>
                <c:pt idx="0">
                  <c:v>Logistic Regression</c:v>
                </c:pt>
                <c:pt idx="1">
                  <c:v>kNN</c:v>
                </c:pt>
                <c:pt idx="2">
                  <c:v>Random Forest</c:v>
                </c:pt>
                <c:pt idx="3">
                  <c:v>RBF SVM</c:v>
                </c:pt>
              </c:strCache>
            </c:strRef>
          </c:cat>
          <c:val>
            <c:numRef>
              <c:f>'Chart Data'!$B$2:$B$5</c:f>
              <c:numCache>
                <c:formatCode>0.000</c:formatCode>
                <c:ptCount val="4"/>
                <c:pt idx="0">
                  <c:v>0.839411</c:v>
                </c:pt>
                <c:pt idx="1">
                  <c:v>0.850472</c:v>
                </c:pt>
                <c:pt idx="2">
                  <c:v>0.87534</c:v>
                </c:pt>
                <c:pt idx="3">
                  <c:v>0.892435</c:v>
                </c:pt>
              </c:numCache>
            </c:numRef>
          </c:val>
        </c:ser>
        <c:ser>
          <c:idx val="1"/>
          <c:order val="1"/>
          <c:tx>
            <c:v>HOG</c:v>
          </c:tx>
          <c:spPr>
            <a:solidFill xmlns:a="http://schemas.openxmlformats.org/drawingml/2006/main">
              <a:srgbClr val="B86C16"/>
            </a:solidFill>
          </c:spPr>
          <c:invertIfNegative val="0"/>
          <c:cat>
            <c:strRef>
              <c:f>'Chart Data'!$C$2:$C$5</c:f>
              <c:strCache>
                <c:ptCount val="4"/>
                <c:pt idx="0">
                  <c:v>Logistic Regression</c:v>
                </c:pt>
                <c:pt idx="1">
                  <c:v>kNN</c:v>
                </c:pt>
                <c:pt idx="2">
                  <c:v>Random Forest</c:v>
                </c:pt>
                <c:pt idx="3">
                  <c:v>RBF SVM</c:v>
                </c:pt>
              </c:strCache>
            </c:strRef>
          </c:cat>
          <c:val>
            <c:numRef>
              <c:f>'Chart Data'!$D$2:$D$5</c:f>
              <c:numCache>
                <c:formatCode>0.000</c:formatCode>
                <c:ptCount val="4"/>
                <c:pt idx="0">
                  <c:v>0.875711</c:v>
                </c:pt>
                <c:pt idx="1">
                  <c:v>0.873042</c:v>
                </c:pt>
                <c:pt idx="2">
                  <c:v>0.871805</c:v>
                </c:pt>
                <c:pt idx="3">
                  <c:v>0.908953</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75" b="1">
                  <a:solidFill>
                    <a:srgbClr val="142F38"/>
                  </a:solidFil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DFDF"/>
            </a:solidFill>
          </a:ln>
        </c:spPr>
        <c:txPr>
          <a:bodyPr xmlns:a="http://schemas.openxmlformats.org/drawingml/2006/main" anchorCtr="1"/>
          <a:lstStyle xmlns:a="http://schemas.openxmlformats.org/drawingml/2006/main"/>
          <a:p xmlns:a="http://schemas.openxmlformats.org/drawingml/2006/main">
            <a:pPr>
              <a:defRPr sz="1575">
                <a:solidFill>
                  <a:srgbClr val="142F38"/>
                </a:solidFill>
              </a:defRPr>
            </a:pPr>
          </a:p>
        </c:txPr>
        <c:crossAx val="48672768"/>
      </c:catAx>
      <c:valAx>
        <c:axId val="48672768"/>
        <c:scaling>
          <c:orientation val="minMax"/>
          <c:max val="1"/>
          <c:min val="0"/>
        </c:scaling>
        <c:delete val="0"/>
        <c:axPos val="l"/>
        <c:majorGridlines>
          <c:spPr>
            <a:ln xmlns:a="http://schemas.openxmlformats.org/drawingml/2006/main" w="6668">
              <a:solidFill>
                <a:srgbClr val="D9DFDF"/>
              </a:solidFill>
            </a:ln>
          </c:spPr>
        </c:majorGridlines>
        <c:title>
          <c:tx>
            <c:rich>
              <a:bodyPr xmlns:a="http://schemas.openxmlformats.org/drawingml/2006/main"/>
              <a:lstStyle xmlns:a="http://schemas.openxmlformats.org/drawingml/2006/main"/>
              <a:p xmlns:a="http://schemas.openxmlformats.org/drawingml/2006/main">
                <a:r>
                  <a:rPr sz="1650">
                    <a:solidFill>
                      <a:srgbClr val="142F38"/>
                    </a:solidFill>
                  </a:rPr>
                  <a:t>Macro F1</a:t>
                </a:r>
              </a:p>
            </c:rich>
          </c:tx>
          <c:overlay val="0"/>
          <c:txPr>
            <a:bodyPr xmlns:a="http://schemas.openxmlformats.org/drawingml/2006/main" anchorCtr="1"/>
            <a:lstStyle xmlns:a="http://schemas.openxmlformats.org/drawingml/2006/main"/>
            <a:p xmlns:a="http://schemas.openxmlformats.org/drawingml/2006/main">
              <a:pPr>
                <a:defRPr sz="1650">
                  <a:solidFill>
                    <a:srgbClr val="142F38"/>
                  </a:solidFill>
                </a:defRPr>
              </a:pPr>
            </a:p>
          </c:txPr>
        </c:title>
        <c:numFmt formatCode="0.0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2656D"/>
                </a:solidFill>
              </a:defRPr>
            </a:pPr>
          </a:p>
        </c:txPr>
        <c:crossAx val="48650112"/>
        <c:crossBetween val="between"/>
      </c:valAx>
      <c:spPr>
        <a:solidFill xmlns:a="http://schemas.openxmlformats.org/drawingml/2006/main">
          <a:srgbClr val="F7F6F2"/>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725">
              <a:solidFill>
                <a:srgbClr val="142F38"/>
              </a:solidFill>
            </a:defRPr>
          </a:pPr>
        </a:p>
      </c:txPr>
    </c:legend>
    <c:plotVisOnly val="1"/>
  </c:chart>
  <c:spPr>
    <a:solidFill xmlns:a="http://schemas.openxmlformats.org/drawingml/2006/main">
      <a:srgbClr val="F7F6F2"/>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HOG + RBF SVM recall</c:v>
          </c:tx>
          <c:spPr>
            <a:solidFill xmlns:a="http://schemas.openxmlformats.org/drawingml/2006/main">
              <a:srgbClr val="087F82"/>
            </a:solidFill>
          </c:spPr>
          <c:invertIfNegative val="0"/>
          <c:cat>
            <c:strRef>
              <c:f>'Chart Data'!$A$2:$A$11</c:f>
              <c:strCache>
                <c:ptCount val="10"/>
                <c:pt idx="0">
                  <c:v>T-shirt/top</c:v>
                </c:pt>
                <c:pt idx="1">
                  <c:v>Trouser</c:v>
                </c:pt>
                <c:pt idx="2">
                  <c:v>Pullover</c:v>
                </c:pt>
                <c:pt idx="3">
                  <c:v>Dress</c:v>
                </c:pt>
                <c:pt idx="4">
                  <c:v>Coat</c:v>
                </c:pt>
                <c:pt idx="5">
                  <c:v>Sandal</c:v>
                </c:pt>
                <c:pt idx="6">
                  <c:v>Shirt</c:v>
                </c:pt>
                <c:pt idx="7">
                  <c:v>Sneaker</c:v>
                </c:pt>
                <c:pt idx="8">
                  <c:v>Bag</c:v>
                </c:pt>
                <c:pt idx="9">
                  <c:v>Ankle boot</c:v>
                </c:pt>
              </c:strCache>
            </c:strRef>
          </c:cat>
          <c:val>
            <c:numRef>
              <c:f>'Chart Data'!$B$2:$B$11</c:f>
              <c:numCache>
                <c:formatCode>0.0%</c:formatCode>
                <c:ptCount val="10"/>
                <c:pt idx="0">
                  <c:v>0.857</c:v>
                </c:pt>
                <c:pt idx="1">
                  <c:v>0.976</c:v>
                </c:pt>
                <c:pt idx="2">
                  <c:v>0.862</c:v>
                </c:pt>
                <c:pt idx="3">
                  <c:v>0.912</c:v>
                </c:pt>
                <c:pt idx="4">
                  <c:v>0.864</c:v>
                </c:pt>
                <c:pt idx="5">
                  <c:v>0.965</c:v>
                </c:pt>
                <c:pt idx="6">
                  <c:v>0.733</c:v>
                </c:pt>
                <c:pt idx="7">
                  <c:v>0.973</c:v>
                </c:pt>
                <c:pt idx="8">
                  <c:v>0.983</c:v>
                </c:pt>
                <c:pt idx="9">
                  <c:v>0.966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b="1">
                  <a:solidFill>
                    <a:srgbClr val="142F38"/>
                  </a:solidFill>
                </a:defRPr>
              </a:pPr>
            </a:p>
          </c:txPr>
          <c:dLblPos val="outEnd"/>
          <c:showLegendKey val="0"/>
          <c:showVal val="1"/>
          <c:showCatName val="0"/>
          <c:showSerName val="0"/>
          <c:showPercent val="0"/>
          <c:showBubbleSize val="0"/>
          <c:showLeaderLines val="0"/>
        </c:dLbls>
        <c:gapWidth val="50"/>
        <c:axId val="48650112"/>
        <c:axId val="48672768"/>
      </c:barChart>
      <c:catAx>
        <c:axId val="48650112"/>
        <c:scaling>
          <c:orientation val="minMax"/>
        </c:scaling>
        <c:delete val="0"/>
        <c:axPos val="l"/>
        <c:numFmt formatCode="0.0%"/>
        <c:majorTickMark val="none"/>
        <c:minorTickMark val="none"/>
        <c:spPr>
          <a:ln xmlns:a="http://schemas.openxmlformats.org/drawingml/2006/main" w="9525">
            <a:solidFill>
              <a:srgbClr val="D9DFDF"/>
            </a:solidFill>
          </a:ln>
        </c:spPr>
        <c:txPr>
          <a:bodyPr xmlns:a="http://schemas.openxmlformats.org/drawingml/2006/main" anchorCtr="1"/>
          <a:lstStyle xmlns:a="http://schemas.openxmlformats.org/drawingml/2006/main"/>
          <a:p xmlns:a="http://schemas.openxmlformats.org/drawingml/2006/main">
            <a:pPr>
              <a:defRPr sz="1575">
                <a:solidFill>
                  <a:srgbClr val="142F38"/>
                </a:solidFill>
              </a:defRPr>
            </a:pPr>
          </a:p>
        </c:txPr>
        <c:crossAx val="48672768"/>
      </c:catAx>
      <c:valAx>
        <c:axId val="48672768"/>
        <c:scaling>
          <c:orientation val="minMax"/>
          <c:max val="1.08"/>
          <c:min val="0"/>
        </c:scaling>
        <c:delete val="0"/>
        <c:axPos val="b"/>
        <c:majorGridlines>
          <c:spPr>
            <a:ln xmlns:a="http://schemas.openxmlformats.org/drawingml/2006/main" w="6668">
              <a:solidFill>
                <a:srgbClr val="D9DFDF"/>
              </a:solidFill>
            </a:ln>
          </c:spPr>
        </c:majorGridlines>
        <c:numFmt formatCode="0.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2656D"/>
                </a:solidFill>
              </a:defRPr>
            </a:pPr>
          </a:p>
        </c:txPr>
        <c:crossAx val="48650112"/>
        <c:crossBetween val="between"/>
      </c:valAx>
      <c:spPr>
        <a:solidFill xmlns:a="http://schemas.openxmlformats.org/drawingml/2006/main">
          <a:srgbClr val="F7F6F2"/>
        </a:solidFill>
        <a:ln xmlns:a="http://schemas.openxmlformats.org/drawingml/2006/main" w="0">
          <a:noFill/>
        </a:ln>
      </c:spPr>
    </c:plotArea>
    <c:plotVisOnly val="1"/>
  </c:chart>
  <c:spPr>
    <a:solidFill xmlns:a="http://schemas.openxmlformats.org/drawingml/2006/main">
      <a:srgbClr val="F7F6F2"/>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001F4DA5-D01F-4413-8C96-B67F04640A62}"/>
              </a:ext>
            </a:extLst>
          </p:cNvPr>
          <p:cNvSpPr>
            <a:spLocks xmlns:a="http://schemas.openxmlformats.org/drawingml/2006/main" noGrp="1"/>
          </p:cNvSpPr>
          <p:nvPr/>
        </p:nvSpPr>
        <p:spPr>
          <a:xfrm xmlns:a="http://schemas.openxmlformats.org/drawingml/2006/main">
            <a:off x="609600" y="400050"/>
            <a:ext cx="10953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4350" b="1">
                <a:solidFill>
                  <a:srgbClr val="142F38"/>
                </a:solidFill>
                <a:latin typeface="Arial"/>
                <a:ea typeface="Arial"/>
                <a:cs typeface="Arial"/>
              </a:defRPr>
            </a:defPPr>
            <a:lvl1pPr>
              <a:defRPr sz="4350" b="1">
                <a:solidFill>
                  <a:srgbClr val="142F38"/>
                </a:solidFill>
                <a:latin typeface="Arial"/>
                <a:ea typeface="Arial"/>
                <a:cs typeface="Arial"/>
              </a:defRPr>
            </a:lvl1pPr>
            <a:lvl2pPr>
              <a:defRPr sz="4350" b="1">
                <a:solidFill>
                  <a:srgbClr val="142F38"/>
                </a:solidFill>
                <a:latin typeface="Arial"/>
                <a:ea typeface="Arial"/>
                <a:cs typeface="Arial"/>
              </a:defRPr>
            </a:lvl2pPr>
            <a:lvl3pPr>
              <a:defRPr sz="4350" b="1">
                <a:solidFill>
                  <a:srgbClr val="142F38"/>
                </a:solidFill>
                <a:latin typeface="Arial"/>
                <a:ea typeface="Arial"/>
                <a:cs typeface="Arial"/>
              </a:defRPr>
            </a:lvl3pPr>
            <a:lvl4pPr>
              <a:defRPr sz="4350" b="1">
                <a:solidFill>
                  <a:srgbClr val="142F38"/>
                </a:solidFill>
                <a:latin typeface="Arial"/>
                <a:ea typeface="Arial"/>
                <a:cs typeface="Arial"/>
              </a:defRPr>
            </a:lvl4pPr>
            <a:lvl5pPr>
              <a:defRPr sz="4350" b="1">
                <a:solidFill>
                  <a:srgbClr val="142F38"/>
                </a:solidFill>
                <a:latin typeface="Arial"/>
                <a:ea typeface="Arial"/>
                <a:cs typeface="Arial"/>
              </a:defRPr>
            </a:lvl5pPr>
            <a:lvl6pPr>
              <a:defRPr sz="4350" b="1">
                <a:solidFill>
                  <a:srgbClr val="142F38"/>
                </a:solidFill>
                <a:latin typeface="Arial"/>
                <a:ea typeface="Arial"/>
                <a:cs typeface="Arial"/>
              </a:defRPr>
            </a:lvl6pPr>
            <a:lvl7pPr>
              <a:defRPr sz="4350" b="1">
                <a:solidFill>
                  <a:srgbClr val="142F38"/>
                </a:solidFill>
                <a:latin typeface="Arial"/>
                <a:ea typeface="Arial"/>
                <a:cs typeface="Arial"/>
              </a:defRPr>
            </a:lvl7pPr>
            <a:lvl8pPr>
              <a:defRPr sz="4350" b="1">
                <a:solidFill>
                  <a:srgbClr val="142F38"/>
                </a:solidFill>
                <a:latin typeface="Arial"/>
                <a:ea typeface="Arial"/>
                <a:cs typeface="Arial"/>
              </a:defRPr>
            </a:lvl8pPr>
            <a:lvl9pPr>
              <a:defRPr sz="4350" b="1">
                <a:solidFill>
                  <a:srgbClr val="142F38"/>
                </a:solidFill>
                <a:latin typeface="Arial"/>
                <a:ea typeface="Arial"/>
                <a:cs typeface="Arial"/>
              </a:defRPr>
            </a:lvl9pPr>
          </a:lstStyle>
          <a:p xmlns:a="http://schemas.openxmlformats.org/drawingml/2006/main">
            <a:pPr>
              <a:defRPr sz="4350" b="1">
                <a:solidFill>
                  <a:srgbClr val="142F38"/>
                </a:solidFill>
                <a:latin typeface="Arial"/>
                <a:ea typeface="Arial"/>
                <a:cs typeface="Arial"/>
              </a:defRPr>
            </a:pPr>
            <a:r>
              <a:rPr sz="4350" b="1">
                <a:solidFill>
                  <a:srgbClr val="142F38"/>
                </a:solidFill>
                <a:latin typeface="Arial"/>
                <a:ea typeface="Arial"/>
                <a:cs typeface="Arial"/>
              </a:rPr>
              <a:t>Automatic clothing</a:t>
            </a:r>
          </a:p>
          <a:p xmlns:a="http://schemas.openxmlformats.org/drawingml/2006/main">
            <a:pPr>
              <a:defRPr sz="4350" b="1">
                <a:solidFill>
                  <a:srgbClr val="142F38"/>
                </a:solidFill>
                <a:latin typeface="Arial"/>
                <a:ea typeface="Arial"/>
                <a:cs typeface="Arial"/>
              </a:defRPr>
            </a:pPr>
            <a:r>
              <a:rPr sz="4350" b="1">
                <a:solidFill>
                  <a:srgbClr val="142F38"/>
                </a:solidFill>
                <a:latin typeface="Arial"/>
                <a:ea typeface="Arial"/>
                <a:cs typeface="Arial"/>
              </a:rPr>
              <a:t>category recognition</a:t>
            </a:r>
          </a:p>
        </p:txBody>
      </p:sp>
      <p:sp>
        <p:nvSpPr>
          <p:cNvPr id="3" name="">
            <a:extLst xmlns:a="http://schemas.openxmlformats.org/drawingml/2006/main">
              <a:ext uri="{FF2B5EF4-FFF2-40B4-BE49-F238E27FC236}">
                <a16:creationId xmlns:a16="http://schemas.microsoft.com/office/drawing/2014/main" id="{0E675E53-E6EC-4883-BA97-1967F03DC841}"/>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DB2F2FC8-4020-425A-BE9E-CAD08B676537}"/>
              </a:ext>
            </a:extLst>
          </p:cNvPr>
          <p:cNvSpPr>
            <a:spLocks xmlns:a="http://schemas.openxmlformats.org/drawingml/2006/main" noGrp="1"/>
          </p:cNvSpPr>
          <p:nvPr/>
        </p:nvSpPr>
        <p:spPr>
          <a:xfrm xmlns:a="http://schemas.openxmlformats.org/drawingml/2006/main">
            <a:off x="647700" y="27241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087F82"/>
                </a:solidFill>
                <a:latin typeface="Arial"/>
                <a:ea typeface="Arial"/>
                <a:cs typeface="Arial"/>
              </a:defRPr>
            </a:defPPr>
            <a:lvl1pPr>
              <a:defRPr sz="1875" b="0">
                <a:solidFill>
                  <a:srgbClr val="087F82"/>
                </a:solidFill>
                <a:latin typeface="Arial"/>
                <a:ea typeface="Arial"/>
                <a:cs typeface="Arial"/>
              </a:defRPr>
            </a:lvl1pPr>
            <a:lvl2pPr>
              <a:defRPr sz="1875" b="0">
                <a:solidFill>
                  <a:srgbClr val="087F82"/>
                </a:solidFill>
                <a:latin typeface="Arial"/>
                <a:ea typeface="Arial"/>
                <a:cs typeface="Arial"/>
              </a:defRPr>
            </a:lvl2pPr>
            <a:lvl3pPr>
              <a:defRPr sz="1875" b="0">
                <a:solidFill>
                  <a:srgbClr val="087F82"/>
                </a:solidFill>
                <a:latin typeface="Arial"/>
                <a:ea typeface="Arial"/>
                <a:cs typeface="Arial"/>
              </a:defRPr>
            </a:lvl3pPr>
            <a:lvl4pPr>
              <a:defRPr sz="1875" b="0">
                <a:solidFill>
                  <a:srgbClr val="087F82"/>
                </a:solidFill>
                <a:latin typeface="Arial"/>
                <a:ea typeface="Arial"/>
                <a:cs typeface="Arial"/>
              </a:defRPr>
            </a:lvl4pPr>
            <a:lvl5pPr>
              <a:defRPr sz="1875" b="0">
                <a:solidFill>
                  <a:srgbClr val="087F82"/>
                </a:solidFill>
                <a:latin typeface="Arial"/>
                <a:ea typeface="Arial"/>
                <a:cs typeface="Arial"/>
              </a:defRPr>
            </a:lvl5pPr>
            <a:lvl6pPr>
              <a:defRPr sz="1875" b="0">
                <a:solidFill>
                  <a:srgbClr val="087F82"/>
                </a:solidFill>
                <a:latin typeface="Arial"/>
                <a:ea typeface="Arial"/>
                <a:cs typeface="Arial"/>
              </a:defRPr>
            </a:lvl6pPr>
            <a:lvl7pPr>
              <a:defRPr sz="1875" b="0">
                <a:solidFill>
                  <a:srgbClr val="087F82"/>
                </a:solidFill>
                <a:latin typeface="Arial"/>
                <a:ea typeface="Arial"/>
                <a:cs typeface="Arial"/>
              </a:defRPr>
            </a:lvl7pPr>
            <a:lvl8pPr>
              <a:defRPr sz="1875" b="0">
                <a:solidFill>
                  <a:srgbClr val="087F82"/>
                </a:solidFill>
                <a:latin typeface="Arial"/>
                <a:ea typeface="Arial"/>
                <a:cs typeface="Arial"/>
              </a:defRPr>
            </a:lvl8pPr>
            <a:lvl9pPr>
              <a:defRPr sz="1875" b="0">
                <a:solidFill>
                  <a:srgbClr val="087F82"/>
                </a:solidFill>
                <a:latin typeface="Arial"/>
                <a:ea typeface="Arial"/>
                <a:cs typeface="Arial"/>
              </a:defRPr>
            </a:lvl9pPr>
          </a:lstStyle>
          <a:p xmlns:a="http://schemas.openxmlformats.org/drawingml/2006/main">
            <a:pPr>
              <a:defRPr sz="1875" b="0">
                <a:solidFill>
                  <a:srgbClr val="087F82"/>
                </a:solidFill>
                <a:latin typeface="Arial"/>
                <a:ea typeface="Arial"/>
                <a:cs typeface="Arial"/>
              </a:defRPr>
            </a:pPr>
            <a:r>
              <a:rPr sz="1875" b="0">
                <a:solidFill>
                  <a:srgbClr val="087F82"/>
                </a:solidFill>
                <a:latin typeface="Arial"/>
                <a:ea typeface="Arial"/>
                <a:cs typeface="Arial"/>
              </a:rPr>
              <a:t>Phase 1  /  Project 11  /  Section A</a:t>
            </a:r>
          </a:p>
        </p:txBody>
      </p:sp>
      <p:sp>
        <p:nvSpPr>
          <p:cNvPr id="5" name="">
            <a:extLst xmlns:a="http://schemas.openxmlformats.org/drawingml/2006/main">
              <a:ext uri="{FF2B5EF4-FFF2-40B4-BE49-F238E27FC236}">
                <a16:creationId xmlns:a16="http://schemas.microsoft.com/office/drawing/2014/main" id="{3F3FA27B-1118-483C-9DE2-E92049151B4A}"/>
              </a:ext>
            </a:extLst>
          </p:cNvPr>
          <p:cNvSpPr>
            <a:spLocks xmlns:a="http://schemas.openxmlformats.org/drawingml/2006/main" noGrp="1"/>
          </p:cNvSpPr>
          <p:nvPr/>
        </p:nvSpPr>
        <p:spPr>
          <a:xfrm xmlns:a="http://schemas.openxmlformats.org/drawingml/2006/main">
            <a:off x="647700" y="3476625"/>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75" b="0">
                <a:solidFill>
                  <a:srgbClr val="142F38"/>
                </a:solidFill>
                <a:latin typeface="Arial"/>
                <a:ea typeface="Arial"/>
                <a:cs typeface="Arial"/>
              </a:defRPr>
            </a:defPPr>
            <a:lvl1pPr>
              <a:defRPr sz="2475" b="0">
                <a:solidFill>
                  <a:srgbClr val="142F38"/>
                </a:solidFill>
                <a:latin typeface="Arial"/>
                <a:ea typeface="Arial"/>
                <a:cs typeface="Arial"/>
              </a:defRPr>
            </a:lvl1pPr>
            <a:lvl2pPr>
              <a:defRPr sz="2475" b="0">
                <a:solidFill>
                  <a:srgbClr val="142F38"/>
                </a:solidFill>
                <a:latin typeface="Arial"/>
                <a:ea typeface="Arial"/>
                <a:cs typeface="Arial"/>
              </a:defRPr>
            </a:lvl2pPr>
            <a:lvl3pPr>
              <a:defRPr sz="2475" b="0">
                <a:solidFill>
                  <a:srgbClr val="142F38"/>
                </a:solidFill>
                <a:latin typeface="Arial"/>
                <a:ea typeface="Arial"/>
                <a:cs typeface="Arial"/>
              </a:defRPr>
            </a:lvl3pPr>
            <a:lvl4pPr>
              <a:defRPr sz="2475" b="0">
                <a:solidFill>
                  <a:srgbClr val="142F38"/>
                </a:solidFill>
                <a:latin typeface="Arial"/>
                <a:ea typeface="Arial"/>
                <a:cs typeface="Arial"/>
              </a:defRPr>
            </a:lvl4pPr>
            <a:lvl5pPr>
              <a:defRPr sz="2475" b="0">
                <a:solidFill>
                  <a:srgbClr val="142F38"/>
                </a:solidFill>
                <a:latin typeface="Arial"/>
                <a:ea typeface="Arial"/>
                <a:cs typeface="Arial"/>
              </a:defRPr>
            </a:lvl5pPr>
            <a:lvl6pPr>
              <a:defRPr sz="2475" b="0">
                <a:solidFill>
                  <a:srgbClr val="142F38"/>
                </a:solidFill>
                <a:latin typeface="Arial"/>
                <a:ea typeface="Arial"/>
                <a:cs typeface="Arial"/>
              </a:defRPr>
            </a:lvl6pPr>
            <a:lvl7pPr>
              <a:defRPr sz="2475" b="0">
                <a:solidFill>
                  <a:srgbClr val="142F38"/>
                </a:solidFill>
                <a:latin typeface="Arial"/>
                <a:ea typeface="Arial"/>
                <a:cs typeface="Arial"/>
              </a:defRPr>
            </a:lvl7pPr>
            <a:lvl8pPr>
              <a:defRPr sz="2475" b="0">
                <a:solidFill>
                  <a:srgbClr val="142F38"/>
                </a:solidFill>
                <a:latin typeface="Arial"/>
                <a:ea typeface="Arial"/>
                <a:cs typeface="Arial"/>
              </a:defRPr>
            </a:lvl8pPr>
            <a:lvl9pPr>
              <a:defRPr sz="2475" b="0">
                <a:solidFill>
                  <a:srgbClr val="142F38"/>
                </a:solidFill>
                <a:latin typeface="Arial"/>
                <a:ea typeface="Arial"/>
                <a:cs typeface="Arial"/>
              </a:defRPr>
            </a:lvl9pPr>
          </a:lstStyle>
          <a:p xmlns:a="http://schemas.openxmlformats.org/drawingml/2006/main">
            <a:pPr>
              <a:defRPr sz="2475" b="0">
                <a:solidFill>
                  <a:srgbClr val="142F38"/>
                </a:solidFill>
                <a:latin typeface="Arial"/>
                <a:ea typeface="Arial"/>
                <a:cs typeface="Arial"/>
              </a:defRPr>
            </a:pPr>
            <a:r>
              <a:rPr sz="2475" b="0">
                <a:solidFill>
                  <a:srgbClr val="142F38"/>
                </a:solidFill>
                <a:latin typeface="Arial"/>
                <a:ea typeface="Arial"/>
                <a:cs typeface="Arial"/>
              </a:rPr>
              <a:t>Inventory image tagging with pixels and HOG</a:t>
            </a:r>
          </a:p>
        </p:txBody>
      </p:sp>
      <p:sp>
        <p:nvSpPr>
          <p:cNvPr id="6" name="">
            <a:extLst xmlns:a="http://schemas.openxmlformats.org/drawingml/2006/main">
              <a:ext uri="{FF2B5EF4-FFF2-40B4-BE49-F238E27FC236}">
                <a16:creationId xmlns:a16="http://schemas.microsoft.com/office/drawing/2014/main" id="{4AF633F8-3546-4620-A390-67B384764E82}"/>
              </a:ext>
            </a:extLst>
          </p:cNvPr>
          <p:cNvSpPr>
            <a:spLocks xmlns:a="http://schemas.openxmlformats.org/drawingml/2006/main" noGrp="1"/>
          </p:cNvSpPr>
          <p:nvPr/>
        </p:nvSpPr>
        <p:spPr>
          <a:xfrm xmlns:a="http://schemas.openxmlformats.org/drawingml/2006/main">
            <a:off x="647700" y="54673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1">
                <a:solidFill>
                  <a:srgbClr val="142F38"/>
                </a:solidFill>
                <a:latin typeface="Arial"/>
                <a:ea typeface="Arial"/>
                <a:cs typeface="Arial"/>
              </a:defRPr>
            </a:defPPr>
            <a:lvl1pPr>
              <a:defRPr sz="1875" b="1">
                <a:solidFill>
                  <a:srgbClr val="142F38"/>
                </a:solidFill>
                <a:latin typeface="Arial"/>
                <a:ea typeface="Arial"/>
                <a:cs typeface="Arial"/>
              </a:defRPr>
            </a:lvl1pPr>
            <a:lvl2pPr>
              <a:defRPr sz="1875" b="1">
                <a:solidFill>
                  <a:srgbClr val="142F38"/>
                </a:solidFill>
                <a:latin typeface="Arial"/>
                <a:ea typeface="Arial"/>
                <a:cs typeface="Arial"/>
              </a:defRPr>
            </a:lvl2pPr>
            <a:lvl3pPr>
              <a:defRPr sz="1875" b="1">
                <a:solidFill>
                  <a:srgbClr val="142F38"/>
                </a:solidFill>
                <a:latin typeface="Arial"/>
                <a:ea typeface="Arial"/>
                <a:cs typeface="Arial"/>
              </a:defRPr>
            </a:lvl3pPr>
            <a:lvl4pPr>
              <a:defRPr sz="1875" b="1">
                <a:solidFill>
                  <a:srgbClr val="142F38"/>
                </a:solidFill>
                <a:latin typeface="Arial"/>
                <a:ea typeface="Arial"/>
                <a:cs typeface="Arial"/>
              </a:defRPr>
            </a:lvl4pPr>
            <a:lvl5pPr>
              <a:defRPr sz="1875" b="1">
                <a:solidFill>
                  <a:srgbClr val="142F38"/>
                </a:solidFill>
                <a:latin typeface="Arial"/>
                <a:ea typeface="Arial"/>
                <a:cs typeface="Arial"/>
              </a:defRPr>
            </a:lvl5pPr>
            <a:lvl6pPr>
              <a:defRPr sz="1875" b="1">
                <a:solidFill>
                  <a:srgbClr val="142F38"/>
                </a:solidFill>
                <a:latin typeface="Arial"/>
                <a:ea typeface="Arial"/>
                <a:cs typeface="Arial"/>
              </a:defRPr>
            </a:lvl6pPr>
            <a:lvl7pPr>
              <a:defRPr sz="1875" b="1">
                <a:solidFill>
                  <a:srgbClr val="142F38"/>
                </a:solidFill>
                <a:latin typeface="Arial"/>
                <a:ea typeface="Arial"/>
                <a:cs typeface="Arial"/>
              </a:defRPr>
            </a:lvl7pPr>
            <a:lvl8pPr>
              <a:defRPr sz="1875" b="1">
                <a:solidFill>
                  <a:srgbClr val="142F38"/>
                </a:solidFill>
                <a:latin typeface="Arial"/>
                <a:ea typeface="Arial"/>
                <a:cs typeface="Arial"/>
              </a:defRPr>
            </a:lvl8pPr>
            <a:lvl9pPr>
              <a:defRPr sz="1875" b="1">
                <a:solidFill>
                  <a:srgbClr val="142F38"/>
                </a:solidFill>
                <a:latin typeface="Arial"/>
                <a:ea typeface="Arial"/>
                <a:cs typeface="Arial"/>
              </a:defRPr>
            </a:lvl9pPr>
          </a:lstStyle>
          <a:p xmlns:a="http://schemas.openxmlformats.org/drawingml/2006/main">
            <a:pPr>
              <a:defRPr sz="1875" b="1">
                <a:solidFill>
                  <a:srgbClr val="142F38"/>
                </a:solidFill>
                <a:latin typeface="Arial"/>
                <a:ea typeface="Arial"/>
                <a:cs typeface="Arial"/>
              </a:defRPr>
            </a:pPr>
            <a:r>
              <a:rPr sz="1875" b="1">
                <a:solidFill>
                  <a:srgbClr val="142F38"/>
                </a:solidFill>
                <a:latin typeface="Arial"/>
                <a:ea typeface="Arial"/>
                <a:cs typeface="Arial"/>
              </a:rPr>
              <a:t>Nakul    Sudeshhna    Puneet    Samarth    Neelanshu</a:t>
            </a:r>
          </a:p>
        </p:txBody>
      </p:sp>
    </p:spTree>
    <p:extLst>
      <p:ext uri="{BB962C8B-B14F-4D97-AF65-F5344CB8AC3E}">
        <p14:creationId xmlns:p14="http://schemas.microsoft.com/office/powerpoint/2010/main" val="1064826101"/>
      </p:ext>
    </p:extLst>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C902A58A-DB55-4BA5-B242-DE799BA27BBB}"/>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Research question and prior work</a:t>
            </a:r>
          </a:p>
        </p:txBody>
      </p:sp>
      <p:sp>
        <p:nvSpPr>
          <p:cNvPr id="3" name="">
            <a:extLst xmlns:a="http://schemas.openxmlformats.org/drawingml/2006/main">
              <a:ext uri="{FF2B5EF4-FFF2-40B4-BE49-F238E27FC236}">
                <a16:creationId xmlns:a16="http://schemas.microsoft.com/office/drawing/2014/main" id="{45EC82B4-0AAC-4EE3-B82D-E5D7B053AA32}"/>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0F1BBCEE-A945-409C-B94A-B811E1DB22BA}"/>
              </a:ext>
            </a:extLst>
          </p:cNvPr>
          <p:cNvSpPr>
            <a:spLocks xmlns:a="http://schemas.openxmlformats.org/drawingml/2006/main" noGrp="1"/>
          </p:cNvSpPr>
          <p:nvPr/>
        </p:nvSpPr>
        <p:spPr>
          <a:xfrm xmlns:a="http://schemas.openxmlformats.org/drawingml/2006/main">
            <a:off x="647700" y="1504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000" b="1">
                <a:solidFill>
                  <a:srgbClr val="142F38"/>
                </a:solidFill>
                <a:latin typeface="Arial"/>
                <a:ea typeface="Arial"/>
                <a:cs typeface="Arial"/>
              </a:defRPr>
            </a:defPPr>
            <a:lvl1pPr>
              <a:defRPr sz="3000" b="1">
                <a:solidFill>
                  <a:srgbClr val="142F38"/>
                </a:solidFill>
                <a:latin typeface="Arial"/>
                <a:ea typeface="Arial"/>
                <a:cs typeface="Arial"/>
              </a:defRPr>
            </a:lvl1pPr>
            <a:lvl2pPr>
              <a:defRPr sz="3000" b="1">
                <a:solidFill>
                  <a:srgbClr val="142F38"/>
                </a:solidFill>
                <a:latin typeface="Arial"/>
                <a:ea typeface="Arial"/>
                <a:cs typeface="Arial"/>
              </a:defRPr>
            </a:lvl2pPr>
            <a:lvl3pPr>
              <a:defRPr sz="3000" b="1">
                <a:solidFill>
                  <a:srgbClr val="142F38"/>
                </a:solidFill>
                <a:latin typeface="Arial"/>
                <a:ea typeface="Arial"/>
                <a:cs typeface="Arial"/>
              </a:defRPr>
            </a:lvl3pPr>
            <a:lvl4pPr>
              <a:defRPr sz="3000" b="1">
                <a:solidFill>
                  <a:srgbClr val="142F38"/>
                </a:solidFill>
                <a:latin typeface="Arial"/>
                <a:ea typeface="Arial"/>
                <a:cs typeface="Arial"/>
              </a:defRPr>
            </a:lvl4pPr>
            <a:lvl5pPr>
              <a:defRPr sz="3000" b="1">
                <a:solidFill>
                  <a:srgbClr val="142F38"/>
                </a:solidFill>
                <a:latin typeface="Arial"/>
                <a:ea typeface="Arial"/>
                <a:cs typeface="Arial"/>
              </a:defRPr>
            </a:lvl5pPr>
            <a:lvl6pPr>
              <a:defRPr sz="3000" b="1">
                <a:solidFill>
                  <a:srgbClr val="142F38"/>
                </a:solidFill>
                <a:latin typeface="Arial"/>
                <a:ea typeface="Arial"/>
                <a:cs typeface="Arial"/>
              </a:defRPr>
            </a:lvl6pPr>
            <a:lvl7pPr>
              <a:defRPr sz="3000" b="1">
                <a:solidFill>
                  <a:srgbClr val="142F38"/>
                </a:solidFill>
                <a:latin typeface="Arial"/>
                <a:ea typeface="Arial"/>
                <a:cs typeface="Arial"/>
              </a:defRPr>
            </a:lvl7pPr>
            <a:lvl8pPr>
              <a:defRPr sz="3000" b="1">
                <a:solidFill>
                  <a:srgbClr val="142F38"/>
                </a:solidFill>
                <a:latin typeface="Arial"/>
                <a:ea typeface="Arial"/>
                <a:cs typeface="Arial"/>
              </a:defRPr>
            </a:lvl8pPr>
            <a:lvl9pPr>
              <a:defRPr sz="3000" b="1">
                <a:solidFill>
                  <a:srgbClr val="142F38"/>
                </a:solidFill>
                <a:latin typeface="Arial"/>
                <a:ea typeface="Arial"/>
                <a:cs typeface="Arial"/>
              </a:defRPr>
            </a:lvl9pPr>
          </a:lstStyle>
          <a:p xmlns:a="http://schemas.openxmlformats.org/drawingml/2006/main">
            <a:pPr>
              <a:defRPr sz="3000" b="1">
                <a:solidFill>
                  <a:srgbClr val="142F38"/>
                </a:solidFill>
                <a:latin typeface="Arial"/>
                <a:ea typeface="Arial"/>
                <a:cs typeface="Arial"/>
              </a:defRPr>
            </a:pPr>
            <a:r>
              <a:rPr sz="3000" b="1">
                <a:solidFill>
                  <a:srgbClr val="142F38"/>
                </a:solidFill>
                <a:latin typeface="Arial"/>
                <a:ea typeface="Arial"/>
                <a:cs typeface="Arial"/>
              </a:rPr>
              <a:t>Does local edge structure improve clothing classification?</a:t>
            </a:r>
          </a:p>
        </p:txBody>
      </p:sp>
      <p:sp>
        <p:nvSpPr>
          <p:cNvPr id="5" name="">
            <a:extLst xmlns:a="http://schemas.openxmlformats.org/drawingml/2006/main">
              <a:ext uri="{FF2B5EF4-FFF2-40B4-BE49-F238E27FC236}">
                <a16:creationId xmlns:a16="http://schemas.microsoft.com/office/drawing/2014/main" id="{23C52270-4281-4830-BA02-0C09A298B59C}"/>
              </a:ext>
            </a:extLst>
          </p:cNvPr>
          <p:cNvSpPr>
            <a:spLocks xmlns:a="http://schemas.openxmlformats.org/drawingml/2006/main" noGrp="1"/>
          </p:cNvSpPr>
          <p:nvPr/>
        </p:nvSpPr>
        <p:spPr>
          <a:xfrm xmlns:a="http://schemas.openxmlformats.org/drawingml/2006/main">
            <a:off x="647700" y="285750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Raw pixels</a:t>
            </a:r>
          </a:p>
        </p:txBody>
      </p:sp>
      <p:sp>
        <p:nvSpPr>
          <p:cNvPr id="6" name="">
            <a:extLst xmlns:a="http://schemas.openxmlformats.org/drawingml/2006/main">
              <a:ext uri="{FF2B5EF4-FFF2-40B4-BE49-F238E27FC236}">
                <a16:creationId xmlns:a16="http://schemas.microsoft.com/office/drawing/2014/main" id="{BE4C1A6F-FA03-4B17-B476-059366CB4E59}"/>
              </a:ext>
            </a:extLst>
          </p:cNvPr>
          <p:cNvSpPr>
            <a:spLocks xmlns:a="http://schemas.openxmlformats.org/drawingml/2006/main" noGrp="1"/>
          </p:cNvSpPr>
          <p:nvPr/>
        </p:nvSpPr>
        <p:spPr>
          <a:xfrm xmlns:a="http://schemas.openxmlformats.org/drawingml/2006/main">
            <a:off x="647700" y="3400425"/>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Intensity at each fixed image position. A simple, direct baseline.</a:t>
            </a:r>
          </a:p>
        </p:txBody>
      </p:sp>
      <p:sp>
        <p:nvSpPr>
          <p:cNvPr id="7" name="">
            <a:extLst xmlns:a="http://schemas.openxmlformats.org/drawingml/2006/main">
              <a:ext uri="{FF2B5EF4-FFF2-40B4-BE49-F238E27FC236}">
                <a16:creationId xmlns:a16="http://schemas.microsoft.com/office/drawing/2014/main" id="{E019AF1D-CB46-4112-90F1-8C0FC40F7A9D}"/>
              </a:ext>
            </a:extLst>
          </p:cNvPr>
          <p:cNvSpPr>
            <a:spLocks xmlns:a="http://schemas.openxmlformats.org/drawingml/2006/main" noGrp="1"/>
          </p:cNvSpPr>
          <p:nvPr/>
        </p:nvSpPr>
        <p:spPr>
          <a:xfrm xmlns:a="http://schemas.openxmlformats.org/drawingml/2006/main">
            <a:off x="6457950" y="285750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HOG descriptors</a:t>
            </a:r>
          </a:p>
        </p:txBody>
      </p:sp>
      <p:sp>
        <p:nvSpPr>
          <p:cNvPr id="8" name="">
            <a:extLst xmlns:a="http://schemas.openxmlformats.org/drawingml/2006/main">
              <a:ext uri="{FF2B5EF4-FFF2-40B4-BE49-F238E27FC236}">
                <a16:creationId xmlns:a16="http://schemas.microsoft.com/office/drawing/2014/main" id="{3CB81E95-9D9B-4025-898A-875CEBE08CF7}"/>
              </a:ext>
            </a:extLst>
          </p:cNvPr>
          <p:cNvSpPr>
            <a:spLocks xmlns:a="http://schemas.openxmlformats.org/drawingml/2006/main" noGrp="1"/>
          </p:cNvSpPr>
          <p:nvPr/>
        </p:nvSpPr>
        <p:spPr>
          <a:xfrm xmlns:a="http://schemas.openxmlformats.org/drawingml/2006/main">
            <a:off x="6457950" y="3400425"/>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Histograms of local edge directions. The representation stays fixed during classifier training.</a:t>
            </a:r>
          </a:p>
        </p:txBody>
      </p:sp>
      <p:sp>
        <p:nvSpPr>
          <p:cNvPr id="9" name="">
            <a:extLst xmlns:a="http://schemas.openxmlformats.org/drawingml/2006/main">
              <a:ext uri="{FF2B5EF4-FFF2-40B4-BE49-F238E27FC236}">
                <a16:creationId xmlns:a16="http://schemas.microsoft.com/office/drawing/2014/main" id="{01005E7D-B337-4F3B-A622-BFDBE85C9F21}"/>
              </a:ext>
            </a:extLst>
          </p:cNvPr>
          <p:cNvSpPr>
            <a:spLocks xmlns:a="http://schemas.openxmlformats.org/drawingml/2006/main" noGrp="1"/>
          </p:cNvSpPr>
          <p:nvPr/>
        </p:nvSpPr>
        <p:spPr>
          <a:xfrm xmlns:a="http://schemas.openxmlformats.org/drawingml/2006/main">
            <a:off x="647700" y="560070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52656D"/>
                </a:solidFill>
                <a:latin typeface="Arial"/>
                <a:ea typeface="Arial"/>
                <a:cs typeface="Arial"/>
              </a:defRPr>
            </a:defPPr>
            <a:lvl1pPr>
              <a:defRPr sz="1725" b="0">
                <a:solidFill>
                  <a:srgbClr val="52656D"/>
                </a:solidFill>
                <a:latin typeface="Arial"/>
                <a:ea typeface="Arial"/>
                <a:cs typeface="Arial"/>
              </a:defRPr>
            </a:lvl1pPr>
            <a:lvl2pPr>
              <a:defRPr sz="1725" b="0">
                <a:solidFill>
                  <a:srgbClr val="52656D"/>
                </a:solidFill>
                <a:latin typeface="Arial"/>
                <a:ea typeface="Arial"/>
                <a:cs typeface="Arial"/>
              </a:defRPr>
            </a:lvl2pPr>
            <a:lvl3pPr>
              <a:defRPr sz="1725" b="0">
                <a:solidFill>
                  <a:srgbClr val="52656D"/>
                </a:solidFill>
                <a:latin typeface="Arial"/>
                <a:ea typeface="Arial"/>
                <a:cs typeface="Arial"/>
              </a:defRPr>
            </a:lvl3pPr>
            <a:lvl4pPr>
              <a:defRPr sz="1725" b="0">
                <a:solidFill>
                  <a:srgbClr val="52656D"/>
                </a:solidFill>
                <a:latin typeface="Arial"/>
                <a:ea typeface="Arial"/>
                <a:cs typeface="Arial"/>
              </a:defRPr>
            </a:lvl4pPr>
            <a:lvl5pPr>
              <a:defRPr sz="1725" b="0">
                <a:solidFill>
                  <a:srgbClr val="52656D"/>
                </a:solidFill>
                <a:latin typeface="Arial"/>
                <a:ea typeface="Arial"/>
                <a:cs typeface="Arial"/>
              </a:defRPr>
            </a:lvl5pPr>
            <a:lvl6pPr>
              <a:defRPr sz="1725" b="0">
                <a:solidFill>
                  <a:srgbClr val="52656D"/>
                </a:solidFill>
                <a:latin typeface="Arial"/>
                <a:ea typeface="Arial"/>
                <a:cs typeface="Arial"/>
              </a:defRPr>
            </a:lvl6pPr>
            <a:lvl7pPr>
              <a:defRPr sz="1725" b="0">
                <a:solidFill>
                  <a:srgbClr val="52656D"/>
                </a:solidFill>
                <a:latin typeface="Arial"/>
                <a:ea typeface="Arial"/>
                <a:cs typeface="Arial"/>
              </a:defRPr>
            </a:lvl7pPr>
            <a:lvl8pPr>
              <a:defRPr sz="1725" b="0">
                <a:solidFill>
                  <a:srgbClr val="52656D"/>
                </a:solidFill>
                <a:latin typeface="Arial"/>
                <a:ea typeface="Arial"/>
                <a:cs typeface="Arial"/>
              </a:defRPr>
            </a:lvl8pPr>
            <a:lvl9pPr>
              <a:defRPr sz="1725" b="0">
                <a:solidFill>
                  <a:srgbClr val="52656D"/>
                </a:solidFill>
                <a:latin typeface="Arial"/>
                <a:ea typeface="Arial"/>
                <a:cs typeface="Arial"/>
              </a:defRPr>
            </a:lvl9pPr>
          </a:lstStyle>
          <a:p xmlns:a="http://schemas.openxmlformats.org/drawingml/2006/main">
            <a:pPr>
              <a:defRPr sz="1725" b="0">
                <a:solidFill>
                  <a:srgbClr val="52656D"/>
                </a:solidFill>
                <a:latin typeface="Arial"/>
                <a:ea typeface="Arial"/>
                <a:cs typeface="Arial"/>
              </a:defRPr>
            </a:pPr>
            <a:r>
              <a:rPr sz="1725" b="0">
                <a:solidFill>
                  <a:srgbClr val="52656D"/>
                </a:solidFill>
                <a:latin typeface="Arial"/>
                <a:ea typeface="Arial"/>
                <a:cs typeface="Arial"/>
              </a:rPr>
              <a:t>Fashion-MNIST: Xiao et al. (2017)     HOG: Dalal &amp; Triggs (2005)</a:t>
            </a:r>
          </a:p>
        </p:txBody>
      </p:sp>
    </p:spTree>
    <p:extLst>
      <p:ext uri="{BB962C8B-B14F-4D97-AF65-F5344CB8AC3E}">
        <p14:creationId xmlns:p14="http://schemas.microsoft.com/office/powerpoint/2010/main" val="1885834090"/>
      </p:ext>
    </p:extLst>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F9EFFCE-C90E-4F05-A460-456D1D9E0A4B}"/>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Team responsibilities</a:t>
            </a:r>
          </a:p>
        </p:txBody>
      </p:sp>
      <p:sp>
        <p:nvSpPr>
          <p:cNvPr id="3" name="">
            <a:extLst xmlns:a="http://schemas.openxmlformats.org/drawingml/2006/main">
              <a:ext uri="{FF2B5EF4-FFF2-40B4-BE49-F238E27FC236}">
                <a16:creationId xmlns:a16="http://schemas.microsoft.com/office/drawing/2014/main" id="{95E2D4F7-2B1D-4BFF-B9DC-A8BE45034214}"/>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55943BA9-54B6-4B6B-A0C3-F0B34C667940}"/>
              </a:ext>
            </a:extLst>
          </p:cNvPr>
          <p:cNvGraphicFramePr/>
          <p:nvPr/>
        </p:nvGraphicFramePr>
        <p:xfrm>
          <a:off xmlns:a="http://schemas.openxmlformats.org/drawingml/2006/main" x="647700" y="1504950"/>
          <a:ext xmlns:a="http://schemas.openxmlformats.org/drawingml/2006/main" cx="10896600" cy="4095750"/>
        </p:xfrm>
        <a:graphic xmlns:a="http://schemas.openxmlformats.org/drawingml/2006/main">
          <a:graphicData uri="http://schemas.openxmlformats.org/drawingml/2006/table">
            <a:tbl>
              <a:tblPr/>
              <a:tblGrid>
                <a:gridCol w="2381250"/>
                <a:gridCol w="8515350"/>
              </a:tblGrid>
              <a:tr h="682625">
                <a:tc>
                  <a:txBody>
                    <a:bodyPr/>
                    <a:lstStyle/>
                    <a:p>
                      <a:r>
                        <a:rPr sz="2025" b="1">
                          <a:solidFill>
                            <a:srgbClr val="FFFFFF"/>
                          </a:solidFill>
                          <a:latin typeface="Arial"/>
                          <a:ea typeface="Arial"/>
                          <a:cs typeface="Arial"/>
                        </a:rPr>
                        <a:t>Member</a:t>
                      </a:r>
                    </a:p>
                  </a:txBody>
                  <a:tcPr marL="95250" marR="95250" marT="85725" marB="57150" anchor="ctr">
                    <a:lnL w="6668">
                      <a:solidFill>
                        <a:srgbClr val="D9DFDF"/>
                      </a:solidFill>
                      <a:prstDash val="solid"/>
                    </a:lnL>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2025" b="1">
                          <a:solidFill>
                            <a:srgbClr val="FFFFFF"/>
                          </a:solidFill>
                          <a:latin typeface="Arial"/>
                          <a:ea typeface="Arial"/>
                          <a:cs typeface="Arial"/>
                        </a:rPr>
                        <a:t>Responsibility</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r>
              <a:tr h="682625">
                <a:tc>
                  <a:txBody>
                    <a:bodyPr/>
                    <a:lstStyle/>
                    <a:p>
                      <a:r>
                        <a:rPr sz="2025">
                          <a:solidFill>
                            <a:srgbClr val="142F38"/>
                          </a:solidFill>
                          <a:latin typeface="Arial"/>
                          <a:ea typeface="Arial"/>
                          <a:cs typeface="Arial"/>
                        </a:rPr>
                        <a:t>Nakul</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Integration, literature and reporting</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82625">
                <a:tc>
                  <a:txBody>
                    <a:bodyPr/>
                    <a:lstStyle/>
                    <a:p>
                      <a:r>
                        <a:rPr sz="2025">
                          <a:solidFill>
                            <a:srgbClr val="142F38"/>
                          </a:solidFill>
                          <a:latin typeface="Arial"/>
                          <a:ea typeface="Arial"/>
                          <a:cs typeface="Arial"/>
                        </a:rPr>
                        <a:t>Sudeshhna</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Data quality, EDA and shared splits</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82625">
                <a:tc>
                  <a:txBody>
                    <a:bodyPr/>
                    <a:lstStyle/>
                    <a:p>
                      <a:r>
                        <a:rPr sz="2025">
                          <a:solidFill>
                            <a:srgbClr val="142F38"/>
                          </a:solidFill>
                          <a:latin typeface="Arial"/>
                          <a:ea typeface="Arial"/>
                          <a:cs typeface="Arial"/>
                        </a:rPr>
                        <a:t>Puneet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Pixels, HOG, Logistic Regression and kNN</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82625">
                <a:tc>
                  <a:txBody>
                    <a:bodyPr/>
                    <a:lstStyle/>
                    <a:p>
                      <a:r>
                        <a:rPr sz="2025">
                          <a:solidFill>
                            <a:srgbClr val="142F38"/>
                          </a:solidFill>
                          <a:latin typeface="Arial"/>
                          <a:ea typeface="Arial"/>
                          <a:cs typeface="Arial"/>
                        </a:rPr>
                        <a:t>Samarth</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Random Forest, SVM and experiment management</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82625">
                <a:tc>
                  <a:txBody>
                    <a:bodyPr/>
                    <a:lstStyle/>
                    <a:p>
                      <a:r>
                        <a:rPr sz="2025">
                          <a:solidFill>
                            <a:srgbClr val="142F38"/>
                          </a:solidFill>
                          <a:latin typeface="Arial"/>
                          <a:ea typeface="Arial"/>
                          <a:cs typeface="Arial"/>
                        </a:rPr>
                        <a:t>Neelanshu</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Evaluation, timing and error analysis</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bl>
          </a:graphicData>
        </a:graphic>
      </p:graphicFrame>
    </p:spTree>
    <p:extLst>
      <p:ext uri="{BB962C8B-B14F-4D97-AF65-F5344CB8AC3E}">
        <p14:creationId xmlns:p14="http://schemas.microsoft.com/office/powerpoint/2010/main" val="844547834"/>
      </p:ext>
    </p:extLst>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CCE1878-40E3-494B-81CC-24C5F723D700}"/>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Fashion-MNIST dataset</a:t>
            </a:r>
          </a:p>
        </p:txBody>
      </p:sp>
      <p:sp>
        <p:nvSpPr>
          <p:cNvPr id="3" name="">
            <a:extLst xmlns:a="http://schemas.openxmlformats.org/drawingml/2006/main">
              <a:ext uri="{FF2B5EF4-FFF2-40B4-BE49-F238E27FC236}">
                <a16:creationId xmlns:a16="http://schemas.microsoft.com/office/drawing/2014/main" id="{34D7DA85-271F-4DCD-898A-3B24D412B082}"/>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8F1EB645-770E-4A71-A414-DAD8D398EF11}"/>
              </a:ext>
            </a:extLst>
          </p:cNvPr>
          <p:cNvSpPr>
            <a:spLocks xmlns:a="http://schemas.openxmlformats.org/drawingml/2006/main" noGrp="1"/>
          </p:cNvSpPr>
          <p:nvPr/>
        </p:nvSpPr>
        <p:spPr>
          <a:xfrm xmlns:a="http://schemas.openxmlformats.org/drawingml/2006/main">
            <a:off x="647700" y="13811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142F38"/>
                </a:solidFill>
                <a:latin typeface="Arial"/>
                <a:ea typeface="Arial"/>
                <a:cs typeface="Arial"/>
              </a:defRPr>
            </a:defPPr>
            <a:lvl1pPr>
              <a:defRPr sz="2100" b="1">
                <a:solidFill>
                  <a:srgbClr val="142F38"/>
                </a:solidFill>
                <a:latin typeface="Arial"/>
                <a:ea typeface="Arial"/>
                <a:cs typeface="Arial"/>
              </a:defRPr>
            </a:lvl1pPr>
            <a:lvl2pPr>
              <a:defRPr sz="2100" b="1">
                <a:solidFill>
                  <a:srgbClr val="142F38"/>
                </a:solidFill>
                <a:latin typeface="Arial"/>
                <a:ea typeface="Arial"/>
                <a:cs typeface="Arial"/>
              </a:defRPr>
            </a:lvl2pPr>
            <a:lvl3pPr>
              <a:defRPr sz="2100" b="1">
                <a:solidFill>
                  <a:srgbClr val="142F38"/>
                </a:solidFill>
                <a:latin typeface="Arial"/>
                <a:ea typeface="Arial"/>
                <a:cs typeface="Arial"/>
              </a:defRPr>
            </a:lvl3pPr>
            <a:lvl4pPr>
              <a:defRPr sz="2100" b="1">
                <a:solidFill>
                  <a:srgbClr val="142F38"/>
                </a:solidFill>
                <a:latin typeface="Arial"/>
                <a:ea typeface="Arial"/>
                <a:cs typeface="Arial"/>
              </a:defRPr>
            </a:lvl4pPr>
            <a:lvl5pPr>
              <a:defRPr sz="2100" b="1">
                <a:solidFill>
                  <a:srgbClr val="142F38"/>
                </a:solidFill>
                <a:latin typeface="Arial"/>
                <a:ea typeface="Arial"/>
                <a:cs typeface="Arial"/>
              </a:defRPr>
            </a:lvl5pPr>
            <a:lvl6pPr>
              <a:defRPr sz="2100" b="1">
                <a:solidFill>
                  <a:srgbClr val="142F38"/>
                </a:solidFill>
                <a:latin typeface="Arial"/>
                <a:ea typeface="Arial"/>
                <a:cs typeface="Arial"/>
              </a:defRPr>
            </a:lvl6pPr>
            <a:lvl7pPr>
              <a:defRPr sz="2100" b="1">
                <a:solidFill>
                  <a:srgbClr val="142F38"/>
                </a:solidFill>
                <a:latin typeface="Arial"/>
                <a:ea typeface="Arial"/>
                <a:cs typeface="Arial"/>
              </a:defRPr>
            </a:lvl7pPr>
            <a:lvl8pPr>
              <a:defRPr sz="2100" b="1">
                <a:solidFill>
                  <a:srgbClr val="142F38"/>
                </a:solidFill>
                <a:latin typeface="Arial"/>
                <a:ea typeface="Arial"/>
                <a:cs typeface="Arial"/>
              </a:defRPr>
            </a:lvl8pPr>
            <a:lvl9pPr>
              <a:defRPr sz="2100" b="1">
                <a:solidFill>
                  <a:srgbClr val="142F38"/>
                </a:solidFill>
                <a:latin typeface="Arial"/>
                <a:ea typeface="Arial"/>
                <a:cs typeface="Arial"/>
              </a:defRPr>
            </a:lvl9pPr>
          </a:lstStyle>
          <a:p xmlns:a="http://schemas.openxmlformats.org/drawingml/2006/main">
            <a:pPr>
              <a:defRPr sz="2100" b="1">
                <a:solidFill>
                  <a:srgbClr val="142F38"/>
                </a:solidFill>
                <a:latin typeface="Arial"/>
                <a:ea typeface="Arial"/>
                <a:cs typeface="Arial"/>
              </a:defRPr>
            </a:pPr>
            <a:r>
              <a:rPr sz="2100" b="1">
                <a:solidFill>
                  <a:srgbClr val="142F38"/>
                </a:solidFill>
                <a:latin typeface="Arial"/>
                <a:ea typeface="Arial"/>
                <a:cs typeface="Arial"/>
              </a:rPr>
              <a:t>60,000 training images     10,000 test images     28 × 28 grayscale</a:t>
            </a:r>
          </a:p>
        </p:txBody>
      </p:sp>
      <p:pic>
        <p:nvPicPr>
          <p:cNvPr id="5" name="">
            <a:extLst xmlns:a="http://schemas.openxmlformats.org/drawingml/2006/main">
              <a:ext uri="{FF2B5EF4-FFF2-40B4-BE49-F238E27FC236}">
                <a16:creationId xmlns:a16="http://schemas.microsoft.com/office/drawing/2014/main" id="{0BDA5875-8253-4852-9981-C6C2D03CB532}"/>
              </a:ext>
            </a:extLst>
          </p:cNvPr>
          <p:cNvPicPr>
            <a:picLocks xmlns:a="http://schemas.openxmlformats.org/drawingml/2006/main" noChangeAspect="1"/>
          </p:cNvPicPr>
          <p:nvPr/>
        </p:nvPicPr>
        <p:blipFill>
          <a:blip xmlns:r="http://schemas.openxmlformats.org/officeDocument/2006/relationships" xmlns:a="http://schemas.openxmlformats.org/drawingml/2006/main" r:embed="R66dcc6d9f72d4f8c"/>
          <a:stretch xmlns:a="http://schemas.openxmlformats.org/drawingml/2006/main"/>
        </p:blipFill>
        <p:spPr>
          <a:xfrm xmlns:a="http://schemas.openxmlformats.org/drawingml/2006/main">
            <a:off x="742950" y="2047875"/>
            <a:ext cx="1428750" cy="1428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0A21574-EA3F-4025-B455-7A90D0BB8ECE}"/>
              </a:ext>
            </a:extLst>
          </p:cNvPr>
          <p:cNvSpPr>
            <a:spLocks xmlns:a="http://schemas.openxmlformats.org/drawingml/2006/main" noGrp="1"/>
          </p:cNvSpPr>
          <p:nvPr/>
        </p:nvSpPr>
        <p:spPr>
          <a:xfrm xmlns:a="http://schemas.openxmlformats.org/drawingml/2006/main">
            <a:off x="742950" y="3562350"/>
            <a:ext cx="2066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1">
                <a:solidFill>
                  <a:srgbClr val="142F38"/>
                </a:solidFill>
                <a:latin typeface="Arial"/>
                <a:ea typeface="Arial"/>
                <a:cs typeface="Arial"/>
              </a:defRPr>
            </a:defPPr>
            <a:lvl1pPr>
              <a:defRPr sz="1650" b="1">
                <a:solidFill>
                  <a:srgbClr val="142F38"/>
                </a:solidFill>
                <a:latin typeface="Arial"/>
                <a:ea typeface="Arial"/>
                <a:cs typeface="Arial"/>
              </a:defRPr>
            </a:lvl1pPr>
            <a:lvl2pPr>
              <a:defRPr sz="1650" b="1">
                <a:solidFill>
                  <a:srgbClr val="142F38"/>
                </a:solidFill>
                <a:latin typeface="Arial"/>
                <a:ea typeface="Arial"/>
                <a:cs typeface="Arial"/>
              </a:defRPr>
            </a:lvl2pPr>
            <a:lvl3pPr>
              <a:defRPr sz="1650" b="1">
                <a:solidFill>
                  <a:srgbClr val="142F38"/>
                </a:solidFill>
                <a:latin typeface="Arial"/>
                <a:ea typeface="Arial"/>
                <a:cs typeface="Arial"/>
              </a:defRPr>
            </a:lvl3pPr>
            <a:lvl4pPr>
              <a:defRPr sz="1650" b="1">
                <a:solidFill>
                  <a:srgbClr val="142F38"/>
                </a:solidFill>
                <a:latin typeface="Arial"/>
                <a:ea typeface="Arial"/>
                <a:cs typeface="Arial"/>
              </a:defRPr>
            </a:lvl4pPr>
            <a:lvl5pPr>
              <a:defRPr sz="1650" b="1">
                <a:solidFill>
                  <a:srgbClr val="142F38"/>
                </a:solidFill>
                <a:latin typeface="Arial"/>
                <a:ea typeface="Arial"/>
                <a:cs typeface="Arial"/>
              </a:defRPr>
            </a:lvl5pPr>
            <a:lvl6pPr>
              <a:defRPr sz="1650" b="1">
                <a:solidFill>
                  <a:srgbClr val="142F38"/>
                </a:solidFill>
                <a:latin typeface="Arial"/>
                <a:ea typeface="Arial"/>
                <a:cs typeface="Arial"/>
              </a:defRPr>
            </a:lvl6pPr>
            <a:lvl7pPr>
              <a:defRPr sz="1650" b="1">
                <a:solidFill>
                  <a:srgbClr val="142F38"/>
                </a:solidFill>
                <a:latin typeface="Arial"/>
                <a:ea typeface="Arial"/>
                <a:cs typeface="Arial"/>
              </a:defRPr>
            </a:lvl7pPr>
            <a:lvl8pPr>
              <a:defRPr sz="1650" b="1">
                <a:solidFill>
                  <a:srgbClr val="142F38"/>
                </a:solidFill>
                <a:latin typeface="Arial"/>
                <a:ea typeface="Arial"/>
                <a:cs typeface="Arial"/>
              </a:defRPr>
            </a:lvl8pPr>
            <a:lvl9pPr>
              <a:defRPr sz="1650" b="1">
                <a:solidFill>
                  <a:srgbClr val="142F38"/>
                </a:solidFill>
                <a:latin typeface="Arial"/>
                <a:ea typeface="Arial"/>
                <a:cs typeface="Arial"/>
              </a:defRPr>
            </a:lvl9pPr>
          </a:lstStyle>
          <a:p xmlns:a="http://schemas.openxmlformats.org/drawingml/2006/main">
            <a:pPr>
              <a:defRPr sz="1650" b="1">
                <a:solidFill>
                  <a:srgbClr val="142F38"/>
                </a:solidFill>
                <a:latin typeface="Arial"/>
                <a:ea typeface="Arial"/>
                <a:cs typeface="Arial"/>
              </a:defRPr>
            </a:pPr>
            <a:r>
              <a:rPr sz="1650" b="1">
                <a:solidFill>
                  <a:srgbClr val="142F38"/>
                </a:solidFill>
                <a:latin typeface="Arial"/>
                <a:ea typeface="Arial"/>
                <a:cs typeface="Arial"/>
              </a:rPr>
              <a:t>T-shirt/top</a:t>
            </a:r>
          </a:p>
        </p:txBody>
      </p:sp>
      <p:pic>
        <p:nvPicPr>
          <p:cNvPr id="7" name="">
            <a:extLst xmlns:a="http://schemas.openxmlformats.org/drawingml/2006/main">
              <a:ext uri="{FF2B5EF4-FFF2-40B4-BE49-F238E27FC236}">
                <a16:creationId xmlns:a16="http://schemas.microsoft.com/office/drawing/2014/main" id="{B4E36B75-7778-4F54-929A-4F19037FF762}"/>
              </a:ext>
            </a:extLst>
          </p:cNvPr>
          <p:cNvPicPr>
            <a:picLocks xmlns:a="http://schemas.openxmlformats.org/drawingml/2006/main" noChangeAspect="1"/>
          </p:cNvPicPr>
          <p:nvPr/>
        </p:nvPicPr>
        <p:blipFill>
          <a:blip xmlns:r="http://schemas.openxmlformats.org/officeDocument/2006/relationships" xmlns:a="http://schemas.openxmlformats.org/drawingml/2006/main" r:embed="R13e60aa75f844d02"/>
          <a:stretch xmlns:a="http://schemas.openxmlformats.org/drawingml/2006/main"/>
        </p:blipFill>
        <p:spPr>
          <a:xfrm xmlns:a="http://schemas.openxmlformats.org/drawingml/2006/main">
            <a:off x="2933700" y="2047875"/>
            <a:ext cx="1428750" cy="14287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C674698-C48C-4C48-90D1-8957319FF15D}"/>
              </a:ext>
            </a:extLst>
          </p:cNvPr>
          <p:cNvSpPr>
            <a:spLocks xmlns:a="http://schemas.openxmlformats.org/drawingml/2006/main" noGrp="1"/>
          </p:cNvSpPr>
          <p:nvPr/>
        </p:nvSpPr>
        <p:spPr>
          <a:xfrm xmlns:a="http://schemas.openxmlformats.org/drawingml/2006/main">
            <a:off x="2933700" y="3562350"/>
            <a:ext cx="2066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1">
                <a:solidFill>
                  <a:srgbClr val="142F38"/>
                </a:solidFill>
                <a:latin typeface="Arial"/>
                <a:ea typeface="Arial"/>
                <a:cs typeface="Arial"/>
              </a:defRPr>
            </a:defPPr>
            <a:lvl1pPr>
              <a:defRPr sz="1650" b="1">
                <a:solidFill>
                  <a:srgbClr val="142F38"/>
                </a:solidFill>
                <a:latin typeface="Arial"/>
                <a:ea typeface="Arial"/>
                <a:cs typeface="Arial"/>
              </a:defRPr>
            </a:lvl1pPr>
            <a:lvl2pPr>
              <a:defRPr sz="1650" b="1">
                <a:solidFill>
                  <a:srgbClr val="142F38"/>
                </a:solidFill>
                <a:latin typeface="Arial"/>
                <a:ea typeface="Arial"/>
                <a:cs typeface="Arial"/>
              </a:defRPr>
            </a:lvl2pPr>
            <a:lvl3pPr>
              <a:defRPr sz="1650" b="1">
                <a:solidFill>
                  <a:srgbClr val="142F38"/>
                </a:solidFill>
                <a:latin typeface="Arial"/>
                <a:ea typeface="Arial"/>
                <a:cs typeface="Arial"/>
              </a:defRPr>
            </a:lvl3pPr>
            <a:lvl4pPr>
              <a:defRPr sz="1650" b="1">
                <a:solidFill>
                  <a:srgbClr val="142F38"/>
                </a:solidFill>
                <a:latin typeface="Arial"/>
                <a:ea typeface="Arial"/>
                <a:cs typeface="Arial"/>
              </a:defRPr>
            </a:lvl4pPr>
            <a:lvl5pPr>
              <a:defRPr sz="1650" b="1">
                <a:solidFill>
                  <a:srgbClr val="142F38"/>
                </a:solidFill>
                <a:latin typeface="Arial"/>
                <a:ea typeface="Arial"/>
                <a:cs typeface="Arial"/>
              </a:defRPr>
            </a:lvl5pPr>
            <a:lvl6pPr>
              <a:defRPr sz="1650" b="1">
                <a:solidFill>
                  <a:srgbClr val="142F38"/>
                </a:solidFill>
                <a:latin typeface="Arial"/>
                <a:ea typeface="Arial"/>
                <a:cs typeface="Arial"/>
              </a:defRPr>
            </a:lvl6pPr>
            <a:lvl7pPr>
              <a:defRPr sz="1650" b="1">
                <a:solidFill>
                  <a:srgbClr val="142F38"/>
                </a:solidFill>
                <a:latin typeface="Arial"/>
                <a:ea typeface="Arial"/>
                <a:cs typeface="Arial"/>
              </a:defRPr>
            </a:lvl7pPr>
            <a:lvl8pPr>
              <a:defRPr sz="1650" b="1">
                <a:solidFill>
                  <a:srgbClr val="142F38"/>
                </a:solidFill>
                <a:latin typeface="Arial"/>
                <a:ea typeface="Arial"/>
                <a:cs typeface="Arial"/>
              </a:defRPr>
            </a:lvl8pPr>
            <a:lvl9pPr>
              <a:defRPr sz="1650" b="1">
                <a:solidFill>
                  <a:srgbClr val="142F38"/>
                </a:solidFill>
                <a:latin typeface="Arial"/>
                <a:ea typeface="Arial"/>
                <a:cs typeface="Arial"/>
              </a:defRPr>
            </a:lvl9pPr>
          </a:lstStyle>
          <a:p xmlns:a="http://schemas.openxmlformats.org/drawingml/2006/main">
            <a:pPr>
              <a:defRPr sz="1650" b="1">
                <a:solidFill>
                  <a:srgbClr val="142F38"/>
                </a:solidFill>
                <a:latin typeface="Arial"/>
                <a:ea typeface="Arial"/>
                <a:cs typeface="Arial"/>
              </a:defRPr>
            </a:pPr>
            <a:r>
              <a:rPr sz="1650" b="1">
                <a:solidFill>
                  <a:srgbClr val="142F38"/>
                </a:solidFill>
                <a:latin typeface="Arial"/>
                <a:ea typeface="Arial"/>
                <a:cs typeface="Arial"/>
              </a:rPr>
              <a:t>Trouser</a:t>
            </a:r>
          </a:p>
        </p:txBody>
      </p:sp>
      <p:pic>
        <p:nvPicPr>
          <p:cNvPr id="9" name="">
            <a:extLst xmlns:a="http://schemas.openxmlformats.org/drawingml/2006/main">
              <a:ext uri="{FF2B5EF4-FFF2-40B4-BE49-F238E27FC236}">
                <a16:creationId xmlns:a16="http://schemas.microsoft.com/office/drawing/2014/main" id="{3D7AD9FD-CD08-432E-9EF9-459D1B815E05}"/>
              </a:ext>
            </a:extLst>
          </p:cNvPr>
          <p:cNvPicPr>
            <a:picLocks xmlns:a="http://schemas.openxmlformats.org/drawingml/2006/main" noChangeAspect="1"/>
          </p:cNvPicPr>
          <p:nvPr/>
        </p:nvPicPr>
        <p:blipFill>
          <a:blip xmlns:r="http://schemas.openxmlformats.org/officeDocument/2006/relationships" xmlns:a="http://schemas.openxmlformats.org/drawingml/2006/main" r:embed="Ra47c38743c71423c"/>
          <a:stretch xmlns:a="http://schemas.openxmlformats.org/drawingml/2006/main"/>
        </p:blipFill>
        <p:spPr>
          <a:xfrm xmlns:a="http://schemas.openxmlformats.org/drawingml/2006/main">
            <a:off x="5124450" y="2047875"/>
            <a:ext cx="1428750" cy="1428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85F6DE1F-C162-4E03-9E30-36A4507AC653}"/>
              </a:ext>
            </a:extLst>
          </p:cNvPr>
          <p:cNvSpPr>
            <a:spLocks xmlns:a="http://schemas.openxmlformats.org/drawingml/2006/main" noGrp="1"/>
          </p:cNvSpPr>
          <p:nvPr/>
        </p:nvSpPr>
        <p:spPr>
          <a:xfrm xmlns:a="http://schemas.openxmlformats.org/drawingml/2006/main">
            <a:off x="5124450" y="3562350"/>
            <a:ext cx="2066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1">
                <a:solidFill>
                  <a:srgbClr val="142F38"/>
                </a:solidFill>
                <a:latin typeface="Arial"/>
                <a:ea typeface="Arial"/>
                <a:cs typeface="Arial"/>
              </a:defRPr>
            </a:defPPr>
            <a:lvl1pPr>
              <a:defRPr sz="1650" b="1">
                <a:solidFill>
                  <a:srgbClr val="142F38"/>
                </a:solidFill>
                <a:latin typeface="Arial"/>
                <a:ea typeface="Arial"/>
                <a:cs typeface="Arial"/>
              </a:defRPr>
            </a:lvl1pPr>
            <a:lvl2pPr>
              <a:defRPr sz="1650" b="1">
                <a:solidFill>
                  <a:srgbClr val="142F38"/>
                </a:solidFill>
                <a:latin typeface="Arial"/>
                <a:ea typeface="Arial"/>
                <a:cs typeface="Arial"/>
              </a:defRPr>
            </a:lvl2pPr>
            <a:lvl3pPr>
              <a:defRPr sz="1650" b="1">
                <a:solidFill>
                  <a:srgbClr val="142F38"/>
                </a:solidFill>
                <a:latin typeface="Arial"/>
                <a:ea typeface="Arial"/>
                <a:cs typeface="Arial"/>
              </a:defRPr>
            </a:lvl3pPr>
            <a:lvl4pPr>
              <a:defRPr sz="1650" b="1">
                <a:solidFill>
                  <a:srgbClr val="142F38"/>
                </a:solidFill>
                <a:latin typeface="Arial"/>
                <a:ea typeface="Arial"/>
                <a:cs typeface="Arial"/>
              </a:defRPr>
            </a:lvl4pPr>
            <a:lvl5pPr>
              <a:defRPr sz="1650" b="1">
                <a:solidFill>
                  <a:srgbClr val="142F38"/>
                </a:solidFill>
                <a:latin typeface="Arial"/>
                <a:ea typeface="Arial"/>
                <a:cs typeface="Arial"/>
              </a:defRPr>
            </a:lvl5pPr>
            <a:lvl6pPr>
              <a:defRPr sz="1650" b="1">
                <a:solidFill>
                  <a:srgbClr val="142F38"/>
                </a:solidFill>
                <a:latin typeface="Arial"/>
                <a:ea typeface="Arial"/>
                <a:cs typeface="Arial"/>
              </a:defRPr>
            </a:lvl6pPr>
            <a:lvl7pPr>
              <a:defRPr sz="1650" b="1">
                <a:solidFill>
                  <a:srgbClr val="142F38"/>
                </a:solidFill>
                <a:latin typeface="Arial"/>
                <a:ea typeface="Arial"/>
                <a:cs typeface="Arial"/>
              </a:defRPr>
            </a:lvl7pPr>
            <a:lvl8pPr>
              <a:defRPr sz="1650" b="1">
                <a:solidFill>
                  <a:srgbClr val="142F38"/>
                </a:solidFill>
                <a:latin typeface="Arial"/>
                <a:ea typeface="Arial"/>
                <a:cs typeface="Arial"/>
              </a:defRPr>
            </a:lvl8pPr>
            <a:lvl9pPr>
              <a:defRPr sz="1650" b="1">
                <a:solidFill>
                  <a:srgbClr val="142F38"/>
                </a:solidFill>
                <a:latin typeface="Arial"/>
                <a:ea typeface="Arial"/>
                <a:cs typeface="Arial"/>
              </a:defRPr>
            </a:lvl9pPr>
          </a:lstStyle>
          <a:p xmlns:a="http://schemas.openxmlformats.org/drawingml/2006/main">
            <a:pPr>
              <a:defRPr sz="1650" b="1">
                <a:solidFill>
                  <a:srgbClr val="142F38"/>
                </a:solidFill>
                <a:latin typeface="Arial"/>
                <a:ea typeface="Arial"/>
                <a:cs typeface="Arial"/>
              </a:defRPr>
            </a:pPr>
            <a:r>
              <a:rPr sz="1650" b="1">
                <a:solidFill>
                  <a:srgbClr val="142F38"/>
                </a:solidFill>
                <a:latin typeface="Arial"/>
                <a:ea typeface="Arial"/>
                <a:cs typeface="Arial"/>
              </a:rPr>
              <a:t>Pullover</a:t>
            </a:r>
          </a:p>
        </p:txBody>
      </p:sp>
      <p:pic>
        <p:nvPicPr>
          <p:cNvPr id="11" name="">
            <a:extLst xmlns:a="http://schemas.openxmlformats.org/drawingml/2006/main">
              <a:ext uri="{FF2B5EF4-FFF2-40B4-BE49-F238E27FC236}">
                <a16:creationId xmlns:a16="http://schemas.microsoft.com/office/drawing/2014/main" id="{5ECE276F-2AA7-43F7-9247-3ADFEBE1EE1A}"/>
              </a:ext>
            </a:extLst>
          </p:cNvPr>
          <p:cNvPicPr>
            <a:picLocks xmlns:a="http://schemas.openxmlformats.org/drawingml/2006/main" noChangeAspect="1"/>
          </p:cNvPicPr>
          <p:nvPr/>
        </p:nvPicPr>
        <p:blipFill>
          <a:blip xmlns:r="http://schemas.openxmlformats.org/officeDocument/2006/relationships" xmlns:a="http://schemas.openxmlformats.org/drawingml/2006/main" r:embed="R2277c71abebd45fe"/>
          <a:stretch xmlns:a="http://schemas.openxmlformats.org/drawingml/2006/main"/>
        </p:blipFill>
        <p:spPr>
          <a:xfrm xmlns:a="http://schemas.openxmlformats.org/drawingml/2006/main">
            <a:off x="7315200" y="2047875"/>
            <a:ext cx="1428750" cy="14287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4F36E264-A4A2-4534-B024-F547CCE58C3E}"/>
              </a:ext>
            </a:extLst>
          </p:cNvPr>
          <p:cNvSpPr>
            <a:spLocks xmlns:a="http://schemas.openxmlformats.org/drawingml/2006/main" noGrp="1"/>
          </p:cNvSpPr>
          <p:nvPr/>
        </p:nvSpPr>
        <p:spPr>
          <a:xfrm xmlns:a="http://schemas.openxmlformats.org/drawingml/2006/main">
            <a:off x="7315200" y="3562350"/>
            <a:ext cx="2066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1">
                <a:solidFill>
                  <a:srgbClr val="142F38"/>
                </a:solidFill>
                <a:latin typeface="Arial"/>
                <a:ea typeface="Arial"/>
                <a:cs typeface="Arial"/>
              </a:defRPr>
            </a:defPPr>
            <a:lvl1pPr>
              <a:defRPr sz="1650" b="1">
                <a:solidFill>
                  <a:srgbClr val="142F38"/>
                </a:solidFill>
                <a:latin typeface="Arial"/>
                <a:ea typeface="Arial"/>
                <a:cs typeface="Arial"/>
              </a:defRPr>
            </a:lvl1pPr>
            <a:lvl2pPr>
              <a:defRPr sz="1650" b="1">
                <a:solidFill>
                  <a:srgbClr val="142F38"/>
                </a:solidFill>
                <a:latin typeface="Arial"/>
                <a:ea typeface="Arial"/>
                <a:cs typeface="Arial"/>
              </a:defRPr>
            </a:lvl2pPr>
            <a:lvl3pPr>
              <a:defRPr sz="1650" b="1">
                <a:solidFill>
                  <a:srgbClr val="142F38"/>
                </a:solidFill>
                <a:latin typeface="Arial"/>
                <a:ea typeface="Arial"/>
                <a:cs typeface="Arial"/>
              </a:defRPr>
            </a:lvl3pPr>
            <a:lvl4pPr>
              <a:defRPr sz="1650" b="1">
                <a:solidFill>
                  <a:srgbClr val="142F38"/>
                </a:solidFill>
                <a:latin typeface="Arial"/>
                <a:ea typeface="Arial"/>
                <a:cs typeface="Arial"/>
              </a:defRPr>
            </a:lvl4pPr>
            <a:lvl5pPr>
              <a:defRPr sz="1650" b="1">
                <a:solidFill>
                  <a:srgbClr val="142F38"/>
                </a:solidFill>
                <a:latin typeface="Arial"/>
                <a:ea typeface="Arial"/>
                <a:cs typeface="Arial"/>
              </a:defRPr>
            </a:lvl5pPr>
            <a:lvl6pPr>
              <a:defRPr sz="1650" b="1">
                <a:solidFill>
                  <a:srgbClr val="142F38"/>
                </a:solidFill>
                <a:latin typeface="Arial"/>
                <a:ea typeface="Arial"/>
                <a:cs typeface="Arial"/>
              </a:defRPr>
            </a:lvl6pPr>
            <a:lvl7pPr>
              <a:defRPr sz="1650" b="1">
                <a:solidFill>
                  <a:srgbClr val="142F38"/>
                </a:solidFill>
                <a:latin typeface="Arial"/>
                <a:ea typeface="Arial"/>
                <a:cs typeface="Arial"/>
              </a:defRPr>
            </a:lvl7pPr>
            <a:lvl8pPr>
              <a:defRPr sz="1650" b="1">
                <a:solidFill>
                  <a:srgbClr val="142F38"/>
                </a:solidFill>
                <a:latin typeface="Arial"/>
                <a:ea typeface="Arial"/>
                <a:cs typeface="Arial"/>
              </a:defRPr>
            </a:lvl8pPr>
            <a:lvl9pPr>
              <a:defRPr sz="1650" b="1">
                <a:solidFill>
                  <a:srgbClr val="142F38"/>
                </a:solidFill>
                <a:latin typeface="Arial"/>
                <a:ea typeface="Arial"/>
                <a:cs typeface="Arial"/>
              </a:defRPr>
            </a:lvl9pPr>
          </a:lstStyle>
          <a:p xmlns:a="http://schemas.openxmlformats.org/drawingml/2006/main">
            <a:pPr>
              <a:defRPr sz="1650" b="1">
                <a:solidFill>
                  <a:srgbClr val="142F38"/>
                </a:solidFill>
                <a:latin typeface="Arial"/>
                <a:ea typeface="Arial"/>
                <a:cs typeface="Arial"/>
              </a:defRPr>
            </a:pPr>
            <a:r>
              <a:rPr sz="1650" b="1">
                <a:solidFill>
                  <a:srgbClr val="142F38"/>
                </a:solidFill>
                <a:latin typeface="Arial"/>
                <a:ea typeface="Arial"/>
                <a:cs typeface="Arial"/>
              </a:rPr>
              <a:t>Dress</a:t>
            </a:r>
          </a:p>
        </p:txBody>
      </p:sp>
      <p:pic>
        <p:nvPicPr>
          <p:cNvPr id="13" name="">
            <a:extLst xmlns:a="http://schemas.openxmlformats.org/drawingml/2006/main">
              <a:ext uri="{FF2B5EF4-FFF2-40B4-BE49-F238E27FC236}">
                <a16:creationId xmlns:a16="http://schemas.microsoft.com/office/drawing/2014/main" id="{E240FBCF-B773-46E7-BDE6-FD2DEECB46E6}"/>
              </a:ext>
            </a:extLst>
          </p:cNvPr>
          <p:cNvPicPr>
            <a:picLocks xmlns:a="http://schemas.openxmlformats.org/drawingml/2006/main" noChangeAspect="1"/>
          </p:cNvPicPr>
          <p:nvPr/>
        </p:nvPicPr>
        <p:blipFill>
          <a:blip xmlns:r="http://schemas.openxmlformats.org/officeDocument/2006/relationships" xmlns:a="http://schemas.openxmlformats.org/drawingml/2006/main" r:embed="R1276d34c7c65419e"/>
          <a:stretch xmlns:a="http://schemas.openxmlformats.org/drawingml/2006/main"/>
        </p:blipFill>
        <p:spPr>
          <a:xfrm xmlns:a="http://schemas.openxmlformats.org/drawingml/2006/main">
            <a:off x="9505950" y="2047875"/>
            <a:ext cx="1428750" cy="1428750"/>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D21AA6D4-D641-4C17-9C3E-1E5AC7B31EC1}"/>
              </a:ext>
            </a:extLst>
          </p:cNvPr>
          <p:cNvSpPr>
            <a:spLocks xmlns:a="http://schemas.openxmlformats.org/drawingml/2006/main" noGrp="1"/>
          </p:cNvSpPr>
          <p:nvPr/>
        </p:nvSpPr>
        <p:spPr>
          <a:xfrm xmlns:a="http://schemas.openxmlformats.org/drawingml/2006/main">
            <a:off x="9505950" y="3562350"/>
            <a:ext cx="2066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1">
                <a:solidFill>
                  <a:srgbClr val="142F38"/>
                </a:solidFill>
                <a:latin typeface="Arial"/>
                <a:ea typeface="Arial"/>
                <a:cs typeface="Arial"/>
              </a:defRPr>
            </a:defPPr>
            <a:lvl1pPr>
              <a:defRPr sz="1650" b="1">
                <a:solidFill>
                  <a:srgbClr val="142F38"/>
                </a:solidFill>
                <a:latin typeface="Arial"/>
                <a:ea typeface="Arial"/>
                <a:cs typeface="Arial"/>
              </a:defRPr>
            </a:lvl1pPr>
            <a:lvl2pPr>
              <a:defRPr sz="1650" b="1">
                <a:solidFill>
                  <a:srgbClr val="142F38"/>
                </a:solidFill>
                <a:latin typeface="Arial"/>
                <a:ea typeface="Arial"/>
                <a:cs typeface="Arial"/>
              </a:defRPr>
            </a:lvl2pPr>
            <a:lvl3pPr>
              <a:defRPr sz="1650" b="1">
                <a:solidFill>
                  <a:srgbClr val="142F38"/>
                </a:solidFill>
                <a:latin typeface="Arial"/>
                <a:ea typeface="Arial"/>
                <a:cs typeface="Arial"/>
              </a:defRPr>
            </a:lvl3pPr>
            <a:lvl4pPr>
              <a:defRPr sz="1650" b="1">
                <a:solidFill>
                  <a:srgbClr val="142F38"/>
                </a:solidFill>
                <a:latin typeface="Arial"/>
                <a:ea typeface="Arial"/>
                <a:cs typeface="Arial"/>
              </a:defRPr>
            </a:lvl4pPr>
            <a:lvl5pPr>
              <a:defRPr sz="1650" b="1">
                <a:solidFill>
                  <a:srgbClr val="142F38"/>
                </a:solidFill>
                <a:latin typeface="Arial"/>
                <a:ea typeface="Arial"/>
                <a:cs typeface="Arial"/>
              </a:defRPr>
            </a:lvl5pPr>
            <a:lvl6pPr>
              <a:defRPr sz="1650" b="1">
                <a:solidFill>
                  <a:srgbClr val="142F38"/>
                </a:solidFill>
                <a:latin typeface="Arial"/>
                <a:ea typeface="Arial"/>
                <a:cs typeface="Arial"/>
              </a:defRPr>
            </a:lvl6pPr>
            <a:lvl7pPr>
              <a:defRPr sz="1650" b="1">
                <a:solidFill>
                  <a:srgbClr val="142F38"/>
                </a:solidFill>
                <a:latin typeface="Arial"/>
                <a:ea typeface="Arial"/>
                <a:cs typeface="Arial"/>
              </a:defRPr>
            </a:lvl7pPr>
            <a:lvl8pPr>
              <a:defRPr sz="1650" b="1">
                <a:solidFill>
                  <a:srgbClr val="142F38"/>
                </a:solidFill>
                <a:latin typeface="Arial"/>
                <a:ea typeface="Arial"/>
                <a:cs typeface="Arial"/>
              </a:defRPr>
            </a:lvl8pPr>
            <a:lvl9pPr>
              <a:defRPr sz="1650" b="1">
                <a:solidFill>
                  <a:srgbClr val="142F38"/>
                </a:solidFill>
                <a:latin typeface="Arial"/>
                <a:ea typeface="Arial"/>
                <a:cs typeface="Arial"/>
              </a:defRPr>
            </a:lvl9pPr>
          </a:lstStyle>
          <a:p xmlns:a="http://schemas.openxmlformats.org/drawingml/2006/main">
            <a:pPr>
              <a:defRPr sz="1650" b="1">
                <a:solidFill>
                  <a:srgbClr val="142F38"/>
                </a:solidFill>
                <a:latin typeface="Arial"/>
                <a:ea typeface="Arial"/>
                <a:cs typeface="Arial"/>
              </a:defRPr>
            </a:pPr>
            <a:r>
              <a:rPr sz="1650" b="1">
                <a:solidFill>
                  <a:srgbClr val="142F38"/>
                </a:solidFill>
                <a:latin typeface="Arial"/>
                <a:ea typeface="Arial"/>
                <a:cs typeface="Arial"/>
              </a:rPr>
              <a:t>Coat</a:t>
            </a:r>
          </a:p>
        </p:txBody>
      </p:sp>
      <p:pic>
        <p:nvPicPr>
          <p:cNvPr id="15" name="">
            <a:extLst xmlns:a="http://schemas.openxmlformats.org/drawingml/2006/main">
              <a:ext uri="{FF2B5EF4-FFF2-40B4-BE49-F238E27FC236}">
                <a16:creationId xmlns:a16="http://schemas.microsoft.com/office/drawing/2014/main" id="{EECF151F-FF8A-41EF-BC11-FFCA01405D9B}"/>
              </a:ext>
            </a:extLst>
          </p:cNvPr>
          <p:cNvPicPr>
            <a:picLocks xmlns:a="http://schemas.openxmlformats.org/drawingml/2006/main" noChangeAspect="1"/>
          </p:cNvPicPr>
          <p:nvPr/>
        </p:nvPicPr>
        <p:blipFill>
          <a:blip xmlns:r="http://schemas.openxmlformats.org/officeDocument/2006/relationships" xmlns:a="http://schemas.openxmlformats.org/drawingml/2006/main" r:embed="Rbbecdaa790584553"/>
          <a:stretch xmlns:a="http://schemas.openxmlformats.org/drawingml/2006/main"/>
        </p:blipFill>
        <p:spPr>
          <a:xfrm xmlns:a="http://schemas.openxmlformats.org/drawingml/2006/main">
            <a:off x="742950" y="4048125"/>
            <a:ext cx="1428750" cy="142875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C0EABA66-0C31-4C05-9243-9233F1B810AA}"/>
              </a:ext>
            </a:extLst>
          </p:cNvPr>
          <p:cNvSpPr>
            <a:spLocks xmlns:a="http://schemas.openxmlformats.org/drawingml/2006/main" noGrp="1"/>
          </p:cNvSpPr>
          <p:nvPr/>
        </p:nvSpPr>
        <p:spPr>
          <a:xfrm xmlns:a="http://schemas.openxmlformats.org/drawingml/2006/main">
            <a:off x="742950" y="5562600"/>
            <a:ext cx="2066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1">
                <a:solidFill>
                  <a:srgbClr val="142F38"/>
                </a:solidFill>
                <a:latin typeface="Arial"/>
                <a:ea typeface="Arial"/>
                <a:cs typeface="Arial"/>
              </a:defRPr>
            </a:defPPr>
            <a:lvl1pPr>
              <a:defRPr sz="1650" b="1">
                <a:solidFill>
                  <a:srgbClr val="142F38"/>
                </a:solidFill>
                <a:latin typeface="Arial"/>
                <a:ea typeface="Arial"/>
                <a:cs typeface="Arial"/>
              </a:defRPr>
            </a:lvl1pPr>
            <a:lvl2pPr>
              <a:defRPr sz="1650" b="1">
                <a:solidFill>
                  <a:srgbClr val="142F38"/>
                </a:solidFill>
                <a:latin typeface="Arial"/>
                <a:ea typeface="Arial"/>
                <a:cs typeface="Arial"/>
              </a:defRPr>
            </a:lvl2pPr>
            <a:lvl3pPr>
              <a:defRPr sz="1650" b="1">
                <a:solidFill>
                  <a:srgbClr val="142F38"/>
                </a:solidFill>
                <a:latin typeface="Arial"/>
                <a:ea typeface="Arial"/>
                <a:cs typeface="Arial"/>
              </a:defRPr>
            </a:lvl3pPr>
            <a:lvl4pPr>
              <a:defRPr sz="1650" b="1">
                <a:solidFill>
                  <a:srgbClr val="142F38"/>
                </a:solidFill>
                <a:latin typeface="Arial"/>
                <a:ea typeface="Arial"/>
                <a:cs typeface="Arial"/>
              </a:defRPr>
            </a:lvl4pPr>
            <a:lvl5pPr>
              <a:defRPr sz="1650" b="1">
                <a:solidFill>
                  <a:srgbClr val="142F38"/>
                </a:solidFill>
                <a:latin typeface="Arial"/>
                <a:ea typeface="Arial"/>
                <a:cs typeface="Arial"/>
              </a:defRPr>
            </a:lvl5pPr>
            <a:lvl6pPr>
              <a:defRPr sz="1650" b="1">
                <a:solidFill>
                  <a:srgbClr val="142F38"/>
                </a:solidFill>
                <a:latin typeface="Arial"/>
                <a:ea typeface="Arial"/>
                <a:cs typeface="Arial"/>
              </a:defRPr>
            </a:lvl6pPr>
            <a:lvl7pPr>
              <a:defRPr sz="1650" b="1">
                <a:solidFill>
                  <a:srgbClr val="142F38"/>
                </a:solidFill>
                <a:latin typeface="Arial"/>
                <a:ea typeface="Arial"/>
                <a:cs typeface="Arial"/>
              </a:defRPr>
            </a:lvl7pPr>
            <a:lvl8pPr>
              <a:defRPr sz="1650" b="1">
                <a:solidFill>
                  <a:srgbClr val="142F38"/>
                </a:solidFill>
                <a:latin typeface="Arial"/>
                <a:ea typeface="Arial"/>
                <a:cs typeface="Arial"/>
              </a:defRPr>
            </a:lvl8pPr>
            <a:lvl9pPr>
              <a:defRPr sz="1650" b="1">
                <a:solidFill>
                  <a:srgbClr val="142F38"/>
                </a:solidFill>
                <a:latin typeface="Arial"/>
                <a:ea typeface="Arial"/>
                <a:cs typeface="Arial"/>
              </a:defRPr>
            </a:lvl9pPr>
          </a:lstStyle>
          <a:p xmlns:a="http://schemas.openxmlformats.org/drawingml/2006/main">
            <a:pPr>
              <a:defRPr sz="1650" b="1">
                <a:solidFill>
                  <a:srgbClr val="142F38"/>
                </a:solidFill>
                <a:latin typeface="Arial"/>
                <a:ea typeface="Arial"/>
                <a:cs typeface="Arial"/>
              </a:defRPr>
            </a:pPr>
            <a:r>
              <a:rPr sz="1650" b="1">
                <a:solidFill>
                  <a:srgbClr val="142F38"/>
                </a:solidFill>
                <a:latin typeface="Arial"/>
                <a:ea typeface="Arial"/>
                <a:cs typeface="Arial"/>
              </a:rPr>
              <a:t>Sandal</a:t>
            </a:r>
          </a:p>
        </p:txBody>
      </p:sp>
      <p:pic>
        <p:nvPicPr>
          <p:cNvPr id="17" name="">
            <a:extLst xmlns:a="http://schemas.openxmlformats.org/drawingml/2006/main">
              <a:ext uri="{FF2B5EF4-FFF2-40B4-BE49-F238E27FC236}">
                <a16:creationId xmlns:a16="http://schemas.microsoft.com/office/drawing/2014/main" id="{61B94E33-9C5B-4F17-81D1-EEDC2E22C264}"/>
              </a:ext>
            </a:extLst>
          </p:cNvPr>
          <p:cNvPicPr>
            <a:picLocks xmlns:a="http://schemas.openxmlformats.org/drawingml/2006/main" noChangeAspect="1"/>
          </p:cNvPicPr>
          <p:nvPr/>
        </p:nvPicPr>
        <p:blipFill>
          <a:blip xmlns:r="http://schemas.openxmlformats.org/officeDocument/2006/relationships" xmlns:a="http://schemas.openxmlformats.org/drawingml/2006/main" r:embed="Re37cabed944d41b5"/>
          <a:stretch xmlns:a="http://schemas.openxmlformats.org/drawingml/2006/main"/>
        </p:blipFill>
        <p:spPr>
          <a:xfrm xmlns:a="http://schemas.openxmlformats.org/drawingml/2006/main">
            <a:off x="2933700" y="4048125"/>
            <a:ext cx="1428750" cy="14287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B653EB2F-53C4-4C3E-98DD-CF528D2A26AC}"/>
              </a:ext>
            </a:extLst>
          </p:cNvPr>
          <p:cNvSpPr>
            <a:spLocks xmlns:a="http://schemas.openxmlformats.org/drawingml/2006/main" noGrp="1"/>
          </p:cNvSpPr>
          <p:nvPr/>
        </p:nvSpPr>
        <p:spPr>
          <a:xfrm xmlns:a="http://schemas.openxmlformats.org/drawingml/2006/main">
            <a:off x="2933700" y="5562600"/>
            <a:ext cx="2066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1">
                <a:solidFill>
                  <a:srgbClr val="142F38"/>
                </a:solidFill>
                <a:latin typeface="Arial"/>
                <a:ea typeface="Arial"/>
                <a:cs typeface="Arial"/>
              </a:defRPr>
            </a:defPPr>
            <a:lvl1pPr>
              <a:defRPr sz="1650" b="1">
                <a:solidFill>
                  <a:srgbClr val="142F38"/>
                </a:solidFill>
                <a:latin typeface="Arial"/>
                <a:ea typeface="Arial"/>
                <a:cs typeface="Arial"/>
              </a:defRPr>
            </a:lvl1pPr>
            <a:lvl2pPr>
              <a:defRPr sz="1650" b="1">
                <a:solidFill>
                  <a:srgbClr val="142F38"/>
                </a:solidFill>
                <a:latin typeface="Arial"/>
                <a:ea typeface="Arial"/>
                <a:cs typeface="Arial"/>
              </a:defRPr>
            </a:lvl2pPr>
            <a:lvl3pPr>
              <a:defRPr sz="1650" b="1">
                <a:solidFill>
                  <a:srgbClr val="142F38"/>
                </a:solidFill>
                <a:latin typeface="Arial"/>
                <a:ea typeface="Arial"/>
                <a:cs typeface="Arial"/>
              </a:defRPr>
            </a:lvl3pPr>
            <a:lvl4pPr>
              <a:defRPr sz="1650" b="1">
                <a:solidFill>
                  <a:srgbClr val="142F38"/>
                </a:solidFill>
                <a:latin typeface="Arial"/>
                <a:ea typeface="Arial"/>
                <a:cs typeface="Arial"/>
              </a:defRPr>
            </a:lvl4pPr>
            <a:lvl5pPr>
              <a:defRPr sz="1650" b="1">
                <a:solidFill>
                  <a:srgbClr val="142F38"/>
                </a:solidFill>
                <a:latin typeface="Arial"/>
                <a:ea typeface="Arial"/>
                <a:cs typeface="Arial"/>
              </a:defRPr>
            </a:lvl5pPr>
            <a:lvl6pPr>
              <a:defRPr sz="1650" b="1">
                <a:solidFill>
                  <a:srgbClr val="142F38"/>
                </a:solidFill>
                <a:latin typeface="Arial"/>
                <a:ea typeface="Arial"/>
                <a:cs typeface="Arial"/>
              </a:defRPr>
            </a:lvl6pPr>
            <a:lvl7pPr>
              <a:defRPr sz="1650" b="1">
                <a:solidFill>
                  <a:srgbClr val="142F38"/>
                </a:solidFill>
                <a:latin typeface="Arial"/>
                <a:ea typeface="Arial"/>
                <a:cs typeface="Arial"/>
              </a:defRPr>
            </a:lvl7pPr>
            <a:lvl8pPr>
              <a:defRPr sz="1650" b="1">
                <a:solidFill>
                  <a:srgbClr val="142F38"/>
                </a:solidFill>
                <a:latin typeface="Arial"/>
                <a:ea typeface="Arial"/>
                <a:cs typeface="Arial"/>
              </a:defRPr>
            </a:lvl8pPr>
            <a:lvl9pPr>
              <a:defRPr sz="1650" b="1">
                <a:solidFill>
                  <a:srgbClr val="142F38"/>
                </a:solidFill>
                <a:latin typeface="Arial"/>
                <a:ea typeface="Arial"/>
                <a:cs typeface="Arial"/>
              </a:defRPr>
            </a:lvl9pPr>
          </a:lstStyle>
          <a:p xmlns:a="http://schemas.openxmlformats.org/drawingml/2006/main">
            <a:pPr>
              <a:defRPr sz="1650" b="1">
                <a:solidFill>
                  <a:srgbClr val="142F38"/>
                </a:solidFill>
                <a:latin typeface="Arial"/>
                <a:ea typeface="Arial"/>
                <a:cs typeface="Arial"/>
              </a:defRPr>
            </a:pPr>
            <a:r>
              <a:rPr sz="1650" b="1">
                <a:solidFill>
                  <a:srgbClr val="142F38"/>
                </a:solidFill>
                <a:latin typeface="Arial"/>
                <a:ea typeface="Arial"/>
                <a:cs typeface="Arial"/>
              </a:rPr>
              <a:t>Shirt</a:t>
            </a:r>
          </a:p>
        </p:txBody>
      </p:sp>
      <p:pic>
        <p:nvPicPr>
          <p:cNvPr id="19" name="">
            <a:extLst xmlns:a="http://schemas.openxmlformats.org/drawingml/2006/main">
              <a:ext uri="{FF2B5EF4-FFF2-40B4-BE49-F238E27FC236}">
                <a16:creationId xmlns:a16="http://schemas.microsoft.com/office/drawing/2014/main" id="{5B5B4655-5858-4912-AECE-8E49CDDE4C71}"/>
              </a:ext>
            </a:extLst>
          </p:cNvPr>
          <p:cNvPicPr>
            <a:picLocks xmlns:a="http://schemas.openxmlformats.org/drawingml/2006/main" noChangeAspect="1"/>
          </p:cNvPicPr>
          <p:nvPr/>
        </p:nvPicPr>
        <p:blipFill>
          <a:blip xmlns:r="http://schemas.openxmlformats.org/officeDocument/2006/relationships" xmlns:a="http://schemas.openxmlformats.org/drawingml/2006/main" r:embed="R668aad7162af438e"/>
          <a:stretch xmlns:a="http://schemas.openxmlformats.org/drawingml/2006/main"/>
        </p:blipFill>
        <p:spPr>
          <a:xfrm xmlns:a="http://schemas.openxmlformats.org/drawingml/2006/main">
            <a:off x="5124450" y="4048125"/>
            <a:ext cx="1428750" cy="1428750"/>
          </a:xfrm>
          <a:prstGeom xmlns:a="http://schemas.openxmlformats.org/drawingml/2006/main" prst="rect">
            <a:avLst/>
          </a:prstGeom>
        </p:spPr>
      </p:pic>
      <p:sp>
        <p:nvSpPr>
          <p:cNvPr id="20" name="">
            <a:extLst xmlns:a="http://schemas.openxmlformats.org/drawingml/2006/main">
              <a:ext uri="{FF2B5EF4-FFF2-40B4-BE49-F238E27FC236}">
                <a16:creationId xmlns:a16="http://schemas.microsoft.com/office/drawing/2014/main" id="{BAC02338-D91B-4694-874D-D65F0306D900}"/>
              </a:ext>
            </a:extLst>
          </p:cNvPr>
          <p:cNvSpPr>
            <a:spLocks xmlns:a="http://schemas.openxmlformats.org/drawingml/2006/main" noGrp="1"/>
          </p:cNvSpPr>
          <p:nvPr/>
        </p:nvSpPr>
        <p:spPr>
          <a:xfrm xmlns:a="http://schemas.openxmlformats.org/drawingml/2006/main">
            <a:off x="5124450" y="5562600"/>
            <a:ext cx="2066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1">
                <a:solidFill>
                  <a:srgbClr val="142F38"/>
                </a:solidFill>
                <a:latin typeface="Arial"/>
                <a:ea typeface="Arial"/>
                <a:cs typeface="Arial"/>
              </a:defRPr>
            </a:defPPr>
            <a:lvl1pPr>
              <a:defRPr sz="1650" b="1">
                <a:solidFill>
                  <a:srgbClr val="142F38"/>
                </a:solidFill>
                <a:latin typeface="Arial"/>
                <a:ea typeface="Arial"/>
                <a:cs typeface="Arial"/>
              </a:defRPr>
            </a:lvl1pPr>
            <a:lvl2pPr>
              <a:defRPr sz="1650" b="1">
                <a:solidFill>
                  <a:srgbClr val="142F38"/>
                </a:solidFill>
                <a:latin typeface="Arial"/>
                <a:ea typeface="Arial"/>
                <a:cs typeface="Arial"/>
              </a:defRPr>
            </a:lvl2pPr>
            <a:lvl3pPr>
              <a:defRPr sz="1650" b="1">
                <a:solidFill>
                  <a:srgbClr val="142F38"/>
                </a:solidFill>
                <a:latin typeface="Arial"/>
                <a:ea typeface="Arial"/>
                <a:cs typeface="Arial"/>
              </a:defRPr>
            </a:lvl3pPr>
            <a:lvl4pPr>
              <a:defRPr sz="1650" b="1">
                <a:solidFill>
                  <a:srgbClr val="142F38"/>
                </a:solidFill>
                <a:latin typeface="Arial"/>
                <a:ea typeface="Arial"/>
                <a:cs typeface="Arial"/>
              </a:defRPr>
            </a:lvl4pPr>
            <a:lvl5pPr>
              <a:defRPr sz="1650" b="1">
                <a:solidFill>
                  <a:srgbClr val="142F38"/>
                </a:solidFill>
                <a:latin typeface="Arial"/>
                <a:ea typeface="Arial"/>
                <a:cs typeface="Arial"/>
              </a:defRPr>
            </a:lvl5pPr>
            <a:lvl6pPr>
              <a:defRPr sz="1650" b="1">
                <a:solidFill>
                  <a:srgbClr val="142F38"/>
                </a:solidFill>
                <a:latin typeface="Arial"/>
                <a:ea typeface="Arial"/>
                <a:cs typeface="Arial"/>
              </a:defRPr>
            </a:lvl6pPr>
            <a:lvl7pPr>
              <a:defRPr sz="1650" b="1">
                <a:solidFill>
                  <a:srgbClr val="142F38"/>
                </a:solidFill>
                <a:latin typeface="Arial"/>
                <a:ea typeface="Arial"/>
                <a:cs typeface="Arial"/>
              </a:defRPr>
            </a:lvl7pPr>
            <a:lvl8pPr>
              <a:defRPr sz="1650" b="1">
                <a:solidFill>
                  <a:srgbClr val="142F38"/>
                </a:solidFill>
                <a:latin typeface="Arial"/>
                <a:ea typeface="Arial"/>
                <a:cs typeface="Arial"/>
              </a:defRPr>
            </a:lvl8pPr>
            <a:lvl9pPr>
              <a:defRPr sz="1650" b="1">
                <a:solidFill>
                  <a:srgbClr val="142F38"/>
                </a:solidFill>
                <a:latin typeface="Arial"/>
                <a:ea typeface="Arial"/>
                <a:cs typeface="Arial"/>
              </a:defRPr>
            </a:lvl9pPr>
          </a:lstStyle>
          <a:p xmlns:a="http://schemas.openxmlformats.org/drawingml/2006/main">
            <a:pPr>
              <a:defRPr sz="1650" b="1">
                <a:solidFill>
                  <a:srgbClr val="142F38"/>
                </a:solidFill>
                <a:latin typeface="Arial"/>
                <a:ea typeface="Arial"/>
                <a:cs typeface="Arial"/>
              </a:defRPr>
            </a:pPr>
            <a:r>
              <a:rPr sz="1650" b="1">
                <a:solidFill>
                  <a:srgbClr val="142F38"/>
                </a:solidFill>
                <a:latin typeface="Arial"/>
                <a:ea typeface="Arial"/>
                <a:cs typeface="Arial"/>
              </a:rPr>
              <a:t>Sneaker</a:t>
            </a:r>
          </a:p>
        </p:txBody>
      </p:sp>
      <p:pic>
        <p:nvPicPr>
          <p:cNvPr id="21" name="">
            <a:extLst xmlns:a="http://schemas.openxmlformats.org/drawingml/2006/main">
              <a:ext uri="{FF2B5EF4-FFF2-40B4-BE49-F238E27FC236}">
                <a16:creationId xmlns:a16="http://schemas.microsoft.com/office/drawing/2014/main" id="{750BDFED-F8F7-493F-BF40-A8669C18953C}"/>
              </a:ext>
            </a:extLst>
          </p:cNvPr>
          <p:cNvPicPr>
            <a:picLocks xmlns:a="http://schemas.openxmlformats.org/drawingml/2006/main" noChangeAspect="1"/>
          </p:cNvPicPr>
          <p:nvPr/>
        </p:nvPicPr>
        <p:blipFill>
          <a:blip xmlns:r="http://schemas.openxmlformats.org/officeDocument/2006/relationships" xmlns:a="http://schemas.openxmlformats.org/drawingml/2006/main" r:embed="R5389732680654758"/>
          <a:stretch xmlns:a="http://schemas.openxmlformats.org/drawingml/2006/main"/>
        </p:blipFill>
        <p:spPr>
          <a:xfrm xmlns:a="http://schemas.openxmlformats.org/drawingml/2006/main">
            <a:off x="7315200" y="4048125"/>
            <a:ext cx="1428750" cy="14287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65C12E6A-0A64-4B00-BF59-514EA86ED332}"/>
              </a:ext>
            </a:extLst>
          </p:cNvPr>
          <p:cNvSpPr>
            <a:spLocks xmlns:a="http://schemas.openxmlformats.org/drawingml/2006/main" noGrp="1"/>
          </p:cNvSpPr>
          <p:nvPr/>
        </p:nvSpPr>
        <p:spPr>
          <a:xfrm xmlns:a="http://schemas.openxmlformats.org/drawingml/2006/main">
            <a:off x="7315200" y="5562600"/>
            <a:ext cx="2066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1">
                <a:solidFill>
                  <a:srgbClr val="142F38"/>
                </a:solidFill>
                <a:latin typeface="Arial"/>
                <a:ea typeface="Arial"/>
                <a:cs typeface="Arial"/>
              </a:defRPr>
            </a:defPPr>
            <a:lvl1pPr>
              <a:defRPr sz="1650" b="1">
                <a:solidFill>
                  <a:srgbClr val="142F38"/>
                </a:solidFill>
                <a:latin typeface="Arial"/>
                <a:ea typeface="Arial"/>
                <a:cs typeface="Arial"/>
              </a:defRPr>
            </a:lvl1pPr>
            <a:lvl2pPr>
              <a:defRPr sz="1650" b="1">
                <a:solidFill>
                  <a:srgbClr val="142F38"/>
                </a:solidFill>
                <a:latin typeface="Arial"/>
                <a:ea typeface="Arial"/>
                <a:cs typeface="Arial"/>
              </a:defRPr>
            </a:lvl2pPr>
            <a:lvl3pPr>
              <a:defRPr sz="1650" b="1">
                <a:solidFill>
                  <a:srgbClr val="142F38"/>
                </a:solidFill>
                <a:latin typeface="Arial"/>
                <a:ea typeface="Arial"/>
                <a:cs typeface="Arial"/>
              </a:defRPr>
            </a:lvl3pPr>
            <a:lvl4pPr>
              <a:defRPr sz="1650" b="1">
                <a:solidFill>
                  <a:srgbClr val="142F38"/>
                </a:solidFill>
                <a:latin typeface="Arial"/>
                <a:ea typeface="Arial"/>
                <a:cs typeface="Arial"/>
              </a:defRPr>
            </a:lvl4pPr>
            <a:lvl5pPr>
              <a:defRPr sz="1650" b="1">
                <a:solidFill>
                  <a:srgbClr val="142F38"/>
                </a:solidFill>
                <a:latin typeface="Arial"/>
                <a:ea typeface="Arial"/>
                <a:cs typeface="Arial"/>
              </a:defRPr>
            </a:lvl5pPr>
            <a:lvl6pPr>
              <a:defRPr sz="1650" b="1">
                <a:solidFill>
                  <a:srgbClr val="142F38"/>
                </a:solidFill>
                <a:latin typeface="Arial"/>
                <a:ea typeface="Arial"/>
                <a:cs typeface="Arial"/>
              </a:defRPr>
            </a:lvl6pPr>
            <a:lvl7pPr>
              <a:defRPr sz="1650" b="1">
                <a:solidFill>
                  <a:srgbClr val="142F38"/>
                </a:solidFill>
                <a:latin typeface="Arial"/>
                <a:ea typeface="Arial"/>
                <a:cs typeface="Arial"/>
              </a:defRPr>
            </a:lvl7pPr>
            <a:lvl8pPr>
              <a:defRPr sz="1650" b="1">
                <a:solidFill>
                  <a:srgbClr val="142F38"/>
                </a:solidFill>
                <a:latin typeface="Arial"/>
                <a:ea typeface="Arial"/>
                <a:cs typeface="Arial"/>
              </a:defRPr>
            </a:lvl8pPr>
            <a:lvl9pPr>
              <a:defRPr sz="1650" b="1">
                <a:solidFill>
                  <a:srgbClr val="142F38"/>
                </a:solidFill>
                <a:latin typeface="Arial"/>
                <a:ea typeface="Arial"/>
                <a:cs typeface="Arial"/>
              </a:defRPr>
            </a:lvl9pPr>
          </a:lstStyle>
          <a:p xmlns:a="http://schemas.openxmlformats.org/drawingml/2006/main">
            <a:pPr>
              <a:defRPr sz="1650" b="1">
                <a:solidFill>
                  <a:srgbClr val="142F38"/>
                </a:solidFill>
                <a:latin typeface="Arial"/>
                <a:ea typeface="Arial"/>
                <a:cs typeface="Arial"/>
              </a:defRPr>
            </a:pPr>
            <a:r>
              <a:rPr sz="1650" b="1">
                <a:solidFill>
                  <a:srgbClr val="142F38"/>
                </a:solidFill>
                <a:latin typeface="Arial"/>
                <a:ea typeface="Arial"/>
                <a:cs typeface="Arial"/>
              </a:rPr>
              <a:t>Bag</a:t>
            </a:r>
          </a:p>
        </p:txBody>
      </p:sp>
      <p:pic>
        <p:nvPicPr>
          <p:cNvPr id="23" name="">
            <a:extLst xmlns:a="http://schemas.openxmlformats.org/drawingml/2006/main">
              <a:ext uri="{FF2B5EF4-FFF2-40B4-BE49-F238E27FC236}">
                <a16:creationId xmlns:a16="http://schemas.microsoft.com/office/drawing/2014/main" id="{9BEBB2C9-2D6F-427E-BA33-9D4F6B34FE9C}"/>
              </a:ext>
            </a:extLst>
          </p:cNvPr>
          <p:cNvPicPr>
            <a:picLocks xmlns:a="http://schemas.openxmlformats.org/drawingml/2006/main" noChangeAspect="1"/>
          </p:cNvPicPr>
          <p:nvPr/>
        </p:nvPicPr>
        <p:blipFill>
          <a:blip xmlns:r="http://schemas.openxmlformats.org/officeDocument/2006/relationships" xmlns:a="http://schemas.openxmlformats.org/drawingml/2006/main" r:embed="R5c90748356c44faf"/>
          <a:stretch xmlns:a="http://schemas.openxmlformats.org/drawingml/2006/main"/>
        </p:blipFill>
        <p:spPr>
          <a:xfrm xmlns:a="http://schemas.openxmlformats.org/drawingml/2006/main">
            <a:off x="9505950" y="4048125"/>
            <a:ext cx="1428750" cy="1428750"/>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569BD5AD-AC5D-47DE-97EF-85E844CD4F93}"/>
              </a:ext>
            </a:extLst>
          </p:cNvPr>
          <p:cNvSpPr>
            <a:spLocks xmlns:a="http://schemas.openxmlformats.org/drawingml/2006/main" noGrp="1"/>
          </p:cNvSpPr>
          <p:nvPr/>
        </p:nvSpPr>
        <p:spPr>
          <a:xfrm xmlns:a="http://schemas.openxmlformats.org/drawingml/2006/main">
            <a:off x="9505950" y="5562600"/>
            <a:ext cx="2066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1">
                <a:solidFill>
                  <a:srgbClr val="142F38"/>
                </a:solidFill>
                <a:latin typeface="Arial"/>
                <a:ea typeface="Arial"/>
                <a:cs typeface="Arial"/>
              </a:defRPr>
            </a:defPPr>
            <a:lvl1pPr>
              <a:defRPr sz="1650" b="1">
                <a:solidFill>
                  <a:srgbClr val="142F38"/>
                </a:solidFill>
                <a:latin typeface="Arial"/>
                <a:ea typeface="Arial"/>
                <a:cs typeface="Arial"/>
              </a:defRPr>
            </a:lvl1pPr>
            <a:lvl2pPr>
              <a:defRPr sz="1650" b="1">
                <a:solidFill>
                  <a:srgbClr val="142F38"/>
                </a:solidFill>
                <a:latin typeface="Arial"/>
                <a:ea typeface="Arial"/>
                <a:cs typeface="Arial"/>
              </a:defRPr>
            </a:lvl2pPr>
            <a:lvl3pPr>
              <a:defRPr sz="1650" b="1">
                <a:solidFill>
                  <a:srgbClr val="142F38"/>
                </a:solidFill>
                <a:latin typeface="Arial"/>
                <a:ea typeface="Arial"/>
                <a:cs typeface="Arial"/>
              </a:defRPr>
            </a:lvl3pPr>
            <a:lvl4pPr>
              <a:defRPr sz="1650" b="1">
                <a:solidFill>
                  <a:srgbClr val="142F38"/>
                </a:solidFill>
                <a:latin typeface="Arial"/>
                <a:ea typeface="Arial"/>
                <a:cs typeface="Arial"/>
              </a:defRPr>
            </a:lvl4pPr>
            <a:lvl5pPr>
              <a:defRPr sz="1650" b="1">
                <a:solidFill>
                  <a:srgbClr val="142F38"/>
                </a:solidFill>
                <a:latin typeface="Arial"/>
                <a:ea typeface="Arial"/>
                <a:cs typeface="Arial"/>
              </a:defRPr>
            </a:lvl5pPr>
            <a:lvl6pPr>
              <a:defRPr sz="1650" b="1">
                <a:solidFill>
                  <a:srgbClr val="142F38"/>
                </a:solidFill>
                <a:latin typeface="Arial"/>
                <a:ea typeface="Arial"/>
                <a:cs typeface="Arial"/>
              </a:defRPr>
            </a:lvl6pPr>
            <a:lvl7pPr>
              <a:defRPr sz="1650" b="1">
                <a:solidFill>
                  <a:srgbClr val="142F38"/>
                </a:solidFill>
                <a:latin typeface="Arial"/>
                <a:ea typeface="Arial"/>
                <a:cs typeface="Arial"/>
              </a:defRPr>
            </a:lvl7pPr>
            <a:lvl8pPr>
              <a:defRPr sz="1650" b="1">
                <a:solidFill>
                  <a:srgbClr val="142F38"/>
                </a:solidFill>
                <a:latin typeface="Arial"/>
                <a:ea typeface="Arial"/>
                <a:cs typeface="Arial"/>
              </a:defRPr>
            </a:lvl8pPr>
            <a:lvl9pPr>
              <a:defRPr sz="1650" b="1">
                <a:solidFill>
                  <a:srgbClr val="142F38"/>
                </a:solidFill>
                <a:latin typeface="Arial"/>
                <a:ea typeface="Arial"/>
                <a:cs typeface="Arial"/>
              </a:defRPr>
            </a:lvl9pPr>
          </a:lstStyle>
          <a:p xmlns:a="http://schemas.openxmlformats.org/drawingml/2006/main">
            <a:pPr>
              <a:defRPr sz="1650" b="1">
                <a:solidFill>
                  <a:srgbClr val="142F38"/>
                </a:solidFill>
                <a:latin typeface="Arial"/>
                <a:ea typeface="Arial"/>
                <a:cs typeface="Arial"/>
              </a:defRPr>
            </a:pPr>
            <a:r>
              <a:rPr sz="1650" b="1">
                <a:solidFill>
                  <a:srgbClr val="142F38"/>
                </a:solidFill>
                <a:latin typeface="Arial"/>
                <a:ea typeface="Arial"/>
                <a:cs typeface="Arial"/>
              </a:rPr>
              <a:t>Ankle boot</a:t>
            </a:r>
          </a:p>
        </p:txBody>
      </p:sp>
      <p:sp>
        <p:nvSpPr>
          <p:cNvPr id="25" name="">
            <a:extLst xmlns:a="http://schemas.openxmlformats.org/drawingml/2006/main">
              <a:ext uri="{FF2B5EF4-FFF2-40B4-BE49-F238E27FC236}">
                <a16:creationId xmlns:a16="http://schemas.microsoft.com/office/drawing/2014/main" id="{03C58DA4-4A2B-4551-8504-EAB59E24448E}"/>
              </a:ext>
            </a:extLst>
          </p:cNvPr>
          <p:cNvSpPr>
            <a:spLocks xmlns:a="http://schemas.openxmlformats.org/drawingml/2006/main" noGrp="1"/>
          </p:cNvSpPr>
          <p:nvPr/>
        </p:nvSpPr>
        <p:spPr>
          <a:xfrm xmlns:a="http://schemas.openxmlformats.org/drawingml/2006/main">
            <a:off x="647700" y="616267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425" b="0">
                <a:solidFill>
                  <a:srgbClr val="52656D"/>
                </a:solidFill>
                <a:latin typeface="Arial"/>
                <a:ea typeface="Arial"/>
                <a:cs typeface="Arial"/>
              </a:defRPr>
            </a:defPPr>
            <a:lvl1pPr>
              <a:defRPr sz="1425" b="0">
                <a:solidFill>
                  <a:srgbClr val="52656D"/>
                </a:solidFill>
                <a:latin typeface="Arial"/>
                <a:ea typeface="Arial"/>
                <a:cs typeface="Arial"/>
              </a:defRPr>
            </a:lvl1pPr>
            <a:lvl2pPr>
              <a:defRPr sz="1425" b="0">
                <a:solidFill>
                  <a:srgbClr val="52656D"/>
                </a:solidFill>
                <a:latin typeface="Arial"/>
                <a:ea typeface="Arial"/>
                <a:cs typeface="Arial"/>
              </a:defRPr>
            </a:lvl2pPr>
            <a:lvl3pPr>
              <a:defRPr sz="1425" b="0">
                <a:solidFill>
                  <a:srgbClr val="52656D"/>
                </a:solidFill>
                <a:latin typeface="Arial"/>
                <a:ea typeface="Arial"/>
                <a:cs typeface="Arial"/>
              </a:defRPr>
            </a:lvl3pPr>
            <a:lvl4pPr>
              <a:defRPr sz="1425" b="0">
                <a:solidFill>
                  <a:srgbClr val="52656D"/>
                </a:solidFill>
                <a:latin typeface="Arial"/>
                <a:ea typeface="Arial"/>
                <a:cs typeface="Arial"/>
              </a:defRPr>
            </a:lvl4pPr>
            <a:lvl5pPr>
              <a:defRPr sz="1425" b="0">
                <a:solidFill>
                  <a:srgbClr val="52656D"/>
                </a:solidFill>
                <a:latin typeface="Arial"/>
                <a:ea typeface="Arial"/>
                <a:cs typeface="Arial"/>
              </a:defRPr>
            </a:lvl5pPr>
            <a:lvl6pPr>
              <a:defRPr sz="1425" b="0">
                <a:solidFill>
                  <a:srgbClr val="52656D"/>
                </a:solidFill>
                <a:latin typeface="Arial"/>
                <a:ea typeface="Arial"/>
                <a:cs typeface="Arial"/>
              </a:defRPr>
            </a:lvl6pPr>
            <a:lvl7pPr>
              <a:defRPr sz="1425" b="0">
                <a:solidFill>
                  <a:srgbClr val="52656D"/>
                </a:solidFill>
                <a:latin typeface="Arial"/>
                <a:ea typeface="Arial"/>
                <a:cs typeface="Arial"/>
              </a:defRPr>
            </a:lvl7pPr>
            <a:lvl8pPr>
              <a:defRPr sz="1425" b="0">
                <a:solidFill>
                  <a:srgbClr val="52656D"/>
                </a:solidFill>
                <a:latin typeface="Arial"/>
                <a:ea typeface="Arial"/>
                <a:cs typeface="Arial"/>
              </a:defRPr>
            </a:lvl8pPr>
            <a:lvl9pPr>
              <a:defRPr sz="1425" b="0">
                <a:solidFill>
                  <a:srgbClr val="52656D"/>
                </a:solidFill>
                <a:latin typeface="Arial"/>
                <a:ea typeface="Arial"/>
                <a:cs typeface="Arial"/>
              </a:defRPr>
            </a:lvl9pPr>
          </a:lstStyle>
          <a:p xmlns:a="http://schemas.openxmlformats.org/drawingml/2006/main">
            <a:pPr>
              <a:defRPr sz="1425" b="0">
                <a:solidFill>
                  <a:srgbClr val="52656D"/>
                </a:solidFill>
                <a:latin typeface="Arial"/>
                <a:ea typeface="Arial"/>
                <a:cs typeface="Arial"/>
              </a:defRPr>
            </a:pPr>
            <a:r>
              <a:rPr sz="1425" b="0">
                <a:solidFill>
                  <a:srgbClr val="52656D"/>
                </a:solidFill>
                <a:latin typeface="Arial"/>
                <a:ea typeface="Arial"/>
                <a:cs typeface="Arial"/>
              </a:rPr>
              <a:t>Official Zalando Fashion-MNIST. Seeded examples from the training fit pool.</a:t>
            </a:r>
          </a:p>
        </p:txBody>
      </p:sp>
    </p:spTree>
    <p:extLst>
      <p:ext uri="{BB962C8B-B14F-4D97-AF65-F5344CB8AC3E}">
        <p14:creationId xmlns:p14="http://schemas.microsoft.com/office/powerpoint/2010/main" val="321817250"/>
      </p:ext>
    </p:extLst>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8ACC29B0-CFB2-42BC-9DEF-F8E73CD458FB}"/>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Data checks and fair partitions</a:t>
            </a:r>
          </a:p>
        </p:txBody>
      </p:sp>
      <p:sp>
        <p:nvSpPr>
          <p:cNvPr id="3" name="">
            <a:extLst xmlns:a="http://schemas.openxmlformats.org/drawingml/2006/main">
              <a:ext uri="{FF2B5EF4-FFF2-40B4-BE49-F238E27FC236}">
                <a16:creationId xmlns:a16="http://schemas.microsoft.com/office/drawing/2014/main" id="{3F955813-0511-4CA8-85A3-BA3359335C68}"/>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05</a:t>
            </a:r>
          </a:p>
        </p:txBody>
      </p:sp>
      <p:graphicFrame>
        <p:nvGraphicFramePr>
          <p:cNvPr id="4" name="">
            <a:extLst xmlns:a="http://schemas.openxmlformats.org/drawingml/2006/main">
              <a:ext uri="{FF2B5EF4-FFF2-40B4-BE49-F238E27FC236}">
                <a16:creationId xmlns:a16="http://schemas.microsoft.com/office/drawing/2014/main" id="{BE116C80-8E9A-43E3-82D5-771A32B65C9B}"/>
              </a:ext>
            </a:extLst>
          </p:cNvPr>
          <p:cNvGraphicFramePr/>
          <p:nvPr/>
        </p:nvGraphicFramePr>
        <p:xfrm>
          <a:off xmlns:a="http://schemas.openxmlformats.org/drawingml/2006/main" x="647700" y="1524000"/>
          <a:ext xmlns:a="http://schemas.openxmlformats.org/drawingml/2006/main" cx="10896600" cy="2609850"/>
        </p:xfrm>
        <a:graphic xmlns:a="http://schemas.openxmlformats.org/drawingml/2006/main">
          <a:graphicData uri="http://schemas.openxmlformats.org/drawingml/2006/table">
            <a:tbl>
              <a:tblPr/>
              <a:tblGrid>
                <a:gridCol w="2667000"/>
                <a:gridCol w="2000250"/>
                <a:gridCol w="6229350"/>
              </a:tblGrid>
              <a:tr h="652463">
                <a:tc>
                  <a:txBody>
                    <a:bodyPr/>
                    <a:lstStyle/>
                    <a:p>
                      <a:r>
                        <a:rPr sz="2025" b="1">
                          <a:solidFill>
                            <a:srgbClr val="FFFFFF"/>
                          </a:solidFill>
                          <a:latin typeface="Arial"/>
                          <a:ea typeface="Arial"/>
                          <a:cs typeface="Arial"/>
                        </a:rPr>
                        <a:t>Partition</a:t>
                      </a:r>
                    </a:p>
                  </a:txBody>
                  <a:tcPr marL="95250" marR="95250" marT="85725" marB="57150" anchor="ctr">
                    <a:lnL w="6668">
                      <a:solidFill>
                        <a:srgbClr val="D9DFDF"/>
                      </a:solidFill>
                      <a:prstDash val="solid"/>
                    </a:lnL>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2025" b="1">
                          <a:solidFill>
                            <a:srgbClr val="FFFFFF"/>
                          </a:solidFill>
                          <a:latin typeface="Arial"/>
                          <a:ea typeface="Arial"/>
                          <a:cs typeface="Arial"/>
                        </a:rPr>
                        <a:t>Images</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2025" b="1">
                          <a:solidFill>
                            <a:srgbClr val="FFFFFF"/>
                          </a:solidFill>
                          <a:latin typeface="Arial"/>
                          <a:ea typeface="Arial"/>
                          <a:cs typeface="Arial"/>
                        </a:rPr>
                        <a:t>Use</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r>
              <a:tr h="652463">
                <a:tc>
                  <a:txBody>
                    <a:bodyPr/>
                    <a:lstStyle/>
                    <a:p>
                      <a:r>
                        <a:rPr sz="2025">
                          <a:solidFill>
                            <a:srgbClr val="142F38"/>
                          </a:solidFill>
                          <a:latin typeface="Arial"/>
                          <a:ea typeface="Arial"/>
                          <a:cs typeface="Arial"/>
                        </a:rPr>
                        <a:t>Fit pool</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48,000</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Fit all eight final models</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52463">
                <a:tc>
                  <a:txBody>
                    <a:bodyPr/>
                    <a:lstStyle/>
                    <a:p>
                      <a:r>
                        <a:rPr sz="2025">
                          <a:solidFill>
                            <a:srgbClr val="142F38"/>
                          </a:solidFill>
                          <a:latin typeface="Arial"/>
                          <a:ea typeface="Arial"/>
                          <a:cs typeface="Arial"/>
                        </a:rPr>
                        <a:t>Validation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12,000</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Choose settings and overall model</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52463">
                <a:tc>
                  <a:txBody>
                    <a:bodyPr/>
                    <a:lstStyle/>
                    <a:p>
                      <a:r>
                        <a:rPr sz="2025">
                          <a:solidFill>
                            <a:srgbClr val="142F38"/>
                          </a:solidFill>
                          <a:latin typeface="Arial"/>
                          <a:ea typeface="Arial"/>
                          <a:cs typeface="Arial"/>
                        </a:rPr>
                        <a:t>Official test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10,000</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2025">
                          <a:solidFill>
                            <a:srgbClr val="142F38"/>
                          </a:solidFill>
                          <a:latin typeface="Arial"/>
                          <a:ea typeface="Arial"/>
                          <a:cs typeface="Arial"/>
                        </a:rPr>
                        <a:t>Evaluate after selection freeze</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71F4F203-AA11-4A68-88BF-E629FA96C408}"/>
              </a:ext>
            </a:extLst>
          </p:cNvPr>
          <p:cNvSpPr>
            <a:spLocks xmlns:a="http://schemas.openxmlformats.org/drawingml/2006/main" noGrp="1"/>
          </p:cNvSpPr>
          <p:nvPr/>
        </p:nvSpPr>
        <p:spPr>
          <a:xfrm xmlns:a="http://schemas.openxmlformats.org/drawingml/2006/main">
            <a:off x="647700" y="44767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087F82"/>
                </a:solidFill>
                <a:latin typeface="Arial"/>
                <a:ea typeface="Arial"/>
                <a:cs typeface="Arial"/>
              </a:defRPr>
            </a:defPPr>
            <a:lvl1pPr>
              <a:defRPr sz="2175" b="1">
                <a:solidFill>
                  <a:srgbClr val="087F82"/>
                </a:solidFill>
                <a:latin typeface="Arial"/>
                <a:ea typeface="Arial"/>
                <a:cs typeface="Arial"/>
              </a:defRPr>
            </a:lvl1pPr>
            <a:lvl2pPr>
              <a:defRPr sz="2175" b="1">
                <a:solidFill>
                  <a:srgbClr val="087F82"/>
                </a:solidFill>
                <a:latin typeface="Arial"/>
                <a:ea typeface="Arial"/>
                <a:cs typeface="Arial"/>
              </a:defRPr>
            </a:lvl2pPr>
            <a:lvl3pPr>
              <a:defRPr sz="2175" b="1">
                <a:solidFill>
                  <a:srgbClr val="087F82"/>
                </a:solidFill>
                <a:latin typeface="Arial"/>
                <a:ea typeface="Arial"/>
                <a:cs typeface="Arial"/>
              </a:defRPr>
            </a:lvl3pPr>
            <a:lvl4pPr>
              <a:defRPr sz="2175" b="1">
                <a:solidFill>
                  <a:srgbClr val="087F82"/>
                </a:solidFill>
                <a:latin typeface="Arial"/>
                <a:ea typeface="Arial"/>
                <a:cs typeface="Arial"/>
              </a:defRPr>
            </a:lvl4pPr>
            <a:lvl5pPr>
              <a:defRPr sz="2175" b="1">
                <a:solidFill>
                  <a:srgbClr val="087F82"/>
                </a:solidFill>
                <a:latin typeface="Arial"/>
                <a:ea typeface="Arial"/>
                <a:cs typeface="Arial"/>
              </a:defRPr>
            </a:lvl5pPr>
            <a:lvl6pPr>
              <a:defRPr sz="2175" b="1">
                <a:solidFill>
                  <a:srgbClr val="087F82"/>
                </a:solidFill>
                <a:latin typeface="Arial"/>
                <a:ea typeface="Arial"/>
                <a:cs typeface="Arial"/>
              </a:defRPr>
            </a:lvl6pPr>
            <a:lvl7pPr>
              <a:defRPr sz="2175" b="1">
                <a:solidFill>
                  <a:srgbClr val="087F82"/>
                </a:solidFill>
                <a:latin typeface="Arial"/>
                <a:ea typeface="Arial"/>
                <a:cs typeface="Arial"/>
              </a:defRPr>
            </a:lvl7pPr>
            <a:lvl8pPr>
              <a:defRPr sz="2175" b="1">
                <a:solidFill>
                  <a:srgbClr val="087F82"/>
                </a:solidFill>
                <a:latin typeface="Arial"/>
                <a:ea typeface="Arial"/>
                <a:cs typeface="Arial"/>
              </a:defRPr>
            </a:lvl8pPr>
            <a:lvl9pPr>
              <a:defRPr sz="2175" b="1">
                <a:solidFill>
                  <a:srgbClr val="087F82"/>
                </a:solidFill>
                <a:latin typeface="Arial"/>
                <a:ea typeface="Arial"/>
                <a:cs typeface="Arial"/>
              </a:defRPr>
            </a:lvl9pPr>
          </a:lstStyle>
          <a:p xmlns:a="http://schemas.openxmlformats.org/drawingml/2006/main">
            <a:pPr>
              <a:defRPr sz="2175" b="1">
                <a:solidFill>
                  <a:srgbClr val="087F82"/>
                </a:solidFill>
                <a:latin typeface="Arial"/>
                <a:ea typeface="Arial"/>
                <a:cs typeface="Arial"/>
              </a:defRPr>
            </a:pPr>
            <a:r>
              <a:rPr sz="2175" b="1">
                <a:solidFill>
                  <a:srgbClr val="087F82"/>
                </a:solidFill>
                <a:latin typeface="Arial"/>
                <a:ea typeface="Arial"/>
                <a:cs typeface="Arial"/>
              </a:rPr>
              <a:t>Seed 42, stratified membership, saved original IDs</a:t>
            </a:r>
          </a:p>
        </p:txBody>
      </p:sp>
      <p:sp>
        <p:nvSpPr>
          <p:cNvPr id="6" name="">
            <a:extLst xmlns:a="http://schemas.openxmlformats.org/drawingml/2006/main">
              <a:ext uri="{FF2B5EF4-FFF2-40B4-BE49-F238E27FC236}">
                <a16:creationId xmlns:a16="http://schemas.microsoft.com/office/drawing/2014/main" id="{90572573-4530-4DEC-9A0C-D2FA609343AA}"/>
              </a:ext>
            </a:extLst>
          </p:cNvPr>
          <p:cNvSpPr>
            <a:spLocks xmlns:a="http://schemas.openxmlformats.org/drawingml/2006/main" noGrp="1"/>
          </p:cNvSpPr>
          <p:nvPr/>
        </p:nvSpPr>
        <p:spPr>
          <a:xfrm xmlns:a="http://schemas.openxmlformats.org/drawingml/2006/main">
            <a:off x="647700" y="5095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42F38"/>
                </a:solidFill>
                <a:latin typeface="Arial"/>
                <a:ea typeface="Arial"/>
                <a:cs typeface="Arial"/>
              </a:defRPr>
            </a:defPPr>
            <a:lvl1pPr>
              <a:defRPr sz="1875" b="0">
                <a:solidFill>
                  <a:srgbClr val="142F38"/>
                </a:solidFill>
                <a:latin typeface="Arial"/>
                <a:ea typeface="Arial"/>
                <a:cs typeface="Arial"/>
              </a:defRPr>
            </a:lvl1pPr>
            <a:lvl2pPr>
              <a:defRPr sz="1875" b="0">
                <a:solidFill>
                  <a:srgbClr val="142F38"/>
                </a:solidFill>
                <a:latin typeface="Arial"/>
                <a:ea typeface="Arial"/>
                <a:cs typeface="Arial"/>
              </a:defRPr>
            </a:lvl2pPr>
            <a:lvl3pPr>
              <a:defRPr sz="1875" b="0">
                <a:solidFill>
                  <a:srgbClr val="142F38"/>
                </a:solidFill>
                <a:latin typeface="Arial"/>
                <a:ea typeface="Arial"/>
                <a:cs typeface="Arial"/>
              </a:defRPr>
            </a:lvl3pPr>
            <a:lvl4pPr>
              <a:defRPr sz="1875" b="0">
                <a:solidFill>
                  <a:srgbClr val="142F38"/>
                </a:solidFill>
                <a:latin typeface="Arial"/>
                <a:ea typeface="Arial"/>
                <a:cs typeface="Arial"/>
              </a:defRPr>
            </a:lvl4pPr>
            <a:lvl5pPr>
              <a:defRPr sz="1875" b="0">
                <a:solidFill>
                  <a:srgbClr val="142F38"/>
                </a:solidFill>
                <a:latin typeface="Arial"/>
                <a:ea typeface="Arial"/>
                <a:cs typeface="Arial"/>
              </a:defRPr>
            </a:lvl5pPr>
            <a:lvl6pPr>
              <a:defRPr sz="1875" b="0">
                <a:solidFill>
                  <a:srgbClr val="142F38"/>
                </a:solidFill>
                <a:latin typeface="Arial"/>
                <a:ea typeface="Arial"/>
                <a:cs typeface="Arial"/>
              </a:defRPr>
            </a:lvl6pPr>
            <a:lvl7pPr>
              <a:defRPr sz="1875" b="0">
                <a:solidFill>
                  <a:srgbClr val="142F38"/>
                </a:solidFill>
                <a:latin typeface="Arial"/>
                <a:ea typeface="Arial"/>
                <a:cs typeface="Arial"/>
              </a:defRPr>
            </a:lvl7pPr>
            <a:lvl8pPr>
              <a:defRPr sz="1875" b="0">
                <a:solidFill>
                  <a:srgbClr val="142F38"/>
                </a:solidFill>
                <a:latin typeface="Arial"/>
                <a:ea typeface="Arial"/>
                <a:cs typeface="Arial"/>
              </a:defRPr>
            </a:lvl8pPr>
            <a:lvl9pPr>
              <a:defRPr sz="1875" b="0">
                <a:solidFill>
                  <a:srgbClr val="142F38"/>
                </a:solidFill>
                <a:latin typeface="Arial"/>
                <a:ea typeface="Arial"/>
                <a:cs typeface="Arial"/>
              </a:defRPr>
            </a:lvl9pPr>
          </a:lstStyle>
          <a:p xmlns:a="http://schemas.openxmlformats.org/drawingml/2006/main">
            <a:pPr>
              <a:defRPr sz="1875" b="0">
                <a:solidFill>
                  <a:srgbClr val="142F38"/>
                </a:solidFill>
                <a:latin typeface="Arial"/>
                <a:ea typeface="Arial"/>
                <a:cs typeface="Arial"/>
              </a:defRPr>
            </a:pPr>
            <a:r>
              <a:rPr sz="1875" b="0">
                <a:solidFill>
                  <a:srgbClr val="142F38"/>
                </a:solidFill>
                <a:latin typeface="Arial"/>
                <a:ea typeface="Arial"/>
                <a:cs typeface="Arial"/>
              </a:rPr>
              <a:t>Checks passed: shape, range, labels, exact duplicates and split overlap.</a:t>
            </a:r>
          </a:p>
          <a:p xmlns:a="http://schemas.openxmlformats.org/drawingml/2006/main">
            <a:pPr>
              <a:defRPr sz="1875" b="0">
                <a:solidFill>
                  <a:srgbClr val="142F38"/>
                </a:solidFill>
                <a:latin typeface="Arial"/>
                <a:ea typeface="Arial"/>
                <a:cs typeface="Arial"/>
              </a:defRPr>
            </a:pPr>
            <a:r>
              <a:rPr sz="1875" b="0">
                <a:solidFill>
                  <a:srgbClr val="142F38"/>
                </a:solidFill>
                <a:latin typeface="Arial"/>
                <a:ea typeface="Arial"/>
                <a:cs typeface="Arial"/>
              </a:rPr>
              <a:t>Near-duplicate detection and a full semantic label audit remain outside scope.</a:t>
            </a:r>
          </a:p>
        </p:txBody>
      </p:sp>
    </p:spTree>
    <p:extLst>
      <p:ext uri="{BB962C8B-B14F-4D97-AF65-F5344CB8AC3E}">
        <p14:creationId xmlns:p14="http://schemas.microsoft.com/office/powerpoint/2010/main" val="464350581"/>
      </p:ext>
    </p:extLst>
  </p:cSld>
</p:sld>
</file>

<file path=ppt/slides/slide6.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D9302B8-88EE-4F71-B9D6-4E3B6A4BEAA3}"/>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Pixels and HOG features</a:t>
            </a:r>
          </a:p>
        </p:txBody>
      </p:sp>
      <p:sp>
        <p:nvSpPr>
          <p:cNvPr id="3" name="">
            <a:extLst xmlns:a="http://schemas.openxmlformats.org/drawingml/2006/main">
              <a:ext uri="{FF2B5EF4-FFF2-40B4-BE49-F238E27FC236}">
                <a16:creationId xmlns:a16="http://schemas.microsoft.com/office/drawing/2014/main" id="{791A17A1-C4C3-4FF9-AEDE-4D4CA80E8929}"/>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06</a:t>
            </a:r>
          </a:p>
        </p:txBody>
      </p:sp>
      <p:pic>
        <p:nvPicPr>
          <p:cNvPr id="4" name="">
            <a:extLst xmlns:a="http://schemas.openxmlformats.org/drawingml/2006/main">
              <a:ext uri="{FF2B5EF4-FFF2-40B4-BE49-F238E27FC236}">
                <a16:creationId xmlns:a16="http://schemas.microsoft.com/office/drawing/2014/main" id="{246259AD-53E4-4DB0-9A21-3A91EFA564D4}"/>
              </a:ext>
            </a:extLst>
          </p:cNvPr>
          <p:cNvPicPr>
            <a:picLocks xmlns:a="http://schemas.openxmlformats.org/drawingml/2006/main" noChangeAspect="1"/>
          </p:cNvPicPr>
          <p:nvPr/>
        </p:nvPicPr>
        <p:blipFill>
          <a:blip xmlns:r="http://schemas.openxmlformats.org/officeDocument/2006/relationships" xmlns:a="http://schemas.openxmlformats.org/drawingml/2006/main" r:embed="R77e053e78d564a41"/>
          <a:stretch xmlns:a="http://schemas.openxmlformats.org/drawingml/2006/main"/>
        </p:blipFill>
        <p:spPr>
          <a:xfrm xmlns:a="http://schemas.openxmlformats.org/drawingml/2006/main">
            <a:off x="647700" y="1684873"/>
            <a:ext cx="5810250" cy="282150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D4FBB2D-935D-46DD-A135-576118622825}"/>
              </a:ext>
            </a:extLst>
          </p:cNvPr>
          <p:cNvSpPr>
            <a:spLocks xmlns:a="http://schemas.openxmlformats.org/drawingml/2006/main" noGrp="1"/>
          </p:cNvSpPr>
          <p:nvPr/>
        </p:nvSpPr>
        <p:spPr>
          <a:xfrm xmlns:a="http://schemas.openxmlformats.org/drawingml/2006/main">
            <a:off x="6953250" y="1666875"/>
            <a:ext cx="4476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325" b="1">
                <a:solidFill>
                  <a:srgbClr val="142F38"/>
                </a:solidFill>
                <a:latin typeface="Arial"/>
                <a:ea typeface="Arial"/>
                <a:cs typeface="Arial"/>
              </a:defRPr>
            </a:defPPr>
            <a:lvl1pPr>
              <a:defRPr sz="2325" b="1">
                <a:solidFill>
                  <a:srgbClr val="142F38"/>
                </a:solidFill>
                <a:latin typeface="Arial"/>
                <a:ea typeface="Arial"/>
                <a:cs typeface="Arial"/>
              </a:defRPr>
            </a:lvl1pPr>
            <a:lvl2pPr>
              <a:defRPr sz="2325" b="1">
                <a:solidFill>
                  <a:srgbClr val="142F38"/>
                </a:solidFill>
                <a:latin typeface="Arial"/>
                <a:ea typeface="Arial"/>
                <a:cs typeface="Arial"/>
              </a:defRPr>
            </a:lvl2pPr>
            <a:lvl3pPr>
              <a:defRPr sz="2325" b="1">
                <a:solidFill>
                  <a:srgbClr val="142F38"/>
                </a:solidFill>
                <a:latin typeface="Arial"/>
                <a:ea typeface="Arial"/>
                <a:cs typeface="Arial"/>
              </a:defRPr>
            </a:lvl3pPr>
            <a:lvl4pPr>
              <a:defRPr sz="2325" b="1">
                <a:solidFill>
                  <a:srgbClr val="142F38"/>
                </a:solidFill>
                <a:latin typeface="Arial"/>
                <a:ea typeface="Arial"/>
                <a:cs typeface="Arial"/>
              </a:defRPr>
            </a:lvl4pPr>
            <a:lvl5pPr>
              <a:defRPr sz="2325" b="1">
                <a:solidFill>
                  <a:srgbClr val="142F38"/>
                </a:solidFill>
                <a:latin typeface="Arial"/>
                <a:ea typeface="Arial"/>
                <a:cs typeface="Arial"/>
              </a:defRPr>
            </a:lvl5pPr>
            <a:lvl6pPr>
              <a:defRPr sz="2325" b="1">
                <a:solidFill>
                  <a:srgbClr val="142F38"/>
                </a:solidFill>
                <a:latin typeface="Arial"/>
                <a:ea typeface="Arial"/>
                <a:cs typeface="Arial"/>
              </a:defRPr>
            </a:lvl6pPr>
            <a:lvl7pPr>
              <a:defRPr sz="2325" b="1">
                <a:solidFill>
                  <a:srgbClr val="142F38"/>
                </a:solidFill>
                <a:latin typeface="Arial"/>
                <a:ea typeface="Arial"/>
                <a:cs typeface="Arial"/>
              </a:defRPr>
            </a:lvl7pPr>
            <a:lvl8pPr>
              <a:defRPr sz="2325" b="1">
                <a:solidFill>
                  <a:srgbClr val="142F38"/>
                </a:solidFill>
                <a:latin typeface="Arial"/>
                <a:ea typeface="Arial"/>
                <a:cs typeface="Arial"/>
              </a:defRPr>
            </a:lvl8pPr>
            <a:lvl9pPr>
              <a:defRPr sz="2325" b="1">
                <a:solidFill>
                  <a:srgbClr val="142F38"/>
                </a:solidFill>
                <a:latin typeface="Arial"/>
                <a:ea typeface="Arial"/>
                <a:cs typeface="Arial"/>
              </a:defRPr>
            </a:lvl9pPr>
          </a:lstStyle>
          <a:p xmlns:a="http://schemas.openxmlformats.org/drawingml/2006/main">
            <a:pPr>
              <a:defRPr sz="2325" b="1">
                <a:solidFill>
                  <a:srgbClr val="142F38"/>
                </a:solidFill>
                <a:latin typeface="Arial"/>
                <a:ea typeface="Arial"/>
                <a:cs typeface="Arial"/>
              </a:defRPr>
            </a:pPr>
            <a:r>
              <a:rPr sz="2325" b="1">
                <a:solidFill>
                  <a:srgbClr val="142F38"/>
                </a:solidFill>
                <a:latin typeface="Arial"/>
                <a:ea typeface="Arial"/>
                <a:cs typeface="Arial"/>
              </a:rPr>
              <a:t>Pixels: 28 × 28 = 784</a:t>
            </a:r>
          </a:p>
          <a:p xmlns:a="http://schemas.openxmlformats.org/drawingml/2006/main">
            <a:r>
              <a:t/>
            </a:r>
          </a:p>
          <a:p xmlns:a="http://schemas.openxmlformats.org/drawingml/2006/main">
            <a:pPr>
              <a:defRPr sz="2325" b="1">
                <a:solidFill>
                  <a:srgbClr val="142F38"/>
                </a:solidFill>
                <a:latin typeface="Arial"/>
                <a:ea typeface="Arial"/>
                <a:cs typeface="Arial"/>
              </a:defRPr>
            </a:pPr>
            <a:r>
              <a:rPr sz="2325" b="1">
                <a:solidFill>
                  <a:srgbClr val="142F38"/>
                </a:solidFill>
                <a:latin typeface="Arial"/>
                <a:ea typeface="Arial"/>
                <a:cs typeface="Arial"/>
              </a:rPr>
              <a:t>HOG: 6 × 6 × 2 × 2 × 9</a:t>
            </a:r>
          </a:p>
          <a:p xmlns:a="http://schemas.openxmlformats.org/drawingml/2006/main">
            <a:pPr>
              <a:defRPr sz="2325" b="1">
                <a:solidFill>
                  <a:srgbClr val="142F38"/>
                </a:solidFill>
                <a:latin typeface="Arial"/>
                <a:ea typeface="Arial"/>
                <a:cs typeface="Arial"/>
              </a:defRPr>
            </a:pPr>
            <a:r>
              <a:rPr sz="2325" b="1">
                <a:solidFill>
                  <a:srgbClr val="142F38"/>
                </a:solidFill>
                <a:latin typeface="Arial"/>
                <a:ea typeface="Arial"/>
                <a:cs typeface="Arial"/>
              </a:rPr>
              <a:t>= 1,296 features</a:t>
            </a:r>
          </a:p>
        </p:txBody>
      </p:sp>
      <p:sp>
        <p:nvSpPr>
          <p:cNvPr id="6" name="">
            <a:extLst xmlns:a="http://schemas.openxmlformats.org/drawingml/2006/main">
              <a:ext uri="{FF2B5EF4-FFF2-40B4-BE49-F238E27FC236}">
                <a16:creationId xmlns:a16="http://schemas.microsoft.com/office/drawing/2014/main" id="{8E5BD0A8-7D00-4F46-9503-12F05319581B}"/>
              </a:ext>
            </a:extLst>
          </p:cNvPr>
          <p:cNvSpPr>
            <a:spLocks xmlns:a="http://schemas.openxmlformats.org/drawingml/2006/main" noGrp="1"/>
          </p:cNvSpPr>
          <p:nvPr/>
        </p:nvSpPr>
        <p:spPr>
          <a:xfrm xmlns:a="http://schemas.openxmlformats.org/drawingml/2006/main">
            <a:off x="647700" y="519112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HOG settings: 9 orientations, 4 × 4 cells, 2 × 2 blocks, L2-Hys</a:t>
            </a:r>
          </a:p>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Normalize pixels to [0, 1]. Fit any StandardScaler on the fit pool only.</a:t>
            </a:r>
          </a:p>
        </p:txBody>
      </p:sp>
    </p:spTree>
    <p:extLst>
      <p:ext uri="{BB962C8B-B14F-4D97-AF65-F5344CB8AC3E}">
        <p14:creationId xmlns:p14="http://schemas.microsoft.com/office/powerpoint/2010/main" val="1596579246"/>
      </p:ext>
    </p:extLst>
  </p:cSld>
</p:sld>
</file>

<file path=ppt/slides/slide7.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CA8AFE4-EE98-4649-B26F-6E6EA46FD8AF}"/>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Logistic Regression and kNN</a:t>
            </a:r>
          </a:p>
        </p:txBody>
      </p:sp>
      <p:sp>
        <p:nvSpPr>
          <p:cNvPr id="3" name="">
            <a:extLst xmlns:a="http://schemas.openxmlformats.org/drawingml/2006/main">
              <a:ext uri="{FF2B5EF4-FFF2-40B4-BE49-F238E27FC236}">
                <a16:creationId xmlns:a16="http://schemas.microsoft.com/office/drawing/2014/main" id="{DBB1569D-8FFD-4B31-9077-0F4F1B8B8481}"/>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9E9F604E-85E8-4D60-B667-BBE8936559A4}"/>
              </a:ext>
            </a:extLst>
          </p:cNvPr>
          <p:cNvSpPr>
            <a:spLocks xmlns:a="http://schemas.openxmlformats.org/drawingml/2006/main" noGrp="1"/>
          </p:cNvSpPr>
          <p:nvPr/>
        </p:nvSpPr>
        <p:spPr>
          <a:xfrm xmlns:a="http://schemas.openxmlformats.org/drawingml/2006/main">
            <a:off x="647700" y="16192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Logistic Regression</a:t>
            </a:r>
          </a:p>
        </p:txBody>
      </p:sp>
      <p:sp>
        <p:nvSpPr>
          <p:cNvPr id="5" name="">
            <a:extLst xmlns:a="http://schemas.openxmlformats.org/drawingml/2006/main">
              <a:ext uri="{FF2B5EF4-FFF2-40B4-BE49-F238E27FC236}">
                <a16:creationId xmlns:a16="http://schemas.microsoft.com/office/drawing/2014/main" id="{F5045E33-619F-41CA-B875-D180144D567E}"/>
              </a:ext>
            </a:extLst>
          </p:cNvPr>
          <p:cNvSpPr>
            <a:spLocks xmlns:a="http://schemas.openxmlformats.org/drawingml/2006/main" noGrp="1"/>
          </p:cNvSpPr>
          <p:nvPr/>
        </p:nvSpPr>
        <p:spPr>
          <a:xfrm xmlns:a="http://schemas.openxmlformats.org/drawingml/2006/main">
            <a:off x="647700" y="2162175"/>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Learns linear category scores. C controls regularization strength.</a:t>
            </a:r>
          </a:p>
        </p:txBody>
      </p:sp>
      <p:sp>
        <p:nvSpPr>
          <p:cNvPr id="6" name="">
            <a:extLst xmlns:a="http://schemas.openxmlformats.org/drawingml/2006/main">
              <a:ext uri="{FF2B5EF4-FFF2-40B4-BE49-F238E27FC236}">
                <a16:creationId xmlns:a16="http://schemas.microsoft.com/office/drawing/2014/main" id="{841ED92B-F11B-4E38-BB94-352903A219D4}"/>
              </a:ext>
            </a:extLst>
          </p:cNvPr>
          <p:cNvSpPr>
            <a:spLocks xmlns:a="http://schemas.openxmlformats.org/drawingml/2006/main" noGrp="1"/>
          </p:cNvSpPr>
          <p:nvPr/>
        </p:nvSpPr>
        <p:spPr>
          <a:xfrm xmlns:a="http://schemas.openxmlformats.org/drawingml/2006/main">
            <a:off x="6457950" y="16192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k nearest neighbors</a:t>
            </a:r>
          </a:p>
        </p:txBody>
      </p:sp>
      <p:sp>
        <p:nvSpPr>
          <p:cNvPr id="7" name="">
            <a:extLst xmlns:a="http://schemas.openxmlformats.org/drawingml/2006/main">
              <a:ext uri="{FF2B5EF4-FFF2-40B4-BE49-F238E27FC236}">
                <a16:creationId xmlns:a16="http://schemas.microsoft.com/office/drawing/2014/main" id="{C4A9A761-5ECF-46A3-8C32-E65C78927C83}"/>
              </a:ext>
            </a:extLst>
          </p:cNvPr>
          <p:cNvSpPr>
            <a:spLocks xmlns:a="http://schemas.openxmlformats.org/drawingml/2006/main" noGrp="1"/>
          </p:cNvSpPr>
          <p:nvPr/>
        </p:nvSpPr>
        <p:spPr>
          <a:xfrm xmlns:a="http://schemas.openxmlformats.org/drawingml/2006/main">
            <a:off x="6457950" y="2162175"/>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Uses distance-weighted votes from stored examples. k controls the neighborhood.</a:t>
            </a:r>
          </a:p>
        </p:txBody>
      </p:sp>
      <p:graphicFrame>
        <p:nvGraphicFramePr>
          <p:cNvPr id="8" name="">
            <a:extLst xmlns:a="http://schemas.openxmlformats.org/drawingml/2006/main">
              <a:ext uri="{FF2B5EF4-FFF2-40B4-BE49-F238E27FC236}">
                <a16:creationId xmlns:a16="http://schemas.microsoft.com/office/drawing/2014/main" id="{258F94B2-D86C-4025-B384-3F754719AC7F}"/>
              </a:ext>
            </a:extLst>
          </p:cNvPr>
          <p:cNvGraphicFramePr/>
          <p:nvPr/>
        </p:nvGraphicFramePr>
        <p:xfrm>
          <a:off xmlns:a="http://schemas.openxmlformats.org/drawingml/2006/main" x="647700" y="4191000"/>
          <a:ext xmlns:a="http://schemas.openxmlformats.org/drawingml/2006/main" cx="10896600" cy="1866900"/>
        </p:xfrm>
        <a:graphic xmlns:a="http://schemas.openxmlformats.org/drawingml/2006/main">
          <a:graphicData uri="http://schemas.openxmlformats.org/drawingml/2006/table">
            <a:tbl>
              <a:tblPr/>
              <a:tblGrid>
                <a:gridCol w="4572000"/>
                <a:gridCol w="6324600"/>
              </a:tblGrid>
              <a:tr h="466725">
                <a:tc>
                  <a:txBody>
                    <a:bodyPr/>
                    <a:lstStyle/>
                    <a:p>
                      <a:r>
                        <a:rPr sz="1875" b="1">
                          <a:solidFill>
                            <a:srgbClr val="FFFFFF"/>
                          </a:solidFill>
                          <a:latin typeface="Arial"/>
                          <a:ea typeface="Arial"/>
                          <a:cs typeface="Arial"/>
                        </a:rPr>
                        <a:t>Pipeline</a:t>
                      </a:r>
                    </a:p>
                  </a:txBody>
                  <a:tcPr marL="95250" marR="95250" marT="85725" marB="57150" anchor="ctr">
                    <a:lnL w="6668">
                      <a:solidFill>
                        <a:srgbClr val="D9DFDF"/>
                      </a:solidFill>
                      <a:prstDash val="solid"/>
                    </a:lnL>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875" b="1">
                          <a:solidFill>
                            <a:srgbClr val="FFFFFF"/>
                          </a:solidFill>
                          <a:latin typeface="Arial"/>
                          <a:ea typeface="Arial"/>
                          <a:cs typeface="Arial"/>
                        </a:rPr>
                        <a:t>Preprocessing</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r>
              <a:tr h="466725">
                <a:tc>
                  <a:txBody>
                    <a:bodyPr/>
                    <a:lstStyle/>
                    <a:p>
                      <a:r>
                        <a:rPr sz="1875">
                          <a:solidFill>
                            <a:srgbClr val="142F38"/>
                          </a:solidFill>
                          <a:latin typeface="Arial"/>
                          <a:ea typeface="Arial"/>
                          <a:cs typeface="Arial"/>
                        </a:rPr>
                        <a:t>LR with pixels or HOG</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Training-only StandardScaler</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66725">
                <a:tc>
                  <a:txBody>
                    <a:bodyPr/>
                    <a:lstStyle/>
                    <a:p>
                      <a:r>
                        <a:rPr sz="1875">
                          <a:solidFill>
                            <a:srgbClr val="142F38"/>
                          </a:solidFill>
                          <a:latin typeface="Arial"/>
                          <a:ea typeface="Arial"/>
                          <a:cs typeface="Arial"/>
                        </a:rPr>
                        <a:t>kNN with pixels</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Pixel normalization only</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66725">
                <a:tc>
                  <a:txBody>
                    <a:bodyPr/>
                    <a:lstStyle/>
                    <a:p>
                      <a:r>
                        <a:rPr sz="1875">
                          <a:solidFill>
                            <a:srgbClr val="142F38"/>
                          </a:solidFill>
                          <a:latin typeface="Arial"/>
                          <a:ea typeface="Arial"/>
                          <a:cs typeface="Arial"/>
                        </a:rPr>
                        <a:t>kNN with HOG</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Training-only StandardScaler</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bl>
          </a:graphicData>
        </a:graphic>
      </p:graphicFrame>
    </p:spTree>
    <p:extLst>
      <p:ext uri="{BB962C8B-B14F-4D97-AF65-F5344CB8AC3E}">
        <p14:creationId xmlns:p14="http://schemas.microsoft.com/office/powerpoint/2010/main" val="1668916559"/>
      </p:ext>
    </p:extLst>
  </p:cSld>
</p:sld>
</file>

<file path=ppt/slides/slide8.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EECDD452-2FCB-42A0-9632-694C699E810B}"/>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Random Forest and RBF SVM</a:t>
            </a:r>
          </a:p>
        </p:txBody>
      </p:sp>
      <p:sp>
        <p:nvSpPr>
          <p:cNvPr id="3" name="">
            <a:extLst xmlns:a="http://schemas.openxmlformats.org/drawingml/2006/main">
              <a:ext uri="{FF2B5EF4-FFF2-40B4-BE49-F238E27FC236}">
                <a16:creationId xmlns:a16="http://schemas.microsoft.com/office/drawing/2014/main" id="{D19FB861-E73D-4E80-B92E-19B026644848}"/>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0DFEB886-87FE-44BD-9C92-656FBCE17767}"/>
              </a:ext>
            </a:extLst>
          </p:cNvPr>
          <p:cNvSpPr>
            <a:spLocks xmlns:a="http://schemas.openxmlformats.org/drawingml/2006/main" noGrp="1"/>
          </p:cNvSpPr>
          <p:nvPr/>
        </p:nvSpPr>
        <p:spPr>
          <a:xfrm xmlns:a="http://schemas.openxmlformats.org/drawingml/2006/main">
            <a:off x="647700" y="166687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Random Forest</a:t>
            </a:r>
          </a:p>
        </p:txBody>
      </p:sp>
      <p:sp>
        <p:nvSpPr>
          <p:cNvPr id="5" name="">
            <a:extLst xmlns:a="http://schemas.openxmlformats.org/drawingml/2006/main">
              <a:ext uri="{FF2B5EF4-FFF2-40B4-BE49-F238E27FC236}">
                <a16:creationId xmlns:a16="http://schemas.microsoft.com/office/drawing/2014/main" id="{0132CE39-02A5-443B-BBB5-5BE8AC723CD4}"/>
              </a:ext>
            </a:extLst>
          </p:cNvPr>
          <p:cNvSpPr>
            <a:spLocks xmlns:a="http://schemas.openxmlformats.org/drawingml/2006/main" noGrp="1"/>
          </p:cNvSpPr>
          <p:nvPr/>
        </p:nvSpPr>
        <p:spPr>
          <a:xfrm xmlns:a="http://schemas.openxmlformats.org/drawingml/2006/main">
            <a:off x="647700" y="2209800"/>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200 randomized decision trees. Depth controls rule complexity. No StandardScaler.</a:t>
            </a:r>
          </a:p>
        </p:txBody>
      </p:sp>
      <p:sp>
        <p:nvSpPr>
          <p:cNvPr id="6" name="">
            <a:extLst xmlns:a="http://schemas.openxmlformats.org/drawingml/2006/main">
              <a:ext uri="{FF2B5EF4-FFF2-40B4-BE49-F238E27FC236}">
                <a16:creationId xmlns:a16="http://schemas.microsoft.com/office/drawing/2014/main" id="{EB1FB51A-36FB-4153-A166-88B9A5473194}"/>
              </a:ext>
            </a:extLst>
          </p:cNvPr>
          <p:cNvSpPr>
            <a:spLocks xmlns:a="http://schemas.openxmlformats.org/drawingml/2006/main" noGrp="1"/>
          </p:cNvSpPr>
          <p:nvPr/>
        </p:nvSpPr>
        <p:spPr>
          <a:xfrm xmlns:a="http://schemas.openxmlformats.org/drawingml/2006/main">
            <a:off x="6457950" y="166687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RBF SVM</a:t>
            </a:r>
          </a:p>
        </p:txBody>
      </p:sp>
      <p:sp>
        <p:nvSpPr>
          <p:cNvPr id="7" name="">
            <a:extLst xmlns:a="http://schemas.openxmlformats.org/drawingml/2006/main">
              <a:ext uri="{FF2B5EF4-FFF2-40B4-BE49-F238E27FC236}">
                <a16:creationId xmlns:a16="http://schemas.microsoft.com/office/drawing/2014/main" id="{C17FE4BA-3DC9-42FC-875A-A813CE03BE0E}"/>
              </a:ext>
            </a:extLst>
          </p:cNvPr>
          <p:cNvSpPr>
            <a:spLocks xmlns:a="http://schemas.openxmlformats.org/drawingml/2006/main" noGrp="1"/>
          </p:cNvSpPr>
          <p:nvPr/>
        </p:nvSpPr>
        <p:spPr>
          <a:xfrm xmlns:a="http://schemas.openxmlformats.org/drawingml/2006/main">
            <a:off x="6457950" y="2209800"/>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Nonlinear similarity and margin decisions. StandardScaler, gamma = scale, no probability estimation.</a:t>
            </a:r>
          </a:p>
        </p:txBody>
      </p:sp>
      <p:sp>
        <p:nvSpPr>
          <p:cNvPr id="8" name="">
            <a:extLst xmlns:a="http://schemas.openxmlformats.org/drawingml/2006/main">
              <a:ext uri="{FF2B5EF4-FFF2-40B4-BE49-F238E27FC236}">
                <a16:creationId xmlns:a16="http://schemas.microsoft.com/office/drawing/2014/main" id="{648741D1-E55F-4E22-99BF-A6530560BA01}"/>
              </a:ext>
            </a:extLst>
          </p:cNvPr>
          <p:cNvSpPr>
            <a:spLocks xmlns:a="http://schemas.openxmlformats.org/drawingml/2006/main" noGrp="1"/>
          </p:cNvSpPr>
          <p:nvPr/>
        </p:nvSpPr>
        <p:spPr>
          <a:xfrm xmlns:a="http://schemas.openxmlformats.org/drawingml/2006/main">
            <a:off x="647700" y="46863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700" b="1">
                <a:solidFill>
                  <a:srgbClr val="087F82"/>
                </a:solidFill>
                <a:latin typeface="Arial"/>
                <a:ea typeface="Arial"/>
                <a:cs typeface="Arial"/>
              </a:defRPr>
            </a:defPPr>
            <a:lvl1pPr>
              <a:defRPr sz="2700" b="1">
                <a:solidFill>
                  <a:srgbClr val="087F82"/>
                </a:solidFill>
                <a:latin typeface="Arial"/>
                <a:ea typeface="Arial"/>
                <a:cs typeface="Arial"/>
              </a:defRPr>
            </a:lvl1pPr>
            <a:lvl2pPr>
              <a:defRPr sz="2700" b="1">
                <a:solidFill>
                  <a:srgbClr val="087F82"/>
                </a:solidFill>
                <a:latin typeface="Arial"/>
                <a:ea typeface="Arial"/>
                <a:cs typeface="Arial"/>
              </a:defRPr>
            </a:lvl2pPr>
            <a:lvl3pPr>
              <a:defRPr sz="2700" b="1">
                <a:solidFill>
                  <a:srgbClr val="087F82"/>
                </a:solidFill>
                <a:latin typeface="Arial"/>
                <a:ea typeface="Arial"/>
                <a:cs typeface="Arial"/>
              </a:defRPr>
            </a:lvl3pPr>
            <a:lvl4pPr>
              <a:defRPr sz="2700" b="1">
                <a:solidFill>
                  <a:srgbClr val="087F82"/>
                </a:solidFill>
                <a:latin typeface="Arial"/>
                <a:ea typeface="Arial"/>
                <a:cs typeface="Arial"/>
              </a:defRPr>
            </a:lvl4pPr>
            <a:lvl5pPr>
              <a:defRPr sz="2700" b="1">
                <a:solidFill>
                  <a:srgbClr val="087F82"/>
                </a:solidFill>
                <a:latin typeface="Arial"/>
                <a:ea typeface="Arial"/>
                <a:cs typeface="Arial"/>
              </a:defRPr>
            </a:lvl5pPr>
            <a:lvl6pPr>
              <a:defRPr sz="2700" b="1">
                <a:solidFill>
                  <a:srgbClr val="087F82"/>
                </a:solidFill>
                <a:latin typeface="Arial"/>
                <a:ea typeface="Arial"/>
                <a:cs typeface="Arial"/>
              </a:defRPr>
            </a:lvl6pPr>
            <a:lvl7pPr>
              <a:defRPr sz="2700" b="1">
                <a:solidFill>
                  <a:srgbClr val="087F82"/>
                </a:solidFill>
                <a:latin typeface="Arial"/>
                <a:ea typeface="Arial"/>
                <a:cs typeface="Arial"/>
              </a:defRPr>
            </a:lvl7pPr>
            <a:lvl8pPr>
              <a:defRPr sz="2700" b="1">
                <a:solidFill>
                  <a:srgbClr val="087F82"/>
                </a:solidFill>
                <a:latin typeface="Arial"/>
                <a:ea typeface="Arial"/>
                <a:cs typeface="Arial"/>
              </a:defRPr>
            </a:lvl8pPr>
            <a:lvl9pPr>
              <a:defRPr sz="2700" b="1">
                <a:solidFill>
                  <a:srgbClr val="087F82"/>
                </a:solidFill>
                <a:latin typeface="Arial"/>
                <a:ea typeface="Arial"/>
                <a:cs typeface="Arial"/>
              </a:defRPr>
            </a:lvl9pPr>
          </a:lstStyle>
          <a:p xmlns:a="http://schemas.openxmlformats.org/drawingml/2006/main">
            <a:pPr>
              <a:defRPr sz="2700" b="1">
                <a:solidFill>
                  <a:srgbClr val="087F82"/>
                </a:solidFill>
                <a:latin typeface="Arial"/>
                <a:ea typeface="Arial"/>
                <a:cs typeface="Arial"/>
              </a:defRPr>
            </a:pPr>
            <a:r>
              <a:rPr sz="2700" b="1">
                <a:solidFill>
                  <a:srgbClr val="087F82"/>
                </a:solidFill>
                <a:latin typeface="Arial"/>
                <a:ea typeface="Arial"/>
                <a:cs typeface="Arial"/>
              </a:rPr>
              <a:t>The same fit and validation IDs support all four model families</a:t>
            </a:r>
          </a:p>
        </p:txBody>
      </p:sp>
    </p:spTree>
    <p:extLst>
      <p:ext uri="{BB962C8B-B14F-4D97-AF65-F5344CB8AC3E}">
        <p14:creationId xmlns:p14="http://schemas.microsoft.com/office/powerpoint/2010/main" val="2000818069"/>
      </p:ext>
    </p:extLst>
  </p:cSld>
</p:sld>
</file>

<file path=ppt/slides/slide9.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052078E5-BCEA-4F77-9630-4E0626F675C7}"/>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Model selection before test access</a:t>
            </a:r>
          </a:p>
        </p:txBody>
      </p:sp>
      <p:sp>
        <p:nvSpPr>
          <p:cNvPr id="3" name="">
            <a:extLst xmlns:a="http://schemas.openxmlformats.org/drawingml/2006/main">
              <a:ext uri="{FF2B5EF4-FFF2-40B4-BE49-F238E27FC236}">
                <a16:creationId xmlns:a16="http://schemas.microsoft.com/office/drawing/2014/main" id="{76AF4352-E8D5-4120-AF61-456619F3CC0A}"/>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8DD49086-BD38-4B83-9562-F0A8A1D9AEDF}"/>
              </a:ext>
            </a:extLst>
          </p:cNvPr>
          <p:cNvGraphicFramePr/>
          <p:nvPr/>
        </p:nvGraphicFramePr>
        <p:xfrm>
          <a:off xmlns:a="http://schemas.openxmlformats.org/drawingml/2006/main" x="647700" y="1485900"/>
          <a:ext xmlns:a="http://schemas.openxmlformats.org/drawingml/2006/main" cx="10896600" cy="3333750"/>
        </p:xfrm>
        <a:graphic xmlns:a="http://schemas.openxmlformats.org/drawingml/2006/main">
          <a:graphicData uri="http://schemas.openxmlformats.org/drawingml/2006/table">
            <a:tbl>
              <a:tblPr/>
              <a:tblGrid>
                <a:gridCol w="4191000"/>
                <a:gridCol w="1809750"/>
                <a:gridCol w="4895850"/>
              </a:tblGrid>
              <a:tr h="666750">
                <a:tc>
                  <a:txBody>
                    <a:bodyPr/>
                    <a:lstStyle/>
                    <a:p>
                      <a:r>
                        <a:rPr sz="1875" b="1">
                          <a:solidFill>
                            <a:srgbClr val="FFFFFF"/>
                          </a:solidFill>
                          <a:latin typeface="Arial"/>
                          <a:ea typeface="Arial"/>
                          <a:cs typeface="Arial"/>
                        </a:rPr>
                        <a:t>Stage</a:t>
                      </a:r>
                    </a:p>
                  </a:txBody>
                  <a:tcPr marL="95250" marR="95250" marT="85725" marB="57150" anchor="ctr">
                    <a:lnL w="6668">
                      <a:solidFill>
                        <a:srgbClr val="D9DFDF"/>
                      </a:solidFill>
                      <a:prstDash val="solid"/>
                    </a:lnL>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875" b="1">
                          <a:solidFill>
                            <a:srgbClr val="FFFFFF"/>
                          </a:solidFill>
                          <a:latin typeface="Arial"/>
                          <a:ea typeface="Arial"/>
                          <a:cs typeface="Arial"/>
                        </a:rPr>
                        <a:t>Images used</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875" b="1">
                          <a:solidFill>
                            <a:srgbClr val="FFFFFF"/>
                          </a:solidFill>
                          <a:latin typeface="Arial"/>
                          <a:ea typeface="Arial"/>
                          <a:cs typeface="Arial"/>
                        </a:rPr>
                        <a:t>Decision</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r>
              <a:tr h="666750">
                <a:tc>
                  <a:txBody>
                    <a:bodyPr/>
                    <a:lstStyle/>
                    <a:p>
                      <a:r>
                        <a:rPr sz="1875">
                          <a:solidFill>
                            <a:srgbClr val="142F38"/>
                          </a:solidFill>
                          <a:latin typeface="Arial"/>
                          <a:ea typeface="Arial"/>
                          <a:cs typeface="Arial"/>
                        </a:rPr>
                        <a:t>Smoke check</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2,000</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Verify the pipeline</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66750">
                <a:tc>
                  <a:txBody>
                    <a:bodyPr/>
                    <a:lstStyle/>
                    <a:p>
                      <a:r>
                        <a:rPr sz="1875">
                          <a:solidFill>
                            <a:srgbClr val="142F38"/>
                          </a:solidFill>
                          <a:latin typeface="Arial"/>
                          <a:ea typeface="Arial"/>
                          <a:cs typeface="Arial"/>
                        </a:rPr>
                        <a:t>Compact development search</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12,000</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Two candidates per feature/model row</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66750">
                <a:tc>
                  <a:txBody>
                    <a:bodyPr/>
                    <a:lstStyle/>
                    <a:p>
                      <a:r>
                        <a:rPr sz="1875">
                          <a:solidFill>
                            <a:srgbClr val="142F38"/>
                          </a:solidFill>
                          <a:latin typeface="Arial"/>
                          <a:ea typeface="Arial"/>
                          <a:cs typeface="Arial"/>
                        </a:rPr>
                        <a:t>Final fitting</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48,000</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Fit eight selected configurations</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66750">
                <a:tc>
                  <a:txBody>
                    <a:bodyPr/>
                    <a:lstStyle/>
                    <a:p>
                      <a:r>
                        <a:rPr sz="1875">
                          <a:solidFill>
                            <a:srgbClr val="142F38"/>
                          </a:solidFill>
                          <a:latin typeface="Arial"/>
                          <a:ea typeface="Arial"/>
                          <a:cs typeface="Arial"/>
                        </a:rPr>
                        <a:t>Freeze, then official test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10,000 test</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75">
                          <a:solidFill>
                            <a:srgbClr val="142F38"/>
                          </a:solidFill>
                          <a:latin typeface="Arial"/>
                          <a:ea typeface="Arial"/>
                          <a:cs typeface="Arial"/>
                        </a:rPr>
                        <a:t>Evaluate the fixed finalists</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675B65E2-A98F-461F-B09A-77A7000B0E92}"/>
              </a:ext>
            </a:extLst>
          </p:cNvPr>
          <p:cNvSpPr>
            <a:spLocks xmlns:a="http://schemas.openxmlformats.org/drawingml/2006/main" noGrp="1"/>
          </p:cNvSpPr>
          <p:nvPr/>
        </p:nvSpPr>
        <p:spPr>
          <a:xfrm xmlns:a="http://schemas.openxmlformats.org/drawingml/2006/main">
            <a:off x="647700" y="52101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1">
                <a:solidFill>
                  <a:srgbClr val="087F82"/>
                </a:solidFill>
                <a:latin typeface="Arial"/>
                <a:ea typeface="Arial"/>
                <a:cs typeface="Arial"/>
              </a:defRPr>
            </a:defPPr>
            <a:lvl1pPr>
              <a:defRPr sz="2550" b="1">
                <a:solidFill>
                  <a:srgbClr val="087F82"/>
                </a:solidFill>
                <a:latin typeface="Arial"/>
                <a:ea typeface="Arial"/>
                <a:cs typeface="Arial"/>
              </a:defRPr>
            </a:lvl1pPr>
            <a:lvl2pPr>
              <a:defRPr sz="2550" b="1">
                <a:solidFill>
                  <a:srgbClr val="087F82"/>
                </a:solidFill>
                <a:latin typeface="Arial"/>
                <a:ea typeface="Arial"/>
                <a:cs typeface="Arial"/>
              </a:defRPr>
            </a:lvl2pPr>
            <a:lvl3pPr>
              <a:defRPr sz="2550" b="1">
                <a:solidFill>
                  <a:srgbClr val="087F82"/>
                </a:solidFill>
                <a:latin typeface="Arial"/>
                <a:ea typeface="Arial"/>
                <a:cs typeface="Arial"/>
              </a:defRPr>
            </a:lvl3pPr>
            <a:lvl4pPr>
              <a:defRPr sz="2550" b="1">
                <a:solidFill>
                  <a:srgbClr val="087F82"/>
                </a:solidFill>
                <a:latin typeface="Arial"/>
                <a:ea typeface="Arial"/>
                <a:cs typeface="Arial"/>
              </a:defRPr>
            </a:lvl4pPr>
            <a:lvl5pPr>
              <a:defRPr sz="2550" b="1">
                <a:solidFill>
                  <a:srgbClr val="087F82"/>
                </a:solidFill>
                <a:latin typeface="Arial"/>
                <a:ea typeface="Arial"/>
                <a:cs typeface="Arial"/>
              </a:defRPr>
            </a:lvl5pPr>
            <a:lvl6pPr>
              <a:defRPr sz="2550" b="1">
                <a:solidFill>
                  <a:srgbClr val="087F82"/>
                </a:solidFill>
                <a:latin typeface="Arial"/>
                <a:ea typeface="Arial"/>
                <a:cs typeface="Arial"/>
              </a:defRPr>
            </a:lvl6pPr>
            <a:lvl7pPr>
              <a:defRPr sz="2550" b="1">
                <a:solidFill>
                  <a:srgbClr val="087F82"/>
                </a:solidFill>
                <a:latin typeface="Arial"/>
                <a:ea typeface="Arial"/>
                <a:cs typeface="Arial"/>
              </a:defRPr>
            </a:lvl7pPr>
            <a:lvl8pPr>
              <a:defRPr sz="2550" b="1">
                <a:solidFill>
                  <a:srgbClr val="087F82"/>
                </a:solidFill>
                <a:latin typeface="Arial"/>
                <a:ea typeface="Arial"/>
                <a:cs typeface="Arial"/>
              </a:defRPr>
            </a:lvl8pPr>
            <a:lvl9pPr>
              <a:defRPr sz="2550" b="1">
                <a:solidFill>
                  <a:srgbClr val="087F82"/>
                </a:solidFill>
                <a:latin typeface="Arial"/>
                <a:ea typeface="Arial"/>
                <a:cs typeface="Arial"/>
              </a:defRPr>
            </a:lvl9pPr>
          </a:lstStyle>
          <a:p xmlns:a="http://schemas.openxmlformats.org/drawingml/2006/main">
            <a:pPr>
              <a:defRPr sz="2550" b="1">
                <a:solidFill>
                  <a:srgbClr val="087F82"/>
                </a:solidFill>
                <a:latin typeface="Arial"/>
                <a:ea typeface="Arial"/>
                <a:cs typeface="Arial"/>
              </a:defRPr>
            </a:pPr>
            <a:r>
              <a:rPr sz="2550" b="1">
                <a:solidFill>
                  <a:srgbClr val="087F82"/>
                </a:solidFill>
                <a:latin typeface="Arial"/>
                <a:ea typeface="Arial"/>
                <a:cs typeface="Arial"/>
              </a:rPr>
              <a:t>Primary selection metric: validation macro F1</a:t>
            </a:r>
          </a:p>
        </p:txBody>
      </p:sp>
      <p:sp>
        <p:nvSpPr>
          <p:cNvPr id="6" name="">
            <a:extLst xmlns:a="http://schemas.openxmlformats.org/drawingml/2006/main">
              <a:ext uri="{FF2B5EF4-FFF2-40B4-BE49-F238E27FC236}">
                <a16:creationId xmlns:a16="http://schemas.microsoft.com/office/drawing/2014/main" id="{99E53B00-EA73-46D6-9263-FC7BC49BFF73}"/>
              </a:ext>
            </a:extLst>
          </p:cNvPr>
          <p:cNvSpPr>
            <a:spLocks xmlns:a="http://schemas.openxmlformats.org/drawingml/2006/main" noGrp="1"/>
          </p:cNvSpPr>
          <p:nvPr/>
        </p:nvSpPr>
        <p:spPr>
          <a:xfrm xmlns:a="http://schemas.openxmlformats.org/drawingml/2006/main">
            <a:off x="647700" y="5810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42F38"/>
                </a:solidFill>
                <a:latin typeface="Arial"/>
                <a:ea typeface="Arial"/>
                <a:cs typeface="Arial"/>
              </a:defRPr>
            </a:defPPr>
            <a:lvl1pPr>
              <a:defRPr sz="1875" b="0">
                <a:solidFill>
                  <a:srgbClr val="142F38"/>
                </a:solidFill>
                <a:latin typeface="Arial"/>
                <a:ea typeface="Arial"/>
                <a:cs typeface="Arial"/>
              </a:defRPr>
            </a:lvl1pPr>
            <a:lvl2pPr>
              <a:defRPr sz="1875" b="0">
                <a:solidFill>
                  <a:srgbClr val="142F38"/>
                </a:solidFill>
                <a:latin typeface="Arial"/>
                <a:ea typeface="Arial"/>
                <a:cs typeface="Arial"/>
              </a:defRPr>
            </a:lvl2pPr>
            <a:lvl3pPr>
              <a:defRPr sz="1875" b="0">
                <a:solidFill>
                  <a:srgbClr val="142F38"/>
                </a:solidFill>
                <a:latin typeface="Arial"/>
                <a:ea typeface="Arial"/>
                <a:cs typeface="Arial"/>
              </a:defRPr>
            </a:lvl3pPr>
            <a:lvl4pPr>
              <a:defRPr sz="1875" b="0">
                <a:solidFill>
                  <a:srgbClr val="142F38"/>
                </a:solidFill>
                <a:latin typeface="Arial"/>
                <a:ea typeface="Arial"/>
                <a:cs typeface="Arial"/>
              </a:defRPr>
            </a:lvl4pPr>
            <a:lvl5pPr>
              <a:defRPr sz="1875" b="0">
                <a:solidFill>
                  <a:srgbClr val="142F38"/>
                </a:solidFill>
                <a:latin typeface="Arial"/>
                <a:ea typeface="Arial"/>
                <a:cs typeface="Arial"/>
              </a:defRPr>
            </a:lvl5pPr>
            <a:lvl6pPr>
              <a:defRPr sz="1875" b="0">
                <a:solidFill>
                  <a:srgbClr val="142F38"/>
                </a:solidFill>
                <a:latin typeface="Arial"/>
                <a:ea typeface="Arial"/>
                <a:cs typeface="Arial"/>
              </a:defRPr>
            </a:lvl6pPr>
            <a:lvl7pPr>
              <a:defRPr sz="1875" b="0">
                <a:solidFill>
                  <a:srgbClr val="142F38"/>
                </a:solidFill>
                <a:latin typeface="Arial"/>
                <a:ea typeface="Arial"/>
                <a:cs typeface="Arial"/>
              </a:defRPr>
            </a:lvl7pPr>
            <a:lvl8pPr>
              <a:defRPr sz="1875" b="0">
                <a:solidFill>
                  <a:srgbClr val="142F38"/>
                </a:solidFill>
                <a:latin typeface="Arial"/>
                <a:ea typeface="Arial"/>
                <a:cs typeface="Arial"/>
              </a:defRPr>
            </a:lvl8pPr>
            <a:lvl9pPr>
              <a:defRPr sz="1875" b="0">
                <a:solidFill>
                  <a:srgbClr val="142F38"/>
                </a:solidFill>
                <a:latin typeface="Arial"/>
                <a:ea typeface="Arial"/>
                <a:cs typeface="Arial"/>
              </a:defRPr>
            </a:lvl9pPr>
          </a:lstStyle>
          <a:p xmlns:a="http://schemas.openxmlformats.org/drawingml/2006/main">
            <a:pPr>
              <a:defRPr sz="1875" b="0">
                <a:solidFill>
                  <a:srgbClr val="142F38"/>
                </a:solidFill>
                <a:latin typeface="Arial"/>
                <a:ea typeface="Arial"/>
                <a:cs typeface="Arial"/>
              </a:defRPr>
            </a:pPr>
            <a:r>
              <a:rPr sz="1875" b="0">
                <a:solidFill>
                  <a:srgbClr val="142F38"/>
                </a:solidFill>
                <a:latin typeface="Arial"/>
                <a:ea typeface="Arial"/>
                <a:cs typeface="Arial"/>
              </a:rPr>
              <a:t>All eight final models share the same 48,000 fit images.</a:t>
            </a:r>
          </a:p>
        </p:txBody>
      </p:sp>
    </p:spTree>
    <p:extLst>
      <p:ext uri="{BB962C8B-B14F-4D97-AF65-F5344CB8AC3E}">
        <p14:creationId xmlns:p14="http://schemas.microsoft.com/office/powerpoint/2010/main" val="2030881241"/>
      </p:ext>
    </p:extLst>
  </p:cSld>
</p:sld>
</file>

<file path=ppt/slides/slide10.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6FEA771-520F-4B1A-9536-C4BDFE0A6FBC}"/>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Evaluation measures</a:t>
            </a:r>
          </a:p>
        </p:txBody>
      </p:sp>
      <p:sp>
        <p:nvSpPr>
          <p:cNvPr id="3" name="">
            <a:extLst xmlns:a="http://schemas.openxmlformats.org/drawingml/2006/main">
              <a:ext uri="{FF2B5EF4-FFF2-40B4-BE49-F238E27FC236}">
                <a16:creationId xmlns:a16="http://schemas.microsoft.com/office/drawing/2014/main" id="{7AEB43D3-002E-4161-9D86-2F7594DD8FA5}"/>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84C1689C-0813-42B7-BCF6-B8581B8D3527}"/>
              </a:ext>
            </a:extLst>
          </p:cNvPr>
          <p:cNvSpPr>
            <a:spLocks xmlns:a="http://schemas.openxmlformats.org/drawingml/2006/main" noGrp="1"/>
          </p:cNvSpPr>
          <p:nvPr/>
        </p:nvSpPr>
        <p:spPr>
          <a:xfrm xmlns:a="http://schemas.openxmlformats.org/drawingml/2006/main">
            <a:off x="647700" y="16478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Accuracy</a:t>
            </a:r>
          </a:p>
        </p:txBody>
      </p:sp>
      <p:sp>
        <p:nvSpPr>
          <p:cNvPr id="5" name="">
            <a:extLst xmlns:a="http://schemas.openxmlformats.org/drawingml/2006/main">
              <a:ext uri="{FF2B5EF4-FFF2-40B4-BE49-F238E27FC236}">
                <a16:creationId xmlns:a16="http://schemas.microsoft.com/office/drawing/2014/main" id="{17E08719-0037-4AD3-88C1-30112255E3FF}"/>
              </a:ext>
            </a:extLst>
          </p:cNvPr>
          <p:cNvSpPr>
            <a:spLocks xmlns:a="http://schemas.openxmlformats.org/drawingml/2006/main" noGrp="1"/>
          </p:cNvSpPr>
          <p:nvPr/>
        </p:nvSpPr>
        <p:spPr>
          <a:xfrm xmlns:a="http://schemas.openxmlformats.org/drawingml/2006/main">
            <a:off x="647700" y="2190750"/>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Correct predictions / all images</a:t>
            </a:r>
          </a:p>
        </p:txBody>
      </p:sp>
      <p:sp>
        <p:nvSpPr>
          <p:cNvPr id="6" name="">
            <a:extLst xmlns:a="http://schemas.openxmlformats.org/drawingml/2006/main">
              <a:ext uri="{FF2B5EF4-FFF2-40B4-BE49-F238E27FC236}">
                <a16:creationId xmlns:a16="http://schemas.microsoft.com/office/drawing/2014/main" id="{914ED7DC-9DF6-494A-AFA5-E6CF32FA3466}"/>
              </a:ext>
            </a:extLst>
          </p:cNvPr>
          <p:cNvSpPr>
            <a:spLocks xmlns:a="http://schemas.openxmlformats.org/drawingml/2006/main" noGrp="1"/>
          </p:cNvSpPr>
          <p:nvPr/>
        </p:nvSpPr>
        <p:spPr>
          <a:xfrm xmlns:a="http://schemas.openxmlformats.org/drawingml/2006/main">
            <a:off x="6457950" y="16478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Macro F1</a:t>
            </a:r>
          </a:p>
        </p:txBody>
      </p:sp>
      <p:sp>
        <p:nvSpPr>
          <p:cNvPr id="7" name="">
            <a:extLst xmlns:a="http://schemas.openxmlformats.org/drawingml/2006/main">
              <a:ext uri="{FF2B5EF4-FFF2-40B4-BE49-F238E27FC236}">
                <a16:creationId xmlns:a16="http://schemas.microsoft.com/office/drawing/2014/main" id="{4A85EDF5-9FA7-48C4-B18E-431642E955DB}"/>
              </a:ext>
            </a:extLst>
          </p:cNvPr>
          <p:cNvSpPr>
            <a:spLocks xmlns:a="http://schemas.openxmlformats.org/drawingml/2006/main" noGrp="1"/>
          </p:cNvSpPr>
          <p:nvPr/>
        </p:nvSpPr>
        <p:spPr>
          <a:xfrm xmlns:a="http://schemas.openxmlformats.org/drawingml/2006/main">
            <a:off x="6457950" y="2190750"/>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Mean of the ten class F1 scores. Each category has equal weight.</a:t>
            </a:r>
          </a:p>
        </p:txBody>
      </p:sp>
      <p:sp>
        <p:nvSpPr>
          <p:cNvPr id="8" name="">
            <a:extLst xmlns:a="http://schemas.openxmlformats.org/drawingml/2006/main">
              <a:ext uri="{FF2B5EF4-FFF2-40B4-BE49-F238E27FC236}">
                <a16:creationId xmlns:a16="http://schemas.microsoft.com/office/drawing/2014/main" id="{6A565916-3871-4889-AAAD-6DDB1E6BBFAA}"/>
              </a:ext>
            </a:extLst>
          </p:cNvPr>
          <p:cNvSpPr>
            <a:spLocks xmlns:a="http://schemas.openxmlformats.org/drawingml/2006/main" noGrp="1"/>
          </p:cNvSpPr>
          <p:nvPr/>
        </p:nvSpPr>
        <p:spPr>
          <a:xfrm xmlns:a="http://schemas.openxmlformats.org/drawingml/2006/main">
            <a:off x="647700" y="39719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Per-class recall</a:t>
            </a:r>
          </a:p>
        </p:txBody>
      </p:sp>
      <p:sp>
        <p:nvSpPr>
          <p:cNvPr id="9" name="">
            <a:extLst xmlns:a="http://schemas.openxmlformats.org/drawingml/2006/main">
              <a:ext uri="{FF2B5EF4-FFF2-40B4-BE49-F238E27FC236}">
                <a16:creationId xmlns:a16="http://schemas.microsoft.com/office/drawing/2014/main" id="{BE4F7D37-537C-40A8-82AD-8CB070F58E86}"/>
              </a:ext>
            </a:extLst>
          </p:cNvPr>
          <p:cNvSpPr>
            <a:spLocks xmlns:a="http://schemas.openxmlformats.org/drawingml/2006/main" noGrp="1"/>
          </p:cNvSpPr>
          <p:nvPr/>
        </p:nvSpPr>
        <p:spPr>
          <a:xfrm xmlns:a="http://schemas.openxmlformats.org/drawingml/2006/main">
            <a:off x="647700" y="4514850"/>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Correctly identified members of a class / all true members of that class</a:t>
            </a:r>
          </a:p>
        </p:txBody>
      </p:sp>
      <p:sp>
        <p:nvSpPr>
          <p:cNvPr id="10" name="">
            <a:extLst xmlns:a="http://schemas.openxmlformats.org/drawingml/2006/main">
              <a:ext uri="{FF2B5EF4-FFF2-40B4-BE49-F238E27FC236}">
                <a16:creationId xmlns:a16="http://schemas.microsoft.com/office/drawing/2014/main" id="{28944EF5-9FDF-4E02-B816-DF7F6FA14039}"/>
              </a:ext>
            </a:extLst>
          </p:cNvPr>
          <p:cNvSpPr>
            <a:spLocks xmlns:a="http://schemas.openxmlformats.org/drawingml/2006/main" noGrp="1"/>
          </p:cNvSpPr>
          <p:nvPr/>
        </p:nvSpPr>
        <p:spPr>
          <a:xfrm xmlns:a="http://schemas.openxmlformats.org/drawingml/2006/main">
            <a:off x="6457950" y="39719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Operational cost</a:t>
            </a:r>
          </a:p>
        </p:txBody>
      </p:sp>
      <p:sp>
        <p:nvSpPr>
          <p:cNvPr id="11" name="">
            <a:extLst xmlns:a="http://schemas.openxmlformats.org/drawingml/2006/main">
              <a:ext uri="{FF2B5EF4-FFF2-40B4-BE49-F238E27FC236}">
                <a16:creationId xmlns:a16="http://schemas.microsoft.com/office/drawing/2014/main" id="{8C0B4AC6-B2EB-4982-A361-E6DBF4CFA44F}"/>
              </a:ext>
            </a:extLst>
          </p:cNvPr>
          <p:cNvSpPr>
            <a:spLocks xmlns:a="http://schemas.openxmlformats.org/drawingml/2006/main" noGrp="1"/>
          </p:cNvSpPr>
          <p:nvPr/>
        </p:nvSpPr>
        <p:spPr>
          <a:xfrm xmlns:a="http://schemas.openxmlformats.org/drawingml/2006/main">
            <a:off x="6457950" y="4514850"/>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Repeated inference measurements and model-specific storage quantities</a:t>
            </a:r>
          </a:p>
        </p:txBody>
      </p:sp>
    </p:spTree>
    <p:extLst>
      <p:ext uri="{BB962C8B-B14F-4D97-AF65-F5344CB8AC3E}">
        <p14:creationId xmlns:p14="http://schemas.microsoft.com/office/powerpoint/2010/main" val="646333777"/>
      </p:ext>
    </p:extLst>
  </p:cSld>
</p:sld>
</file>

<file path=ppt/slides/slide1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7ABA37C-B023-47DB-827A-29B0147C5D37}"/>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HOG helps three classifier families</a:t>
            </a:r>
          </a:p>
        </p:txBody>
      </p:sp>
      <p:sp>
        <p:nvSpPr>
          <p:cNvPr id="3" name="">
            <a:extLst xmlns:a="http://schemas.openxmlformats.org/drawingml/2006/main">
              <a:ext uri="{FF2B5EF4-FFF2-40B4-BE49-F238E27FC236}">
                <a16:creationId xmlns:a16="http://schemas.microsoft.com/office/drawing/2014/main" id="{75B336D0-FA5C-47E5-9803-D1B18E88ABBE}"/>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11</a:t>
            </a:r>
          </a:p>
        </p:txBody>
      </p:sp>
      <p:graphicFrame>
        <p:nvGraphicFramePr>
          <p:cNvPr id="4" name="Chart">
            <a:extLst xmlns:a="http://schemas.openxmlformats.org/drawingml/2006/main">
              <a:ext uri="{FF2B5EF4-FFF2-40B4-BE49-F238E27FC236}">
                <a16:creationId xmlns:a16="http://schemas.microsoft.com/office/drawing/2014/main" id="{AF653D14-6048-4A57-97F3-3977A331CEF9}"/>
              </a:ext>
            </a:extLst>
          </p:cNvPr>
          <p:cNvGraphicFramePr/>
          <p:nvPr/>
        </p:nvGraphicFramePr>
        <p:xfrm>
          <a:off xmlns:a="http://schemas.openxmlformats.org/drawingml/2006/main" x="647700" y="1466850"/>
          <a:ext xmlns:a="http://schemas.openxmlformats.org/drawingml/2006/main" cx="10896600" cy="4095750"/>
        </p:xfrm>
        <a:graphic xmlns:a="http://schemas.openxmlformats.org/drawingml/2006/main">
          <a:graphicData uri="http://schemas.openxmlformats.org/drawingml/2006/chart">
            <c:chart xmlns:r="http://schemas.openxmlformats.org/officeDocument/2006/relationships" xmlns:c="http://schemas.openxmlformats.org/drawingml/2006/chart" r:id="R432329bc865143ac"/>
          </a:graphicData>
        </a:graphic>
      </p:graphicFrame>
      <p:sp>
        <p:nvSpPr>
          <p:cNvPr id="5" name="">
            <a:extLst xmlns:a="http://schemas.openxmlformats.org/drawingml/2006/main">
              <a:ext uri="{FF2B5EF4-FFF2-40B4-BE49-F238E27FC236}">
                <a16:creationId xmlns:a16="http://schemas.microsoft.com/office/drawing/2014/main" id="{8660F0C6-4F74-436F-8521-56D7C65FF82D}"/>
              </a:ext>
            </a:extLst>
          </p:cNvPr>
          <p:cNvSpPr>
            <a:spLocks xmlns:a="http://schemas.openxmlformats.org/drawingml/2006/main" noGrp="1"/>
          </p:cNvSpPr>
          <p:nvPr/>
        </p:nvSpPr>
        <p:spPr>
          <a:xfrm xmlns:a="http://schemas.openxmlformats.org/drawingml/2006/main">
            <a:off x="647700" y="5772150"/>
            <a:ext cx="1089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1">
                <a:solidFill>
                  <a:srgbClr val="087F82"/>
                </a:solidFill>
                <a:latin typeface="Arial"/>
                <a:ea typeface="Arial"/>
                <a:cs typeface="Arial"/>
              </a:defRPr>
            </a:defPPr>
            <a:lvl1pPr>
              <a:defRPr sz="2175" b="1">
                <a:solidFill>
                  <a:srgbClr val="087F82"/>
                </a:solidFill>
                <a:latin typeface="Arial"/>
                <a:ea typeface="Arial"/>
                <a:cs typeface="Arial"/>
              </a:defRPr>
            </a:lvl1pPr>
            <a:lvl2pPr>
              <a:defRPr sz="2175" b="1">
                <a:solidFill>
                  <a:srgbClr val="087F82"/>
                </a:solidFill>
                <a:latin typeface="Arial"/>
                <a:ea typeface="Arial"/>
                <a:cs typeface="Arial"/>
              </a:defRPr>
            </a:lvl2pPr>
            <a:lvl3pPr>
              <a:defRPr sz="2175" b="1">
                <a:solidFill>
                  <a:srgbClr val="087F82"/>
                </a:solidFill>
                <a:latin typeface="Arial"/>
                <a:ea typeface="Arial"/>
                <a:cs typeface="Arial"/>
              </a:defRPr>
            </a:lvl3pPr>
            <a:lvl4pPr>
              <a:defRPr sz="2175" b="1">
                <a:solidFill>
                  <a:srgbClr val="087F82"/>
                </a:solidFill>
                <a:latin typeface="Arial"/>
                <a:ea typeface="Arial"/>
                <a:cs typeface="Arial"/>
              </a:defRPr>
            </a:lvl4pPr>
            <a:lvl5pPr>
              <a:defRPr sz="2175" b="1">
                <a:solidFill>
                  <a:srgbClr val="087F82"/>
                </a:solidFill>
                <a:latin typeface="Arial"/>
                <a:ea typeface="Arial"/>
                <a:cs typeface="Arial"/>
              </a:defRPr>
            </a:lvl5pPr>
            <a:lvl6pPr>
              <a:defRPr sz="2175" b="1">
                <a:solidFill>
                  <a:srgbClr val="087F82"/>
                </a:solidFill>
                <a:latin typeface="Arial"/>
                <a:ea typeface="Arial"/>
                <a:cs typeface="Arial"/>
              </a:defRPr>
            </a:lvl6pPr>
            <a:lvl7pPr>
              <a:defRPr sz="2175" b="1">
                <a:solidFill>
                  <a:srgbClr val="087F82"/>
                </a:solidFill>
                <a:latin typeface="Arial"/>
                <a:ea typeface="Arial"/>
                <a:cs typeface="Arial"/>
              </a:defRPr>
            </a:lvl7pPr>
            <a:lvl8pPr>
              <a:defRPr sz="2175" b="1">
                <a:solidFill>
                  <a:srgbClr val="087F82"/>
                </a:solidFill>
                <a:latin typeface="Arial"/>
                <a:ea typeface="Arial"/>
                <a:cs typeface="Arial"/>
              </a:defRPr>
            </a:lvl8pPr>
            <a:lvl9pPr>
              <a:defRPr sz="2175" b="1">
                <a:solidFill>
                  <a:srgbClr val="087F82"/>
                </a:solidFill>
                <a:latin typeface="Arial"/>
                <a:ea typeface="Arial"/>
                <a:cs typeface="Arial"/>
              </a:defRPr>
            </a:lvl9pPr>
          </a:lstStyle>
          <a:p xmlns:a="http://schemas.openxmlformats.org/drawingml/2006/main">
            <a:pPr>
              <a:defRPr sz="2175" b="1">
                <a:solidFill>
                  <a:srgbClr val="087F82"/>
                </a:solidFill>
                <a:latin typeface="Arial"/>
                <a:ea typeface="Arial"/>
                <a:cs typeface="Arial"/>
              </a:defRPr>
            </a:pPr>
            <a:r>
              <a:rPr sz="2175" b="1">
                <a:solidFill>
                  <a:srgbClr val="087F82"/>
                </a:solidFill>
                <a:latin typeface="Arial"/>
                <a:ea typeface="Arial"/>
                <a:cs typeface="Arial"/>
              </a:rPr>
              <a:t>Selected HOG + RBF SVM: 90.91% accuracy, 0.9090 macro F1</a:t>
            </a:r>
          </a:p>
        </p:txBody>
      </p:sp>
    </p:spTree>
    <p:extLst>
      <p:ext uri="{BB962C8B-B14F-4D97-AF65-F5344CB8AC3E}">
        <p14:creationId xmlns:p14="http://schemas.microsoft.com/office/powerpoint/2010/main" val="1531795208"/>
      </p:ext>
    </p:extLst>
  </p:cSld>
</p:sld>
</file>

<file path=ppt/slides/slide1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3FCB8AD2-5206-4005-A102-915716D64A2D}"/>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Shirt recall remains the weakest</a:t>
            </a:r>
          </a:p>
        </p:txBody>
      </p:sp>
      <p:sp>
        <p:nvSpPr>
          <p:cNvPr id="3" name="">
            <a:extLst xmlns:a="http://schemas.openxmlformats.org/drawingml/2006/main">
              <a:ext uri="{FF2B5EF4-FFF2-40B4-BE49-F238E27FC236}">
                <a16:creationId xmlns:a16="http://schemas.microsoft.com/office/drawing/2014/main" id="{1835025E-E8D2-40AD-B426-912696DC035D}"/>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12</a:t>
            </a:r>
          </a:p>
        </p:txBody>
      </p:sp>
      <p:graphicFrame>
        <p:nvGraphicFramePr>
          <p:cNvPr id="4" name="Chart">
            <a:extLst xmlns:a="http://schemas.openxmlformats.org/drawingml/2006/main">
              <a:ext uri="{FF2B5EF4-FFF2-40B4-BE49-F238E27FC236}">
                <a16:creationId xmlns:a16="http://schemas.microsoft.com/office/drawing/2014/main" id="{C98FEE96-24F5-46B8-B697-4278E519BD1A}"/>
              </a:ext>
            </a:extLst>
          </p:cNvPr>
          <p:cNvGraphicFramePr/>
          <p:nvPr/>
        </p:nvGraphicFramePr>
        <p:xfrm>
          <a:off xmlns:a="http://schemas.openxmlformats.org/drawingml/2006/main" x="571500" y="1371600"/>
          <a:ext xmlns:a="http://schemas.openxmlformats.org/drawingml/2006/main" cx="10953750" cy="4333875"/>
        </p:xfrm>
        <a:graphic xmlns:a="http://schemas.openxmlformats.org/drawingml/2006/main">
          <a:graphicData uri="http://schemas.openxmlformats.org/drawingml/2006/chart">
            <c:chart xmlns:r="http://schemas.openxmlformats.org/officeDocument/2006/relationships" xmlns:c="http://schemas.openxmlformats.org/drawingml/2006/chart" r:id="Rad0bbbd1049f4480"/>
          </a:graphicData>
        </a:graphic>
      </p:graphicFrame>
      <p:sp>
        <p:nvSpPr>
          <p:cNvPr id="5" name="">
            <a:extLst xmlns:a="http://schemas.openxmlformats.org/drawingml/2006/main">
              <a:ext uri="{FF2B5EF4-FFF2-40B4-BE49-F238E27FC236}">
                <a16:creationId xmlns:a16="http://schemas.microsoft.com/office/drawing/2014/main" id="{D4046746-C692-48E9-A897-923B91353B23}"/>
              </a:ext>
            </a:extLst>
          </p:cNvPr>
          <p:cNvSpPr>
            <a:spLocks xmlns:a="http://schemas.openxmlformats.org/drawingml/2006/main" noGrp="1"/>
          </p:cNvSpPr>
          <p:nvPr/>
        </p:nvSpPr>
        <p:spPr>
          <a:xfrm xmlns:a="http://schemas.openxmlformats.org/drawingml/2006/main">
            <a:off x="647700" y="595312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52656D"/>
                </a:solidFill>
                <a:latin typeface="Arial"/>
                <a:ea typeface="Arial"/>
                <a:cs typeface="Arial"/>
              </a:defRPr>
            </a:defPPr>
            <a:lvl1pPr>
              <a:defRPr sz="1725" b="0">
                <a:solidFill>
                  <a:srgbClr val="52656D"/>
                </a:solidFill>
                <a:latin typeface="Arial"/>
                <a:ea typeface="Arial"/>
                <a:cs typeface="Arial"/>
              </a:defRPr>
            </a:lvl1pPr>
            <a:lvl2pPr>
              <a:defRPr sz="1725" b="0">
                <a:solidFill>
                  <a:srgbClr val="52656D"/>
                </a:solidFill>
                <a:latin typeface="Arial"/>
                <a:ea typeface="Arial"/>
                <a:cs typeface="Arial"/>
              </a:defRPr>
            </a:lvl2pPr>
            <a:lvl3pPr>
              <a:defRPr sz="1725" b="0">
                <a:solidFill>
                  <a:srgbClr val="52656D"/>
                </a:solidFill>
                <a:latin typeface="Arial"/>
                <a:ea typeface="Arial"/>
                <a:cs typeface="Arial"/>
              </a:defRPr>
            </a:lvl3pPr>
            <a:lvl4pPr>
              <a:defRPr sz="1725" b="0">
                <a:solidFill>
                  <a:srgbClr val="52656D"/>
                </a:solidFill>
                <a:latin typeface="Arial"/>
                <a:ea typeface="Arial"/>
                <a:cs typeface="Arial"/>
              </a:defRPr>
            </a:lvl4pPr>
            <a:lvl5pPr>
              <a:defRPr sz="1725" b="0">
                <a:solidFill>
                  <a:srgbClr val="52656D"/>
                </a:solidFill>
                <a:latin typeface="Arial"/>
                <a:ea typeface="Arial"/>
                <a:cs typeface="Arial"/>
              </a:defRPr>
            </a:lvl5pPr>
            <a:lvl6pPr>
              <a:defRPr sz="1725" b="0">
                <a:solidFill>
                  <a:srgbClr val="52656D"/>
                </a:solidFill>
                <a:latin typeface="Arial"/>
                <a:ea typeface="Arial"/>
                <a:cs typeface="Arial"/>
              </a:defRPr>
            </a:lvl6pPr>
            <a:lvl7pPr>
              <a:defRPr sz="1725" b="0">
                <a:solidFill>
                  <a:srgbClr val="52656D"/>
                </a:solidFill>
                <a:latin typeface="Arial"/>
                <a:ea typeface="Arial"/>
                <a:cs typeface="Arial"/>
              </a:defRPr>
            </a:lvl7pPr>
            <a:lvl8pPr>
              <a:defRPr sz="1725" b="0">
                <a:solidFill>
                  <a:srgbClr val="52656D"/>
                </a:solidFill>
                <a:latin typeface="Arial"/>
                <a:ea typeface="Arial"/>
                <a:cs typeface="Arial"/>
              </a:defRPr>
            </a:lvl8pPr>
            <a:lvl9pPr>
              <a:defRPr sz="1725" b="0">
                <a:solidFill>
                  <a:srgbClr val="52656D"/>
                </a:solidFill>
                <a:latin typeface="Arial"/>
                <a:ea typeface="Arial"/>
                <a:cs typeface="Arial"/>
              </a:defRPr>
            </a:lvl9pPr>
          </a:lstStyle>
          <a:p xmlns:a="http://schemas.openxmlformats.org/drawingml/2006/main">
            <a:pPr>
              <a:defRPr sz="1725" b="0">
                <a:solidFill>
                  <a:srgbClr val="52656D"/>
                </a:solidFill>
                <a:latin typeface="Arial"/>
                <a:ea typeface="Arial"/>
                <a:cs typeface="Arial"/>
              </a:defRPr>
            </a:pPr>
            <a:r>
              <a:rPr sz="1725" b="0">
                <a:solidFill>
                  <a:srgbClr val="52656D"/>
                </a:solidFill>
                <a:latin typeface="Arial"/>
                <a:ea typeface="Arial"/>
                <a:cs typeface="Arial"/>
              </a:rPr>
              <a:t>Selected model. Official test: 1,000 images per category.</a:t>
            </a:r>
          </a:p>
        </p:txBody>
      </p:sp>
    </p:spTree>
    <p:extLst>
      <p:ext uri="{BB962C8B-B14F-4D97-AF65-F5344CB8AC3E}">
        <p14:creationId xmlns:p14="http://schemas.microsoft.com/office/powerpoint/2010/main" val="113147126"/>
      </p:ext>
    </p:extLst>
  </p:cSld>
</p:sld>
</file>

<file path=ppt/slides/slide1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1BD0FE19-0D4B-4BA7-A036-3B68B2AE4AFD}"/>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Confusion among upper-body categories</a:t>
            </a:r>
          </a:p>
        </p:txBody>
      </p:sp>
      <p:sp>
        <p:nvSpPr>
          <p:cNvPr id="3" name="">
            <a:extLst xmlns:a="http://schemas.openxmlformats.org/drawingml/2006/main">
              <a:ext uri="{FF2B5EF4-FFF2-40B4-BE49-F238E27FC236}">
                <a16:creationId xmlns:a16="http://schemas.microsoft.com/office/drawing/2014/main" id="{20FE93F0-CDF0-4C3C-B3FC-74DC455AFBE2}"/>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3E71F099-7162-414F-87AD-EB3AA4AFFD72}"/>
              </a:ext>
            </a:extLst>
          </p:cNvPr>
          <p:cNvGraphicFramePr/>
          <p:nvPr/>
        </p:nvGraphicFramePr>
        <p:xfrm>
          <a:off xmlns:a="http://schemas.openxmlformats.org/drawingml/2006/main" x="647700" y="1571625"/>
          <a:ext xmlns:a="http://schemas.openxmlformats.org/drawingml/2006/main" cx="10896600" cy="3219450"/>
        </p:xfrm>
        <a:graphic xmlns:a="http://schemas.openxmlformats.org/drawingml/2006/main">
          <a:graphicData uri="http://schemas.openxmlformats.org/drawingml/2006/table">
            <a:tbl>
              <a:tblPr/>
              <a:tblGrid>
                <a:gridCol w="2857500"/>
                <a:gridCol w="1695450"/>
                <a:gridCol w="1581150"/>
                <a:gridCol w="1581150"/>
                <a:gridCol w="1581150"/>
                <a:gridCol w="1600200"/>
              </a:tblGrid>
              <a:tr h="643890">
                <a:tc>
                  <a:txBody>
                    <a:bodyPr/>
                    <a:lstStyle/>
                    <a:p>
                      <a:r>
                        <a:rPr sz="1950" b="1">
                          <a:solidFill>
                            <a:srgbClr val="FFFFFF"/>
                          </a:solidFill>
                          <a:latin typeface="Arial"/>
                          <a:ea typeface="Arial"/>
                          <a:cs typeface="Arial"/>
                        </a:rPr>
                        <a:t>Actual / predicted</a:t>
                      </a:r>
                    </a:p>
                  </a:txBody>
                  <a:tcPr marL="95250" marR="95250" marT="85725" marB="57150" anchor="ctr">
                    <a:lnL w="6668">
                      <a:solidFill>
                        <a:srgbClr val="D9DFDF"/>
                      </a:solidFill>
                      <a:prstDash val="solid"/>
                    </a:lnL>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950" b="1">
                          <a:solidFill>
                            <a:srgbClr val="FFFFFF"/>
                          </a:solidFill>
                          <a:latin typeface="Arial"/>
                          <a:ea typeface="Arial"/>
                          <a:cs typeface="Arial"/>
                        </a:rPr>
                        <a:t>T-shirt/top</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950" b="1">
                          <a:solidFill>
                            <a:srgbClr val="FFFFFF"/>
                          </a:solidFill>
                          <a:latin typeface="Arial"/>
                          <a:ea typeface="Arial"/>
                          <a:cs typeface="Arial"/>
                        </a:rPr>
                        <a:t>Pullover</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950" b="1">
                          <a:solidFill>
                            <a:srgbClr val="FFFFFF"/>
                          </a:solidFill>
                          <a:latin typeface="Arial"/>
                          <a:ea typeface="Arial"/>
                          <a:cs typeface="Arial"/>
                        </a:rPr>
                        <a:t>Coat</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950" b="1">
                          <a:solidFill>
                            <a:srgbClr val="FFFFFF"/>
                          </a:solidFill>
                          <a:latin typeface="Arial"/>
                          <a:ea typeface="Arial"/>
                          <a:cs typeface="Arial"/>
                        </a:rPr>
                        <a:t>Shirt</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950" b="1">
                          <a:solidFill>
                            <a:srgbClr val="FFFFFF"/>
                          </a:solidFill>
                          <a:latin typeface="Arial"/>
                          <a:ea typeface="Arial"/>
                          <a:cs typeface="Arial"/>
                        </a:rPr>
                        <a:t>Other</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r>
              <a:tr h="643890">
                <a:tc>
                  <a:txBody>
                    <a:bodyPr/>
                    <a:lstStyle/>
                    <a:p>
                      <a:r>
                        <a:rPr sz="1950">
                          <a:solidFill>
                            <a:srgbClr val="142F38"/>
                          </a:solidFill>
                          <a:latin typeface="Arial"/>
                          <a:ea typeface="Arial"/>
                          <a:cs typeface="Arial"/>
                        </a:rPr>
                        <a:t>T-shirt/top</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857</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14</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4</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104</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21</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43890">
                <a:tc>
                  <a:txBody>
                    <a:bodyPr/>
                    <a:lstStyle/>
                    <a:p>
                      <a:r>
                        <a:rPr sz="1950">
                          <a:solidFill>
                            <a:srgbClr val="142F38"/>
                          </a:solidFill>
                          <a:latin typeface="Arial"/>
                          <a:ea typeface="Arial"/>
                          <a:cs typeface="Arial"/>
                        </a:rPr>
                        <a:t>Pullover</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12</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862</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57</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59</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10</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43890">
                <a:tc>
                  <a:txBody>
                    <a:bodyPr/>
                    <a:lstStyle/>
                    <a:p>
                      <a:r>
                        <a:rPr sz="1950">
                          <a:solidFill>
                            <a:srgbClr val="142F38"/>
                          </a:solidFill>
                          <a:latin typeface="Arial"/>
                          <a:ea typeface="Arial"/>
                          <a:cs typeface="Arial"/>
                        </a:rPr>
                        <a:t>Coat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3</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51</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864</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42</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40</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43890">
                <a:tc>
                  <a:txBody>
                    <a:bodyPr/>
                    <a:lstStyle/>
                    <a:p>
                      <a:r>
                        <a:rPr sz="1950">
                          <a:solidFill>
                            <a:srgbClr val="142F38"/>
                          </a:solidFill>
                          <a:latin typeface="Arial"/>
                          <a:ea typeface="Arial"/>
                          <a:cs typeface="Arial"/>
                        </a:rPr>
                        <a:t>Shirt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103</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63</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64</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733</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950">
                          <a:solidFill>
                            <a:srgbClr val="142F38"/>
                          </a:solidFill>
                          <a:latin typeface="Arial"/>
                          <a:ea typeface="Arial"/>
                          <a:cs typeface="Arial"/>
                        </a:rPr>
                        <a:t>37</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EF6E78C4-FF74-4B2C-B554-6A4B8FD5298F}"/>
              </a:ext>
            </a:extLst>
          </p:cNvPr>
          <p:cNvSpPr>
            <a:spLocks xmlns:a="http://schemas.openxmlformats.org/drawingml/2006/main" noGrp="1"/>
          </p:cNvSpPr>
          <p:nvPr/>
        </p:nvSpPr>
        <p:spPr>
          <a:xfrm xmlns:a="http://schemas.openxmlformats.org/drawingml/2006/main">
            <a:off x="647700" y="5191125"/>
            <a:ext cx="1081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1">
                <a:solidFill>
                  <a:srgbClr val="087F82"/>
                </a:solidFill>
                <a:latin typeface="Arial"/>
                <a:ea typeface="Arial"/>
                <a:cs typeface="Arial"/>
              </a:defRPr>
            </a:defPPr>
            <a:lvl1pPr>
              <a:defRPr sz="1950" b="1">
                <a:solidFill>
                  <a:srgbClr val="087F82"/>
                </a:solidFill>
                <a:latin typeface="Arial"/>
                <a:ea typeface="Arial"/>
                <a:cs typeface="Arial"/>
              </a:defRPr>
            </a:lvl1pPr>
            <a:lvl2pPr>
              <a:defRPr sz="1950" b="1">
                <a:solidFill>
                  <a:srgbClr val="087F82"/>
                </a:solidFill>
                <a:latin typeface="Arial"/>
                <a:ea typeface="Arial"/>
                <a:cs typeface="Arial"/>
              </a:defRPr>
            </a:lvl2pPr>
            <a:lvl3pPr>
              <a:defRPr sz="1950" b="1">
                <a:solidFill>
                  <a:srgbClr val="087F82"/>
                </a:solidFill>
                <a:latin typeface="Arial"/>
                <a:ea typeface="Arial"/>
                <a:cs typeface="Arial"/>
              </a:defRPr>
            </a:lvl3pPr>
            <a:lvl4pPr>
              <a:defRPr sz="1950" b="1">
                <a:solidFill>
                  <a:srgbClr val="087F82"/>
                </a:solidFill>
                <a:latin typeface="Arial"/>
                <a:ea typeface="Arial"/>
                <a:cs typeface="Arial"/>
              </a:defRPr>
            </a:lvl4pPr>
            <a:lvl5pPr>
              <a:defRPr sz="1950" b="1">
                <a:solidFill>
                  <a:srgbClr val="087F82"/>
                </a:solidFill>
                <a:latin typeface="Arial"/>
                <a:ea typeface="Arial"/>
                <a:cs typeface="Arial"/>
              </a:defRPr>
            </a:lvl5pPr>
            <a:lvl6pPr>
              <a:defRPr sz="1950" b="1">
                <a:solidFill>
                  <a:srgbClr val="087F82"/>
                </a:solidFill>
                <a:latin typeface="Arial"/>
                <a:ea typeface="Arial"/>
                <a:cs typeface="Arial"/>
              </a:defRPr>
            </a:lvl6pPr>
            <a:lvl7pPr>
              <a:defRPr sz="1950" b="1">
                <a:solidFill>
                  <a:srgbClr val="087F82"/>
                </a:solidFill>
                <a:latin typeface="Arial"/>
                <a:ea typeface="Arial"/>
                <a:cs typeface="Arial"/>
              </a:defRPr>
            </a:lvl7pPr>
            <a:lvl8pPr>
              <a:defRPr sz="1950" b="1">
                <a:solidFill>
                  <a:srgbClr val="087F82"/>
                </a:solidFill>
                <a:latin typeface="Arial"/>
                <a:ea typeface="Arial"/>
                <a:cs typeface="Arial"/>
              </a:defRPr>
            </a:lvl8pPr>
            <a:lvl9pPr>
              <a:defRPr sz="1950" b="1">
                <a:solidFill>
                  <a:srgbClr val="087F82"/>
                </a:solidFill>
                <a:latin typeface="Arial"/>
                <a:ea typeface="Arial"/>
                <a:cs typeface="Arial"/>
              </a:defRPr>
            </a:lvl9pPr>
          </a:lstStyle>
          <a:p xmlns:a="http://schemas.openxmlformats.org/drawingml/2006/main">
            <a:pPr>
              <a:defRPr sz="1950" b="1">
                <a:solidFill>
                  <a:srgbClr val="087F82"/>
                </a:solidFill>
                <a:latin typeface="Arial"/>
                <a:ea typeface="Arial"/>
                <a:cs typeface="Arial"/>
              </a:defRPr>
            </a:pPr>
            <a:r>
              <a:rPr sz="1950" b="1">
                <a:solidFill>
                  <a:srgbClr val="087F82"/>
                </a:solidFill>
                <a:latin typeface="Arial"/>
                <a:ea typeface="Arial"/>
                <a:cs typeface="Arial"/>
              </a:rPr>
              <a:t>Rows: true labels. Columns: predictions. Each row totals 1,000.</a:t>
            </a:r>
          </a:p>
        </p:txBody>
      </p:sp>
      <p:sp>
        <p:nvSpPr>
          <p:cNvPr id="6" name="">
            <a:extLst xmlns:a="http://schemas.openxmlformats.org/drawingml/2006/main">
              <a:ext uri="{FF2B5EF4-FFF2-40B4-BE49-F238E27FC236}">
                <a16:creationId xmlns:a16="http://schemas.microsoft.com/office/drawing/2014/main" id="{64ABE35D-BD21-4981-89A1-A5C7DD8C7C6B}"/>
              </a:ext>
            </a:extLst>
          </p:cNvPr>
          <p:cNvSpPr>
            <a:spLocks xmlns:a="http://schemas.openxmlformats.org/drawingml/2006/main" noGrp="1"/>
          </p:cNvSpPr>
          <p:nvPr/>
        </p:nvSpPr>
        <p:spPr>
          <a:xfrm xmlns:a="http://schemas.openxmlformats.org/drawingml/2006/main">
            <a:off x="647700" y="5743575"/>
            <a:ext cx="10810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56D"/>
                </a:solidFill>
                <a:latin typeface="Arial"/>
                <a:ea typeface="Arial"/>
                <a:cs typeface="Arial"/>
              </a:defRPr>
            </a:defPPr>
            <a:lvl1pPr>
              <a:defRPr sz="1800" b="0">
                <a:solidFill>
                  <a:srgbClr val="52656D"/>
                </a:solidFill>
                <a:latin typeface="Arial"/>
                <a:ea typeface="Arial"/>
                <a:cs typeface="Arial"/>
              </a:defRPr>
            </a:lvl1pPr>
            <a:lvl2pPr>
              <a:defRPr sz="1800" b="0">
                <a:solidFill>
                  <a:srgbClr val="52656D"/>
                </a:solidFill>
                <a:latin typeface="Arial"/>
                <a:ea typeface="Arial"/>
                <a:cs typeface="Arial"/>
              </a:defRPr>
            </a:lvl2pPr>
            <a:lvl3pPr>
              <a:defRPr sz="1800" b="0">
                <a:solidFill>
                  <a:srgbClr val="52656D"/>
                </a:solidFill>
                <a:latin typeface="Arial"/>
                <a:ea typeface="Arial"/>
                <a:cs typeface="Arial"/>
              </a:defRPr>
            </a:lvl3pPr>
            <a:lvl4pPr>
              <a:defRPr sz="1800" b="0">
                <a:solidFill>
                  <a:srgbClr val="52656D"/>
                </a:solidFill>
                <a:latin typeface="Arial"/>
                <a:ea typeface="Arial"/>
                <a:cs typeface="Arial"/>
              </a:defRPr>
            </a:lvl4pPr>
            <a:lvl5pPr>
              <a:defRPr sz="1800" b="0">
                <a:solidFill>
                  <a:srgbClr val="52656D"/>
                </a:solidFill>
                <a:latin typeface="Arial"/>
                <a:ea typeface="Arial"/>
                <a:cs typeface="Arial"/>
              </a:defRPr>
            </a:lvl5pPr>
            <a:lvl6pPr>
              <a:defRPr sz="1800" b="0">
                <a:solidFill>
                  <a:srgbClr val="52656D"/>
                </a:solidFill>
                <a:latin typeface="Arial"/>
                <a:ea typeface="Arial"/>
                <a:cs typeface="Arial"/>
              </a:defRPr>
            </a:lvl6pPr>
            <a:lvl7pPr>
              <a:defRPr sz="1800" b="0">
                <a:solidFill>
                  <a:srgbClr val="52656D"/>
                </a:solidFill>
                <a:latin typeface="Arial"/>
                <a:ea typeface="Arial"/>
                <a:cs typeface="Arial"/>
              </a:defRPr>
            </a:lvl7pPr>
            <a:lvl8pPr>
              <a:defRPr sz="1800" b="0">
                <a:solidFill>
                  <a:srgbClr val="52656D"/>
                </a:solidFill>
                <a:latin typeface="Arial"/>
                <a:ea typeface="Arial"/>
                <a:cs typeface="Arial"/>
              </a:defRPr>
            </a:lvl8pPr>
            <a:lvl9pPr>
              <a:defRPr sz="1800" b="0">
                <a:solidFill>
                  <a:srgbClr val="52656D"/>
                </a:solidFill>
                <a:latin typeface="Arial"/>
                <a:ea typeface="Arial"/>
                <a:cs typeface="Arial"/>
              </a:defRPr>
            </a:lvl9pPr>
          </a:lstStyle>
          <a:p xmlns:a="http://schemas.openxmlformats.org/drawingml/2006/main">
            <a:pPr>
              <a:defRPr sz="1800" b="0">
                <a:solidFill>
                  <a:srgbClr val="52656D"/>
                </a:solidFill>
                <a:latin typeface="Arial"/>
                <a:ea typeface="Arial"/>
                <a:cs typeface="Arial"/>
              </a:defRPr>
            </a:pPr>
            <a:r>
              <a:rPr sz="1800" b="0">
                <a:solidFill>
                  <a:srgbClr val="52656D"/>
                </a:solidFill>
                <a:latin typeface="Arial"/>
                <a:ea typeface="Arial"/>
                <a:cs typeface="Arial"/>
              </a:rPr>
              <a:t>Other combines the six remaining predicted categories.</a:t>
            </a:r>
          </a:p>
        </p:txBody>
      </p:sp>
    </p:spTree>
    <p:extLst>
      <p:ext uri="{BB962C8B-B14F-4D97-AF65-F5344CB8AC3E}">
        <p14:creationId xmlns:p14="http://schemas.microsoft.com/office/powerpoint/2010/main" val="1907076951"/>
      </p:ext>
    </p:extLst>
  </p:cSld>
</p:sld>
</file>

<file path=ppt/slides/slide1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4F30130E-B30B-4395-94CA-DBED992C01B8}"/>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Paired SVM prediction examples</a:t>
            </a:r>
          </a:p>
        </p:txBody>
      </p:sp>
      <p:sp>
        <p:nvSpPr>
          <p:cNvPr id="3" name="">
            <a:extLst xmlns:a="http://schemas.openxmlformats.org/drawingml/2006/main">
              <a:ext uri="{FF2B5EF4-FFF2-40B4-BE49-F238E27FC236}">
                <a16:creationId xmlns:a16="http://schemas.microsoft.com/office/drawing/2014/main" id="{24E05450-D8FB-4E1E-B388-4B197502ADD6}"/>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14</a:t>
            </a:r>
          </a:p>
        </p:txBody>
      </p:sp>
      <p:sp>
        <p:nvSpPr>
          <p:cNvPr id="4" name="">
            <a:extLst xmlns:a="http://schemas.openxmlformats.org/drawingml/2006/main">
              <a:ext uri="{FF2B5EF4-FFF2-40B4-BE49-F238E27FC236}">
                <a16:creationId xmlns:a16="http://schemas.microsoft.com/office/drawing/2014/main" id="{57C173BF-F834-4068-A84C-65B8AC4BB67D}"/>
              </a:ext>
            </a:extLst>
          </p:cNvPr>
          <p:cNvSpPr>
            <a:spLocks xmlns:a="http://schemas.openxmlformats.org/drawingml/2006/main" noGrp="1"/>
          </p:cNvSpPr>
          <p:nvPr/>
        </p:nvSpPr>
        <p:spPr>
          <a:xfrm xmlns:a="http://schemas.openxmlformats.org/drawingml/2006/main">
            <a:off x="647700" y="1552575"/>
            <a:ext cx="2590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1">
                <a:solidFill>
                  <a:srgbClr val="087F82"/>
                </a:solidFill>
                <a:latin typeface="Arial"/>
                <a:ea typeface="Arial"/>
                <a:cs typeface="Arial"/>
              </a:defRPr>
            </a:defPPr>
            <a:lvl1pPr>
              <a:defRPr sz="1875" b="1">
                <a:solidFill>
                  <a:srgbClr val="087F82"/>
                </a:solidFill>
                <a:latin typeface="Arial"/>
                <a:ea typeface="Arial"/>
                <a:cs typeface="Arial"/>
              </a:defRPr>
            </a:lvl1pPr>
            <a:lvl2pPr>
              <a:defRPr sz="1875" b="1">
                <a:solidFill>
                  <a:srgbClr val="087F82"/>
                </a:solidFill>
                <a:latin typeface="Arial"/>
                <a:ea typeface="Arial"/>
                <a:cs typeface="Arial"/>
              </a:defRPr>
            </a:lvl2pPr>
            <a:lvl3pPr>
              <a:defRPr sz="1875" b="1">
                <a:solidFill>
                  <a:srgbClr val="087F82"/>
                </a:solidFill>
                <a:latin typeface="Arial"/>
                <a:ea typeface="Arial"/>
                <a:cs typeface="Arial"/>
              </a:defRPr>
            </a:lvl3pPr>
            <a:lvl4pPr>
              <a:defRPr sz="1875" b="1">
                <a:solidFill>
                  <a:srgbClr val="087F82"/>
                </a:solidFill>
                <a:latin typeface="Arial"/>
                <a:ea typeface="Arial"/>
                <a:cs typeface="Arial"/>
              </a:defRPr>
            </a:lvl4pPr>
            <a:lvl5pPr>
              <a:defRPr sz="1875" b="1">
                <a:solidFill>
                  <a:srgbClr val="087F82"/>
                </a:solidFill>
                <a:latin typeface="Arial"/>
                <a:ea typeface="Arial"/>
                <a:cs typeface="Arial"/>
              </a:defRPr>
            </a:lvl5pPr>
            <a:lvl6pPr>
              <a:defRPr sz="1875" b="1">
                <a:solidFill>
                  <a:srgbClr val="087F82"/>
                </a:solidFill>
                <a:latin typeface="Arial"/>
                <a:ea typeface="Arial"/>
                <a:cs typeface="Arial"/>
              </a:defRPr>
            </a:lvl6pPr>
            <a:lvl7pPr>
              <a:defRPr sz="1875" b="1">
                <a:solidFill>
                  <a:srgbClr val="087F82"/>
                </a:solidFill>
                <a:latin typeface="Arial"/>
                <a:ea typeface="Arial"/>
                <a:cs typeface="Arial"/>
              </a:defRPr>
            </a:lvl7pPr>
            <a:lvl8pPr>
              <a:defRPr sz="1875" b="1">
                <a:solidFill>
                  <a:srgbClr val="087F82"/>
                </a:solidFill>
                <a:latin typeface="Arial"/>
                <a:ea typeface="Arial"/>
                <a:cs typeface="Arial"/>
              </a:defRPr>
            </a:lvl8pPr>
            <a:lvl9pPr>
              <a:defRPr sz="1875" b="1">
                <a:solidFill>
                  <a:srgbClr val="087F82"/>
                </a:solidFill>
                <a:latin typeface="Arial"/>
                <a:ea typeface="Arial"/>
                <a:cs typeface="Arial"/>
              </a:defRPr>
            </a:lvl9pPr>
          </a:lstStyle>
          <a:p xmlns:a="http://schemas.openxmlformats.org/drawingml/2006/main">
            <a:pPr>
              <a:defRPr sz="1875" b="1">
                <a:solidFill>
                  <a:srgbClr val="087F82"/>
                </a:solidFill>
                <a:latin typeface="Arial"/>
                <a:ea typeface="Arial"/>
                <a:cs typeface="Arial"/>
              </a:defRPr>
            </a:pPr>
            <a:r>
              <a:rPr sz="1875" b="1">
                <a:solidFill>
                  <a:srgbClr val="087F82"/>
                </a:solidFill>
                <a:latin typeface="Arial"/>
                <a:ea typeface="Arial"/>
                <a:cs typeface="Arial"/>
              </a:rPr>
              <a:t>Only HOG correct</a:t>
            </a:r>
          </a:p>
          <a:p xmlns:a="http://schemas.openxmlformats.org/drawingml/2006/main">
            <a:pPr>
              <a:defRPr sz="1875" b="1">
                <a:solidFill>
                  <a:srgbClr val="087F82"/>
                </a:solidFill>
                <a:latin typeface="Arial"/>
                <a:ea typeface="Arial"/>
                <a:cs typeface="Arial"/>
              </a:defRPr>
            </a:pPr>
            <a:r>
              <a:rPr sz="1875" b="1">
                <a:solidFill>
                  <a:srgbClr val="087F82"/>
                </a:solidFill>
                <a:latin typeface="Arial"/>
                <a:ea typeface="Arial"/>
                <a:cs typeface="Arial"/>
              </a:rPr>
              <a:t>Test ID 17</a:t>
            </a:r>
          </a:p>
        </p:txBody>
      </p:sp>
      <p:pic>
        <p:nvPicPr>
          <p:cNvPr id="5" name="">
            <a:extLst xmlns:a="http://schemas.openxmlformats.org/drawingml/2006/main">
              <a:ext uri="{FF2B5EF4-FFF2-40B4-BE49-F238E27FC236}">
                <a16:creationId xmlns:a16="http://schemas.microsoft.com/office/drawing/2014/main" id="{49EE29DD-231F-4AC5-A943-953D34D077CB}"/>
              </a:ext>
            </a:extLst>
          </p:cNvPr>
          <p:cNvPicPr>
            <a:picLocks xmlns:a="http://schemas.openxmlformats.org/drawingml/2006/main" noChangeAspect="1"/>
          </p:cNvPicPr>
          <p:nvPr/>
        </p:nvPicPr>
        <p:blipFill>
          <a:blip xmlns:r="http://schemas.openxmlformats.org/officeDocument/2006/relationships" xmlns:a="http://schemas.openxmlformats.org/drawingml/2006/main" r:embed="R0cc7f8aa75c74742"/>
          <a:stretch xmlns:a="http://schemas.openxmlformats.org/drawingml/2006/main"/>
        </p:blipFill>
        <p:spPr>
          <a:xfrm xmlns:a="http://schemas.openxmlformats.org/drawingml/2006/main">
            <a:off x="647700" y="2514600"/>
            <a:ext cx="2095500" cy="2095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ECAEDEA-BC92-472B-91FB-9FCA0B554854}"/>
              </a:ext>
            </a:extLst>
          </p:cNvPr>
          <p:cNvSpPr>
            <a:spLocks xmlns:a="http://schemas.openxmlformats.org/drawingml/2006/main" noGrp="1"/>
          </p:cNvSpPr>
          <p:nvPr/>
        </p:nvSpPr>
        <p:spPr>
          <a:xfrm xmlns:a="http://schemas.openxmlformats.org/drawingml/2006/main">
            <a:off x="647700" y="4772025"/>
            <a:ext cx="26003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42F38"/>
                </a:solidFill>
                <a:latin typeface="Arial"/>
                <a:ea typeface="Arial"/>
                <a:cs typeface="Arial"/>
              </a:defRPr>
            </a:defPPr>
            <a:lvl1pPr>
              <a:defRPr sz="1725" b="0">
                <a:solidFill>
                  <a:srgbClr val="142F38"/>
                </a:solidFill>
                <a:latin typeface="Arial"/>
                <a:ea typeface="Arial"/>
                <a:cs typeface="Arial"/>
              </a:defRPr>
            </a:lvl1pPr>
            <a:lvl2pPr>
              <a:defRPr sz="1725" b="0">
                <a:solidFill>
                  <a:srgbClr val="142F38"/>
                </a:solidFill>
                <a:latin typeface="Arial"/>
                <a:ea typeface="Arial"/>
                <a:cs typeface="Arial"/>
              </a:defRPr>
            </a:lvl2pPr>
            <a:lvl3pPr>
              <a:defRPr sz="1725" b="0">
                <a:solidFill>
                  <a:srgbClr val="142F38"/>
                </a:solidFill>
                <a:latin typeface="Arial"/>
                <a:ea typeface="Arial"/>
                <a:cs typeface="Arial"/>
              </a:defRPr>
            </a:lvl3pPr>
            <a:lvl4pPr>
              <a:defRPr sz="1725" b="0">
                <a:solidFill>
                  <a:srgbClr val="142F38"/>
                </a:solidFill>
                <a:latin typeface="Arial"/>
                <a:ea typeface="Arial"/>
                <a:cs typeface="Arial"/>
              </a:defRPr>
            </a:lvl4pPr>
            <a:lvl5pPr>
              <a:defRPr sz="1725" b="0">
                <a:solidFill>
                  <a:srgbClr val="142F38"/>
                </a:solidFill>
                <a:latin typeface="Arial"/>
                <a:ea typeface="Arial"/>
                <a:cs typeface="Arial"/>
              </a:defRPr>
            </a:lvl5pPr>
            <a:lvl6pPr>
              <a:defRPr sz="1725" b="0">
                <a:solidFill>
                  <a:srgbClr val="142F38"/>
                </a:solidFill>
                <a:latin typeface="Arial"/>
                <a:ea typeface="Arial"/>
                <a:cs typeface="Arial"/>
              </a:defRPr>
            </a:lvl6pPr>
            <a:lvl7pPr>
              <a:defRPr sz="1725" b="0">
                <a:solidFill>
                  <a:srgbClr val="142F38"/>
                </a:solidFill>
                <a:latin typeface="Arial"/>
                <a:ea typeface="Arial"/>
                <a:cs typeface="Arial"/>
              </a:defRPr>
            </a:lvl7pPr>
            <a:lvl8pPr>
              <a:defRPr sz="1725" b="0">
                <a:solidFill>
                  <a:srgbClr val="142F38"/>
                </a:solidFill>
                <a:latin typeface="Arial"/>
                <a:ea typeface="Arial"/>
                <a:cs typeface="Arial"/>
              </a:defRPr>
            </a:lvl8pPr>
            <a:lvl9pPr>
              <a:defRPr sz="1725" b="0">
                <a:solidFill>
                  <a:srgbClr val="142F38"/>
                </a:solidFill>
                <a:latin typeface="Arial"/>
                <a:ea typeface="Arial"/>
                <a:cs typeface="Arial"/>
              </a:defRPr>
            </a:lvl9pPr>
          </a:lstStyle>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True: Coat</a:t>
            </a:r>
          </a:p>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Pixels: Pullover</a:t>
            </a:r>
          </a:p>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HOG: Coat</a:t>
            </a:r>
          </a:p>
        </p:txBody>
      </p:sp>
      <p:sp>
        <p:nvSpPr>
          <p:cNvPr id="7" name="">
            <a:extLst xmlns:a="http://schemas.openxmlformats.org/drawingml/2006/main">
              <a:ext uri="{FF2B5EF4-FFF2-40B4-BE49-F238E27FC236}">
                <a16:creationId xmlns:a16="http://schemas.microsoft.com/office/drawing/2014/main" id="{938EF560-D7B6-4D15-AA53-B1BC7B0C0F65}"/>
              </a:ext>
            </a:extLst>
          </p:cNvPr>
          <p:cNvSpPr>
            <a:spLocks xmlns:a="http://schemas.openxmlformats.org/drawingml/2006/main" noGrp="1"/>
          </p:cNvSpPr>
          <p:nvPr/>
        </p:nvSpPr>
        <p:spPr>
          <a:xfrm xmlns:a="http://schemas.openxmlformats.org/drawingml/2006/main">
            <a:off x="3409950" y="1552575"/>
            <a:ext cx="2590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1">
                <a:solidFill>
                  <a:srgbClr val="087F82"/>
                </a:solidFill>
                <a:latin typeface="Arial"/>
                <a:ea typeface="Arial"/>
                <a:cs typeface="Arial"/>
              </a:defRPr>
            </a:defPPr>
            <a:lvl1pPr>
              <a:defRPr sz="1875" b="1">
                <a:solidFill>
                  <a:srgbClr val="087F82"/>
                </a:solidFill>
                <a:latin typeface="Arial"/>
                <a:ea typeface="Arial"/>
                <a:cs typeface="Arial"/>
              </a:defRPr>
            </a:lvl1pPr>
            <a:lvl2pPr>
              <a:defRPr sz="1875" b="1">
                <a:solidFill>
                  <a:srgbClr val="087F82"/>
                </a:solidFill>
                <a:latin typeface="Arial"/>
                <a:ea typeface="Arial"/>
                <a:cs typeface="Arial"/>
              </a:defRPr>
            </a:lvl2pPr>
            <a:lvl3pPr>
              <a:defRPr sz="1875" b="1">
                <a:solidFill>
                  <a:srgbClr val="087F82"/>
                </a:solidFill>
                <a:latin typeface="Arial"/>
                <a:ea typeface="Arial"/>
                <a:cs typeface="Arial"/>
              </a:defRPr>
            </a:lvl3pPr>
            <a:lvl4pPr>
              <a:defRPr sz="1875" b="1">
                <a:solidFill>
                  <a:srgbClr val="087F82"/>
                </a:solidFill>
                <a:latin typeface="Arial"/>
                <a:ea typeface="Arial"/>
                <a:cs typeface="Arial"/>
              </a:defRPr>
            </a:lvl4pPr>
            <a:lvl5pPr>
              <a:defRPr sz="1875" b="1">
                <a:solidFill>
                  <a:srgbClr val="087F82"/>
                </a:solidFill>
                <a:latin typeface="Arial"/>
                <a:ea typeface="Arial"/>
                <a:cs typeface="Arial"/>
              </a:defRPr>
            </a:lvl5pPr>
            <a:lvl6pPr>
              <a:defRPr sz="1875" b="1">
                <a:solidFill>
                  <a:srgbClr val="087F82"/>
                </a:solidFill>
                <a:latin typeface="Arial"/>
                <a:ea typeface="Arial"/>
                <a:cs typeface="Arial"/>
              </a:defRPr>
            </a:lvl6pPr>
            <a:lvl7pPr>
              <a:defRPr sz="1875" b="1">
                <a:solidFill>
                  <a:srgbClr val="087F82"/>
                </a:solidFill>
                <a:latin typeface="Arial"/>
                <a:ea typeface="Arial"/>
                <a:cs typeface="Arial"/>
              </a:defRPr>
            </a:lvl7pPr>
            <a:lvl8pPr>
              <a:defRPr sz="1875" b="1">
                <a:solidFill>
                  <a:srgbClr val="087F82"/>
                </a:solidFill>
                <a:latin typeface="Arial"/>
                <a:ea typeface="Arial"/>
                <a:cs typeface="Arial"/>
              </a:defRPr>
            </a:lvl8pPr>
            <a:lvl9pPr>
              <a:defRPr sz="1875" b="1">
                <a:solidFill>
                  <a:srgbClr val="087F82"/>
                </a:solidFill>
                <a:latin typeface="Arial"/>
                <a:ea typeface="Arial"/>
                <a:cs typeface="Arial"/>
              </a:defRPr>
            </a:lvl9pPr>
          </a:lstStyle>
          <a:p xmlns:a="http://schemas.openxmlformats.org/drawingml/2006/main">
            <a:pPr>
              <a:defRPr sz="1875" b="1">
                <a:solidFill>
                  <a:srgbClr val="087F82"/>
                </a:solidFill>
                <a:latin typeface="Arial"/>
                <a:ea typeface="Arial"/>
                <a:cs typeface="Arial"/>
              </a:defRPr>
            </a:pPr>
            <a:r>
              <a:rPr sz="1875" b="1">
                <a:solidFill>
                  <a:srgbClr val="087F82"/>
                </a:solidFill>
                <a:latin typeface="Arial"/>
                <a:ea typeface="Arial"/>
                <a:cs typeface="Arial"/>
              </a:rPr>
              <a:t>Only HOG correct</a:t>
            </a:r>
          </a:p>
          <a:p xmlns:a="http://schemas.openxmlformats.org/drawingml/2006/main">
            <a:pPr>
              <a:defRPr sz="1875" b="1">
                <a:solidFill>
                  <a:srgbClr val="087F82"/>
                </a:solidFill>
                <a:latin typeface="Arial"/>
                <a:ea typeface="Arial"/>
                <a:cs typeface="Arial"/>
              </a:defRPr>
            </a:pPr>
            <a:r>
              <a:rPr sz="1875" b="1">
                <a:solidFill>
                  <a:srgbClr val="087F82"/>
                </a:solidFill>
                <a:latin typeface="Arial"/>
                <a:ea typeface="Arial"/>
                <a:cs typeface="Arial"/>
              </a:rPr>
              <a:t>Test ID 49</a:t>
            </a:r>
          </a:p>
        </p:txBody>
      </p:sp>
      <p:pic>
        <p:nvPicPr>
          <p:cNvPr id="8" name="">
            <a:extLst xmlns:a="http://schemas.openxmlformats.org/drawingml/2006/main">
              <a:ext uri="{FF2B5EF4-FFF2-40B4-BE49-F238E27FC236}">
                <a16:creationId xmlns:a16="http://schemas.microsoft.com/office/drawing/2014/main" id="{29E6ECEA-DF9B-4644-8AF5-DC03ED139E4E}"/>
              </a:ext>
            </a:extLst>
          </p:cNvPr>
          <p:cNvPicPr>
            <a:picLocks xmlns:a="http://schemas.openxmlformats.org/drawingml/2006/main" noChangeAspect="1"/>
          </p:cNvPicPr>
          <p:nvPr/>
        </p:nvPicPr>
        <p:blipFill>
          <a:blip xmlns:r="http://schemas.openxmlformats.org/officeDocument/2006/relationships" xmlns:a="http://schemas.openxmlformats.org/drawingml/2006/main" r:embed="Rc8578d03097249f4"/>
          <a:stretch xmlns:a="http://schemas.openxmlformats.org/drawingml/2006/main"/>
        </p:blipFill>
        <p:spPr>
          <a:xfrm xmlns:a="http://schemas.openxmlformats.org/drawingml/2006/main">
            <a:off x="3409950" y="2514600"/>
            <a:ext cx="2095500" cy="20955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6F48A50-33DB-4D11-9E26-FB9CB95EA5CC}"/>
              </a:ext>
            </a:extLst>
          </p:cNvPr>
          <p:cNvSpPr>
            <a:spLocks xmlns:a="http://schemas.openxmlformats.org/drawingml/2006/main" noGrp="1"/>
          </p:cNvSpPr>
          <p:nvPr/>
        </p:nvSpPr>
        <p:spPr>
          <a:xfrm xmlns:a="http://schemas.openxmlformats.org/drawingml/2006/main">
            <a:off x="3409950" y="4772025"/>
            <a:ext cx="26003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42F38"/>
                </a:solidFill>
                <a:latin typeface="Arial"/>
                <a:ea typeface="Arial"/>
                <a:cs typeface="Arial"/>
              </a:defRPr>
            </a:defPPr>
            <a:lvl1pPr>
              <a:defRPr sz="1725" b="0">
                <a:solidFill>
                  <a:srgbClr val="142F38"/>
                </a:solidFill>
                <a:latin typeface="Arial"/>
                <a:ea typeface="Arial"/>
                <a:cs typeface="Arial"/>
              </a:defRPr>
            </a:lvl1pPr>
            <a:lvl2pPr>
              <a:defRPr sz="1725" b="0">
                <a:solidFill>
                  <a:srgbClr val="142F38"/>
                </a:solidFill>
                <a:latin typeface="Arial"/>
                <a:ea typeface="Arial"/>
                <a:cs typeface="Arial"/>
              </a:defRPr>
            </a:lvl2pPr>
            <a:lvl3pPr>
              <a:defRPr sz="1725" b="0">
                <a:solidFill>
                  <a:srgbClr val="142F38"/>
                </a:solidFill>
                <a:latin typeface="Arial"/>
                <a:ea typeface="Arial"/>
                <a:cs typeface="Arial"/>
              </a:defRPr>
            </a:lvl3pPr>
            <a:lvl4pPr>
              <a:defRPr sz="1725" b="0">
                <a:solidFill>
                  <a:srgbClr val="142F38"/>
                </a:solidFill>
                <a:latin typeface="Arial"/>
                <a:ea typeface="Arial"/>
                <a:cs typeface="Arial"/>
              </a:defRPr>
            </a:lvl4pPr>
            <a:lvl5pPr>
              <a:defRPr sz="1725" b="0">
                <a:solidFill>
                  <a:srgbClr val="142F38"/>
                </a:solidFill>
                <a:latin typeface="Arial"/>
                <a:ea typeface="Arial"/>
                <a:cs typeface="Arial"/>
              </a:defRPr>
            </a:lvl5pPr>
            <a:lvl6pPr>
              <a:defRPr sz="1725" b="0">
                <a:solidFill>
                  <a:srgbClr val="142F38"/>
                </a:solidFill>
                <a:latin typeface="Arial"/>
                <a:ea typeface="Arial"/>
                <a:cs typeface="Arial"/>
              </a:defRPr>
            </a:lvl6pPr>
            <a:lvl7pPr>
              <a:defRPr sz="1725" b="0">
                <a:solidFill>
                  <a:srgbClr val="142F38"/>
                </a:solidFill>
                <a:latin typeface="Arial"/>
                <a:ea typeface="Arial"/>
                <a:cs typeface="Arial"/>
              </a:defRPr>
            </a:lvl7pPr>
            <a:lvl8pPr>
              <a:defRPr sz="1725" b="0">
                <a:solidFill>
                  <a:srgbClr val="142F38"/>
                </a:solidFill>
                <a:latin typeface="Arial"/>
                <a:ea typeface="Arial"/>
                <a:cs typeface="Arial"/>
              </a:defRPr>
            </a:lvl8pPr>
            <a:lvl9pPr>
              <a:defRPr sz="1725" b="0">
                <a:solidFill>
                  <a:srgbClr val="142F38"/>
                </a:solidFill>
                <a:latin typeface="Arial"/>
                <a:ea typeface="Arial"/>
                <a:cs typeface="Arial"/>
              </a:defRPr>
            </a:lvl9pPr>
          </a:lstStyle>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True: Pullover</a:t>
            </a:r>
          </a:p>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Pixels: Shirt</a:t>
            </a:r>
          </a:p>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HOG: Pullover</a:t>
            </a:r>
          </a:p>
        </p:txBody>
      </p:sp>
      <p:sp>
        <p:nvSpPr>
          <p:cNvPr id="10" name="">
            <a:extLst xmlns:a="http://schemas.openxmlformats.org/drawingml/2006/main">
              <a:ext uri="{FF2B5EF4-FFF2-40B4-BE49-F238E27FC236}">
                <a16:creationId xmlns:a16="http://schemas.microsoft.com/office/drawing/2014/main" id="{822BB151-168A-4493-90E8-BF2BFFA7C33E}"/>
              </a:ext>
            </a:extLst>
          </p:cNvPr>
          <p:cNvSpPr>
            <a:spLocks xmlns:a="http://schemas.openxmlformats.org/drawingml/2006/main" noGrp="1"/>
          </p:cNvSpPr>
          <p:nvPr/>
        </p:nvSpPr>
        <p:spPr>
          <a:xfrm xmlns:a="http://schemas.openxmlformats.org/drawingml/2006/main">
            <a:off x="6172200" y="1552575"/>
            <a:ext cx="2590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1">
                <a:solidFill>
                  <a:srgbClr val="087F82"/>
                </a:solidFill>
                <a:latin typeface="Arial"/>
                <a:ea typeface="Arial"/>
                <a:cs typeface="Arial"/>
              </a:defRPr>
            </a:defPPr>
            <a:lvl1pPr>
              <a:defRPr sz="1875" b="1">
                <a:solidFill>
                  <a:srgbClr val="087F82"/>
                </a:solidFill>
                <a:latin typeface="Arial"/>
                <a:ea typeface="Arial"/>
                <a:cs typeface="Arial"/>
              </a:defRPr>
            </a:lvl1pPr>
            <a:lvl2pPr>
              <a:defRPr sz="1875" b="1">
                <a:solidFill>
                  <a:srgbClr val="087F82"/>
                </a:solidFill>
                <a:latin typeface="Arial"/>
                <a:ea typeface="Arial"/>
                <a:cs typeface="Arial"/>
              </a:defRPr>
            </a:lvl2pPr>
            <a:lvl3pPr>
              <a:defRPr sz="1875" b="1">
                <a:solidFill>
                  <a:srgbClr val="087F82"/>
                </a:solidFill>
                <a:latin typeface="Arial"/>
                <a:ea typeface="Arial"/>
                <a:cs typeface="Arial"/>
              </a:defRPr>
            </a:lvl3pPr>
            <a:lvl4pPr>
              <a:defRPr sz="1875" b="1">
                <a:solidFill>
                  <a:srgbClr val="087F82"/>
                </a:solidFill>
                <a:latin typeface="Arial"/>
                <a:ea typeface="Arial"/>
                <a:cs typeface="Arial"/>
              </a:defRPr>
            </a:lvl4pPr>
            <a:lvl5pPr>
              <a:defRPr sz="1875" b="1">
                <a:solidFill>
                  <a:srgbClr val="087F82"/>
                </a:solidFill>
                <a:latin typeface="Arial"/>
                <a:ea typeface="Arial"/>
                <a:cs typeface="Arial"/>
              </a:defRPr>
            </a:lvl5pPr>
            <a:lvl6pPr>
              <a:defRPr sz="1875" b="1">
                <a:solidFill>
                  <a:srgbClr val="087F82"/>
                </a:solidFill>
                <a:latin typeface="Arial"/>
                <a:ea typeface="Arial"/>
                <a:cs typeface="Arial"/>
              </a:defRPr>
            </a:lvl6pPr>
            <a:lvl7pPr>
              <a:defRPr sz="1875" b="1">
                <a:solidFill>
                  <a:srgbClr val="087F82"/>
                </a:solidFill>
                <a:latin typeface="Arial"/>
                <a:ea typeface="Arial"/>
                <a:cs typeface="Arial"/>
              </a:defRPr>
            </a:lvl7pPr>
            <a:lvl8pPr>
              <a:defRPr sz="1875" b="1">
                <a:solidFill>
                  <a:srgbClr val="087F82"/>
                </a:solidFill>
                <a:latin typeface="Arial"/>
                <a:ea typeface="Arial"/>
                <a:cs typeface="Arial"/>
              </a:defRPr>
            </a:lvl8pPr>
            <a:lvl9pPr>
              <a:defRPr sz="1875" b="1">
                <a:solidFill>
                  <a:srgbClr val="087F82"/>
                </a:solidFill>
                <a:latin typeface="Arial"/>
                <a:ea typeface="Arial"/>
                <a:cs typeface="Arial"/>
              </a:defRPr>
            </a:lvl9pPr>
          </a:lstStyle>
          <a:p xmlns:a="http://schemas.openxmlformats.org/drawingml/2006/main">
            <a:pPr>
              <a:defRPr sz="1875" b="1">
                <a:solidFill>
                  <a:srgbClr val="087F82"/>
                </a:solidFill>
                <a:latin typeface="Arial"/>
                <a:ea typeface="Arial"/>
                <a:cs typeface="Arial"/>
              </a:defRPr>
            </a:pPr>
            <a:r>
              <a:rPr sz="1875" b="1">
                <a:solidFill>
                  <a:srgbClr val="087F82"/>
                </a:solidFill>
                <a:latin typeface="Arial"/>
                <a:ea typeface="Arial"/>
                <a:cs typeface="Arial"/>
              </a:rPr>
              <a:t>Both wrong</a:t>
            </a:r>
          </a:p>
          <a:p xmlns:a="http://schemas.openxmlformats.org/drawingml/2006/main">
            <a:pPr>
              <a:defRPr sz="1875" b="1">
                <a:solidFill>
                  <a:srgbClr val="087F82"/>
                </a:solidFill>
                <a:latin typeface="Arial"/>
                <a:ea typeface="Arial"/>
                <a:cs typeface="Arial"/>
              </a:defRPr>
            </a:pPr>
            <a:r>
              <a:rPr sz="1875" b="1">
                <a:solidFill>
                  <a:srgbClr val="087F82"/>
                </a:solidFill>
                <a:latin typeface="Arial"/>
                <a:ea typeface="Arial"/>
                <a:cs typeface="Arial"/>
              </a:rPr>
              <a:t>Test ID 12</a:t>
            </a:r>
          </a:p>
        </p:txBody>
      </p:sp>
      <p:pic>
        <p:nvPicPr>
          <p:cNvPr id="11" name="">
            <a:extLst xmlns:a="http://schemas.openxmlformats.org/drawingml/2006/main">
              <a:ext uri="{FF2B5EF4-FFF2-40B4-BE49-F238E27FC236}">
                <a16:creationId xmlns:a16="http://schemas.microsoft.com/office/drawing/2014/main" id="{CBC172DD-8231-491F-B1F4-B985BEA761C4}"/>
              </a:ext>
            </a:extLst>
          </p:cNvPr>
          <p:cNvPicPr>
            <a:picLocks xmlns:a="http://schemas.openxmlformats.org/drawingml/2006/main" noChangeAspect="1"/>
          </p:cNvPicPr>
          <p:nvPr/>
        </p:nvPicPr>
        <p:blipFill>
          <a:blip xmlns:r="http://schemas.openxmlformats.org/officeDocument/2006/relationships" xmlns:a="http://schemas.openxmlformats.org/drawingml/2006/main" r:embed="R6ed8637ef3464559"/>
          <a:stretch xmlns:a="http://schemas.openxmlformats.org/drawingml/2006/main"/>
        </p:blipFill>
        <p:spPr>
          <a:xfrm xmlns:a="http://schemas.openxmlformats.org/drawingml/2006/main">
            <a:off x="6172200" y="2514600"/>
            <a:ext cx="2095500" cy="20955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9D2A85F5-D12B-4EBC-A3C8-DEF3AEA6002E}"/>
              </a:ext>
            </a:extLst>
          </p:cNvPr>
          <p:cNvSpPr>
            <a:spLocks xmlns:a="http://schemas.openxmlformats.org/drawingml/2006/main" noGrp="1"/>
          </p:cNvSpPr>
          <p:nvPr/>
        </p:nvSpPr>
        <p:spPr>
          <a:xfrm xmlns:a="http://schemas.openxmlformats.org/drawingml/2006/main">
            <a:off x="6172200" y="4772025"/>
            <a:ext cx="26003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42F38"/>
                </a:solidFill>
                <a:latin typeface="Arial"/>
                <a:ea typeface="Arial"/>
                <a:cs typeface="Arial"/>
              </a:defRPr>
            </a:defPPr>
            <a:lvl1pPr>
              <a:defRPr sz="1725" b="0">
                <a:solidFill>
                  <a:srgbClr val="142F38"/>
                </a:solidFill>
                <a:latin typeface="Arial"/>
                <a:ea typeface="Arial"/>
                <a:cs typeface="Arial"/>
              </a:defRPr>
            </a:lvl1pPr>
            <a:lvl2pPr>
              <a:defRPr sz="1725" b="0">
                <a:solidFill>
                  <a:srgbClr val="142F38"/>
                </a:solidFill>
                <a:latin typeface="Arial"/>
                <a:ea typeface="Arial"/>
                <a:cs typeface="Arial"/>
              </a:defRPr>
            </a:lvl2pPr>
            <a:lvl3pPr>
              <a:defRPr sz="1725" b="0">
                <a:solidFill>
                  <a:srgbClr val="142F38"/>
                </a:solidFill>
                <a:latin typeface="Arial"/>
                <a:ea typeface="Arial"/>
                <a:cs typeface="Arial"/>
              </a:defRPr>
            </a:lvl3pPr>
            <a:lvl4pPr>
              <a:defRPr sz="1725" b="0">
                <a:solidFill>
                  <a:srgbClr val="142F38"/>
                </a:solidFill>
                <a:latin typeface="Arial"/>
                <a:ea typeface="Arial"/>
                <a:cs typeface="Arial"/>
              </a:defRPr>
            </a:lvl4pPr>
            <a:lvl5pPr>
              <a:defRPr sz="1725" b="0">
                <a:solidFill>
                  <a:srgbClr val="142F38"/>
                </a:solidFill>
                <a:latin typeface="Arial"/>
                <a:ea typeface="Arial"/>
                <a:cs typeface="Arial"/>
              </a:defRPr>
            </a:lvl5pPr>
            <a:lvl6pPr>
              <a:defRPr sz="1725" b="0">
                <a:solidFill>
                  <a:srgbClr val="142F38"/>
                </a:solidFill>
                <a:latin typeface="Arial"/>
                <a:ea typeface="Arial"/>
                <a:cs typeface="Arial"/>
              </a:defRPr>
            </a:lvl6pPr>
            <a:lvl7pPr>
              <a:defRPr sz="1725" b="0">
                <a:solidFill>
                  <a:srgbClr val="142F38"/>
                </a:solidFill>
                <a:latin typeface="Arial"/>
                <a:ea typeface="Arial"/>
                <a:cs typeface="Arial"/>
              </a:defRPr>
            </a:lvl7pPr>
            <a:lvl8pPr>
              <a:defRPr sz="1725" b="0">
                <a:solidFill>
                  <a:srgbClr val="142F38"/>
                </a:solidFill>
                <a:latin typeface="Arial"/>
                <a:ea typeface="Arial"/>
                <a:cs typeface="Arial"/>
              </a:defRPr>
            </a:lvl8pPr>
            <a:lvl9pPr>
              <a:defRPr sz="1725" b="0">
                <a:solidFill>
                  <a:srgbClr val="142F38"/>
                </a:solidFill>
                <a:latin typeface="Arial"/>
                <a:ea typeface="Arial"/>
                <a:cs typeface="Arial"/>
              </a:defRPr>
            </a:lvl9pPr>
          </a:lstStyle>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True: Sneaker</a:t>
            </a:r>
          </a:p>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Pixels: Sandal</a:t>
            </a:r>
          </a:p>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HOG: Sandal</a:t>
            </a:r>
          </a:p>
        </p:txBody>
      </p:sp>
      <p:sp>
        <p:nvSpPr>
          <p:cNvPr id="13" name="">
            <a:extLst xmlns:a="http://schemas.openxmlformats.org/drawingml/2006/main">
              <a:ext uri="{FF2B5EF4-FFF2-40B4-BE49-F238E27FC236}">
                <a16:creationId xmlns:a16="http://schemas.microsoft.com/office/drawing/2014/main" id="{9EEC56EB-6636-489C-BCF2-969F644E178B}"/>
              </a:ext>
            </a:extLst>
          </p:cNvPr>
          <p:cNvSpPr>
            <a:spLocks xmlns:a="http://schemas.openxmlformats.org/drawingml/2006/main" noGrp="1"/>
          </p:cNvSpPr>
          <p:nvPr/>
        </p:nvSpPr>
        <p:spPr>
          <a:xfrm xmlns:a="http://schemas.openxmlformats.org/drawingml/2006/main">
            <a:off x="8934450" y="1552575"/>
            <a:ext cx="2590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1">
                <a:solidFill>
                  <a:srgbClr val="087F82"/>
                </a:solidFill>
                <a:latin typeface="Arial"/>
                <a:ea typeface="Arial"/>
                <a:cs typeface="Arial"/>
              </a:defRPr>
            </a:defPPr>
            <a:lvl1pPr>
              <a:defRPr sz="1875" b="1">
                <a:solidFill>
                  <a:srgbClr val="087F82"/>
                </a:solidFill>
                <a:latin typeface="Arial"/>
                <a:ea typeface="Arial"/>
                <a:cs typeface="Arial"/>
              </a:defRPr>
            </a:lvl1pPr>
            <a:lvl2pPr>
              <a:defRPr sz="1875" b="1">
                <a:solidFill>
                  <a:srgbClr val="087F82"/>
                </a:solidFill>
                <a:latin typeface="Arial"/>
                <a:ea typeface="Arial"/>
                <a:cs typeface="Arial"/>
              </a:defRPr>
            </a:lvl2pPr>
            <a:lvl3pPr>
              <a:defRPr sz="1875" b="1">
                <a:solidFill>
                  <a:srgbClr val="087F82"/>
                </a:solidFill>
                <a:latin typeface="Arial"/>
                <a:ea typeface="Arial"/>
                <a:cs typeface="Arial"/>
              </a:defRPr>
            </a:lvl3pPr>
            <a:lvl4pPr>
              <a:defRPr sz="1875" b="1">
                <a:solidFill>
                  <a:srgbClr val="087F82"/>
                </a:solidFill>
                <a:latin typeface="Arial"/>
                <a:ea typeface="Arial"/>
                <a:cs typeface="Arial"/>
              </a:defRPr>
            </a:lvl4pPr>
            <a:lvl5pPr>
              <a:defRPr sz="1875" b="1">
                <a:solidFill>
                  <a:srgbClr val="087F82"/>
                </a:solidFill>
                <a:latin typeface="Arial"/>
                <a:ea typeface="Arial"/>
                <a:cs typeface="Arial"/>
              </a:defRPr>
            </a:lvl5pPr>
            <a:lvl6pPr>
              <a:defRPr sz="1875" b="1">
                <a:solidFill>
                  <a:srgbClr val="087F82"/>
                </a:solidFill>
                <a:latin typeface="Arial"/>
                <a:ea typeface="Arial"/>
                <a:cs typeface="Arial"/>
              </a:defRPr>
            </a:lvl6pPr>
            <a:lvl7pPr>
              <a:defRPr sz="1875" b="1">
                <a:solidFill>
                  <a:srgbClr val="087F82"/>
                </a:solidFill>
                <a:latin typeface="Arial"/>
                <a:ea typeface="Arial"/>
                <a:cs typeface="Arial"/>
              </a:defRPr>
            </a:lvl7pPr>
            <a:lvl8pPr>
              <a:defRPr sz="1875" b="1">
                <a:solidFill>
                  <a:srgbClr val="087F82"/>
                </a:solidFill>
                <a:latin typeface="Arial"/>
                <a:ea typeface="Arial"/>
                <a:cs typeface="Arial"/>
              </a:defRPr>
            </a:lvl8pPr>
            <a:lvl9pPr>
              <a:defRPr sz="1875" b="1">
                <a:solidFill>
                  <a:srgbClr val="087F82"/>
                </a:solidFill>
                <a:latin typeface="Arial"/>
                <a:ea typeface="Arial"/>
                <a:cs typeface="Arial"/>
              </a:defRPr>
            </a:lvl9pPr>
          </a:lstStyle>
          <a:p xmlns:a="http://schemas.openxmlformats.org/drawingml/2006/main">
            <a:pPr>
              <a:defRPr sz="1875" b="1">
                <a:solidFill>
                  <a:srgbClr val="087F82"/>
                </a:solidFill>
                <a:latin typeface="Arial"/>
                <a:ea typeface="Arial"/>
                <a:cs typeface="Arial"/>
              </a:defRPr>
            </a:pPr>
            <a:r>
              <a:rPr sz="1875" b="1">
                <a:solidFill>
                  <a:srgbClr val="087F82"/>
                </a:solidFill>
                <a:latin typeface="Arial"/>
                <a:ea typeface="Arial"/>
                <a:cs typeface="Arial"/>
              </a:rPr>
              <a:t>Both wrong</a:t>
            </a:r>
          </a:p>
          <a:p xmlns:a="http://schemas.openxmlformats.org/drawingml/2006/main">
            <a:pPr>
              <a:defRPr sz="1875" b="1">
                <a:solidFill>
                  <a:srgbClr val="087F82"/>
                </a:solidFill>
                <a:latin typeface="Arial"/>
                <a:ea typeface="Arial"/>
                <a:cs typeface="Arial"/>
              </a:defRPr>
            </a:pPr>
            <a:r>
              <a:rPr sz="1875" b="1">
                <a:solidFill>
                  <a:srgbClr val="087F82"/>
                </a:solidFill>
                <a:latin typeface="Arial"/>
                <a:ea typeface="Arial"/>
                <a:cs typeface="Arial"/>
              </a:rPr>
              <a:t>Test ID 23</a:t>
            </a:r>
          </a:p>
        </p:txBody>
      </p:sp>
      <p:pic>
        <p:nvPicPr>
          <p:cNvPr id="14" name="">
            <a:extLst xmlns:a="http://schemas.openxmlformats.org/drawingml/2006/main">
              <a:ext uri="{FF2B5EF4-FFF2-40B4-BE49-F238E27FC236}">
                <a16:creationId xmlns:a16="http://schemas.microsoft.com/office/drawing/2014/main" id="{389C360C-0469-417B-94B2-F8D983215D48}"/>
              </a:ext>
            </a:extLst>
          </p:cNvPr>
          <p:cNvPicPr>
            <a:picLocks xmlns:a="http://schemas.openxmlformats.org/drawingml/2006/main" noChangeAspect="1"/>
          </p:cNvPicPr>
          <p:nvPr/>
        </p:nvPicPr>
        <p:blipFill>
          <a:blip xmlns:r="http://schemas.openxmlformats.org/officeDocument/2006/relationships" xmlns:a="http://schemas.openxmlformats.org/drawingml/2006/main" r:embed="Rbcce0140e97245fe"/>
          <a:stretch xmlns:a="http://schemas.openxmlformats.org/drawingml/2006/main"/>
        </p:blipFill>
        <p:spPr>
          <a:xfrm xmlns:a="http://schemas.openxmlformats.org/drawingml/2006/main">
            <a:off x="8934450" y="2514600"/>
            <a:ext cx="2095500" cy="20955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DCE0C76B-7084-46BB-A810-369150A91DE0}"/>
              </a:ext>
            </a:extLst>
          </p:cNvPr>
          <p:cNvSpPr>
            <a:spLocks xmlns:a="http://schemas.openxmlformats.org/drawingml/2006/main" noGrp="1"/>
          </p:cNvSpPr>
          <p:nvPr/>
        </p:nvSpPr>
        <p:spPr>
          <a:xfrm xmlns:a="http://schemas.openxmlformats.org/drawingml/2006/main">
            <a:off x="8934450" y="4772025"/>
            <a:ext cx="26003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142F38"/>
                </a:solidFill>
                <a:latin typeface="Arial"/>
                <a:ea typeface="Arial"/>
                <a:cs typeface="Arial"/>
              </a:defRPr>
            </a:defPPr>
            <a:lvl1pPr>
              <a:defRPr sz="1725" b="0">
                <a:solidFill>
                  <a:srgbClr val="142F38"/>
                </a:solidFill>
                <a:latin typeface="Arial"/>
                <a:ea typeface="Arial"/>
                <a:cs typeface="Arial"/>
              </a:defRPr>
            </a:lvl1pPr>
            <a:lvl2pPr>
              <a:defRPr sz="1725" b="0">
                <a:solidFill>
                  <a:srgbClr val="142F38"/>
                </a:solidFill>
                <a:latin typeface="Arial"/>
                <a:ea typeface="Arial"/>
                <a:cs typeface="Arial"/>
              </a:defRPr>
            </a:lvl2pPr>
            <a:lvl3pPr>
              <a:defRPr sz="1725" b="0">
                <a:solidFill>
                  <a:srgbClr val="142F38"/>
                </a:solidFill>
                <a:latin typeface="Arial"/>
                <a:ea typeface="Arial"/>
                <a:cs typeface="Arial"/>
              </a:defRPr>
            </a:lvl3pPr>
            <a:lvl4pPr>
              <a:defRPr sz="1725" b="0">
                <a:solidFill>
                  <a:srgbClr val="142F38"/>
                </a:solidFill>
                <a:latin typeface="Arial"/>
                <a:ea typeface="Arial"/>
                <a:cs typeface="Arial"/>
              </a:defRPr>
            </a:lvl4pPr>
            <a:lvl5pPr>
              <a:defRPr sz="1725" b="0">
                <a:solidFill>
                  <a:srgbClr val="142F38"/>
                </a:solidFill>
                <a:latin typeface="Arial"/>
                <a:ea typeface="Arial"/>
                <a:cs typeface="Arial"/>
              </a:defRPr>
            </a:lvl5pPr>
            <a:lvl6pPr>
              <a:defRPr sz="1725" b="0">
                <a:solidFill>
                  <a:srgbClr val="142F38"/>
                </a:solidFill>
                <a:latin typeface="Arial"/>
                <a:ea typeface="Arial"/>
                <a:cs typeface="Arial"/>
              </a:defRPr>
            </a:lvl6pPr>
            <a:lvl7pPr>
              <a:defRPr sz="1725" b="0">
                <a:solidFill>
                  <a:srgbClr val="142F38"/>
                </a:solidFill>
                <a:latin typeface="Arial"/>
                <a:ea typeface="Arial"/>
                <a:cs typeface="Arial"/>
              </a:defRPr>
            </a:lvl7pPr>
            <a:lvl8pPr>
              <a:defRPr sz="1725" b="0">
                <a:solidFill>
                  <a:srgbClr val="142F38"/>
                </a:solidFill>
                <a:latin typeface="Arial"/>
                <a:ea typeface="Arial"/>
                <a:cs typeface="Arial"/>
              </a:defRPr>
            </a:lvl8pPr>
            <a:lvl9pPr>
              <a:defRPr sz="1725" b="0">
                <a:solidFill>
                  <a:srgbClr val="142F38"/>
                </a:solidFill>
                <a:latin typeface="Arial"/>
                <a:ea typeface="Arial"/>
                <a:cs typeface="Arial"/>
              </a:defRPr>
            </a:lvl9pPr>
          </a:lstStyle>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True: Ankle boot</a:t>
            </a:r>
          </a:p>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Pixels: Sandal</a:t>
            </a:r>
          </a:p>
          <a:p xmlns:a="http://schemas.openxmlformats.org/drawingml/2006/main">
            <a:pPr>
              <a:defRPr sz="1725" b="0">
                <a:solidFill>
                  <a:srgbClr val="142F38"/>
                </a:solidFill>
                <a:latin typeface="Arial"/>
                <a:ea typeface="Arial"/>
                <a:cs typeface="Arial"/>
              </a:defRPr>
            </a:pPr>
            <a:r>
              <a:rPr sz="1725" b="0">
                <a:solidFill>
                  <a:srgbClr val="142F38"/>
                </a:solidFill>
                <a:latin typeface="Arial"/>
                <a:ea typeface="Arial"/>
                <a:cs typeface="Arial"/>
              </a:rPr>
              <a:t>HOG: Sandal</a:t>
            </a:r>
          </a:p>
        </p:txBody>
      </p:sp>
      <p:sp>
        <p:nvSpPr>
          <p:cNvPr id="16" name="">
            <a:extLst xmlns:a="http://schemas.openxmlformats.org/drawingml/2006/main">
              <a:ext uri="{FF2B5EF4-FFF2-40B4-BE49-F238E27FC236}">
                <a16:creationId xmlns:a16="http://schemas.microsoft.com/office/drawing/2014/main" id="{C3792598-8AD5-43B7-B44F-123BAABB575A}"/>
              </a:ext>
            </a:extLst>
          </p:cNvPr>
          <p:cNvSpPr>
            <a:spLocks xmlns:a="http://schemas.openxmlformats.org/drawingml/2006/main" noGrp="1"/>
          </p:cNvSpPr>
          <p:nvPr/>
        </p:nvSpPr>
        <p:spPr>
          <a:xfrm xmlns:a="http://schemas.openxmlformats.org/drawingml/2006/main">
            <a:off x="647700" y="6048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52656D"/>
                </a:solidFill>
                <a:latin typeface="Arial"/>
                <a:ea typeface="Arial"/>
                <a:cs typeface="Arial"/>
              </a:defRPr>
            </a:defPPr>
            <a:lvl1pPr>
              <a:defRPr sz="1725" b="0">
                <a:solidFill>
                  <a:srgbClr val="52656D"/>
                </a:solidFill>
                <a:latin typeface="Arial"/>
                <a:ea typeface="Arial"/>
                <a:cs typeface="Arial"/>
              </a:defRPr>
            </a:lvl1pPr>
            <a:lvl2pPr>
              <a:defRPr sz="1725" b="0">
                <a:solidFill>
                  <a:srgbClr val="52656D"/>
                </a:solidFill>
                <a:latin typeface="Arial"/>
                <a:ea typeface="Arial"/>
                <a:cs typeface="Arial"/>
              </a:defRPr>
            </a:lvl2pPr>
            <a:lvl3pPr>
              <a:defRPr sz="1725" b="0">
                <a:solidFill>
                  <a:srgbClr val="52656D"/>
                </a:solidFill>
                <a:latin typeface="Arial"/>
                <a:ea typeface="Arial"/>
                <a:cs typeface="Arial"/>
              </a:defRPr>
            </a:lvl3pPr>
            <a:lvl4pPr>
              <a:defRPr sz="1725" b="0">
                <a:solidFill>
                  <a:srgbClr val="52656D"/>
                </a:solidFill>
                <a:latin typeface="Arial"/>
                <a:ea typeface="Arial"/>
                <a:cs typeface="Arial"/>
              </a:defRPr>
            </a:lvl4pPr>
            <a:lvl5pPr>
              <a:defRPr sz="1725" b="0">
                <a:solidFill>
                  <a:srgbClr val="52656D"/>
                </a:solidFill>
                <a:latin typeface="Arial"/>
                <a:ea typeface="Arial"/>
                <a:cs typeface="Arial"/>
              </a:defRPr>
            </a:lvl5pPr>
            <a:lvl6pPr>
              <a:defRPr sz="1725" b="0">
                <a:solidFill>
                  <a:srgbClr val="52656D"/>
                </a:solidFill>
                <a:latin typeface="Arial"/>
                <a:ea typeface="Arial"/>
                <a:cs typeface="Arial"/>
              </a:defRPr>
            </a:lvl6pPr>
            <a:lvl7pPr>
              <a:defRPr sz="1725" b="0">
                <a:solidFill>
                  <a:srgbClr val="52656D"/>
                </a:solidFill>
                <a:latin typeface="Arial"/>
                <a:ea typeface="Arial"/>
                <a:cs typeface="Arial"/>
              </a:defRPr>
            </a:lvl7pPr>
            <a:lvl8pPr>
              <a:defRPr sz="1725" b="0">
                <a:solidFill>
                  <a:srgbClr val="52656D"/>
                </a:solidFill>
                <a:latin typeface="Arial"/>
                <a:ea typeface="Arial"/>
                <a:cs typeface="Arial"/>
              </a:defRPr>
            </a:lvl8pPr>
            <a:lvl9pPr>
              <a:defRPr sz="1725" b="0">
                <a:solidFill>
                  <a:srgbClr val="52656D"/>
                </a:solidFill>
                <a:latin typeface="Arial"/>
                <a:ea typeface="Arial"/>
                <a:cs typeface="Arial"/>
              </a:defRPr>
            </a:lvl9pPr>
          </a:lstStyle>
          <a:p xmlns:a="http://schemas.openxmlformats.org/drawingml/2006/main">
            <a:pPr>
              <a:defRPr sz="1725" b="0">
                <a:solidFill>
                  <a:srgbClr val="52656D"/>
                </a:solidFill>
                <a:latin typeface="Arial"/>
                <a:ea typeface="Arial"/>
                <a:cs typeface="Arial"/>
              </a:defRPr>
            </a:pPr>
            <a:r>
              <a:rPr sz="1725" b="0">
                <a:solidFill>
                  <a:srgbClr val="52656D"/>
                </a:solidFill>
                <a:latin typeface="Arial"/>
                <a:ea typeface="Arial"/>
                <a:cs typeface="Arial"/>
              </a:rPr>
              <a:t>First sample IDs per outcome group. Examples illustrate errors, not prevalence.</a:t>
            </a:r>
          </a:p>
        </p:txBody>
      </p:sp>
    </p:spTree>
    <p:extLst>
      <p:ext uri="{BB962C8B-B14F-4D97-AF65-F5344CB8AC3E}">
        <p14:creationId xmlns:p14="http://schemas.microsoft.com/office/powerpoint/2010/main" val="125315552"/>
      </p:ext>
    </p:extLst>
  </p:cSld>
</p:sld>
</file>

<file path=ppt/slides/slide1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B8B06EA3-7107-40F4-B15A-73EE257392F8}"/>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Inference cost changes the trade-off</a:t>
            </a:r>
          </a:p>
        </p:txBody>
      </p:sp>
      <p:sp>
        <p:nvSpPr>
          <p:cNvPr id="3" name="">
            <a:extLst xmlns:a="http://schemas.openxmlformats.org/drawingml/2006/main">
              <a:ext uri="{FF2B5EF4-FFF2-40B4-BE49-F238E27FC236}">
                <a16:creationId xmlns:a16="http://schemas.microsoft.com/office/drawing/2014/main" id="{97930F6E-ACFC-4248-AF2F-9B974774104B}"/>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15</a:t>
            </a:r>
          </a:p>
        </p:txBody>
      </p:sp>
      <p:graphicFrame>
        <p:nvGraphicFramePr>
          <p:cNvPr id="4" name="">
            <a:extLst xmlns:a="http://schemas.openxmlformats.org/drawingml/2006/main">
              <a:ext uri="{FF2B5EF4-FFF2-40B4-BE49-F238E27FC236}">
                <a16:creationId xmlns:a16="http://schemas.microsoft.com/office/drawing/2014/main" id="{94C02043-7D5F-40AB-8E69-4DBD1FFC7F61}"/>
              </a:ext>
            </a:extLst>
          </p:cNvPr>
          <p:cNvGraphicFramePr/>
          <p:nvPr/>
        </p:nvGraphicFramePr>
        <p:xfrm>
          <a:off xmlns:a="http://schemas.openxmlformats.org/drawingml/2006/main" x="647700" y="1600200"/>
          <a:ext xmlns:a="http://schemas.openxmlformats.org/drawingml/2006/main" cx="10896600" cy="3086100"/>
        </p:xfrm>
        <a:graphic xmlns:a="http://schemas.openxmlformats.org/drawingml/2006/main">
          <a:graphicData uri="http://schemas.openxmlformats.org/drawingml/2006/table">
            <a:tbl>
              <a:tblPr/>
              <a:tblGrid>
                <a:gridCol w="4572000"/>
                <a:gridCol w="3162300"/>
                <a:gridCol w="3162300"/>
              </a:tblGrid>
              <a:tr h="617220">
                <a:tc>
                  <a:txBody>
                    <a:bodyPr/>
                    <a:lstStyle/>
                    <a:p>
                      <a:r>
                        <a:rPr sz="2100" b="1">
                          <a:solidFill>
                            <a:srgbClr val="FFFFFF"/>
                          </a:solidFill>
                          <a:latin typeface="Arial"/>
                          <a:ea typeface="Arial"/>
                          <a:cs typeface="Arial"/>
                        </a:rPr>
                        <a:t>Classifier</a:t>
                      </a:r>
                    </a:p>
                  </a:txBody>
                  <a:tcPr marL="95250" marR="95250" marT="85725" marB="57150" anchor="ctr">
                    <a:lnL w="6668">
                      <a:solidFill>
                        <a:srgbClr val="D9DFDF"/>
                      </a:solidFill>
                      <a:prstDash val="solid"/>
                    </a:lnL>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2100" b="1">
                          <a:solidFill>
                            <a:srgbClr val="FFFFFF"/>
                          </a:solidFill>
                          <a:latin typeface="Arial"/>
                          <a:ea typeface="Arial"/>
                          <a:cs typeface="Arial"/>
                        </a:rPr>
                        <a:t>Pixels (ms/image)</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2100" b="1">
                          <a:solidFill>
                            <a:srgbClr val="FFFFFF"/>
                          </a:solidFill>
                          <a:latin typeface="Arial"/>
                          <a:ea typeface="Arial"/>
                          <a:cs typeface="Arial"/>
                        </a:rPr>
                        <a:t>HOG (ms/image)</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r>
              <a:tr h="617220">
                <a:tc>
                  <a:txBody>
                    <a:bodyPr/>
                    <a:lstStyle/>
                    <a:p>
                      <a:r>
                        <a:rPr sz="2100">
                          <a:solidFill>
                            <a:srgbClr val="142F38"/>
                          </a:solidFill>
                          <a:latin typeface="Arial"/>
                          <a:ea typeface="Arial"/>
                          <a:cs typeface="Arial"/>
                        </a:rPr>
                        <a:t>Logistic Regression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100">
                          <a:solidFill>
                            <a:srgbClr val="142F38"/>
                          </a:solidFill>
                          <a:latin typeface="Arial"/>
                          <a:ea typeface="Arial"/>
                          <a:cs typeface="Arial"/>
                        </a:rPr>
                        <a:t>0.0014</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2100">
                          <a:solidFill>
                            <a:srgbClr val="142F38"/>
                          </a:solidFill>
                          <a:latin typeface="Arial"/>
                          <a:ea typeface="Arial"/>
                          <a:cs typeface="Arial"/>
                        </a:rPr>
                        <a:t>0.1473</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17220">
                <a:tc>
                  <a:txBody>
                    <a:bodyPr/>
                    <a:lstStyle/>
                    <a:p>
                      <a:r>
                        <a:rPr sz="2100">
                          <a:solidFill>
                            <a:srgbClr val="142F38"/>
                          </a:solidFill>
                          <a:latin typeface="Arial"/>
                          <a:ea typeface="Arial"/>
                          <a:cs typeface="Arial"/>
                        </a:rPr>
                        <a:t>kNN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100">
                          <a:solidFill>
                            <a:srgbClr val="142F38"/>
                          </a:solidFill>
                          <a:latin typeface="Arial"/>
                          <a:ea typeface="Arial"/>
                          <a:cs typeface="Arial"/>
                        </a:rPr>
                        <a:t>0.3298</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2100">
                          <a:solidFill>
                            <a:srgbClr val="142F38"/>
                          </a:solidFill>
                          <a:latin typeface="Arial"/>
                          <a:ea typeface="Arial"/>
                          <a:cs typeface="Arial"/>
                        </a:rPr>
                        <a:t>0.9880</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17220">
                <a:tc>
                  <a:txBody>
                    <a:bodyPr/>
                    <a:lstStyle/>
                    <a:p>
                      <a:r>
                        <a:rPr sz="2100">
                          <a:solidFill>
                            <a:srgbClr val="142F38"/>
                          </a:solidFill>
                          <a:latin typeface="Arial"/>
                          <a:ea typeface="Arial"/>
                          <a:cs typeface="Arial"/>
                        </a:rPr>
                        <a:t>Random Forest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100">
                          <a:solidFill>
                            <a:srgbClr val="142F38"/>
                          </a:solidFill>
                          <a:latin typeface="Arial"/>
                          <a:ea typeface="Arial"/>
                          <a:cs typeface="Arial"/>
                        </a:rPr>
                        <a:t>0.0609</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2100">
                          <a:solidFill>
                            <a:srgbClr val="142F38"/>
                          </a:solidFill>
                          <a:latin typeface="Arial"/>
                          <a:ea typeface="Arial"/>
                          <a:cs typeface="Arial"/>
                        </a:rPr>
                        <a:t>0.2061</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617220">
                <a:tc>
                  <a:txBody>
                    <a:bodyPr/>
                    <a:lstStyle/>
                    <a:p>
                      <a:r>
                        <a:rPr sz="2100">
                          <a:solidFill>
                            <a:srgbClr val="142F38"/>
                          </a:solidFill>
                          <a:latin typeface="Arial"/>
                          <a:ea typeface="Arial"/>
                          <a:cs typeface="Arial"/>
                        </a:rPr>
                        <a:t>RBF SVM</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2100">
                          <a:solidFill>
                            <a:srgbClr val="142F38"/>
                          </a:solidFill>
                          <a:latin typeface="Arial"/>
                          <a:ea typeface="Arial"/>
                          <a:cs typeface="Arial"/>
                        </a:rPr>
                        <a:t>3.2468</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2100">
                          <a:solidFill>
                            <a:srgbClr val="142F38"/>
                          </a:solidFill>
                          <a:latin typeface="Arial"/>
                          <a:ea typeface="Arial"/>
                          <a:cs typeface="Arial"/>
                        </a:rPr>
                        <a:t>21.7090</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CCBDC9F5-9C06-428F-9D64-09DEC2E26C30}"/>
              </a:ext>
            </a:extLst>
          </p:cNvPr>
          <p:cNvSpPr>
            <a:spLocks xmlns:a="http://schemas.openxmlformats.org/drawingml/2006/main" noGrp="1"/>
          </p:cNvSpPr>
          <p:nvPr/>
        </p:nvSpPr>
        <p:spPr>
          <a:xfrm xmlns:a="http://schemas.openxmlformats.org/drawingml/2006/main">
            <a:off x="647700" y="5076825"/>
            <a:ext cx="10896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1">
                <a:solidFill>
                  <a:srgbClr val="087F82"/>
                </a:solidFill>
                <a:latin typeface="Arial"/>
                <a:ea typeface="Arial"/>
                <a:cs typeface="Arial"/>
              </a:defRPr>
            </a:defPPr>
            <a:lvl1pPr>
              <a:defRPr sz="2100" b="1">
                <a:solidFill>
                  <a:srgbClr val="087F82"/>
                </a:solidFill>
                <a:latin typeface="Arial"/>
                <a:ea typeface="Arial"/>
                <a:cs typeface="Arial"/>
              </a:defRPr>
            </a:lvl1pPr>
            <a:lvl2pPr>
              <a:defRPr sz="2100" b="1">
                <a:solidFill>
                  <a:srgbClr val="087F82"/>
                </a:solidFill>
                <a:latin typeface="Arial"/>
                <a:ea typeface="Arial"/>
                <a:cs typeface="Arial"/>
              </a:defRPr>
            </a:lvl2pPr>
            <a:lvl3pPr>
              <a:defRPr sz="2100" b="1">
                <a:solidFill>
                  <a:srgbClr val="087F82"/>
                </a:solidFill>
                <a:latin typeface="Arial"/>
                <a:ea typeface="Arial"/>
                <a:cs typeface="Arial"/>
              </a:defRPr>
            </a:lvl3pPr>
            <a:lvl4pPr>
              <a:defRPr sz="2100" b="1">
                <a:solidFill>
                  <a:srgbClr val="087F82"/>
                </a:solidFill>
                <a:latin typeface="Arial"/>
                <a:ea typeface="Arial"/>
                <a:cs typeface="Arial"/>
              </a:defRPr>
            </a:lvl4pPr>
            <a:lvl5pPr>
              <a:defRPr sz="2100" b="1">
                <a:solidFill>
                  <a:srgbClr val="087F82"/>
                </a:solidFill>
                <a:latin typeface="Arial"/>
                <a:ea typeface="Arial"/>
                <a:cs typeface="Arial"/>
              </a:defRPr>
            </a:lvl5pPr>
            <a:lvl6pPr>
              <a:defRPr sz="2100" b="1">
                <a:solidFill>
                  <a:srgbClr val="087F82"/>
                </a:solidFill>
                <a:latin typeface="Arial"/>
                <a:ea typeface="Arial"/>
                <a:cs typeface="Arial"/>
              </a:defRPr>
            </a:lvl6pPr>
            <a:lvl7pPr>
              <a:defRPr sz="2100" b="1">
                <a:solidFill>
                  <a:srgbClr val="087F82"/>
                </a:solidFill>
                <a:latin typeface="Arial"/>
                <a:ea typeface="Arial"/>
                <a:cs typeface="Arial"/>
              </a:defRPr>
            </a:lvl7pPr>
            <a:lvl8pPr>
              <a:defRPr sz="2100" b="1">
                <a:solidFill>
                  <a:srgbClr val="087F82"/>
                </a:solidFill>
                <a:latin typeface="Arial"/>
                <a:ea typeface="Arial"/>
                <a:cs typeface="Arial"/>
              </a:defRPr>
            </a:lvl8pPr>
            <a:lvl9pPr>
              <a:defRPr sz="2100" b="1">
                <a:solidFill>
                  <a:srgbClr val="087F82"/>
                </a:solidFill>
                <a:latin typeface="Arial"/>
                <a:ea typeface="Arial"/>
                <a:cs typeface="Arial"/>
              </a:defRPr>
            </a:lvl9pPr>
          </a:lstStyle>
          <a:p xmlns:a="http://schemas.openxmlformats.org/drawingml/2006/main">
            <a:pPr>
              <a:defRPr sz="2100" b="1">
                <a:solidFill>
                  <a:srgbClr val="087F82"/>
                </a:solidFill>
                <a:latin typeface="Arial"/>
                <a:ea typeface="Arial"/>
                <a:cs typeface="Arial"/>
              </a:defRPr>
            </a:pPr>
            <a:r>
              <a:rPr sz="2100" b="1">
                <a:solidFill>
                  <a:srgbClr val="087F82"/>
                </a:solidFill>
                <a:latin typeface="Arial"/>
                <a:ea typeface="Arial"/>
                <a:cs typeface="Arial"/>
              </a:rPr>
              <a:t>Median end-to-end cost, batch 128, 5 repeats, 1 native thread</a:t>
            </a:r>
          </a:p>
        </p:txBody>
      </p:sp>
      <p:sp>
        <p:nvSpPr>
          <p:cNvPr id="6" name="">
            <a:extLst xmlns:a="http://schemas.openxmlformats.org/drawingml/2006/main">
              <a:ext uri="{FF2B5EF4-FFF2-40B4-BE49-F238E27FC236}">
                <a16:creationId xmlns:a16="http://schemas.microsoft.com/office/drawing/2014/main" id="{F452CC0D-B164-49BB-AC9B-1D02E5F24C48}"/>
              </a:ext>
            </a:extLst>
          </p:cNvPr>
          <p:cNvSpPr>
            <a:spLocks xmlns:a="http://schemas.openxmlformats.org/drawingml/2006/main" noGrp="1"/>
          </p:cNvSpPr>
          <p:nvPr/>
        </p:nvSpPr>
        <p:spPr>
          <a:xfrm xmlns:a="http://schemas.openxmlformats.org/drawingml/2006/main">
            <a:off x="647700" y="5715000"/>
            <a:ext cx="10896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52656D"/>
                </a:solidFill>
                <a:latin typeface="Arial"/>
                <a:ea typeface="Arial"/>
                <a:cs typeface="Arial"/>
              </a:defRPr>
            </a:defPPr>
            <a:lvl1pPr>
              <a:defRPr sz="1725" b="0">
                <a:solidFill>
                  <a:srgbClr val="52656D"/>
                </a:solidFill>
                <a:latin typeface="Arial"/>
                <a:ea typeface="Arial"/>
                <a:cs typeface="Arial"/>
              </a:defRPr>
            </a:lvl1pPr>
            <a:lvl2pPr>
              <a:defRPr sz="1725" b="0">
                <a:solidFill>
                  <a:srgbClr val="52656D"/>
                </a:solidFill>
                <a:latin typeface="Arial"/>
                <a:ea typeface="Arial"/>
                <a:cs typeface="Arial"/>
              </a:defRPr>
            </a:lvl2pPr>
            <a:lvl3pPr>
              <a:defRPr sz="1725" b="0">
                <a:solidFill>
                  <a:srgbClr val="52656D"/>
                </a:solidFill>
                <a:latin typeface="Arial"/>
                <a:ea typeface="Arial"/>
                <a:cs typeface="Arial"/>
              </a:defRPr>
            </a:lvl3pPr>
            <a:lvl4pPr>
              <a:defRPr sz="1725" b="0">
                <a:solidFill>
                  <a:srgbClr val="52656D"/>
                </a:solidFill>
                <a:latin typeface="Arial"/>
                <a:ea typeface="Arial"/>
                <a:cs typeface="Arial"/>
              </a:defRPr>
            </a:lvl4pPr>
            <a:lvl5pPr>
              <a:defRPr sz="1725" b="0">
                <a:solidFill>
                  <a:srgbClr val="52656D"/>
                </a:solidFill>
                <a:latin typeface="Arial"/>
                <a:ea typeface="Arial"/>
                <a:cs typeface="Arial"/>
              </a:defRPr>
            </a:lvl5pPr>
            <a:lvl6pPr>
              <a:defRPr sz="1725" b="0">
                <a:solidFill>
                  <a:srgbClr val="52656D"/>
                </a:solidFill>
                <a:latin typeface="Arial"/>
                <a:ea typeface="Arial"/>
                <a:cs typeface="Arial"/>
              </a:defRPr>
            </a:lvl6pPr>
            <a:lvl7pPr>
              <a:defRPr sz="1725" b="0">
                <a:solidFill>
                  <a:srgbClr val="52656D"/>
                </a:solidFill>
                <a:latin typeface="Arial"/>
                <a:ea typeface="Arial"/>
                <a:cs typeface="Arial"/>
              </a:defRPr>
            </a:lvl7pPr>
            <a:lvl8pPr>
              <a:defRPr sz="1725" b="0">
                <a:solidFill>
                  <a:srgbClr val="52656D"/>
                </a:solidFill>
                <a:latin typeface="Arial"/>
                <a:ea typeface="Arial"/>
                <a:cs typeface="Arial"/>
              </a:defRPr>
            </a:lvl8pPr>
            <a:lvl9pPr>
              <a:defRPr sz="1725" b="0">
                <a:solidFill>
                  <a:srgbClr val="52656D"/>
                </a:solidFill>
                <a:latin typeface="Arial"/>
                <a:ea typeface="Arial"/>
                <a:cs typeface="Arial"/>
              </a:defRPr>
            </a:lvl9pPr>
          </a:lstStyle>
          <a:p xmlns:a="http://schemas.openxmlformats.org/drawingml/2006/main">
            <a:pPr>
              <a:defRPr sz="1725" b="0">
                <a:solidFill>
                  <a:srgbClr val="52656D"/>
                </a:solidFill>
                <a:latin typeface="Arial"/>
                <a:ea typeface="Arial"/>
                <a:cs typeface="Arial"/>
              </a:defRPr>
            </a:pPr>
            <a:r>
              <a:rPr sz="1725" b="0">
                <a:solidFill>
                  <a:srgbClr val="52656D"/>
                </a:solidFill>
                <a:latin typeface="Arial"/>
                <a:ea typeface="Arial"/>
                <a:cs typeface="Arial"/>
              </a:rPr>
              <a:t>Includes feature extraction. Excludes loading. One machine and 1,024 fixed images.</a:t>
            </a:r>
          </a:p>
        </p:txBody>
      </p:sp>
    </p:spTree>
    <p:extLst>
      <p:ext uri="{BB962C8B-B14F-4D97-AF65-F5344CB8AC3E}">
        <p14:creationId xmlns:p14="http://schemas.microsoft.com/office/powerpoint/2010/main" val="1314809712"/>
      </p:ext>
    </p:extLst>
  </p:cSld>
</p:sld>
</file>

<file path=ppt/slides/slide16.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386199C2-5217-4984-AA96-CC504C750B9C}"/>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Reproducible Phase 1 evidence</a:t>
            </a:r>
          </a:p>
        </p:txBody>
      </p:sp>
      <p:sp>
        <p:nvSpPr>
          <p:cNvPr id="3" name="">
            <a:extLst xmlns:a="http://schemas.openxmlformats.org/drawingml/2006/main">
              <a:ext uri="{FF2B5EF4-FFF2-40B4-BE49-F238E27FC236}">
                <a16:creationId xmlns:a16="http://schemas.microsoft.com/office/drawing/2014/main" id="{0F46AE32-81D5-4359-9255-5E6A307C0C53}"/>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16</a:t>
            </a:r>
          </a:p>
        </p:txBody>
      </p:sp>
      <p:sp>
        <p:nvSpPr>
          <p:cNvPr id="4" name="">
            <a:extLst xmlns:a="http://schemas.openxmlformats.org/drawingml/2006/main">
              <a:ext uri="{FF2B5EF4-FFF2-40B4-BE49-F238E27FC236}">
                <a16:creationId xmlns:a16="http://schemas.microsoft.com/office/drawing/2014/main" id="{0AF01729-41A8-4212-86CF-9AB9A9570B1A}"/>
              </a:ext>
            </a:extLst>
          </p:cNvPr>
          <p:cNvSpPr>
            <a:spLocks xmlns:a="http://schemas.openxmlformats.org/drawingml/2006/main" noGrp="1"/>
          </p:cNvSpPr>
          <p:nvPr/>
        </p:nvSpPr>
        <p:spPr>
          <a:xfrm xmlns:a="http://schemas.openxmlformats.org/drawingml/2006/main">
            <a:off x="647700" y="15716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Trace each result</a:t>
            </a:r>
          </a:p>
        </p:txBody>
      </p:sp>
      <p:sp>
        <p:nvSpPr>
          <p:cNvPr id="5" name="">
            <a:extLst xmlns:a="http://schemas.openxmlformats.org/drawingml/2006/main">
              <a:ext uri="{FF2B5EF4-FFF2-40B4-BE49-F238E27FC236}">
                <a16:creationId xmlns:a16="http://schemas.microsoft.com/office/drawing/2014/main" id="{494F2284-4486-4A80-BCBD-8B91AEA14522}"/>
              </a:ext>
            </a:extLst>
          </p:cNvPr>
          <p:cNvSpPr>
            <a:spLocks xmlns:a="http://schemas.openxmlformats.org/drawingml/2006/main" noGrp="1"/>
          </p:cNvSpPr>
          <p:nvPr/>
        </p:nvSpPr>
        <p:spPr>
          <a:xfrm xmlns:a="http://schemas.openxmlformats.org/drawingml/2006/main">
            <a:off x="647700" y="2114550"/>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Saved IDs, candidate logs, prediction files and a hashed freeze manifest</a:t>
            </a:r>
          </a:p>
        </p:txBody>
      </p:sp>
      <p:sp>
        <p:nvSpPr>
          <p:cNvPr id="6" name="">
            <a:extLst xmlns:a="http://schemas.openxmlformats.org/drawingml/2006/main">
              <a:ext uri="{FF2B5EF4-FFF2-40B4-BE49-F238E27FC236}">
                <a16:creationId xmlns:a16="http://schemas.microsoft.com/office/drawing/2014/main" id="{AD5D5E5E-7EBB-46CA-83AC-52B7F757F32A}"/>
              </a:ext>
            </a:extLst>
          </p:cNvPr>
          <p:cNvSpPr>
            <a:spLocks xmlns:a="http://schemas.openxmlformats.org/drawingml/2006/main" noGrp="1"/>
          </p:cNvSpPr>
          <p:nvPr/>
        </p:nvSpPr>
        <p:spPr>
          <a:xfrm xmlns:a="http://schemas.openxmlformats.org/drawingml/2006/main">
            <a:off x="6457950" y="1571625"/>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Check the calculations</a:t>
            </a:r>
          </a:p>
        </p:txBody>
      </p:sp>
      <p:sp>
        <p:nvSpPr>
          <p:cNvPr id="7" name="">
            <a:extLst xmlns:a="http://schemas.openxmlformats.org/drawingml/2006/main">
              <a:ext uri="{FF2B5EF4-FFF2-40B4-BE49-F238E27FC236}">
                <a16:creationId xmlns:a16="http://schemas.microsoft.com/office/drawing/2014/main" id="{3D9F9D23-62B7-496D-A806-186CE0CFDAF1}"/>
              </a:ext>
            </a:extLst>
          </p:cNvPr>
          <p:cNvSpPr>
            <a:spLocks xmlns:a="http://schemas.openxmlformats.org/drawingml/2006/main" noGrp="1"/>
          </p:cNvSpPr>
          <p:nvPr/>
        </p:nvSpPr>
        <p:spPr>
          <a:xfrm xmlns:a="http://schemas.openxmlformats.org/drawingml/2006/main">
            <a:off x="6457950" y="2114550"/>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Executed notebook, independent metric audit and eight integrity tests</a:t>
            </a:r>
          </a:p>
        </p:txBody>
      </p:sp>
      <p:sp>
        <p:nvSpPr>
          <p:cNvPr id="8" name="">
            <a:extLst xmlns:a="http://schemas.openxmlformats.org/drawingml/2006/main">
              <a:ext uri="{FF2B5EF4-FFF2-40B4-BE49-F238E27FC236}">
                <a16:creationId xmlns:a16="http://schemas.microsoft.com/office/drawing/2014/main" id="{B2B64758-3963-467F-A695-92146DD692FD}"/>
              </a:ext>
            </a:extLst>
          </p:cNvPr>
          <p:cNvSpPr>
            <a:spLocks xmlns:a="http://schemas.openxmlformats.org/drawingml/2006/main" noGrp="1"/>
          </p:cNvSpPr>
          <p:nvPr/>
        </p:nvSpPr>
        <p:spPr>
          <a:xfrm xmlns:a="http://schemas.openxmlformats.org/drawingml/2006/main">
            <a:off x="647700" y="4391025"/>
            <a:ext cx="10858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625" b="1">
                <a:solidFill>
                  <a:srgbClr val="087F82"/>
                </a:solidFill>
                <a:latin typeface="Arial"/>
                <a:ea typeface="Arial"/>
                <a:cs typeface="Arial"/>
              </a:defRPr>
            </a:defPPr>
            <a:lvl1pPr>
              <a:defRPr sz="2625" b="1">
                <a:solidFill>
                  <a:srgbClr val="087F82"/>
                </a:solidFill>
                <a:latin typeface="Arial"/>
                <a:ea typeface="Arial"/>
                <a:cs typeface="Arial"/>
              </a:defRPr>
            </a:lvl1pPr>
            <a:lvl2pPr>
              <a:defRPr sz="2625" b="1">
                <a:solidFill>
                  <a:srgbClr val="087F82"/>
                </a:solidFill>
                <a:latin typeface="Arial"/>
                <a:ea typeface="Arial"/>
                <a:cs typeface="Arial"/>
              </a:defRPr>
            </a:lvl2pPr>
            <a:lvl3pPr>
              <a:defRPr sz="2625" b="1">
                <a:solidFill>
                  <a:srgbClr val="087F82"/>
                </a:solidFill>
                <a:latin typeface="Arial"/>
                <a:ea typeface="Arial"/>
                <a:cs typeface="Arial"/>
              </a:defRPr>
            </a:lvl3pPr>
            <a:lvl4pPr>
              <a:defRPr sz="2625" b="1">
                <a:solidFill>
                  <a:srgbClr val="087F82"/>
                </a:solidFill>
                <a:latin typeface="Arial"/>
                <a:ea typeface="Arial"/>
                <a:cs typeface="Arial"/>
              </a:defRPr>
            </a:lvl4pPr>
            <a:lvl5pPr>
              <a:defRPr sz="2625" b="1">
                <a:solidFill>
                  <a:srgbClr val="087F82"/>
                </a:solidFill>
                <a:latin typeface="Arial"/>
                <a:ea typeface="Arial"/>
                <a:cs typeface="Arial"/>
              </a:defRPr>
            </a:lvl5pPr>
            <a:lvl6pPr>
              <a:defRPr sz="2625" b="1">
                <a:solidFill>
                  <a:srgbClr val="087F82"/>
                </a:solidFill>
                <a:latin typeface="Arial"/>
                <a:ea typeface="Arial"/>
                <a:cs typeface="Arial"/>
              </a:defRPr>
            </a:lvl6pPr>
            <a:lvl7pPr>
              <a:defRPr sz="2625" b="1">
                <a:solidFill>
                  <a:srgbClr val="087F82"/>
                </a:solidFill>
                <a:latin typeface="Arial"/>
                <a:ea typeface="Arial"/>
                <a:cs typeface="Arial"/>
              </a:defRPr>
            </a:lvl7pPr>
            <a:lvl8pPr>
              <a:defRPr sz="2625" b="1">
                <a:solidFill>
                  <a:srgbClr val="087F82"/>
                </a:solidFill>
                <a:latin typeface="Arial"/>
                <a:ea typeface="Arial"/>
                <a:cs typeface="Arial"/>
              </a:defRPr>
            </a:lvl8pPr>
            <a:lvl9pPr>
              <a:defRPr sz="2625" b="1">
                <a:solidFill>
                  <a:srgbClr val="087F82"/>
                </a:solidFill>
                <a:latin typeface="Arial"/>
                <a:ea typeface="Arial"/>
                <a:cs typeface="Arial"/>
              </a:defRPr>
            </a:lvl9pPr>
          </a:lstStyle>
          <a:p xmlns:a="http://schemas.openxmlformats.org/drawingml/2006/main">
            <a:pPr>
              <a:defRPr sz="2625" b="1">
                <a:solidFill>
                  <a:srgbClr val="087F82"/>
                </a:solidFill>
                <a:latin typeface="Arial"/>
                <a:ea typeface="Arial"/>
                <a:cs typeface="Arial"/>
              </a:defRPr>
            </a:pPr>
            <a:r>
              <a:rPr sz="2625" b="1">
                <a:solidFill>
                  <a:srgbClr val="087F82"/>
                </a:solidFill>
                <a:latin typeface="Arial"/>
                <a:ea typeface="Arial"/>
                <a:cs typeface="Arial"/>
              </a:rPr>
              <a:t>github.com/Nakul-Jaglan/aml-dl-t089</a:t>
            </a:r>
          </a:p>
        </p:txBody>
      </p:sp>
      <p:sp>
        <p:nvSpPr>
          <p:cNvPr id="9" name="">
            <a:extLst xmlns:a="http://schemas.openxmlformats.org/drawingml/2006/main">
              <a:ext uri="{FF2B5EF4-FFF2-40B4-BE49-F238E27FC236}">
                <a16:creationId xmlns:a16="http://schemas.microsoft.com/office/drawing/2014/main" id="{69115C8F-D0CF-45E6-9CBD-38291663B0F5}"/>
              </a:ext>
            </a:extLst>
          </p:cNvPr>
          <p:cNvSpPr>
            <a:spLocks xmlns:a="http://schemas.openxmlformats.org/drawingml/2006/main" noGrp="1"/>
          </p:cNvSpPr>
          <p:nvPr/>
        </p:nvSpPr>
        <p:spPr>
          <a:xfrm xmlns:a="http://schemas.openxmlformats.org/drawingml/2006/main">
            <a:off x="647700" y="5229225"/>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00" b="0">
                <a:solidFill>
                  <a:srgbClr val="142F38"/>
                </a:solidFill>
                <a:latin typeface="Arial"/>
                <a:ea typeface="Arial"/>
                <a:cs typeface="Arial"/>
              </a:defRPr>
            </a:defPPr>
            <a:lvl1pPr>
              <a:defRPr sz="2100" b="0">
                <a:solidFill>
                  <a:srgbClr val="142F38"/>
                </a:solidFill>
                <a:latin typeface="Arial"/>
                <a:ea typeface="Arial"/>
                <a:cs typeface="Arial"/>
              </a:defRPr>
            </a:lvl1pPr>
            <a:lvl2pPr>
              <a:defRPr sz="2100" b="0">
                <a:solidFill>
                  <a:srgbClr val="142F38"/>
                </a:solidFill>
                <a:latin typeface="Arial"/>
                <a:ea typeface="Arial"/>
                <a:cs typeface="Arial"/>
              </a:defRPr>
            </a:lvl2pPr>
            <a:lvl3pPr>
              <a:defRPr sz="2100" b="0">
                <a:solidFill>
                  <a:srgbClr val="142F38"/>
                </a:solidFill>
                <a:latin typeface="Arial"/>
                <a:ea typeface="Arial"/>
                <a:cs typeface="Arial"/>
              </a:defRPr>
            </a:lvl3pPr>
            <a:lvl4pPr>
              <a:defRPr sz="2100" b="0">
                <a:solidFill>
                  <a:srgbClr val="142F38"/>
                </a:solidFill>
                <a:latin typeface="Arial"/>
                <a:ea typeface="Arial"/>
                <a:cs typeface="Arial"/>
              </a:defRPr>
            </a:lvl4pPr>
            <a:lvl5pPr>
              <a:defRPr sz="2100" b="0">
                <a:solidFill>
                  <a:srgbClr val="142F38"/>
                </a:solidFill>
                <a:latin typeface="Arial"/>
                <a:ea typeface="Arial"/>
                <a:cs typeface="Arial"/>
              </a:defRPr>
            </a:lvl5pPr>
            <a:lvl6pPr>
              <a:defRPr sz="2100" b="0">
                <a:solidFill>
                  <a:srgbClr val="142F38"/>
                </a:solidFill>
                <a:latin typeface="Arial"/>
                <a:ea typeface="Arial"/>
                <a:cs typeface="Arial"/>
              </a:defRPr>
            </a:lvl6pPr>
            <a:lvl7pPr>
              <a:defRPr sz="2100" b="0">
                <a:solidFill>
                  <a:srgbClr val="142F38"/>
                </a:solidFill>
                <a:latin typeface="Arial"/>
                <a:ea typeface="Arial"/>
                <a:cs typeface="Arial"/>
              </a:defRPr>
            </a:lvl7pPr>
            <a:lvl8pPr>
              <a:defRPr sz="2100" b="0">
                <a:solidFill>
                  <a:srgbClr val="142F38"/>
                </a:solidFill>
                <a:latin typeface="Arial"/>
                <a:ea typeface="Arial"/>
                <a:cs typeface="Arial"/>
              </a:defRPr>
            </a:lvl8pPr>
            <a:lvl9pPr>
              <a:defRPr sz="2100" b="0">
                <a:solidFill>
                  <a:srgbClr val="142F38"/>
                </a:solidFill>
                <a:latin typeface="Arial"/>
                <a:ea typeface="Arial"/>
                <a:cs typeface="Arial"/>
              </a:defRPr>
            </a:lvl9pPr>
          </a:lstStyle>
          <a:p xmlns:a="http://schemas.openxmlformats.org/drawingml/2006/main">
            <a:pPr>
              <a:defRPr sz="2100" b="0">
                <a:solidFill>
                  <a:srgbClr val="142F38"/>
                </a:solidFill>
                <a:latin typeface="Arial"/>
                <a:ea typeface="Arial"/>
                <a:cs typeface="Arial"/>
              </a:defRPr>
            </a:pPr>
            <a:r>
              <a:rPr sz="2100" b="0">
                <a:solidFill>
                  <a:srgbClr val="142F38"/>
                </a:solidFill>
                <a:latin typeface="Arial"/>
                <a:ea typeface="Arial"/>
                <a:cs typeface="Arial"/>
              </a:rPr>
              <a:t>Source, results, figures and report share the same frozen experiment evidence.</a:t>
            </a:r>
          </a:p>
        </p:txBody>
      </p:sp>
    </p:spTree>
    <p:extLst>
      <p:ext uri="{BB962C8B-B14F-4D97-AF65-F5344CB8AC3E}">
        <p14:creationId xmlns:p14="http://schemas.microsoft.com/office/powerpoint/2010/main" val="644217310"/>
      </p:ext>
    </p:extLst>
  </p:cSld>
</p:sld>
</file>

<file path=ppt/slides/slide17.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97805C6-8CC8-447D-A8DE-6483D22276D3}"/>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Conclusions and Phase 2 proposal</a:t>
            </a:r>
          </a:p>
        </p:txBody>
      </p:sp>
      <p:sp>
        <p:nvSpPr>
          <p:cNvPr id="3" name="">
            <a:extLst xmlns:a="http://schemas.openxmlformats.org/drawingml/2006/main">
              <a:ext uri="{FF2B5EF4-FFF2-40B4-BE49-F238E27FC236}">
                <a16:creationId xmlns:a16="http://schemas.microsoft.com/office/drawing/2014/main" id="{97F2DABC-58B1-4B4C-9794-83FCF9BE99F5}"/>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17</a:t>
            </a:r>
          </a:p>
        </p:txBody>
      </p:sp>
      <p:sp>
        <p:nvSpPr>
          <p:cNvPr id="4" name="">
            <a:extLst xmlns:a="http://schemas.openxmlformats.org/drawingml/2006/main">
              <a:ext uri="{FF2B5EF4-FFF2-40B4-BE49-F238E27FC236}">
                <a16:creationId xmlns:a16="http://schemas.microsoft.com/office/drawing/2014/main" id="{17009413-074D-4A80-83BF-02BF93617FFD}"/>
              </a:ext>
            </a:extLst>
          </p:cNvPr>
          <p:cNvSpPr>
            <a:spLocks xmlns:a="http://schemas.openxmlformats.org/drawingml/2006/main" noGrp="1"/>
          </p:cNvSpPr>
          <p:nvPr/>
        </p:nvSpPr>
        <p:spPr>
          <a:xfrm xmlns:a="http://schemas.openxmlformats.org/drawingml/2006/main">
            <a:off x="647700" y="1524000"/>
            <a:ext cx="5334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6375" b="1">
                <a:solidFill>
                  <a:srgbClr val="087F82"/>
                </a:solidFill>
                <a:latin typeface="Arial"/>
                <a:ea typeface="Arial"/>
                <a:cs typeface="Arial"/>
              </a:defRPr>
            </a:defPPr>
            <a:lvl1pPr>
              <a:defRPr sz="6375" b="1">
                <a:solidFill>
                  <a:srgbClr val="087F82"/>
                </a:solidFill>
                <a:latin typeface="Arial"/>
                <a:ea typeface="Arial"/>
                <a:cs typeface="Arial"/>
              </a:defRPr>
            </a:lvl1pPr>
            <a:lvl2pPr>
              <a:defRPr sz="6375" b="1">
                <a:solidFill>
                  <a:srgbClr val="087F82"/>
                </a:solidFill>
                <a:latin typeface="Arial"/>
                <a:ea typeface="Arial"/>
                <a:cs typeface="Arial"/>
              </a:defRPr>
            </a:lvl2pPr>
            <a:lvl3pPr>
              <a:defRPr sz="6375" b="1">
                <a:solidFill>
                  <a:srgbClr val="087F82"/>
                </a:solidFill>
                <a:latin typeface="Arial"/>
                <a:ea typeface="Arial"/>
                <a:cs typeface="Arial"/>
              </a:defRPr>
            </a:lvl3pPr>
            <a:lvl4pPr>
              <a:defRPr sz="6375" b="1">
                <a:solidFill>
                  <a:srgbClr val="087F82"/>
                </a:solidFill>
                <a:latin typeface="Arial"/>
                <a:ea typeface="Arial"/>
                <a:cs typeface="Arial"/>
              </a:defRPr>
            </a:lvl4pPr>
            <a:lvl5pPr>
              <a:defRPr sz="6375" b="1">
                <a:solidFill>
                  <a:srgbClr val="087F82"/>
                </a:solidFill>
                <a:latin typeface="Arial"/>
                <a:ea typeface="Arial"/>
                <a:cs typeface="Arial"/>
              </a:defRPr>
            </a:lvl5pPr>
            <a:lvl6pPr>
              <a:defRPr sz="6375" b="1">
                <a:solidFill>
                  <a:srgbClr val="087F82"/>
                </a:solidFill>
                <a:latin typeface="Arial"/>
                <a:ea typeface="Arial"/>
                <a:cs typeface="Arial"/>
              </a:defRPr>
            </a:lvl6pPr>
            <a:lvl7pPr>
              <a:defRPr sz="6375" b="1">
                <a:solidFill>
                  <a:srgbClr val="087F82"/>
                </a:solidFill>
                <a:latin typeface="Arial"/>
                <a:ea typeface="Arial"/>
                <a:cs typeface="Arial"/>
              </a:defRPr>
            </a:lvl7pPr>
            <a:lvl8pPr>
              <a:defRPr sz="6375" b="1">
                <a:solidFill>
                  <a:srgbClr val="087F82"/>
                </a:solidFill>
                <a:latin typeface="Arial"/>
                <a:ea typeface="Arial"/>
                <a:cs typeface="Arial"/>
              </a:defRPr>
            </a:lvl8pPr>
            <a:lvl9pPr>
              <a:defRPr sz="6375" b="1">
                <a:solidFill>
                  <a:srgbClr val="087F82"/>
                </a:solidFill>
                <a:latin typeface="Arial"/>
                <a:ea typeface="Arial"/>
                <a:cs typeface="Arial"/>
              </a:defRPr>
            </a:lvl9pPr>
          </a:lstStyle>
          <a:p xmlns:a="http://schemas.openxmlformats.org/drawingml/2006/main">
            <a:pPr>
              <a:defRPr sz="6375" b="1">
                <a:solidFill>
                  <a:srgbClr val="087F82"/>
                </a:solidFill>
                <a:latin typeface="Arial"/>
                <a:ea typeface="Arial"/>
                <a:cs typeface="Arial"/>
              </a:defRPr>
            </a:pPr>
            <a:r>
              <a:rPr sz="6375" b="1">
                <a:solidFill>
                  <a:srgbClr val="087F82"/>
                </a:solidFill>
                <a:latin typeface="Arial"/>
                <a:ea typeface="Arial"/>
                <a:cs typeface="Arial"/>
              </a:rPr>
              <a:t>90.91%</a:t>
            </a:r>
          </a:p>
        </p:txBody>
      </p:sp>
      <p:sp>
        <p:nvSpPr>
          <p:cNvPr id="5" name="">
            <a:extLst xmlns:a="http://schemas.openxmlformats.org/drawingml/2006/main">
              <a:ext uri="{FF2B5EF4-FFF2-40B4-BE49-F238E27FC236}">
                <a16:creationId xmlns:a16="http://schemas.microsoft.com/office/drawing/2014/main" id="{29F03123-28DA-473D-B25F-8334C5BB4166}"/>
              </a:ext>
            </a:extLst>
          </p:cNvPr>
          <p:cNvSpPr>
            <a:spLocks xmlns:a="http://schemas.openxmlformats.org/drawingml/2006/main" noGrp="1"/>
          </p:cNvSpPr>
          <p:nvPr/>
        </p:nvSpPr>
        <p:spPr>
          <a:xfrm xmlns:a="http://schemas.openxmlformats.org/drawingml/2006/main">
            <a:off x="647700" y="2714625"/>
            <a:ext cx="10896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142F38"/>
                </a:solidFill>
                <a:latin typeface="Arial"/>
                <a:ea typeface="Arial"/>
                <a:cs typeface="Arial"/>
              </a:defRPr>
            </a:defPPr>
            <a:lvl1pPr>
              <a:defRPr sz="2400" b="1">
                <a:solidFill>
                  <a:srgbClr val="142F38"/>
                </a:solidFill>
                <a:latin typeface="Arial"/>
                <a:ea typeface="Arial"/>
                <a:cs typeface="Arial"/>
              </a:defRPr>
            </a:lvl1pPr>
            <a:lvl2pPr>
              <a:defRPr sz="2400" b="1">
                <a:solidFill>
                  <a:srgbClr val="142F38"/>
                </a:solidFill>
                <a:latin typeface="Arial"/>
                <a:ea typeface="Arial"/>
                <a:cs typeface="Arial"/>
              </a:defRPr>
            </a:lvl2pPr>
            <a:lvl3pPr>
              <a:defRPr sz="2400" b="1">
                <a:solidFill>
                  <a:srgbClr val="142F38"/>
                </a:solidFill>
                <a:latin typeface="Arial"/>
                <a:ea typeface="Arial"/>
                <a:cs typeface="Arial"/>
              </a:defRPr>
            </a:lvl3pPr>
            <a:lvl4pPr>
              <a:defRPr sz="2400" b="1">
                <a:solidFill>
                  <a:srgbClr val="142F38"/>
                </a:solidFill>
                <a:latin typeface="Arial"/>
                <a:ea typeface="Arial"/>
                <a:cs typeface="Arial"/>
              </a:defRPr>
            </a:lvl4pPr>
            <a:lvl5pPr>
              <a:defRPr sz="2400" b="1">
                <a:solidFill>
                  <a:srgbClr val="142F38"/>
                </a:solidFill>
                <a:latin typeface="Arial"/>
                <a:ea typeface="Arial"/>
                <a:cs typeface="Arial"/>
              </a:defRPr>
            </a:lvl5pPr>
            <a:lvl6pPr>
              <a:defRPr sz="2400" b="1">
                <a:solidFill>
                  <a:srgbClr val="142F38"/>
                </a:solidFill>
                <a:latin typeface="Arial"/>
                <a:ea typeface="Arial"/>
                <a:cs typeface="Arial"/>
              </a:defRPr>
            </a:lvl6pPr>
            <a:lvl7pPr>
              <a:defRPr sz="2400" b="1">
                <a:solidFill>
                  <a:srgbClr val="142F38"/>
                </a:solidFill>
                <a:latin typeface="Arial"/>
                <a:ea typeface="Arial"/>
                <a:cs typeface="Arial"/>
              </a:defRPr>
            </a:lvl7pPr>
            <a:lvl8pPr>
              <a:defRPr sz="2400" b="1">
                <a:solidFill>
                  <a:srgbClr val="142F38"/>
                </a:solidFill>
                <a:latin typeface="Arial"/>
                <a:ea typeface="Arial"/>
                <a:cs typeface="Arial"/>
              </a:defRPr>
            </a:lvl8pPr>
            <a:lvl9pPr>
              <a:defRPr sz="2400" b="1">
                <a:solidFill>
                  <a:srgbClr val="142F38"/>
                </a:solidFill>
                <a:latin typeface="Arial"/>
                <a:ea typeface="Arial"/>
                <a:cs typeface="Arial"/>
              </a:defRPr>
            </a:lvl9pPr>
          </a:lstStyle>
          <a:p xmlns:a="http://schemas.openxmlformats.org/drawingml/2006/main">
            <a:pPr>
              <a:defRPr sz="2400" b="1">
                <a:solidFill>
                  <a:srgbClr val="142F38"/>
                </a:solidFill>
                <a:latin typeface="Arial"/>
                <a:ea typeface="Arial"/>
                <a:cs typeface="Arial"/>
              </a:defRPr>
            </a:pPr>
            <a:r>
              <a:rPr sz="2400" b="1">
                <a:solidFill>
                  <a:srgbClr val="142F38"/>
                </a:solidFill>
                <a:latin typeface="Arial"/>
                <a:ea typeface="Arial"/>
                <a:cs typeface="Arial"/>
              </a:rPr>
              <a:t>Test accuracy of HOG + RBF SVM</a:t>
            </a:r>
          </a:p>
        </p:txBody>
      </p:sp>
      <p:sp>
        <p:nvSpPr>
          <p:cNvPr id="6" name="">
            <a:extLst xmlns:a="http://schemas.openxmlformats.org/drawingml/2006/main">
              <a:ext uri="{FF2B5EF4-FFF2-40B4-BE49-F238E27FC236}">
                <a16:creationId xmlns:a16="http://schemas.microsoft.com/office/drawing/2014/main" id="{5C3DE93D-F95A-4939-96F4-8B6CB6E1CDE2}"/>
              </a:ext>
            </a:extLst>
          </p:cNvPr>
          <p:cNvSpPr>
            <a:spLocks xmlns:a="http://schemas.openxmlformats.org/drawingml/2006/main" noGrp="1"/>
          </p:cNvSpPr>
          <p:nvPr/>
        </p:nvSpPr>
        <p:spPr>
          <a:xfrm xmlns:a="http://schemas.openxmlformats.org/drawingml/2006/main">
            <a:off x="647700" y="3524250"/>
            <a:ext cx="10763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42F38"/>
                </a:solidFill>
                <a:latin typeface="Arial"/>
                <a:ea typeface="Arial"/>
                <a:cs typeface="Arial"/>
              </a:defRPr>
            </a:defPPr>
            <a:lvl1pPr>
              <a:defRPr sz="2175" b="0">
                <a:solidFill>
                  <a:srgbClr val="142F38"/>
                </a:solidFill>
                <a:latin typeface="Arial"/>
                <a:ea typeface="Arial"/>
                <a:cs typeface="Arial"/>
              </a:defRPr>
            </a:lvl1pPr>
            <a:lvl2pPr>
              <a:defRPr sz="2175" b="0">
                <a:solidFill>
                  <a:srgbClr val="142F38"/>
                </a:solidFill>
                <a:latin typeface="Arial"/>
                <a:ea typeface="Arial"/>
                <a:cs typeface="Arial"/>
              </a:defRPr>
            </a:lvl2pPr>
            <a:lvl3pPr>
              <a:defRPr sz="2175" b="0">
                <a:solidFill>
                  <a:srgbClr val="142F38"/>
                </a:solidFill>
                <a:latin typeface="Arial"/>
                <a:ea typeface="Arial"/>
                <a:cs typeface="Arial"/>
              </a:defRPr>
            </a:lvl3pPr>
            <a:lvl4pPr>
              <a:defRPr sz="2175" b="0">
                <a:solidFill>
                  <a:srgbClr val="142F38"/>
                </a:solidFill>
                <a:latin typeface="Arial"/>
                <a:ea typeface="Arial"/>
                <a:cs typeface="Arial"/>
              </a:defRPr>
            </a:lvl4pPr>
            <a:lvl5pPr>
              <a:defRPr sz="2175" b="0">
                <a:solidFill>
                  <a:srgbClr val="142F38"/>
                </a:solidFill>
                <a:latin typeface="Arial"/>
                <a:ea typeface="Arial"/>
                <a:cs typeface="Arial"/>
              </a:defRPr>
            </a:lvl5pPr>
            <a:lvl6pPr>
              <a:defRPr sz="2175" b="0">
                <a:solidFill>
                  <a:srgbClr val="142F38"/>
                </a:solidFill>
                <a:latin typeface="Arial"/>
                <a:ea typeface="Arial"/>
                <a:cs typeface="Arial"/>
              </a:defRPr>
            </a:lvl6pPr>
            <a:lvl7pPr>
              <a:defRPr sz="2175" b="0">
                <a:solidFill>
                  <a:srgbClr val="142F38"/>
                </a:solidFill>
                <a:latin typeface="Arial"/>
                <a:ea typeface="Arial"/>
                <a:cs typeface="Arial"/>
              </a:defRPr>
            </a:lvl7pPr>
            <a:lvl8pPr>
              <a:defRPr sz="2175" b="0">
                <a:solidFill>
                  <a:srgbClr val="142F38"/>
                </a:solidFill>
                <a:latin typeface="Arial"/>
                <a:ea typeface="Arial"/>
                <a:cs typeface="Arial"/>
              </a:defRPr>
            </a:lvl8pPr>
            <a:lvl9pPr>
              <a:defRPr sz="2175" b="0">
                <a:solidFill>
                  <a:srgbClr val="142F38"/>
                </a:solidFill>
                <a:latin typeface="Arial"/>
                <a:ea typeface="Arial"/>
                <a:cs typeface="Arial"/>
              </a:defRPr>
            </a:lvl9pPr>
          </a:lstStyle>
          <a:p xmlns:a="http://schemas.openxmlformats.org/drawingml/2006/main">
            <a:pPr>
              <a:defRPr sz="2175" b="0">
                <a:solidFill>
                  <a:srgbClr val="142F38"/>
                </a:solidFill>
                <a:latin typeface="Arial"/>
                <a:ea typeface="Arial"/>
                <a:cs typeface="Arial"/>
              </a:defRPr>
            </a:pPr>
            <a:r>
              <a:rPr sz="2175" b="0">
                <a:solidFill>
                  <a:srgbClr val="142F38"/>
                </a:solidFill>
                <a:latin typeface="Arial"/>
                <a:ea typeface="Arial"/>
                <a:cs typeface="Arial"/>
              </a:rPr>
              <a:t>Shirt recall: 73.3%. Higher accuracy carries a larger inference cost.</a:t>
            </a:r>
          </a:p>
        </p:txBody>
      </p:sp>
      <p:sp>
        <p:nvSpPr>
          <p:cNvPr id="7" name="">
            <a:extLst xmlns:a="http://schemas.openxmlformats.org/drawingml/2006/main">
              <a:ext uri="{FF2B5EF4-FFF2-40B4-BE49-F238E27FC236}">
                <a16:creationId xmlns:a16="http://schemas.microsoft.com/office/drawing/2014/main" id="{5B63B6EB-86C4-4A3A-B364-7E9E8780D107}"/>
              </a:ext>
            </a:extLst>
          </p:cNvPr>
          <p:cNvSpPr>
            <a:spLocks xmlns:a="http://schemas.openxmlformats.org/drawingml/2006/main" noGrp="1"/>
          </p:cNvSpPr>
          <p:nvPr/>
        </p:nvSpPr>
        <p:spPr>
          <a:xfrm xmlns:a="http://schemas.openxmlformats.org/drawingml/2006/main">
            <a:off x="647700" y="43053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0">
                <a:solidFill>
                  <a:srgbClr val="52656D"/>
                </a:solidFill>
                <a:latin typeface="Arial"/>
                <a:ea typeface="Arial"/>
                <a:cs typeface="Arial"/>
              </a:defRPr>
            </a:defPPr>
            <a:lvl1pPr>
              <a:defRPr sz="1800" b="0">
                <a:solidFill>
                  <a:srgbClr val="52656D"/>
                </a:solidFill>
                <a:latin typeface="Arial"/>
                <a:ea typeface="Arial"/>
                <a:cs typeface="Arial"/>
              </a:defRPr>
            </a:lvl1pPr>
            <a:lvl2pPr>
              <a:defRPr sz="1800" b="0">
                <a:solidFill>
                  <a:srgbClr val="52656D"/>
                </a:solidFill>
                <a:latin typeface="Arial"/>
                <a:ea typeface="Arial"/>
                <a:cs typeface="Arial"/>
              </a:defRPr>
            </a:lvl2pPr>
            <a:lvl3pPr>
              <a:defRPr sz="1800" b="0">
                <a:solidFill>
                  <a:srgbClr val="52656D"/>
                </a:solidFill>
                <a:latin typeface="Arial"/>
                <a:ea typeface="Arial"/>
                <a:cs typeface="Arial"/>
              </a:defRPr>
            </a:lvl3pPr>
            <a:lvl4pPr>
              <a:defRPr sz="1800" b="0">
                <a:solidFill>
                  <a:srgbClr val="52656D"/>
                </a:solidFill>
                <a:latin typeface="Arial"/>
                <a:ea typeface="Arial"/>
                <a:cs typeface="Arial"/>
              </a:defRPr>
            </a:lvl4pPr>
            <a:lvl5pPr>
              <a:defRPr sz="1800" b="0">
                <a:solidFill>
                  <a:srgbClr val="52656D"/>
                </a:solidFill>
                <a:latin typeface="Arial"/>
                <a:ea typeface="Arial"/>
                <a:cs typeface="Arial"/>
              </a:defRPr>
            </a:lvl5pPr>
            <a:lvl6pPr>
              <a:defRPr sz="1800" b="0">
                <a:solidFill>
                  <a:srgbClr val="52656D"/>
                </a:solidFill>
                <a:latin typeface="Arial"/>
                <a:ea typeface="Arial"/>
                <a:cs typeface="Arial"/>
              </a:defRPr>
            </a:lvl6pPr>
            <a:lvl7pPr>
              <a:defRPr sz="1800" b="0">
                <a:solidFill>
                  <a:srgbClr val="52656D"/>
                </a:solidFill>
                <a:latin typeface="Arial"/>
                <a:ea typeface="Arial"/>
                <a:cs typeface="Arial"/>
              </a:defRPr>
            </a:lvl7pPr>
            <a:lvl8pPr>
              <a:defRPr sz="1800" b="0">
                <a:solidFill>
                  <a:srgbClr val="52656D"/>
                </a:solidFill>
                <a:latin typeface="Arial"/>
                <a:ea typeface="Arial"/>
                <a:cs typeface="Arial"/>
              </a:defRPr>
            </a:lvl8pPr>
            <a:lvl9pPr>
              <a:defRPr sz="1800" b="0">
                <a:solidFill>
                  <a:srgbClr val="52656D"/>
                </a:solidFill>
                <a:latin typeface="Arial"/>
                <a:ea typeface="Arial"/>
                <a:cs typeface="Arial"/>
              </a:defRPr>
            </a:lvl9pPr>
          </a:lstStyle>
          <a:p xmlns:a="http://schemas.openxmlformats.org/drawingml/2006/main">
            <a:pPr>
              <a:defRPr sz="1800" b="0">
                <a:solidFill>
                  <a:srgbClr val="52656D"/>
                </a:solidFill>
                <a:latin typeface="Arial"/>
                <a:ea typeface="Arial"/>
                <a:cs typeface="Arial"/>
              </a:defRPr>
            </a:pPr>
            <a:r>
              <a:rPr sz="1800" b="0">
                <a:solidFill>
                  <a:srgbClr val="52656D"/>
                </a:solidFill>
                <a:latin typeface="Arial"/>
                <a:ea typeface="Arial"/>
                <a:cs typeface="Arial"/>
              </a:rPr>
              <a:t>Limits: one split, compact search, fixed preprocessing and 28 × 28 images.</a:t>
            </a:r>
          </a:p>
        </p:txBody>
      </p:sp>
      <p:sp>
        <p:nvSpPr>
          <p:cNvPr id="8" name="">
            <a:extLst xmlns:a="http://schemas.openxmlformats.org/drawingml/2006/main">
              <a:ext uri="{FF2B5EF4-FFF2-40B4-BE49-F238E27FC236}">
                <a16:creationId xmlns:a16="http://schemas.microsoft.com/office/drawing/2014/main" id="{488AED5F-C80F-48AB-A9EC-206047C6842F}"/>
              </a:ext>
            </a:extLst>
          </p:cNvPr>
          <p:cNvSpPr>
            <a:spLocks xmlns:a="http://schemas.openxmlformats.org/drawingml/2006/main" noGrp="1"/>
          </p:cNvSpPr>
          <p:nvPr/>
        </p:nvSpPr>
        <p:spPr>
          <a:xfrm xmlns:a="http://schemas.openxmlformats.org/drawingml/2006/main">
            <a:off x="647700" y="4876800"/>
            <a:ext cx="10763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142F38"/>
                </a:solidFill>
                <a:latin typeface="Arial"/>
                <a:ea typeface="Arial"/>
                <a:cs typeface="Arial"/>
              </a:defRPr>
            </a:defPPr>
            <a:lvl1pPr>
              <a:defRPr sz="2400" b="1">
                <a:solidFill>
                  <a:srgbClr val="142F38"/>
                </a:solidFill>
                <a:latin typeface="Arial"/>
                <a:ea typeface="Arial"/>
                <a:cs typeface="Arial"/>
              </a:defRPr>
            </a:lvl1pPr>
            <a:lvl2pPr>
              <a:defRPr sz="2400" b="1">
                <a:solidFill>
                  <a:srgbClr val="142F38"/>
                </a:solidFill>
                <a:latin typeface="Arial"/>
                <a:ea typeface="Arial"/>
                <a:cs typeface="Arial"/>
              </a:defRPr>
            </a:lvl2pPr>
            <a:lvl3pPr>
              <a:defRPr sz="2400" b="1">
                <a:solidFill>
                  <a:srgbClr val="142F38"/>
                </a:solidFill>
                <a:latin typeface="Arial"/>
                <a:ea typeface="Arial"/>
                <a:cs typeface="Arial"/>
              </a:defRPr>
            </a:lvl3pPr>
            <a:lvl4pPr>
              <a:defRPr sz="2400" b="1">
                <a:solidFill>
                  <a:srgbClr val="142F38"/>
                </a:solidFill>
                <a:latin typeface="Arial"/>
                <a:ea typeface="Arial"/>
                <a:cs typeface="Arial"/>
              </a:defRPr>
            </a:lvl4pPr>
            <a:lvl5pPr>
              <a:defRPr sz="2400" b="1">
                <a:solidFill>
                  <a:srgbClr val="142F38"/>
                </a:solidFill>
                <a:latin typeface="Arial"/>
                <a:ea typeface="Arial"/>
                <a:cs typeface="Arial"/>
              </a:defRPr>
            </a:lvl5pPr>
            <a:lvl6pPr>
              <a:defRPr sz="2400" b="1">
                <a:solidFill>
                  <a:srgbClr val="142F38"/>
                </a:solidFill>
                <a:latin typeface="Arial"/>
                <a:ea typeface="Arial"/>
                <a:cs typeface="Arial"/>
              </a:defRPr>
            </a:lvl6pPr>
            <a:lvl7pPr>
              <a:defRPr sz="2400" b="1">
                <a:solidFill>
                  <a:srgbClr val="142F38"/>
                </a:solidFill>
                <a:latin typeface="Arial"/>
                <a:ea typeface="Arial"/>
                <a:cs typeface="Arial"/>
              </a:defRPr>
            </a:lvl7pPr>
            <a:lvl8pPr>
              <a:defRPr sz="2400" b="1">
                <a:solidFill>
                  <a:srgbClr val="142F38"/>
                </a:solidFill>
                <a:latin typeface="Arial"/>
                <a:ea typeface="Arial"/>
                <a:cs typeface="Arial"/>
              </a:defRPr>
            </a:lvl8pPr>
            <a:lvl9pPr>
              <a:defRPr sz="2400" b="1">
                <a:solidFill>
                  <a:srgbClr val="142F38"/>
                </a:solidFill>
                <a:latin typeface="Arial"/>
                <a:ea typeface="Arial"/>
                <a:cs typeface="Arial"/>
              </a:defRPr>
            </a:lvl9pPr>
          </a:lstStyle>
          <a:p xmlns:a="http://schemas.openxmlformats.org/drawingml/2006/main">
            <a:pPr>
              <a:defRPr sz="2400" b="1">
                <a:solidFill>
                  <a:srgbClr val="142F38"/>
                </a:solidFill>
                <a:latin typeface="Arial"/>
                <a:ea typeface="Arial"/>
                <a:cs typeface="Arial"/>
              </a:defRPr>
            </a:pPr>
            <a:r>
              <a:rPr sz="2400" b="1">
                <a:solidFill>
                  <a:srgbClr val="142F38"/>
                </a:solidFill>
                <a:latin typeface="Arial"/>
                <a:ea typeface="Arial"/>
                <a:cs typeface="Arial"/>
              </a:rPr>
              <a:t>Phase 2: test a small CNN on the same saved partitions.</a:t>
            </a:r>
          </a:p>
          <a:p xmlns:a="http://schemas.openxmlformats.org/drawingml/2006/main">
            <a:pPr>
              <a:defRPr sz="2400" b="1">
                <a:solidFill>
                  <a:srgbClr val="142F38"/>
                </a:solidFill>
                <a:latin typeface="Arial"/>
                <a:ea typeface="Arial"/>
                <a:cs typeface="Arial"/>
              </a:defRPr>
            </a:pPr>
            <a:r>
              <a:rPr sz="2400" b="1">
                <a:solidFill>
                  <a:srgbClr val="142F38"/>
                </a:solidFill>
                <a:latin typeface="Arial"/>
                <a:ea typeface="Arial"/>
                <a:cs typeface="Arial"/>
              </a:rPr>
              <a:t>CNN performance is unmeasured.</a:t>
            </a:r>
          </a:p>
        </p:txBody>
      </p:sp>
    </p:spTree>
    <p:extLst>
      <p:ext uri="{BB962C8B-B14F-4D97-AF65-F5344CB8AC3E}">
        <p14:creationId xmlns:p14="http://schemas.microsoft.com/office/powerpoint/2010/main" val="2012047556"/>
      </p:ext>
    </p:extLst>
  </p:cSld>
</p:sld>
</file>

<file path=ppt/slides/slide18.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F3F1C85D-A6A5-4DDD-B8C8-987A4948A261}"/>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Selected references</a:t>
            </a:r>
          </a:p>
        </p:txBody>
      </p:sp>
      <p:sp>
        <p:nvSpPr>
          <p:cNvPr id="3" name="">
            <a:extLst xmlns:a="http://schemas.openxmlformats.org/drawingml/2006/main">
              <a:ext uri="{FF2B5EF4-FFF2-40B4-BE49-F238E27FC236}">
                <a16:creationId xmlns:a16="http://schemas.microsoft.com/office/drawing/2014/main" id="{6065790F-01DD-4699-8AC0-F01DE811732D}"/>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91093F17-0C55-42AF-806E-0F4F4F146839}"/>
              </a:ext>
            </a:extLst>
          </p:cNvPr>
          <p:cNvSpPr>
            <a:spLocks xmlns:a="http://schemas.openxmlformats.org/drawingml/2006/main" noGrp="1"/>
          </p:cNvSpPr>
          <p:nvPr/>
        </p:nvSpPr>
        <p:spPr>
          <a:xfrm xmlns:a="http://schemas.openxmlformats.org/drawingml/2006/main">
            <a:off x="647700" y="1495425"/>
            <a:ext cx="10810875"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Xiao et al. (2017)  Fashion-MNIST</a:t>
            </a:r>
          </a:p>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arxiv.org/abs/1708.07747</a:t>
            </a:r>
          </a:p>
          <a:p xmlns:a="http://schemas.openxmlformats.org/drawingml/2006/main">
            <a:r>
              <a:t/>
            </a:r>
          </a:p>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Dalal &amp; Triggs (2005)  Histograms of Oriented Gradients</a:t>
            </a:r>
          </a:p>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doi.org/10.1109/CVPR.2005.177</a:t>
            </a:r>
          </a:p>
          <a:p xmlns:a="http://schemas.openxmlformats.org/drawingml/2006/main">
            <a:r>
              <a:t/>
            </a:r>
          </a:p>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Breiman (2001)  Random Forests</a:t>
            </a:r>
          </a:p>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doi.org/10.1023/A:1010933404324</a:t>
            </a:r>
          </a:p>
        </p:txBody>
      </p:sp>
      <p:sp>
        <p:nvSpPr>
          <p:cNvPr id="5" name="">
            <a:extLst xmlns:a="http://schemas.openxmlformats.org/drawingml/2006/main">
              <a:ext uri="{FF2B5EF4-FFF2-40B4-BE49-F238E27FC236}">
                <a16:creationId xmlns:a16="http://schemas.microsoft.com/office/drawing/2014/main" id="{66A8C3D2-8F56-472A-8ABC-A14DE8B4563E}"/>
              </a:ext>
            </a:extLst>
          </p:cNvPr>
          <p:cNvSpPr>
            <a:spLocks xmlns:a="http://schemas.openxmlformats.org/drawingml/2006/main" noGrp="1"/>
          </p:cNvSpPr>
          <p:nvPr/>
        </p:nvSpPr>
        <p:spPr>
          <a:xfrm xmlns:a="http://schemas.openxmlformats.org/drawingml/2006/main">
            <a:off x="647700" y="5286375"/>
            <a:ext cx="108108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725" b="0">
                <a:solidFill>
                  <a:srgbClr val="52656D"/>
                </a:solidFill>
                <a:latin typeface="Arial"/>
                <a:ea typeface="Arial"/>
                <a:cs typeface="Arial"/>
              </a:defRPr>
            </a:defPPr>
            <a:lvl1pPr>
              <a:defRPr sz="1725" b="0">
                <a:solidFill>
                  <a:srgbClr val="52656D"/>
                </a:solidFill>
                <a:latin typeface="Arial"/>
                <a:ea typeface="Arial"/>
                <a:cs typeface="Arial"/>
              </a:defRPr>
            </a:lvl1pPr>
            <a:lvl2pPr>
              <a:defRPr sz="1725" b="0">
                <a:solidFill>
                  <a:srgbClr val="52656D"/>
                </a:solidFill>
                <a:latin typeface="Arial"/>
                <a:ea typeface="Arial"/>
                <a:cs typeface="Arial"/>
              </a:defRPr>
            </a:lvl2pPr>
            <a:lvl3pPr>
              <a:defRPr sz="1725" b="0">
                <a:solidFill>
                  <a:srgbClr val="52656D"/>
                </a:solidFill>
                <a:latin typeface="Arial"/>
                <a:ea typeface="Arial"/>
                <a:cs typeface="Arial"/>
              </a:defRPr>
            </a:lvl3pPr>
            <a:lvl4pPr>
              <a:defRPr sz="1725" b="0">
                <a:solidFill>
                  <a:srgbClr val="52656D"/>
                </a:solidFill>
                <a:latin typeface="Arial"/>
                <a:ea typeface="Arial"/>
                <a:cs typeface="Arial"/>
              </a:defRPr>
            </a:lvl4pPr>
            <a:lvl5pPr>
              <a:defRPr sz="1725" b="0">
                <a:solidFill>
                  <a:srgbClr val="52656D"/>
                </a:solidFill>
                <a:latin typeface="Arial"/>
                <a:ea typeface="Arial"/>
                <a:cs typeface="Arial"/>
              </a:defRPr>
            </a:lvl5pPr>
            <a:lvl6pPr>
              <a:defRPr sz="1725" b="0">
                <a:solidFill>
                  <a:srgbClr val="52656D"/>
                </a:solidFill>
                <a:latin typeface="Arial"/>
                <a:ea typeface="Arial"/>
                <a:cs typeface="Arial"/>
              </a:defRPr>
            </a:lvl6pPr>
            <a:lvl7pPr>
              <a:defRPr sz="1725" b="0">
                <a:solidFill>
                  <a:srgbClr val="52656D"/>
                </a:solidFill>
                <a:latin typeface="Arial"/>
                <a:ea typeface="Arial"/>
                <a:cs typeface="Arial"/>
              </a:defRPr>
            </a:lvl7pPr>
            <a:lvl8pPr>
              <a:defRPr sz="1725" b="0">
                <a:solidFill>
                  <a:srgbClr val="52656D"/>
                </a:solidFill>
                <a:latin typeface="Arial"/>
                <a:ea typeface="Arial"/>
                <a:cs typeface="Arial"/>
              </a:defRPr>
            </a:lvl8pPr>
            <a:lvl9pPr>
              <a:defRPr sz="1725" b="0">
                <a:solidFill>
                  <a:srgbClr val="52656D"/>
                </a:solidFill>
                <a:latin typeface="Arial"/>
                <a:ea typeface="Arial"/>
                <a:cs typeface="Arial"/>
              </a:defRPr>
            </a:lvl9pPr>
          </a:lstStyle>
          <a:p xmlns:a="http://schemas.openxmlformats.org/drawingml/2006/main">
            <a:pPr>
              <a:defRPr sz="1725" b="0">
                <a:solidFill>
                  <a:srgbClr val="52656D"/>
                </a:solidFill>
                <a:latin typeface="Arial"/>
                <a:ea typeface="Arial"/>
                <a:cs typeface="Arial"/>
              </a:defRPr>
            </a:pPr>
            <a:r>
              <a:rPr sz="1725" b="0">
                <a:solidFill>
                  <a:srgbClr val="52656D"/>
                </a:solidFill>
                <a:latin typeface="Arial"/>
                <a:ea typeface="Arial"/>
                <a:cs typeface="Arial"/>
              </a:rPr>
              <a:t>Cortes &amp; Vapnik (1995), Support-vector networks</a:t>
            </a:r>
          </a:p>
          <a:p xmlns:a="http://schemas.openxmlformats.org/drawingml/2006/main">
            <a:pPr>
              <a:defRPr sz="1725" b="0">
                <a:solidFill>
                  <a:srgbClr val="52656D"/>
                </a:solidFill>
                <a:latin typeface="Arial"/>
                <a:ea typeface="Arial"/>
                <a:cs typeface="Arial"/>
              </a:defRPr>
            </a:pPr>
            <a:r>
              <a:rPr sz="1725" b="0">
                <a:solidFill>
                  <a:srgbClr val="52656D"/>
                </a:solidFill>
                <a:latin typeface="Arial"/>
                <a:ea typeface="Arial"/>
                <a:cs typeface="Arial"/>
              </a:rPr>
              <a:t>Pedregosa et al. (2011), Scikit-learn: Machine Learning in Python</a:t>
            </a:r>
          </a:p>
          <a:p xmlns:a="http://schemas.openxmlformats.org/drawingml/2006/main">
            <a:pPr>
              <a:defRPr sz="1725" b="0">
                <a:solidFill>
                  <a:srgbClr val="52656D"/>
                </a:solidFill>
                <a:latin typeface="Arial"/>
                <a:ea typeface="Arial"/>
                <a:cs typeface="Arial"/>
              </a:defRPr>
            </a:pPr>
            <a:r>
              <a:rPr sz="1725" b="0">
                <a:solidFill>
                  <a:srgbClr val="52656D"/>
                </a:solidFill>
                <a:latin typeface="Arial"/>
                <a:ea typeface="Arial"/>
                <a:cs typeface="Arial"/>
              </a:rPr>
              <a:t>LeCun et al. (1998), Gradient-Based Learning Applied to Document Recognition</a:t>
            </a:r>
          </a:p>
        </p:txBody>
      </p:sp>
    </p:spTree>
    <p:extLst>
      <p:ext uri="{BB962C8B-B14F-4D97-AF65-F5344CB8AC3E}">
        <p14:creationId xmlns:p14="http://schemas.microsoft.com/office/powerpoint/2010/main" val="1769454033"/>
      </p:ext>
    </p:extLst>
  </p:cSld>
</p:sld>
</file>

<file path=ppt/slides/slide19.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9F897A4C-3A90-4D53-91ED-260B91BE7AB8}"/>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All eight finalists</a:t>
            </a:r>
          </a:p>
        </p:txBody>
      </p:sp>
      <p:sp>
        <p:nvSpPr>
          <p:cNvPr id="3" name="">
            <a:extLst xmlns:a="http://schemas.openxmlformats.org/drawingml/2006/main">
              <a:ext uri="{FF2B5EF4-FFF2-40B4-BE49-F238E27FC236}">
                <a16:creationId xmlns:a16="http://schemas.microsoft.com/office/drawing/2014/main" id="{6629AF57-5302-4FE0-B6B0-6BD83FDD457F}"/>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Backup  /  19</a:t>
            </a:r>
          </a:p>
        </p:txBody>
      </p:sp>
      <p:graphicFrame>
        <p:nvGraphicFramePr>
          <p:cNvPr id="4" name="">
            <a:extLst xmlns:a="http://schemas.openxmlformats.org/drawingml/2006/main">
              <a:ext uri="{FF2B5EF4-FFF2-40B4-BE49-F238E27FC236}">
                <a16:creationId xmlns:a16="http://schemas.microsoft.com/office/drawing/2014/main" id="{82264CB1-06CB-47B0-9323-D8DB0B3192C4}"/>
              </a:ext>
            </a:extLst>
          </p:cNvPr>
          <p:cNvGraphicFramePr/>
          <p:nvPr/>
        </p:nvGraphicFramePr>
        <p:xfrm>
          <a:off xmlns:a="http://schemas.openxmlformats.org/drawingml/2006/main" x="647700" y="1419225"/>
          <a:ext xmlns:a="http://schemas.openxmlformats.org/drawingml/2006/main" cx="10896600" cy="4457700"/>
        </p:xfrm>
        <a:graphic xmlns:a="http://schemas.openxmlformats.org/drawingml/2006/main">
          <a:graphicData uri="http://schemas.openxmlformats.org/drawingml/2006/table">
            <a:tbl>
              <a:tblPr/>
              <a:tblGrid>
                <a:gridCol w="4905375"/>
                <a:gridCol w="1952625"/>
                <a:gridCol w="2047875"/>
                <a:gridCol w="1990725"/>
              </a:tblGrid>
              <a:tr h="495300">
                <a:tc>
                  <a:txBody>
                    <a:bodyPr/>
                    <a:lstStyle/>
                    <a:p>
                      <a:r>
                        <a:rPr sz="1800" b="1">
                          <a:solidFill>
                            <a:srgbClr val="FFFFFF"/>
                          </a:solidFill>
                          <a:latin typeface="Arial"/>
                          <a:ea typeface="Arial"/>
                          <a:cs typeface="Arial"/>
                        </a:rPr>
                        <a:t>Pipeline</a:t>
                      </a:r>
                    </a:p>
                  </a:txBody>
                  <a:tcPr marL="95250" marR="95250" marT="85725" marB="57150" anchor="ctr">
                    <a:lnL w="6668">
                      <a:solidFill>
                        <a:srgbClr val="D9DFDF"/>
                      </a:solidFill>
                      <a:prstDash val="solid"/>
                    </a:lnL>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800" b="1">
                          <a:solidFill>
                            <a:srgbClr val="FFFFFF"/>
                          </a:solidFill>
                          <a:latin typeface="Arial"/>
                          <a:ea typeface="Arial"/>
                          <a:cs typeface="Arial"/>
                        </a:rPr>
                        <a:t>Val. F1</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800" b="1">
                          <a:solidFill>
                            <a:srgbClr val="FFFFFF"/>
                          </a:solidFill>
                          <a:latin typeface="Arial"/>
                          <a:ea typeface="Arial"/>
                          <a:cs typeface="Arial"/>
                        </a:rPr>
                        <a:t>Test acc.</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800" b="1">
                          <a:solidFill>
                            <a:srgbClr val="FFFFFF"/>
                          </a:solidFill>
                          <a:latin typeface="Arial"/>
                          <a:ea typeface="Arial"/>
                          <a:cs typeface="Arial"/>
                        </a:rPr>
                        <a:t>Test F1</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r>
              <a:tr h="495300">
                <a:tc>
                  <a:txBody>
                    <a:bodyPr/>
                    <a:lstStyle/>
                    <a:p>
                      <a:r>
                        <a:rPr sz="1800">
                          <a:solidFill>
                            <a:srgbClr val="142F38"/>
                          </a:solidFill>
                          <a:latin typeface="Arial"/>
                          <a:ea typeface="Arial"/>
                          <a:cs typeface="Arial"/>
                        </a:rPr>
                        <a:t>Pixels + Logistic Regression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0.8590</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84.01%</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0.8394</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Pixels + kNN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0.8585</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85.04%</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0.8505</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Pixels + Random Forest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0.8828</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87.67%</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0.8753</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Pixels + RBF SVM</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0.9068</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89.28%</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0.8924</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HOG + Logistic Regression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0.8834</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87.60%</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0.8757</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HOG + kNN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0.8749</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87.34%</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0.8730</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HOG + Random Forest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0.8752</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87.29%</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0.8718</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HOG + RBF SVM</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0.9114</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90.91%</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0.9090</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97AF94C6-B4D4-441A-820A-B91B09FA21A3}"/>
              </a:ext>
            </a:extLst>
          </p:cNvPr>
          <p:cNvSpPr>
            <a:spLocks xmlns:a="http://schemas.openxmlformats.org/drawingml/2006/main" noGrp="1"/>
          </p:cNvSpPr>
          <p:nvPr/>
        </p:nvSpPr>
        <p:spPr>
          <a:xfrm xmlns:a="http://schemas.openxmlformats.org/drawingml/2006/main">
            <a:off x="647700" y="6067425"/>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0">
                <a:solidFill>
                  <a:srgbClr val="52656D"/>
                </a:solidFill>
                <a:latin typeface="Arial"/>
                <a:ea typeface="Arial"/>
                <a:cs typeface="Arial"/>
              </a:defRPr>
            </a:defPPr>
            <a:lvl1pPr>
              <a:defRPr sz="1650" b="0">
                <a:solidFill>
                  <a:srgbClr val="52656D"/>
                </a:solidFill>
                <a:latin typeface="Arial"/>
                <a:ea typeface="Arial"/>
                <a:cs typeface="Arial"/>
              </a:defRPr>
            </a:lvl1pPr>
            <a:lvl2pPr>
              <a:defRPr sz="1650" b="0">
                <a:solidFill>
                  <a:srgbClr val="52656D"/>
                </a:solidFill>
                <a:latin typeface="Arial"/>
                <a:ea typeface="Arial"/>
                <a:cs typeface="Arial"/>
              </a:defRPr>
            </a:lvl2pPr>
            <a:lvl3pPr>
              <a:defRPr sz="1650" b="0">
                <a:solidFill>
                  <a:srgbClr val="52656D"/>
                </a:solidFill>
                <a:latin typeface="Arial"/>
                <a:ea typeface="Arial"/>
                <a:cs typeface="Arial"/>
              </a:defRPr>
            </a:lvl3pPr>
            <a:lvl4pPr>
              <a:defRPr sz="1650" b="0">
                <a:solidFill>
                  <a:srgbClr val="52656D"/>
                </a:solidFill>
                <a:latin typeface="Arial"/>
                <a:ea typeface="Arial"/>
                <a:cs typeface="Arial"/>
              </a:defRPr>
            </a:lvl4pPr>
            <a:lvl5pPr>
              <a:defRPr sz="1650" b="0">
                <a:solidFill>
                  <a:srgbClr val="52656D"/>
                </a:solidFill>
                <a:latin typeface="Arial"/>
                <a:ea typeface="Arial"/>
                <a:cs typeface="Arial"/>
              </a:defRPr>
            </a:lvl5pPr>
            <a:lvl6pPr>
              <a:defRPr sz="1650" b="0">
                <a:solidFill>
                  <a:srgbClr val="52656D"/>
                </a:solidFill>
                <a:latin typeface="Arial"/>
                <a:ea typeface="Arial"/>
                <a:cs typeface="Arial"/>
              </a:defRPr>
            </a:lvl6pPr>
            <a:lvl7pPr>
              <a:defRPr sz="1650" b="0">
                <a:solidFill>
                  <a:srgbClr val="52656D"/>
                </a:solidFill>
                <a:latin typeface="Arial"/>
                <a:ea typeface="Arial"/>
                <a:cs typeface="Arial"/>
              </a:defRPr>
            </a:lvl7pPr>
            <a:lvl8pPr>
              <a:defRPr sz="1650" b="0">
                <a:solidFill>
                  <a:srgbClr val="52656D"/>
                </a:solidFill>
                <a:latin typeface="Arial"/>
                <a:ea typeface="Arial"/>
                <a:cs typeface="Arial"/>
              </a:defRPr>
            </a:lvl8pPr>
            <a:lvl9pPr>
              <a:defRPr sz="1650" b="0">
                <a:solidFill>
                  <a:srgbClr val="52656D"/>
                </a:solidFill>
                <a:latin typeface="Arial"/>
                <a:ea typeface="Arial"/>
                <a:cs typeface="Arial"/>
              </a:defRPr>
            </a:lvl9pPr>
          </a:lstStyle>
          <a:p xmlns:a="http://schemas.openxmlformats.org/drawingml/2006/main">
            <a:pPr>
              <a:defRPr sz="1650" b="0">
                <a:solidFill>
                  <a:srgbClr val="52656D"/>
                </a:solidFill>
                <a:latin typeface="Arial"/>
                <a:ea typeface="Arial"/>
                <a:cs typeface="Arial"/>
              </a:defRPr>
            </a:pPr>
            <a:r>
              <a:rPr sz="1650" b="0">
                <a:solidFill>
                  <a:srgbClr val="52656D"/>
                </a:solidFill>
                <a:latin typeface="Arial"/>
                <a:ea typeface="Arial"/>
                <a:cs typeface="Arial"/>
              </a:rPr>
              <a:t>Selection used validation F1. The official test did not choose the winner.</a:t>
            </a:r>
          </a:p>
        </p:txBody>
      </p:sp>
    </p:spTree>
    <p:extLst>
      <p:ext uri="{BB962C8B-B14F-4D97-AF65-F5344CB8AC3E}">
        <p14:creationId xmlns:p14="http://schemas.microsoft.com/office/powerpoint/2010/main" val="38946361"/>
      </p:ext>
    </p:extLst>
  </p:cSld>
</p:sld>
</file>

<file path=ppt/slides/slide20.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7BD03BE9-C244-4EFE-8BB5-05A0C15A1B87}"/>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Selected settings and search scope</a:t>
            </a:r>
          </a:p>
        </p:txBody>
      </p:sp>
      <p:sp>
        <p:nvSpPr>
          <p:cNvPr id="3" name="">
            <a:extLst xmlns:a="http://schemas.openxmlformats.org/drawingml/2006/main">
              <a:ext uri="{FF2B5EF4-FFF2-40B4-BE49-F238E27FC236}">
                <a16:creationId xmlns:a16="http://schemas.microsoft.com/office/drawing/2014/main" id="{26B29883-5EDA-434A-9AC0-6BC5235FEC09}"/>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Backup  /  20</a:t>
            </a:r>
          </a:p>
        </p:txBody>
      </p:sp>
      <p:graphicFrame>
        <p:nvGraphicFramePr>
          <p:cNvPr id="4" name="">
            <a:extLst xmlns:a="http://schemas.openxmlformats.org/drawingml/2006/main">
              <a:ext uri="{FF2B5EF4-FFF2-40B4-BE49-F238E27FC236}">
                <a16:creationId xmlns:a16="http://schemas.microsoft.com/office/drawing/2014/main" id="{D4DEBEB8-9DDA-4B50-8EF2-2C8156C5F654}"/>
              </a:ext>
            </a:extLst>
          </p:cNvPr>
          <p:cNvGraphicFramePr/>
          <p:nvPr/>
        </p:nvGraphicFramePr>
        <p:xfrm>
          <a:off xmlns:a="http://schemas.openxmlformats.org/drawingml/2006/main" x="647700" y="1419225"/>
          <a:ext xmlns:a="http://schemas.openxmlformats.org/drawingml/2006/main" cx="10896600" cy="4457700"/>
        </p:xfrm>
        <a:graphic xmlns:a="http://schemas.openxmlformats.org/drawingml/2006/main">
          <a:graphicData uri="http://schemas.openxmlformats.org/drawingml/2006/table">
            <a:tbl>
              <a:tblPr/>
              <a:tblGrid>
                <a:gridCol w="4572000"/>
                <a:gridCol w="2857500"/>
                <a:gridCol w="3467100"/>
              </a:tblGrid>
              <a:tr h="495300">
                <a:tc>
                  <a:txBody>
                    <a:bodyPr/>
                    <a:lstStyle/>
                    <a:p>
                      <a:r>
                        <a:rPr sz="1800" b="1">
                          <a:solidFill>
                            <a:srgbClr val="FFFFFF"/>
                          </a:solidFill>
                          <a:latin typeface="Arial"/>
                          <a:ea typeface="Arial"/>
                          <a:cs typeface="Arial"/>
                        </a:rPr>
                        <a:t>Pipeline</a:t>
                      </a:r>
                    </a:p>
                  </a:txBody>
                  <a:tcPr marL="95250" marR="95250" marT="85725" marB="57150" anchor="ctr">
                    <a:lnL w="6668">
                      <a:solidFill>
                        <a:srgbClr val="D9DFDF"/>
                      </a:solidFill>
                      <a:prstDash val="solid"/>
                    </a:lnL>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800" b="1">
                          <a:solidFill>
                            <a:srgbClr val="FFFFFF"/>
                          </a:solidFill>
                          <a:latin typeface="Arial"/>
                          <a:ea typeface="Arial"/>
                          <a:cs typeface="Arial"/>
                        </a:rPr>
                        <a:t>Selected setting</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800" b="1">
                          <a:solidFill>
                            <a:srgbClr val="FFFFFF"/>
                          </a:solidFill>
                          <a:latin typeface="Arial"/>
                          <a:ea typeface="Arial"/>
                          <a:cs typeface="Arial"/>
                        </a:rPr>
                        <a:t>Scaling</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r>
              <a:tr h="495300">
                <a:tc>
                  <a:txBody>
                    <a:bodyPr/>
                    <a:lstStyle/>
                    <a:p>
                      <a:r>
                        <a:rPr sz="1800">
                          <a:solidFill>
                            <a:srgbClr val="142F38"/>
                          </a:solidFill>
                          <a:latin typeface="Arial"/>
                          <a:ea typeface="Arial"/>
                          <a:cs typeface="Arial"/>
                        </a:rPr>
                        <a:t>Pixels + Logistic Regression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C = 0.1</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StandardScaler</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Pixels + kNN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k = 5</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None</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Pixels + Random Forest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depth = None</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None</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Pixels + RBF SVM</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C = 10</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StandardScaler</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HOG + Logistic Regression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C = 0.1</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StandardScaler</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HOG + kNN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k = 5</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StandardScaler</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HOG + Random Forest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depth = None</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None</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800">
                          <a:solidFill>
                            <a:srgbClr val="142F38"/>
                          </a:solidFill>
                          <a:latin typeface="Arial"/>
                          <a:ea typeface="Arial"/>
                          <a:cs typeface="Arial"/>
                        </a:rPr>
                        <a:t>HOG + RBF SVM</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C = 10</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800">
                          <a:solidFill>
                            <a:srgbClr val="142F38"/>
                          </a:solidFill>
                          <a:latin typeface="Arial"/>
                          <a:ea typeface="Arial"/>
                          <a:cs typeface="Arial"/>
                        </a:rPr>
                        <a:t>StandardScaler</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A6A3B5B1-96D4-4944-BCA6-91DC7CC5552F}"/>
              </a:ext>
            </a:extLst>
          </p:cNvPr>
          <p:cNvSpPr>
            <a:spLocks xmlns:a="http://schemas.openxmlformats.org/drawingml/2006/main" noGrp="1"/>
          </p:cNvSpPr>
          <p:nvPr/>
        </p:nvSpPr>
        <p:spPr>
          <a:xfrm xmlns:a="http://schemas.openxmlformats.org/drawingml/2006/main">
            <a:off x="647700" y="6048375"/>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0">
                <a:solidFill>
                  <a:srgbClr val="52656D"/>
                </a:solidFill>
                <a:latin typeface="Arial"/>
                <a:ea typeface="Arial"/>
                <a:cs typeface="Arial"/>
              </a:defRPr>
            </a:defPPr>
            <a:lvl1pPr>
              <a:defRPr sz="1650" b="0">
                <a:solidFill>
                  <a:srgbClr val="52656D"/>
                </a:solidFill>
                <a:latin typeface="Arial"/>
                <a:ea typeface="Arial"/>
                <a:cs typeface="Arial"/>
              </a:defRPr>
            </a:lvl1pPr>
            <a:lvl2pPr>
              <a:defRPr sz="1650" b="0">
                <a:solidFill>
                  <a:srgbClr val="52656D"/>
                </a:solidFill>
                <a:latin typeface="Arial"/>
                <a:ea typeface="Arial"/>
                <a:cs typeface="Arial"/>
              </a:defRPr>
            </a:lvl2pPr>
            <a:lvl3pPr>
              <a:defRPr sz="1650" b="0">
                <a:solidFill>
                  <a:srgbClr val="52656D"/>
                </a:solidFill>
                <a:latin typeface="Arial"/>
                <a:ea typeface="Arial"/>
                <a:cs typeface="Arial"/>
              </a:defRPr>
            </a:lvl3pPr>
            <a:lvl4pPr>
              <a:defRPr sz="1650" b="0">
                <a:solidFill>
                  <a:srgbClr val="52656D"/>
                </a:solidFill>
                <a:latin typeface="Arial"/>
                <a:ea typeface="Arial"/>
                <a:cs typeface="Arial"/>
              </a:defRPr>
            </a:lvl4pPr>
            <a:lvl5pPr>
              <a:defRPr sz="1650" b="0">
                <a:solidFill>
                  <a:srgbClr val="52656D"/>
                </a:solidFill>
                <a:latin typeface="Arial"/>
                <a:ea typeface="Arial"/>
                <a:cs typeface="Arial"/>
              </a:defRPr>
            </a:lvl5pPr>
            <a:lvl6pPr>
              <a:defRPr sz="1650" b="0">
                <a:solidFill>
                  <a:srgbClr val="52656D"/>
                </a:solidFill>
                <a:latin typeface="Arial"/>
                <a:ea typeface="Arial"/>
                <a:cs typeface="Arial"/>
              </a:defRPr>
            </a:lvl6pPr>
            <a:lvl7pPr>
              <a:defRPr sz="1650" b="0">
                <a:solidFill>
                  <a:srgbClr val="52656D"/>
                </a:solidFill>
                <a:latin typeface="Arial"/>
                <a:ea typeface="Arial"/>
                <a:cs typeface="Arial"/>
              </a:defRPr>
            </a:lvl7pPr>
            <a:lvl8pPr>
              <a:defRPr sz="1650" b="0">
                <a:solidFill>
                  <a:srgbClr val="52656D"/>
                </a:solidFill>
                <a:latin typeface="Arial"/>
                <a:ea typeface="Arial"/>
                <a:cs typeface="Arial"/>
              </a:defRPr>
            </a:lvl8pPr>
            <a:lvl9pPr>
              <a:defRPr sz="1650" b="0">
                <a:solidFill>
                  <a:srgbClr val="52656D"/>
                </a:solidFill>
                <a:latin typeface="Arial"/>
                <a:ea typeface="Arial"/>
                <a:cs typeface="Arial"/>
              </a:defRPr>
            </a:lvl9pPr>
          </a:lstStyle>
          <a:p xmlns:a="http://schemas.openxmlformats.org/drawingml/2006/main">
            <a:pPr>
              <a:defRPr sz="1650" b="0">
                <a:solidFill>
                  <a:srgbClr val="52656D"/>
                </a:solidFill>
                <a:latin typeface="Arial"/>
                <a:ea typeface="Arial"/>
                <a:cs typeface="Arial"/>
              </a:defRPr>
            </a:pPr>
            <a:r>
              <a:rPr sz="1650" b="0">
                <a:solidFill>
                  <a:srgbClr val="52656D"/>
                </a:solidFill>
                <a:latin typeface="Arial"/>
                <a:ea typeface="Arial"/>
                <a:cs typeface="Arial"/>
              </a:rPr>
              <a:t>Two candidates per feature/model pair. Fixed RF: 200 trees. Fixed SVM: RBF.</a:t>
            </a:r>
          </a:p>
        </p:txBody>
      </p:sp>
    </p:spTree>
    <p:extLst>
      <p:ext uri="{BB962C8B-B14F-4D97-AF65-F5344CB8AC3E}">
        <p14:creationId xmlns:p14="http://schemas.microsoft.com/office/powerpoint/2010/main" val="462509281"/>
      </p:ext>
    </p:extLst>
  </p:cSld>
</p:sld>
</file>

<file path=ppt/slides/slide2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5CFB3773-CDEF-47FB-AA03-3AEC2F8398E2}"/>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Model size and complexity</a:t>
            </a:r>
          </a:p>
        </p:txBody>
      </p:sp>
      <p:sp>
        <p:nvSpPr>
          <p:cNvPr id="3" name="">
            <a:extLst xmlns:a="http://schemas.openxmlformats.org/drawingml/2006/main">
              <a:ext uri="{FF2B5EF4-FFF2-40B4-BE49-F238E27FC236}">
                <a16:creationId xmlns:a16="http://schemas.microsoft.com/office/drawing/2014/main" id="{7DA46AF5-45D6-4627-909C-213353C1A905}"/>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Backup  /  21</a:t>
            </a:r>
          </a:p>
        </p:txBody>
      </p:sp>
      <p:graphicFrame>
        <p:nvGraphicFramePr>
          <p:cNvPr id="4" name="">
            <a:extLst xmlns:a="http://schemas.openxmlformats.org/drawingml/2006/main">
              <a:ext uri="{FF2B5EF4-FFF2-40B4-BE49-F238E27FC236}">
                <a16:creationId xmlns:a16="http://schemas.microsoft.com/office/drawing/2014/main" id="{B71B1D94-6D9A-45C8-969A-B8BD7CF1B0F2}"/>
              </a:ext>
            </a:extLst>
          </p:cNvPr>
          <p:cNvGraphicFramePr/>
          <p:nvPr/>
        </p:nvGraphicFramePr>
        <p:xfrm>
          <a:off xmlns:a="http://schemas.openxmlformats.org/drawingml/2006/main" x="476250" y="1419225"/>
          <a:ext xmlns:a="http://schemas.openxmlformats.org/drawingml/2006/main" cx="11239500" cy="4457700"/>
        </p:xfrm>
        <a:graphic xmlns:a="http://schemas.openxmlformats.org/drawingml/2006/main">
          <a:graphicData uri="http://schemas.openxmlformats.org/drawingml/2006/table">
            <a:tbl>
              <a:tblPr/>
              <a:tblGrid>
                <a:gridCol w="3810000"/>
                <a:gridCol w="6191250"/>
                <a:gridCol w="1238250"/>
              </a:tblGrid>
              <a:tr h="495300">
                <a:tc>
                  <a:txBody>
                    <a:bodyPr/>
                    <a:lstStyle/>
                    <a:p>
                      <a:r>
                        <a:rPr sz="1650" b="1">
                          <a:solidFill>
                            <a:srgbClr val="FFFFFF"/>
                          </a:solidFill>
                          <a:latin typeface="Arial"/>
                          <a:ea typeface="Arial"/>
                          <a:cs typeface="Arial"/>
                        </a:rPr>
                        <a:t>Pipeline</a:t>
                      </a:r>
                    </a:p>
                  </a:txBody>
                  <a:tcPr marL="95250" marR="95250" marT="85725" marB="57150" anchor="ctr">
                    <a:lnL w="6668">
                      <a:solidFill>
                        <a:srgbClr val="D9DFDF"/>
                      </a:solidFill>
                      <a:prstDash val="solid"/>
                    </a:lnL>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650" b="1">
                          <a:solidFill>
                            <a:srgbClr val="FFFFFF"/>
                          </a:solidFill>
                          <a:latin typeface="Arial"/>
                          <a:ea typeface="Arial"/>
                          <a:cs typeface="Arial"/>
                        </a:rPr>
                        <a:t>Model-specific quantity</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c>
                  <a:txBody>
                    <a:bodyPr/>
                    <a:lstStyle/>
                    <a:p>
                      <a:r>
                        <a:rPr sz="1650" b="1">
                          <a:solidFill>
                            <a:srgbClr val="FFFFFF"/>
                          </a:solidFill>
                          <a:latin typeface="Arial"/>
                          <a:ea typeface="Arial"/>
                          <a:cs typeface="Arial"/>
                        </a:rPr>
                        <a:t>MiB</a:t>
                      </a:r>
                    </a:p>
                  </a:txBody>
                  <a:tcPr marL="95250" marR="95250" marT="85725" marB="57150" anchor="ctr">
                    <a:lnR w="6668">
                      <a:solidFill>
                        <a:srgbClr val="D9DFDF"/>
                      </a:solidFill>
                      <a:prstDash val="solid"/>
                    </a:lnR>
                    <a:lnT w="6668">
                      <a:solidFill>
                        <a:srgbClr val="D9DFDF"/>
                      </a:solidFill>
                      <a:prstDash val="solid"/>
                    </a:lnT>
                    <a:lnB w="6668">
                      <a:solidFill>
                        <a:srgbClr val="D9DFDF"/>
                      </a:solidFill>
                      <a:prstDash val="solid"/>
                    </a:lnB>
                    <a:solidFill>
                      <a:srgbClr val="142F38"/>
                    </a:solidFill>
                  </a:tcPr>
                </a:tc>
              </a:tr>
              <a:tr h="495300">
                <a:tc>
                  <a:txBody>
                    <a:bodyPr/>
                    <a:lstStyle/>
                    <a:p>
                      <a:r>
                        <a:rPr sz="1650">
                          <a:solidFill>
                            <a:srgbClr val="142F38"/>
                          </a:solidFill>
                          <a:latin typeface="Arial"/>
                          <a:ea typeface="Arial"/>
                          <a:cs typeface="Arial"/>
                        </a:rPr>
                        <a:t>Pixels + Logistic Regression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7,850 weights + bias</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0.05</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650">
                          <a:solidFill>
                            <a:srgbClr val="142F38"/>
                          </a:solidFill>
                          <a:latin typeface="Arial"/>
                          <a:ea typeface="Arial"/>
                          <a:cs typeface="Arial"/>
                        </a:rPr>
                        <a:t>Pixels + kNN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37,632,000 stored feature scalars</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31.10</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650">
                          <a:solidFill>
                            <a:srgbClr val="142F38"/>
                          </a:solidFill>
                          <a:latin typeface="Arial"/>
                          <a:ea typeface="Arial"/>
                          <a:cs typeface="Arial"/>
                        </a:rPr>
                        <a:t>Pixels + Random Forest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1,633,648 tree nodes</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35.01</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650">
                          <a:solidFill>
                            <a:srgbClr val="142F38"/>
                          </a:solidFill>
                          <a:latin typeface="Arial"/>
                          <a:ea typeface="Arial"/>
                          <a:cs typeface="Arial"/>
                        </a:rPr>
                        <a:t>Pixels + RBF SVM</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13,725,289 decision-array scalars</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39.34</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650">
                          <a:solidFill>
                            <a:srgbClr val="142F38"/>
                          </a:solidFill>
                          <a:latin typeface="Arial"/>
                          <a:ea typeface="Arial"/>
                          <a:cs typeface="Arial"/>
                        </a:rPr>
                        <a:t>HOG + Logistic Regression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12,970 weights + bias</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0.08</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650">
                          <a:solidFill>
                            <a:srgbClr val="142F38"/>
                          </a:solidFill>
                          <a:latin typeface="Arial"/>
                          <a:ea typeface="Arial"/>
                          <a:cs typeface="Arial"/>
                        </a:rPr>
                        <a:t>HOG + kNN</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62,208,000 stored feature scalars</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147.27</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650">
                          <a:solidFill>
                            <a:srgbClr val="142F38"/>
                          </a:solidFill>
                          <a:latin typeface="Arial"/>
                          <a:ea typeface="Arial"/>
                          <a:cs typeface="Arial"/>
                        </a:rPr>
                        <a:t>HOG + Random Forest</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1,828,070 tree nodes</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40.24</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r h="495300">
                <a:tc>
                  <a:txBody>
                    <a:bodyPr/>
                    <a:lstStyle/>
                    <a:p>
                      <a:r>
                        <a:rPr sz="1650">
                          <a:solidFill>
                            <a:srgbClr val="142F38"/>
                          </a:solidFill>
                          <a:latin typeface="Arial"/>
                          <a:ea typeface="Arial"/>
                          <a:cs typeface="Arial"/>
                        </a:rPr>
                        <a:t>HOG + RBF SVM</a:t>
                      </a:r>
                    </a:p>
                  </a:txBody>
                  <a:tcPr marL="95250" marR="95250" marT="85725" marB="57150" anchor="ctr">
                    <a:lnL w="6668">
                      <a:solidFill>
                        <a:srgbClr val="D9DFDF"/>
                      </a:solidFill>
                      <a:prstDash val="solid"/>
                    </a:lnL>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27,295,425 decision-array scalars</a:t>
                      </a:r>
                    </a:p>
                  </a:txBody>
                  <a:tcPr marL="95250" marR="95250" marT="85725" marB="57150" anchor="ctr">
                    <a:lnR w="6668">
                      <a:solidFill>
                        <a:srgbClr val="D9DFDF"/>
                      </a:solidFill>
                      <a:prstDash val="solid"/>
                    </a:lnR>
                    <a:lnB w="6668">
                      <a:solidFill>
                        <a:srgbClr val="D9DFDF"/>
                      </a:solidFill>
                      <a:prstDash val="solid"/>
                    </a:lnB>
                    <a:solidFill>
                      <a:srgbClr val="F7F6F2"/>
                    </a:solidFill>
                  </a:tcPr>
                </a:tc>
                <a:tc>
                  <a:txBody>
                    <a:bodyPr/>
                    <a:lstStyle/>
                    <a:p>
                      <a:r>
                        <a:rPr sz="1650">
                          <a:solidFill>
                            <a:srgbClr val="142F38"/>
                          </a:solidFill>
                          <a:latin typeface="Arial"/>
                          <a:ea typeface="Arial"/>
                          <a:cs typeface="Arial"/>
                        </a:rPr>
                        <a:t>87.82</a:t>
                      </a:r>
                    </a:p>
                  </a:txBody>
                  <a:tcPr marL="95250" marR="95250" marT="85725" marB="57150" anchor="ctr">
                    <a:lnR w="6668">
                      <a:solidFill>
                        <a:srgbClr val="D9DFDF"/>
                      </a:solidFill>
                      <a:prstDash val="solid"/>
                    </a:lnR>
                    <a:lnB w="6668">
                      <a:solidFill>
                        <a:srgbClr val="D9DFDF"/>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FF2C3139-7270-4E19-AB14-9D061EDCED77}"/>
              </a:ext>
            </a:extLst>
          </p:cNvPr>
          <p:cNvSpPr>
            <a:spLocks xmlns:a="http://schemas.openxmlformats.org/drawingml/2006/main" noGrp="1"/>
          </p:cNvSpPr>
          <p:nvPr/>
        </p:nvSpPr>
        <p:spPr>
          <a:xfrm xmlns:a="http://schemas.openxmlformats.org/drawingml/2006/main">
            <a:off x="647700" y="6057900"/>
            <a:ext cx="1076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650" b="0">
                <a:solidFill>
                  <a:srgbClr val="52656D"/>
                </a:solidFill>
                <a:latin typeface="Arial"/>
                <a:ea typeface="Arial"/>
                <a:cs typeface="Arial"/>
              </a:defRPr>
            </a:defPPr>
            <a:lvl1pPr>
              <a:defRPr sz="1650" b="0">
                <a:solidFill>
                  <a:srgbClr val="52656D"/>
                </a:solidFill>
                <a:latin typeface="Arial"/>
                <a:ea typeface="Arial"/>
                <a:cs typeface="Arial"/>
              </a:defRPr>
            </a:lvl1pPr>
            <a:lvl2pPr>
              <a:defRPr sz="1650" b="0">
                <a:solidFill>
                  <a:srgbClr val="52656D"/>
                </a:solidFill>
                <a:latin typeface="Arial"/>
                <a:ea typeface="Arial"/>
                <a:cs typeface="Arial"/>
              </a:defRPr>
            </a:lvl2pPr>
            <a:lvl3pPr>
              <a:defRPr sz="1650" b="0">
                <a:solidFill>
                  <a:srgbClr val="52656D"/>
                </a:solidFill>
                <a:latin typeface="Arial"/>
                <a:ea typeface="Arial"/>
                <a:cs typeface="Arial"/>
              </a:defRPr>
            </a:lvl3pPr>
            <a:lvl4pPr>
              <a:defRPr sz="1650" b="0">
                <a:solidFill>
                  <a:srgbClr val="52656D"/>
                </a:solidFill>
                <a:latin typeface="Arial"/>
                <a:ea typeface="Arial"/>
                <a:cs typeface="Arial"/>
              </a:defRPr>
            </a:lvl4pPr>
            <a:lvl5pPr>
              <a:defRPr sz="1650" b="0">
                <a:solidFill>
                  <a:srgbClr val="52656D"/>
                </a:solidFill>
                <a:latin typeface="Arial"/>
                <a:ea typeface="Arial"/>
                <a:cs typeface="Arial"/>
              </a:defRPr>
            </a:lvl5pPr>
            <a:lvl6pPr>
              <a:defRPr sz="1650" b="0">
                <a:solidFill>
                  <a:srgbClr val="52656D"/>
                </a:solidFill>
                <a:latin typeface="Arial"/>
                <a:ea typeface="Arial"/>
                <a:cs typeface="Arial"/>
              </a:defRPr>
            </a:lvl6pPr>
            <a:lvl7pPr>
              <a:defRPr sz="1650" b="0">
                <a:solidFill>
                  <a:srgbClr val="52656D"/>
                </a:solidFill>
                <a:latin typeface="Arial"/>
                <a:ea typeface="Arial"/>
                <a:cs typeface="Arial"/>
              </a:defRPr>
            </a:lvl7pPr>
            <a:lvl8pPr>
              <a:defRPr sz="1650" b="0">
                <a:solidFill>
                  <a:srgbClr val="52656D"/>
                </a:solidFill>
                <a:latin typeface="Arial"/>
                <a:ea typeface="Arial"/>
                <a:cs typeface="Arial"/>
              </a:defRPr>
            </a:lvl8pPr>
            <a:lvl9pPr>
              <a:defRPr sz="1650" b="0">
                <a:solidFill>
                  <a:srgbClr val="52656D"/>
                </a:solidFill>
                <a:latin typeface="Arial"/>
                <a:ea typeface="Arial"/>
                <a:cs typeface="Arial"/>
              </a:defRPr>
            </a:lvl9pPr>
          </a:lstStyle>
          <a:p xmlns:a="http://schemas.openxmlformats.org/drawingml/2006/main">
            <a:pPr>
              <a:defRPr sz="1650" b="0">
                <a:solidFill>
                  <a:srgbClr val="52656D"/>
                </a:solidFill>
                <a:latin typeface="Arial"/>
                <a:ea typeface="Arial"/>
                <a:cs typeface="Arial"/>
              </a:defRPr>
            </a:pPr>
            <a:r>
              <a:rPr sz="1650" b="0">
                <a:solidFill>
                  <a:srgbClr val="52656D"/>
                </a:solidFill>
                <a:latin typeface="Arial"/>
                <a:ea typeface="Arial"/>
                <a:cs typeface="Arial"/>
              </a:rPr>
              <a:t>Counts differ by model family. MiB is serialized size, not peak memory.</a:t>
            </a:r>
          </a:p>
        </p:txBody>
      </p:sp>
    </p:spTree>
    <p:extLst>
      <p:ext uri="{BB962C8B-B14F-4D97-AF65-F5344CB8AC3E}">
        <p14:creationId xmlns:p14="http://schemas.microsoft.com/office/powerpoint/2010/main" val="1257758117"/>
      </p:ext>
    </p:extLst>
  </p:cSld>
</p:sld>
</file>

<file path=ppt/slides/slide2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
            <a:extLst xmlns:a="http://schemas.openxmlformats.org/drawingml/2006/main">
              <a:ext uri="{FF2B5EF4-FFF2-40B4-BE49-F238E27FC236}">
                <a16:creationId xmlns:a16="http://schemas.microsoft.com/office/drawing/2014/main" id="{6AEADD1A-F3BB-4CB9-830B-409E90CBF301}"/>
              </a:ext>
            </a:extLst>
          </p:cNvPr>
          <p:cNvSpPr>
            <a:spLocks xmlns:a="http://schemas.openxmlformats.org/drawingml/2006/main" noGrp="1"/>
          </p:cNvSpPr>
          <p:nvPr/>
        </p:nvSpPr>
        <p:spPr>
          <a:xfrm xmlns:a="http://schemas.openxmlformats.org/drawingml/2006/main">
            <a:off x="609600" y="400050"/>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300" b="1">
                <a:solidFill>
                  <a:srgbClr val="142F38"/>
                </a:solidFill>
                <a:latin typeface="Arial"/>
                <a:ea typeface="Arial"/>
                <a:cs typeface="Arial"/>
              </a:defRPr>
            </a:defPPr>
            <a:lvl1pPr>
              <a:defRPr sz="3300" b="1">
                <a:solidFill>
                  <a:srgbClr val="142F38"/>
                </a:solidFill>
                <a:latin typeface="Arial"/>
                <a:ea typeface="Arial"/>
                <a:cs typeface="Arial"/>
              </a:defRPr>
            </a:lvl1pPr>
            <a:lvl2pPr>
              <a:defRPr sz="3300" b="1">
                <a:solidFill>
                  <a:srgbClr val="142F38"/>
                </a:solidFill>
                <a:latin typeface="Arial"/>
                <a:ea typeface="Arial"/>
                <a:cs typeface="Arial"/>
              </a:defRPr>
            </a:lvl2pPr>
            <a:lvl3pPr>
              <a:defRPr sz="3300" b="1">
                <a:solidFill>
                  <a:srgbClr val="142F38"/>
                </a:solidFill>
                <a:latin typeface="Arial"/>
                <a:ea typeface="Arial"/>
                <a:cs typeface="Arial"/>
              </a:defRPr>
            </a:lvl3pPr>
            <a:lvl4pPr>
              <a:defRPr sz="3300" b="1">
                <a:solidFill>
                  <a:srgbClr val="142F38"/>
                </a:solidFill>
                <a:latin typeface="Arial"/>
                <a:ea typeface="Arial"/>
                <a:cs typeface="Arial"/>
              </a:defRPr>
            </a:lvl4pPr>
            <a:lvl5pPr>
              <a:defRPr sz="3300" b="1">
                <a:solidFill>
                  <a:srgbClr val="142F38"/>
                </a:solidFill>
                <a:latin typeface="Arial"/>
                <a:ea typeface="Arial"/>
                <a:cs typeface="Arial"/>
              </a:defRPr>
            </a:lvl5pPr>
            <a:lvl6pPr>
              <a:defRPr sz="3300" b="1">
                <a:solidFill>
                  <a:srgbClr val="142F38"/>
                </a:solidFill>
                <a:latin typeface="Arial"/>
                <a:ea typeface="Arial"/>
                <a:cs typeface="Arial"/>
              </a:defRPr>
            </a:lvl6pPr>
            <a:lvl7pPr>
              <a:defRPr sz="3300" b="1">
                <a:solidFill>
                  <a:srgbClr val="142F38"/>
                </a:solidFill>
                <a:latin typeface="Arial"/>
                <a:ea typeface="Arial"/>
                <a:cs typeface="Arial"/>
              </a:defRPr>
            </a:lvl7pPr>
            <a:lvl8pPr>
              <a:defRPr sz="3300" b="1">
                <a:solidFill>
                  <a:srgbClr val="142F38"/>
                </a:solidFill>
                <a:latin typeface="Arial"/>
                <a:ea typeface="Arial"/>
                <a:cs typeface="Arial"/>
              </a:defRPr>
            </a:lvl8pPr>
            <a:lvl9pPr>
              <a:defRPr sz="3300" b="1">
                <a:solidFill>
                  <a:srgbClr val="142F38"/>
                </a:solidFill>
                <a:latin typeface="Arial"/>
                <a:ea typeface="Arial"/>
                <a:cs typeface="Arial"/>
              </a:defRPr>
            </a:lvl9pPr>
          </a:lstStyle>
          <a:p xmlns:a="http://schemas.openxmlformats.org/drawingml/2006/main">
            <a:pPr>
              <a:defRPr sz="3300" b="1">
                <a:solidFill>
                  <a:srgbClr val="142F38"/>
                </a:solidFill>
                <a:latin typeface="Arial"/>
                <a:ea typeface="Arial"/>
                <a:cs typeface="Arial"/>
              </a:defRPr>
            </a:pPr>
            <a:r>
              <a:rPr sz="3300" b="1">
                <a:solidFill>
                  <a:srgbClr val="142F38"/>
                </a:solidFill>
                <a:latin typeface="Arial"/>
                <a:ea typeface="Arial"/>
                <a:cs typeface="Arial"/>
              </a:rPr>
              <a:t>Viva and saved-prediction demo</a:t>
            </a:r>
          </a:p>
        </p:txBody>
      </p:sp>
      <p:sp>
        <p:nvSpPr>
          <p:cNvPr id="3" name="">
            <a:extLst xmlns:a="http://schemas.openxmlformats.org/drawingml/2006/main">
              <a:ext uri="{FF2B5EF4-FFF2-40B4-BE49-F238E27FC236}">
                <a16:creationId xmlns:a16="http://schemas.microsoft.com/office/drawing/2014/main" id="{12081A31-9BBD-43C4-A866-14536CE1C047}"/>
              </a:ext>
            </a:extLst>
          </p:cNvPr>
          <p:cNvSpPr>
            <a:spLocks xmlns:a="http://schemas.openxmlformats.org/drawingml/2006/main" noGrp="1"/>
          </p:cNvSpPr>
          <p:nvPr/>
        </p:nvSpPr>
        <p:spPr>
          <a:xfrm xmlns:a="http://schemas.openxmlformats.org/drawingml/2006/main">
            <a:off x="10001250" y="6448425"/>
            <a:ext cx="1619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200" b="0">
                <a:solidFill>
                  <a:srgbClr val="52656D"/>
                </a:solidFill>
                <a:latin typeface="Arial"/>
                <a:ea typeface="Arial"/>
                <a:cs typeface="Arial"/>
              </a:defRPr>
            </a:defPPr>
            <a:lvl1pPr>
              <a:defRPr sz="1200" b="0">
                <a:solidFill>
                  <a:srgbClr val="52656D"/>
                </a:solidFill>
                <a:latin typeface="Arial"/>
                <a:ea typeface="Arial"/>
                <a:cs typeface="Arial"/>
              </a:defRPr>
            </a:lvl1pPr>
            <a:lvl2pPr>
              <a:defRPr sz="1200" b="0">
                <a:solidFill>
                  <a:srgbClr val="52656D"/>
                </a:solidFill>
                <a:latin typeface="Arial"/>
                <a:ea typeface="Arial"/>
                <a:cs typeface="Arial"/>
              </a:defRPr>
            </a:lvl2pPr>
            <a:lvl3pPr>
              <a:defRPr sz="1200" b="0">
                <a:solidFill>
                  <a:srgbClr val="52656D"/>
                </a:solidFill>
                <a:latin typeface="Arial"/>
                <a:ea typeface="Arial"/>
                <a:cs typeface="Arial"/>
              </a:defRPr>
            </a:lvl3pPr>
            <a:lvl4pPr>
              <a:defRPr sz="1200" b="0">
                <a:solidFill>
                  <a:srgbClr val="52656D"/>
                </a:solidFill>
                <a:latin typeface="Arial"/>
                <a:ea typeface="Arial"/>
                <a:cs typeface="Arial"/>
              </a:defRPr>
            </a:lvl4pPr>
            <a:lvl5pPr>
              <a:defRPr sz="1200" b="0">
                <a:solidFill>
                  <a:srgbClr val="52656D"/>
                </a:solidFill>
                <a:latin typeface="Arial"/>
                <a:ea typeface="Arial"/>
                <a:cs typeface="Arial"/>
              </a:defRPr>
            </a:lvl5pPr>
            <a:lvl6pPr>
              <a:defRPr sz="1200" b="0">
                <a:solidFill>
                  <a:srgbClr val="52656D"/>
                </a:solidFill>
                <a:latin typeface="Arial"/>
                <a:ea typeface="Arial"/>
                <a:cs typeface="Arial"/>
              </a:defRPr>
            </a:lvl6pPr>
            <a:lvl7pPr>
              <a:defRPr sz="1200" b="0">
                <a:solidFill>
                  <a:srgbClr val="52656D"/>
                </a:solidFill>
                <a:latin typeface="Arial"/>
                <a:ea typeface="Arial"/>
                <a:cs typeface="Arial"/>
              </a:defRPr>
            </a:lvl7pPr>
            <a:lvl8pPr>
              <a:defRPr sz="1200" b="0">
                <a:solidFill>
                  <a:srgbClr val="52656D"/>
                </a:solidFill>
                <a:latin typeface="Arial"/>
                <a:ea typeface="Arial"/>
                <a:cs typeface="Arial"/>
              </a:defRPr>
            </a:lvl8pPr>
            <a:lvl9pPr>
              <a:defRPr sz="1200" b="0">
                <a:solidFill>
                  <a:srgbClr val="52656D"/>
                </a:solidFill>
                <a:latin typeface="Arial"/>
                <a:ea typeface="Arial"/>
                <a:cs typeface="Arial"/>
              </a:defRPr>
            </a:lvl9pPr>
          </a:lstStyle>
          <a:p xmlns:a="http://schemas.openxmlformats.org/drawingml/2006/main">
            <a:pPr>
              <a:defRPr sz="1200" b="0">
                <a:solidFill>
                  <a:srgbClr val="52656D"/>
                </a:solidFill>
                <a:latin typeface="Arial"/>
                <a:ea typeface="Arial"/>
                <a:cs typeface="Arial"/>
              </a:defRPr>
            </a:pPr>
            <a:r>
              <a:rPr sz="1200" b="0">
                <a:solidFill>
                  <a:srgbClr val="52656D"/>
                </a:solidFill>
                <a:latin typeface="Arial"/>
                <a:ea typeface="Arial"/>
                <a:cs typeface="Arial"/>
              </a:rPr>
              <a:t>Backup  /  22</a:t>
            </a:r>
          </a:p>
        </p:txBody>
      </p:sp>
      <p:sp>
        <p:nvSpPr>
          <p:cNvPr id="4" name="">
            <a:extLst xmlns:a="http://schemas.openxmlformats.org/drawingml/2006/main">
              <a:ext uri="{FF2B5EF4-FFF2-40B4-BE49-F238E27FC236}">
                <a16:creationId xmlns:a16="http://schemas.microsoft.com/office/drawing/2014/main" id="{2FEDC5A4-4D2C-4F64-B587-B60EE097584D}"/>
              </a:ext>
            </a:extLst>
          </p:cNvPr>
          <p:cNvSpPr>
            <a:spLocks xmlns:a="http://schemas.openxmlformats.org/drawingml/2006/main" noGrp="1"/>
          </p:cNvSpPr>
          <p:nvPr/>
        </p:nvSpPr>
        <p:spPr>
          <a:xfrm xmlns:a="http://schemas.openxmlformats.org/drawingml/2006/main">
            <a:off x="647700" y="16192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Core questions</a:t>
            </a:r>
          </a:p>
        </p:txBody>
      </p:sp>
      <p:sp>
        <p:nvSpPr>
          <p:cNvPr id="5" name="">
            <a:extLst xmlns:a="http://schemas.openxmlformats.org/drawingml/2006/main">
              <a:ext uri="{FF2B5EF4-FFF2-40B4-BE49-F238E27FC236}">
                <a16:creationId xmlns:a16="http://schemas.microsoft.com/office/drawing/2014/main" id="{CCA36366-CD05-4713-AFF2-AB49598F8953}"/>
              </a:ext>
            </a:extLst>
          </p:cNvPr>
          <p:cNvSpPr>
            <a:spLocks xmlns:a="http://schemas.openxmlformats.org/drawingml/2006/main" noGrp="1"/>
          </p:cNvSpPr>
          <p:nvPr/>
        </p:nvSpPr>
        <p:spPr>
          <a:xfrm xmlns:a="http://schemas.openxmlformats.org/drawingml/2006/main">
            <a:off x="647700" y="2162175"/>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Why keep validation separate?</a:t>
            </a:r>
          </a:p>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Why is HOG 1,296-dimensional?</a:t>
            </a:r>
          </a:p>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Why can scaling change kNN?</a:t>
            </a:r>
          </a:p>
        </p:txBody>
      </p:sp>
      <p:sp>
        <p:nvSpPr>
          <p:cNvPr id="6" name="">
            <a:extLst xmlns:a="http://schemas.openxmlformats.org/drawingml/2006/main">
              <a:ext uri="{FF2B5EF4-FFF2-40B4-BE49-F238E27FC236}">
                <a16:creationId xmlns:a16="http://schemas.microsoft.com/office/drawing/2014/main" id="{27F08494-FA6A-4845-8D4D-E1C982B43757}"/>
              </a:ext>
            </a:extLst>
          </p:cNvPr>
          <p:cNvSpPr>
            <a:spLocks xmlns:a="http://schemas.openxmlformats.org/drawingml/2006/main" noGrp="1"/>
          </p:cNvSpPr>
          <p:nvPr/>
        </p:nvSpPr>
        <p:spPr>
          <a:xfrm xmlns:a="http://schemas.openxmlformats.org/drawingml/2006/main">
            <a:off x="6457950" y="16192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250" b="1">
                <a:solidFill>
                  <a:srgbClr val="087F82"/>
                </a:solidFill>
                <a:latin typeface="Arial"/>
                <a:ea typeface="Arial"/>
                <a:cs typeface="Arial"/>
              </a:defRPr>
            </a:defPPr>
            <a:lvl1pPr>
              <a:defRPr sz="2250" b="1">
                <a:solidFill>
                  <a:srgbClr val="087F82"/>
                </a:solidFill>
                <a:latin typeface="Arial"/>
                <a:ea typeface="Arial"/>
                <a:cs typeface="Arial"/>
              </a:defRPr>
            </a:lvl1pPr>
            <a:lvl2pPr>
              <a:defRPr sz="2250" b="1">
                <a:solidFill>
                  <a:srgbClr val="087F82"/>
                </a:solidFill>
                <a:latin typeface="Arial"/>
                <a:ea typeface="Arial"/>
                <a:cs typeface="Arial"/>
              </a:defRPr>
            </a:lvl2pPr>
            <a:lvl3pPr>
              <a:defRPr sz="2250" b="1">
                <a:solidFill>
                  <a:srgbClr val="087F82"/>
                </a:solidFill>
                <a:latin typeface="Arial"/>
                <a:ea typeface="Arial"/>
                <a:cs typeface="Arial"/>
              </a:defRPr>
            </a:lvl3pPr>
            <a:lvl4pPr>
              <a:defRPr sz="2250" b="1">
                <a:solidFill>
                  <a:srgbClr val="087F82"/>
                </a:solidFill>
                <a:latin typeface="Arial"/>
                <a:ea typeface="Arial"/>
                <a:cs typeface="Arial"/>
              </a:defRPr>
            </a:lvl4pPr>
            <a:lvl5pPr>
              <a:defRPr sz="2250" b="1">
                <a:solidFill>
                  <a:srgbClr val="087F82"/>
                </a:solidFill>
                <a:latin typeface="Arial"/>
                <a:ea typeface="Arial"/>
                <a:cs typeface="Arial"/>
              </a:defRPr>
            </a:lvl5pPr>
            <a:lvl6pPr>
              <a:defRPr sz="2250" b="1">
                <a:solidFill>
                  <a:srgbClr val="087F82"/>
                </a:solidFill>
                <a:latin typeface="Arial"/>
                <a:ea typeface="Arial"/>
                <a:cs typeface="Arial"/>
              </a:defRPr>
            </a:lvl6pPr>
            <a:lvl7pPr>
              <a:defRPr sz="2250" b="1">
                <a:solidFill>
                  <a:srgbClr val="087F82"/>
                </a:solidFill>
                <a:latin typeface="Arial"/>
                <a:ea typeface="Arial"/>
                <a:cs typeface="Arial"/>
              </a:defRPr>
            </a:lvl7pPr>
            <a:lvl8pPr>
              <a:defRPr sz="2250" b="1">
                <a:solidFill>
                  <a:srgbClr val="087F82"/>
                </a:solidFill>
                <a:latin typeface="Arial"/>
                <a:ea typeface="Arial"/>
                <a:cs typeface="Arial"/>
              </a:defRPr>
            </a:lvl8pPr>
            <a:lvl9pPr>
              <a:defRPr sz="2250" b="1">
                <a:solidFill>
                  <a:srgbClr val="087F82"/>
                </a:solidFill>
                <a:latin typeface="Arial"/>
                <a:ea typeface="Arial"/>
                <a:cs typeface="Arial"/>
              </a:defRPr>
            </a:lvl9pPr>
          </a:lstStyle>
          <a:p xmlns:a="http://schemas.openxmlformats.org/drawingml/2006/main">
            <a:pPr>
              <a:defRPr sz="2250" b="1">
                <a:solidFill>
                  <a:srgbClr val="087F82"/>
                </a:solidFill>
                <a:latin typeface="Arial"/>
                <a:ea typeface="Arial"/>
                <a:cs typeface="Arial"/>
              </a:defRPr>
            </a:pPr>
            <a:r>
              <a:rPr sz="2250" b="1">
                <a:solidFill>
                  <a:srgbClr val="087F82"/>
                </a:solidFill>
                <a:latin typeface="Arial"/>
                <a:ea typeface="Arial"/>
                <a:cs typeface="Arial"/>
              </a:rPr>
              <a:t>Offline demonstration</a:t>
            </a:r>
          </a:p>
        </p:txBody>
      </p:sp>
      <p:sp>
        <p:nvSpPr>
          <p:cNvPr id="7" name="">
            <a:extLst xmlns:a="http://schemas.openxmlformats.org/drawingml/2006/main">
              <a:ext uri="{FF2B5EF4-FFF2-40B4-BE49-F238E27FC236}">
                <a16:creationId xmlns:a16="http://schemas.microsoft.com/office/drawing/2014/main" id="{DD87180B-F04B-455B-B28C-6C5726EFD2A2}"/>
              </a:ext>
            </a:extLst>
          </p:cNvPr>
          <p:cNvSpPr>
            <a:spLocks xmlns:a="http://schemas.openxmlformats.org/drawingml/2006/main" noGrp="1"/>
          </p:cNvSpPr>
          <p:nvPr/>
        </p:nvSpPr>
        <p:spPr>
          <a:xfrm xmlns:a="http://schemas.openxmlformats.org/drawingml/2006/main">
            <a:off x="6457950" y="2162175"/>
            <a:ext cx="4953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950" b="0">
                <a:solidFill>
                  <a:srgbClr val="142F38"/>
                </a:solidFill>
                <a:latin typeface="Arial"/>
                <a:ea typeface="Arial"/>
                <a:cs typeface="Arial"/>
              </a:defRPr>
            </a:defPPr>
            <a:lvl1pPr>
              <a:defRPr sz="1950" b="0">
                <a:solidFill>
                  <a:srgbClr val="142F38"/>
                </a:solidFill>
                <a:latin typeface="Arial"/>
                <a:ea typeface="Arial"/>
                <a:cs typeface="Arial"/>
              </a:defRPr>
            </a:lvl1pPr>
            <a:lvl2pPr>
              <a:defRPr sz="1950" b="0">
                <a:solidFill>
                  <a:srgbClr val="142F38"/>
                </a:solidFill>
                <a:latin typeface="Arial"/>
                <a:ea typeface="Arial"/>
                <a:cs typeface="Arial"/>
              </a:defRPr>
            </a:lvl2pPr>
            <a:lvl3pPr>
              <a:defRPr sz="1950" b="0">
                <a:solidFill>
                  <a:srgbClr val="142F38"/>
                </a:solidFill>
                <a:latin typeface="Arial"/>
                <a:ea typeface="Arial"/>
                <a:cs typeface="Arial"/>
              </a:defRPr>
            </a:lvl3pPr>
            <a:lvl4pPr>
              <a:defRPr sz="1950" b="0">
                <a:solidFill>
                  <a:srgbClr val="142F38"/>
                </a:solidFill>
                <a:latin typeface="Arial"/>
                <a:ea typeface="Arial"/>
                <a:cs typeface="Arial"/>
              </a:defRPr>
            </a:lvl4pPr>
            <a:lvl5pPr>
              <a:defRPr sz="1950" b="0">
                <a:solidFill>
                  <a:srgbClr val="142F38"/>
                </a:solidFill>
                <a:latin typeface="Arial"/>
                <a:ea typeface="Arial"/>
                <a:cs typeface="Arial"/>
              </a:defRPr>
            </a:lvl5pPr>
            <a:lvl6pPr>
              <a:defRPr sz="1950" b="0">
                <a:solidFill>
                  <a:srgbClr val="142F38"/>
                </a:solidFill>
                <a:latin typeface="Arial"/>
                <a:ea typeface="Arial"/>
                <a:cs typeface="Arial"/>
              </a:defRPr>
            </a:lvl6pPr>
            <a:lvl7pPr>
              <a:defRPr sz="1950" b="0">
                <a:solidFill>
                  <a:srgbClr val="142F38"/>
                </a:solidFill>
                <a:latin typeface="Arial"/>
                <a:ea typeface="Arial"/>
                <a:cs typeface="Arial"/>
              </a:defRPr>
            </a:lvl7pPr>
            <a:lvl8pPr>
              <a:defRPr sz="1950" b="0">
                <a:solidFill>
                  <a:srgbClr val="142F38"/>
                </a:solidFill>
                <a:latin typeface="Arial"/>
                <a:ea typeface="Arial"/>
                <a:cs typeface="Arial"/>
              </a:defRPr>
            </a:lvl8pPr>
            <a:lvl9pPr>
              <a:defRPr sz="1950" b="0">
                <a:solidFill>
                  <a:srgbClr val="142F38"/>
                </a:solidFill>
                <a:latin typeface="Arial"/>
                <a:ea typeface="Arial"/>
                <a:cs typeface="Arial"/>
              </a:defRPr>
            </a:lvl9pPr>
          </a:lstStyle>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Open the executed notebook.</a:t>
            </a:r>
          </a:p>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Inspect original test ID 0.</a:t>
            </a:r>
          </a:p>
          <a:p xmlns:a="http://schemas.openxmlformats.org/drawingml/2006/main">
            <a:pPr>
              <a:defRPr sz="1950" b="0">
                <a:solidFill>
                  <a:srgbClr val="142F38"/>
                </a:solidFill>
                <a:latin typeface="Arial"/>
                <a:ea typeface="Arial"/>
                <a:cs typeface="Arial"/>
              </a:defRPr>
            </a:pPr>
            <a:r>
              <a:rPr sz="1950" b="0">
                <a:solidFill>
                  <a:srgbClr val="142F38"/>
                </a:solidFill>
                <a:latin typeface="Arial"/>
                <a:ea typeface="Arial"/>
                <a:cs typeface="Arial"/>
              </a:rPr>
              <a:t>Recompute a saved metric.</a:t>
            </a:r>
          </a:p>
        </p:txBody>
      </p:sp>
      <p:sp>
        <p:nvSpPr>
          <p:cNvPr id="8" name="">
            <a:extLst xmlns:a="http://schemas.openxmlformats.org/drawingml/2006/main">
              <a:ext uri="{FF2B5EF4-FFF2-40B4-BE49-F238E27FC236}">
                <a16:creationId xmlns:a16="http://schemas.microsoft.com/office/drawing/2014/main" id="{DC0AD1EC-464E-4F4A-A64D-0C74A65E18EC}"/>
              </a:ext>
            </a:extLst>
          </p:cNvPr>
          <p:cNvSpPr>
            <a:spLocks xmlns:a="http://schemas.openxmlformats.org/drawingml/2006/main" noGrp="1"/>
          </p:cNvSpPr>
          <p:nvPr/>
        </p:nvSpPr>
        <p:spPr>
          <a:xfrm xmlns:a="http://schemas.openxmlformats.org/drawingml/2006/main">
            <a:off x="647700" y="4781550"/>
            <a:ext cx="10763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850" b="1">
                <a:solidFill>
                  <a:srgbClr val="087F82"/>
                </a:solidFill>
                <a:latin typeface="Arial"/>
                <a:ea typeface="Arial"/>
                <a:cs typeface="Arial"/>
              </a:defRPr>
            </a:defPPr>
            <a:lvl1pPr>
              <a:defRPr sz="2850" b="1">
                <a:solidFill>
                  <a:srgbClr val="087F82"/>
                </a:solidFill>
                <a:latin typeface="Arial"/>
                <a:ea typeface="Arial"/>
                <a:cs typeface="Arial"/>
              </a:defRPr>
            </a:lvl1pPr>
            <a:lvl2pPr>
              <a:defRPr sz="2850" b="1">
                <a:solidFill>
                  <a:srgbClr val="087F82"/>
                </a:solidFill>
                <a:latin typeface="Arial"/>
                <a:ea typeface="Arial"/>
                <a:cs typeface="Arial"/>
              </a:defRPr>
            </a:lvl2pPr>
            <a:lvl3pPr>
              <a:defRPr sz="2850" b="1">
                <a:solidFill>
                  <a:srgbClr val="087F82"/>
                </a:solidFill>
                <a:latin typeface="Arial"/>
                <a:ea typeface="Arial"/>
                <a:cs typeface="Arial"/>
              </a:defRPr>
            </a:lvl3pPr>
            <a:lvl4pPr>
              <a:defRPr sz="2850" b="1">
                <a:solidFill>
                  <a:srgbClr val="087F82"/>
                </a:solidFill>
                <a:latin typeface="Arial"/>
                <a:ea typeface="Arial"/>
                <a:cs typeface="Arial"/>
              </a:defRPr>
            </a:lvl4pPr>
            <a:lvl5pPr>
              <a:defRPr sz="2850" b="1">
                <a:solidFill>
                  <a:srgbClr val="087F82"/>
                </a:solidFill>
                <a:latin typeface="Arial"/>
                <a:ea typeface="Arial"/>
                <a:cs typeface="Arial"/>
              </a:defRPr>
            </a:lvl5pPr>
            <a:lvl6pPr>
              <a:defRPr sz="2850" b="1">
                <a:solidFill>
                  <a:srgbClr val="087F82"/>
                </a:solidFill>
                <a:latin typeface="Arial"/>
                <a:ea typeface="Arial"/>
                <a:cs typeface="Arial"/>
              </a:defRPr>
            </a:lvl6pPr>
            <a:lvl7pPr>
              <a:defRPr sz="2850" b="1">
                <a:solidFill>
                  <a:srgbClr val="087F82"/>
                </a:solidFill>
                <a:latin typeface="Arial"/>
                <a:ea typeface="Arial"/>
                <a:cs typeface="Arial"/>
              </a:defRPr>
            </a:lvl7pPr>
            <a:lvl8pPr>
              <a:defRPr sz="2850" b="1">
                <a:solidFill>
                  <a:srgbClr val="087F82"/>
                </a:solidFill>
                <a:latin typeface="Arial"/>
                <a:ea typeface="Arial"/>
                <a:cs typeface="Arial"/>
              </a:defRPr>
            </a:lvl8pPr>
            <a:lvl9pPr>
              <a:defRPr sz="2850" b="1">
                <a:solidFill>
                  <a:srgbClr val="087F82"/>
                </a:solidFill>
                <a:latin typeface="Arial"/>
                <a:ea typeface="Arial"/>
                <a:cs typeface="Arial"/>
              </a:defRPr>
            </a:lvl9pPr>
          </a:lstStyle>
          <a:p xmlns:a="http://schemas.openxmlformats.org/drawingml/2006/main">
            <a:pPr>
              <a:defRPr sz="2850" b="1">
                <a:solidFill>
                  <a:srgbClr val="087F82"/>
                </a:solidFill>
                <a:latin typeface="Arial"/>
                <a:ea typeface="Arial"/>
                <a:cs typeface="Arial"/>
              </a:defRPr>
            </a:pPr>
            <a:r>
              <a:rPr sz="2850" b="1">
                <a:solidFill>
                  <a:srgbClr val="087F82"/>
                </a:solidFill>
                <a:latin typeface="Arial"/>
                <a:ea typeface="Arial"/>
                <a:cs typeface="Arial"/>
              </a:rPr>
              <a:t>Explain one error and one limitation in your own words</a:t>
            </a:r>
          </a:p>
        </p:txBody>
      </p:sp>
    </p:spTree>
    <p:extLst>
      <p:ext uri="{BB962C8B-B14F-4D97-AF65-F5344CB8AC3E}">
        <p14:creationId xmlns:p14="http://schemas.microsoft.com/office/powerpoint/2010/main" val="6137197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2026-10-27T19:17:06.5190000Z</dcterms:created>
  <dcterms:modified xsi:type="dcterms:W3CDTF">2026-10-27T19:17:06.5190000Z</dcterms:modified>
</coreProperties>
</file>
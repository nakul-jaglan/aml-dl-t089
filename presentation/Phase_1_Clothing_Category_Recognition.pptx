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fa5ec9679a84e08" /><Relationship Type="http://schemas.openxmlformats.org/officeDocument/2006/relationships/extended-properties" Target="/docProps/app.xml" Id="Rc77bb05f601246ad" /><Relationship Type="http://schemas.openxmlformats.org/officeDocument/2006/relationships/officeDocument" Target="/ppt/presentation.xml" Id="Ra0f4f8c23bfa416e" /></Relationships>
</file>

<file path=ppt/presentation.xml><?xml version="1.0" encoding="utf-8"?>
<p:presentation xmlns:p="http://schemas.openxmlformats.org/presentationml/2006/main">
  <p:sldMasterIdLst>
    <p:sldMasterId xmlns:r="http://schemas.openxmlformats.org/officeDocument/2006/relationships" id="2147483648" r:id="Rad4dba8cfb7f493e"/>
  </p:sldMasterIdLst>
  <p:notesMasterIdLst>
    <p:notesMasterId xmlns:r="http://schemas.openxmlformats.org/officeDocument/2006/relationships" r:id="R154dceae7c4b4cd3"/>
  </p:notesMasterIdLst>
  <p:sldIdLst>
    <p:sldId xmlns:r="http://schemas.openxmlformats.org/officeDocument/2006/relationships" id="256" r:id="Rd53f32a92b104cad"/>
    <p:sldId xmlns:r="http://schemas.openxmlformats.org/officeDocument/2006/relationships" id="257" r:id="Rd2bacc2834724f69"/>
    <p:sldId xmlns:r="http://schemas.openxmlformats.org/officeDocument/2006/relationships" id="258" r:id="R9867991ac58b4956"/>
    <p:sldId xmlns:r="http://schemas.openxmlformats.org/officeDocument/2006/relationships" id="259" r:id="R69ce7354fad74444"/>
    <p:sldId xmlns:r="http://schemas.openxmlformats.org/officeDocument/2006/relationships" id="260" r:id="Rfbf4a21542834ced"/>
    <p:sldId xmlns:r="http://schemas.openxmlformats.org/officeDocument/2006/relationships" id="261" r:id="Rf2262572b12d42b7"/>
    <p:sldId xmlns:r="http://schemas.openxmlformats.org/officeDocument/2006/relationships" id="262" r:id="R4a6016920fee468a"/>
    <p:sldId xmlns:r="http://schemas.openxmlformats.org/officeDocument/2006/relationships" id="263" r:id="Rf69cd7752354473b"/>
    <p:sldId xmlns:r="http://schemas.openxmlformats.org/officeDocument/2006/relationships" id="264" r:id="R02b771b3aed6431e"/>
    <p:sldId xmlns:r="http://schemas.openxmlformats.org/officeDocument/2006/relationships" id="265" r:id="Rf3217f0674ac459b"/>
    <p:sldId xmlns:r="http://schemas.openxmlformats.org/officeDocument/2006/relationships" id="266" r:id="R21fb1fa1299b4e52"/>
    <p:sldId xmlns:r="http://schemas.openxmlformats.org/officeDocument/2006/relationships" id="267" r:id="R7fdba9584d6a4b58"/>
    <p:sldId xmlns:r="http://schemas.openxmlformats.org/officeDocument/2006/relationships" id="268" r:id="R5b9526e70404463f"/>
    <p:sldId xmlns:r="http://schemas.openxmlformats.org/officeDocument/2006/relationships" id="269" r:id="Raa5ecb69bc30422e"/>
    <p:sldId xmlns:r="http://schemas.openxmlformats.org/officeDocument/2006/relationships" id="270" r:id="Rae68bb87a3ca4289"/>
    <p:sldId xmlns:r="http://schemas.openxmlformats.org/officeDocument/2006/relationships" id="271" r:id="R120279b2a0334eb9"/>
    <p:sldId xmlns:r="http://schemas.openxmlformats.org/officeDocument/2006/relationships" id="272" r:id="Ree4241d18a5f4ce6"/>
    <p:sldId xmlns:r="http://schemas.openxmlformats.org/officeDocument/2006/relationships" id="273" r:id="R27c86e93b2534a2a"/>
    <p:sldId xmlns:r="http://schemas.openxmlformats.org/officeDocument/2006/relationships" id="274" r:id="R41885029c79c4fc3"/>
    <p:sldId xmlns:r="http://schemas.openxmlformats.org/officeDocument/2006/relationships" id="275" r:id="R807367284dbb4fde"/>
    <p:sldId xmlns:r="http://schemas.openxmlformats.org/officeDocument/2006/relationships" id="276" r:id="R13a78938e414488a"/>
    <p:sldId xmlns:r="http://schemas.openxmlformats.org/officeDocument/2006/relationships" id="277" r:id="R2f273fd1719d40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c3c01268a54baf" /><Relationship Type="http://schemas.openxmlformats.org/officeDocument/2006/relationships/slideMaster" Target="/ppt/slideMasters/slideMaster1.xml" Id="Rad4dba8cfb7f493e" /><Relationship Type="http://schemas.openxmlformats.org/officeDocument/2006/relationships/notesMaster" Target="/ppt/notesMasters/notesMaster1.xml" Id="R154dceae7c4b4cd3" /><Relationship Type="http://schemas.openxmlformats.org/officeDocument/2006/relationships/presProps" Target="/ppt/presProps.xml" Id="R99ba6f9ded984014" /><Relationship Type="http://schemas.openxmlformats.org/officeDocument/2006/relationships/tableStyles" Target="/ppt/tableStyles.xml" Id="Rdb66a3ed7154448b" /><Relationship Type="http://schemas.openxmlformats.org/officeDocument/2006/relationships/slide" Target="/ppt/slides/slide1.xml" Id="Rd53f32a92b104cad" /><Relationship Type="http://schemas.openxmlformats.org/officeDocument/2006/relationships/slide" Target="/ppt/slides/slide2.xml" Id="Rd2bacc2834724f69" /><Relationship Type="http://schemas.openxmlformats.org/officeDocument/2006/relationships/slide" Target="/ppt/slides/slide3.xml" Id="R9867991ac58b4956" /><Relationship Type="http://schemas.openxmlformats.org/officeDocument/2006/relationships/slide" Target="/ppt/slides/slide4.xml" Id="R69ce7354fad74444" /><Relationship Type="http://schemas.openxmlformats.org/officeDocument/2006/relationships/slide" Target="/ppt/slides/slide5.xml" Id="Rfbf4a21542834ced" /><Relationship Type="http://schemas.openxmlformats.org/officeDocument/2006/relationships/slide" Target="/ppt/slides/slide6.xml" Id="Rf2262572b12d42b7" /><Relationship Type="http://schemas.openxmlformats.org/officeDocument/2006/relationships/slide" Target="/ppt/slides/slide7.xml" Id="R4a6016920fee468a" /><Relationship Type="http://schemas.openxmlformats.org/officeDocument/2006/relationships/slide" Target="/ppt/slides/slide8.xml" Id="Rf69cd7752354473b" /><Relationship Type="http://schemas.openxmlformats.org/officeDocument/2006/relationships/slide" Target="/ppt/slides/slide9.xml" Id="R02b771b3aed6431e" /><Relationship Type="http://schemas.openxmlformats.org/officeDocument/2006/relationships/slide" Target="/ppt/slides/slide10.xml" Id="Rf3217f0674ac459b" /><Relationship Type="http://schemas.openxmlformats.org/officeDocument/2006/relationships/slide" Target="/ppt/slides/slide11.xml" Id="R21fb1fa1299b4e52" /><Relationship Type="http://schemas.openxmlformats.org/officeDocument/2006/relationships/slide" Target="/ppt/slides/slide12.xml" Id="R7fdba9584d6a4b58" /><Relationship Type="http://schemas.openxmlformats.org/officeDocument/2006/relationships/slide" Target="/ppt/slides/slide13.xml" Id="R5b9526e70404463f" /><Relationship Type="http://schemas.openxmlformats.org/officeDocument/2006/relationships/slide" Target="/ppt/slides/slide14.xml" Id="Raa5ecb69bc30422e" /><Relationship Type="http://schemas.openxmlformats.org/officeDocument/2006/relationships/slide" Target="/ppt/slides/slide15.xml" Id="Rae68bb87a3ca4289" /><Relationship Type="http://schemas.openxmlformats.org/officeDocument/2006/relationships/slide" Target="/ppt/slides/slide16.xml" Id="R120279b2a0334eb9" /><Relationship Type="http://schemas.openxmlformats.org/officeDocument/2006/relationships/slide" Target="/ppt/slides/slide17.xml" Id="Ree4241d18a5f4ce6" /><Relationship Type="http://schemas.openxmlformats.org/officeDocument/2006/relationships/slide" Target="/ppt/slides/slide18.xml" Id="R27c86e93b2534a2a" /><Relationship Type="http://schemas.openxmlformats.org/officeDocument/2006/relationships/slide" Target="/ppt/slides/slide19.xml" Id="R41885029c79c4fc3" /><Relationship Type="http://schemas.openxmlformats.org/officeDocument/2006/relationships/slide" Target="/ppt/slides/slide20.xml" Id="R807367284dbb4fde" /><Relationship Type="http://schemas.openxmlformats.org/officeDocument/2006/relationships/slide" Target="/ppt/slides/slide21.xml" Id="R13a78938e414488a" /><Relationship Type="http://schemas.openxmlformats.org/officeDocument/2006/relationships/slide" Target="/ppt/slides/slide22.xml" Id="R2f273fd1719d40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2c1c12f90f42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530e132e8ee4975" /><Relationship Type="http://schemas.openxmlformats.org/officeDocument/2006/relationships/notesMaster" Target="/ppt/notesMasters/notesMaster1.xml" Id="Ra7bf66a8445549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5b6cebd80c484d" /><Relationship Type="http://schemas.openxmlformats.org/officeDocument/2006/relationships/notesMaster" Target="/ppt/notesMasters/notesMaster1.xml" Id="R326722b15bf443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243d79d7af43e1" /><Relationship Type="http://schemas.openxmlformats.org/officeDocument/2006/relationships/notesMaster" Target="/ppt/notesMasters/notesMaster1.xml" Id="R974787ba57bd44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a6058ed913c4100" /><Relationship Type="http://schemas.openxmlformats.org/officeDocument/2006/relationships/notesMaster" Target="/ppt/notesMasters/notesMaster1.xml" Id="R878a3780fac245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3979f8629da42ab" /><Relationship Type="http://schemas.openxmlformats.org/officeDocument/2006/relationships/notesMaster" Target="/ppt/notesMasters/notesMaster1.xml" Id="R24477f1799f04b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27c51d10464a4e" /><Relationship Type="http://schemas.openxmlformats.org/officeDocument/2006/relationships/notesMaster" Target="/ppt/notesMasters/notesMaster1.xml" Id="Ra6cbffd124ab43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df756e2a534c16" /><Relationship Type="http://schemas.openxmlformats.org/officeDocument/2006/relationships/notesMaster" Target="/ppt/notesMasters/notesMaster1.xml" Id="R74b2cd5b36a746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5013cf7baa84a4e" /><Relationship Type="http://schemas.openxmlformats.org/officeDocument/2006/relationships/notesMaster" Target="/ppt/notesMasters/notesMaster1.xml" Id="R60aaf65388dc43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af49f1222dbe4abb" /><Relationship Type="http://schemas.openxmlformats.org/officeDocument/2006/relationships/notesMaster" Target="/ppt/notesMasters/notesMaster1.xml" Id="R5250b9111cb1465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aa124bb15e4e14" /><Relationship Type="http://schemas.openxmlformats.org/officeDocument/2006/relationships/notesMaster" Target="/ppt/notesMasters/notesMaster1.xml" Id="Rf370769bc4a74c5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84b5c429620401e" /><Relationship Type="http://schemas.openxmlformats.org/officeDocument/2006/relationships/notesMaster" Target="/ppt/notesMasters/notesMaster1.xml" Id="R4180235c760b439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bea3945cbf340a0" /><Relationship Type="http://schemas.openxmlformats.org/officeDocument/2006/relationships/notesMaster" Target="/ppt/notesMasters/notesMaster1.xml" Id="Rf5590da8f8934a5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8928d4bc1a745b2" /><Relationship Type="http://schemas.openxmlformats.org/officeDocument/2006/relationships/notesMaster" Target="/ppt/notesMasters/notesMaster1.xml" Id="Rcedf30455b4844b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10abe3cad994474" /><Relationship Type="http://schemas.openxmlformats.org/officeDocument/2006/relationships/notesMaster" Target="/ppt/notesMasters/notesMaster1.xml" Id="R752e4a3c9c54486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7d35190dd914eea" /><Relationship Type="http://schemas.openxmlformats.org/officeDocument/2006/relationships/notesMaster" Target="/ppt/notesMasters/notesMaster1.xml" Id="Rd73c321c5b9f4b8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73a65a787064219" /><Relationship Type="http://schemas.openxmlformats.org/officeDocument/2006/relationships/notesMaster" Target="/ppt/notesMasters/notesMaster1.xml" Id="R14e3583dda8d4d4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59574a73e9c4d64" /><Relationship Type="http://schemas.openxmlformats.org/officeDocument/2006/relationships/notesMaster" Target="/ppt/notesMasters/notesMaster1.xml" Id="R9f1050380be341c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792ce4b1f3d4559" /><Relationship Type="http://schemas.openxmlformats.org/officeDocument/2006/relationships/notesMaster" Target="/ppt/notesMasters/notesMaster1.xml" Id="R667a0fde5bb84f3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55ffcb3192c4aa1" /><Relationship Type="http://schemas.openxmlformats.org/officeDocument/2006/relationships/notesMaster" Target="/ppt/notesMasters/notesMaster1.xml" Id="R890c77a4b4f747e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fbede862a374cfa" /><Relationship Type="http://schemas.openxmlformats.org/officeDocument/2006/relationships/notesMaster" Target="/ppt/notesMasters/notesMaster1.xml" Id="Rf8f9c1c154504cc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ff97ec247a14f1c" /><Relationship Type="http://schemas.openxmlformats.org/officeDocument/2006/relationships/notesMaster" Target="/ppt/notesMasters/notesMaster1.xml" Id="R54ef85b0ba9b403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636806275d24c8f" /><Relationship Type="http://schemas.openxmlformats.org/officeDocument/2006/relationships/notesMaster" Target="/ppt/notesMasters/notesMaster1.xml" Id="R88d39f461f334f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Nakul</a:t>
            </a:r>
          </a:p>
          <a:p xmlns:a="http://schemas.openxmlformats.org/drawingml/2006/main">
            <a:r>
              <a:t/>
            </a:r>
          </a:p>
          <a:p xmlns:a="http://schemas.openxmlformats.org/drawingml/2006/main">
            <a:r>
              <a:t>This project studies automatic category tagging for a small clothing catalogue. The input is one 28 by 28 grayscale image and the output is one of ten Fashion-MNIST categories. This presentation covers the completed classical machine learning experiments in Phase 1. The broader project title includes a small CNN, but its training and comparison belong to Phase 2. Introduce all five team members. The assigned roles are responsibility areas and speaking assignments. They do not replace each member’s review of the shared project.</a:t>
            </a:r>
          </a:p>
          <a:p xmlns:a="http://schemas.openxmlformats.org/drawingml/2006/main">
            <a:r>
              <a:t/>
            </a:r>
          </a:p>
          <a:p xmlns:a="http://schemas.openxmlformats.org/drawingml/2006/main">
            <a:r>
              <a:t>Sources:</a:t>
            </a:r>
          </a:p>
          <a:p xmlns:a="http://schemas.openxmlformats.org/drawingml/2006/main">
            <a:r>
              <a:t>docs/course_instructions.md</a:t>
            </a:r>
          </a:p>
          <a:p xmlns:a="http://schemas.openxmlformats.org/drawingml/2006/main">
            <a:r>
              <a:t>data/provenance.json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Nakul</a:t>
            </a:r>
          </a:p>
          <a:p xmlns:a="http://schemas.openxmlformats.org/drawingml/2006/main">
            <a:r>
              <a:t/>
            </a:r>
          </a:p>
          <a:p xmlns:a="http://schemas.openxmlformats.org/drawingml/2006/main">
            <a:r>
              <a:t>The comparison asks whether fixed local gradient features help more than raw pixel intensities, and whether the answer depends on the classifier. Fashion-MNIST provides a standard dataset with visually similar clothing classes. Dalal and Triggs motivate local gradient histograms, although their original task was human detection. Random Forests and support-vector networks provide different decision rules for the same inputs. This project applies established methods. It does not propose a new algorithm. The CNN is a later test of learned visual features, and no Phase 2 result is available.</a:t>
            </a:r>
          </a:p>
          <a:p xmlns:a="http://schemas.openxmlformats.org/drawingml/2006/main">
            <a:r>
              <a:t/>
            </a:r>
          </a:p>
          <a:p xmlns:a="http://schemas.openxmlformats.org/drawingml/2006/main">
            <a:r>
              <a:t>Sources:</a:t>
            </a:r>
          </a:p>
          <a:p xmlns:a="http://schemas.openxmlformats.org/drawingml/2006/main">
            <a:r>
              <a:t>https://arxiv.org/abs/1708.07747</a:t>
            </a:r>
          </a:p>
          <a:p xmlns:a="http://schemas.openxmlformats.org/drawingml/2006/main">
            <a:r>
              <a:t>https://doi.org/10.1109/CVPR.2005.177</a:t>
            </a:r>
          </a:p>
          <a:p xmlns:a="http://schemas.openxmlformats.org/drawingml/2006/main">
            <a:r>
              <a:t>https://doi.org/10.1023/A:1010933404324</a:t>
            </a:r>
          </a:p>
          <a:p xmlns:a="http://schemas.openxmlformats.org/drawingml/2006/main">
            <a:r>
              <a:t>https://doi.org/10.1007/BF00994018</a:t>
            </a:r>
          </a:p>
          <a:p xmlns:a="http://schemas.openxmlformats.org/drawingml/2006/main">
            <a:r>
              <a:t>docs/literature_review.md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Nakul</a:t>
            </a:r>
          </a:p>
          <a:p xmlns:a="http://schemas.openxmlformats.org/drawingml/2006/main">
            <a:r>
              <a:t/>
            </a:r>
          </a:p>
          <a:p xmlns:a="http://schemas.openxmlformats.org/drawingml/2006/main">
            <a:r>
              <a:t>Introduce the division of responsibility and the speaking handoffs. Nakul covers integration, research and reporting. Sudeshhna explains the dataset and validation split. Puneet explains the feature representations and the simpler classifiers. Samarth explains Random Forest, SVM and model selection. Neelanshu explains metrics, errors and runtime. Each member should rehearse their own slides and understand the entire pipeline. The contribution log is the place to record actual individual reviews or changes.</a:t>
            </a:r>
          </a:p>
          <a:p xmlns:a="http://schemas.openxmlformats.org/drawingml/2006/main">
            <a:r>
              <a:t/>
            </a:r>
          </a:p>
          <a:p xmlns:a="http://schemas.openxmlformats.org/drawingml/2006/main">
            <a:r>
              <a:t>Sources:</a:t>
            </a:r>
          </a:p>
          <a:p xmlns:a="http://schemas.openxmlformats.org/drawingml/2006/main">
            <a:r>
              <a:t>docs/contributions.md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Sudeshhna</a:t>
            </a:r>
          </a:p>
          <a:p xmlns:a="http://schemas.openxmlformats.org/drawingml/2006/main">
            <a:r>
              <a:t/>
            </a:r>
          </a:p>
          <a:p xmlns:a="http://schemas.openxmlformats.org/drawingml/2006/main">
            <a:r>
              <a:t>Fashion-MNIST has 60,000 official training images and 10,000 official test images. Each image contains 28 by 28 grayscale values, with an intact integer category label. The ten official categories include T-shirt/top, Trouser, Pullover, Dress, Coat, Sandal, Shirt, Sneaker, Bag and Ankle boot. The gallery shows seeded examples from the fit pool only. Each training category contains 6,000 images. The benchmark images are small and standardized, so this experiment does not establish performance on phone photographs, cluttered backgrounds or every clothing type.</a:t>
            </a:r>
          </a:p>
          <a:p xmlns:a="http://schemas.openxmlformats.org/drawingml/2006/main">
            <a:r>
              <a:t/>
            </a:r>
          </a:p>
          <a:p xmlns:a="http://schemas.openxmlformats.org/drawingml/2006/main">
            <a:r>
              <a:t>Sources:</a:t>
            </a:r>
          </a:p>
          <a:p xmlns:a="http://schemas.openxmlformats.org/drawingml/2006/main">
            <a:r>
              <a:t>https://github.com/zalandoresearch/fashion-mnist</a:t>
            </a:r>
          </a:p>
          <a:p xmlns:a="http://schemas.openxmlformats.org/drawingml/2006/main">
            <a:r>
              <a:t>data/training_audit.json</a:t>
            </a:r>
          </a:p>
          <a:p xmlns:a="http://schemas.openxmlformats.org/drawingml/2006/main">
            <a:r>
              <a:t>figures/eda/gallery_ids.json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Sudeshhna</a:t>
            </a:r>
          </a:p>
          <a:p xmlns:a="http://schemas.openxmlformats.org/drawingml/2006/main">
            <a:r>
              <a:t/>
            </a:r>
          </a:p>
          <a:p xmlns:a="http://schemas.openxmlformats.org/drawingml/2006/main">
            <a:r>
              <a:t>The downloaded IDX files match the published checksums. The audit confirms the expected shape, integer pixel range zero to 255, finite values and all ten balanced labels. It found no all-zero training images, exact training duplicate groups, conflicting-label exact duplicates or exact duplicate overlap between fit and validation. These checks do not verify every semantic label or detect every near-duplicate. A stratified seed-42 split creates 48,000 fit images and 12,000 validation images from the official training set. The official test partition stays separate. Scalers learn their statistics only from fit data, and sample IDs preserve alignment across all pipelines.</a:t>
            </a:r>
          </a:p>
          <a:p xmlns:a="http://schemas.openxmlformats.org/drawingml/2006/main">
            <a:r>
              <a:t/>
            </a:r>
          </a:p>
          <a:p xmlns:a="http://schemas.openxmlformats.org/drawingml/2006/main">
            <a:r>
              <a:t>Sources:</a:t>
            </a:r>
          </a:p>
          <a:p xmlns:a="http://schemas.openxmlformats.org/drawingml/2006/main">
            <a:r>
              <a:t>data/training_audit.json</a:t>
            </a:r>
          </a:p>
          <a:p xmlns:a="http://schemas.openxmlformats.org/drawingml/2006/main">
            <a:r>
              <a:t>data/provenance.json</a:t>
            </a:r>
          </a:p>
          <a:p xmlns:a="http://schemas.openxmlformats.org/drawingml/2006/main">
            <a:r>
              <a:t>data/split_indices.npz</a:t>
            </a:r>
          </a:p>
          <a:p xmlns:a="http://schemas.openxmlformats.org/drawingml/2006/main">
            <a:r>
              <a:t>src/clothing_ml/data.py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Puneet</a:t>
            </a:r>
          </a:p>
          <a:p xmlns:a="http://schemas.openxmlformats.org/drawingml/2006/main">
            <a:r>
              <a:t/>
            </a:r>
          </a:p>
          <a:p xmlns:a="http://schemas.openxmlformats.org/drawingml/2006/main">
            <a:r>
              <a:t>First divide uint8 image intensities by 255 exactly once. Flattening preserves the 784 numeric values, but the classifier does not receive an explicit neighborhood representation. HOG calculates gradient direction histograms over four by four pixel cells. A 28-pixel side contains seven cells. Two by two cell blocks overlap with a one-cell stride, so there are six by six blocks. Each block has four cells and nine orientation bins, giving 6 times 6 times 4 times 9 equals 1,296 features. L2-Hys normalizes each block. This HOG vector is larger than the pixel vector. It is a fixed descriptor, not a learned CNN representation. Image orientation stays unchanged.</a:t>
            </a:r>
          </a:p>
          <a:p xmlns:a="http://schemas.openxmlformats.org/drawingml/2006/main">
            <a:r>
              <a:t/>
            </a:r>
          </a:p>
          <a:p xmlns:a="http://schemas.openxmlformats.org/drawingml/2006/main">
            <a:r>
              <a:t>Sources:</a:t>
            </a:r>
          </a:p>
          <a:p xmlns:a="http://schemas.openxmlformats.org/drawingml/2006/main">
            <a:r>
              <a:t>src/clothing_ml/features.py</a:t>
            </a:r>
          </a:p>
          <a:p xmlns:a="http://schemas.openxmlformats.org/drawingml/2006/main">
            <a:r>
              <a:t>figures/eda/hog_example.png</a:t>
            </a:r>
          </a:p>
          <a:p xmlns:a="http://schemas.openxmlformats.org/drawingml/2006/main">
            <a:r>
              <a:t>https://doi.org/10.1109/CVPR.2005.177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Puneet</a:t>
            </a:r>
          </a:p>
          <a:p xmlns:a="http://schemas.openxmlformats.org/drawingml/2006/main">
            <a:r>
              <a:t/>
            </a:r>
          </a:p>
          <a:p xmlns:a="http://schemas.openxmlformats.org/drawingml/2006/main">
            <a:r>
              <a:t>Multiclass Logistic Regression learns one linear score per category and fits the scores with regularization. A larger C allows weaker regularization. It is fast to evaluate, but a linear boundary can miss complex relationships. kNN stores the fit examples and assigns labels using nearby examples in feature space. Here it uses brute-force Euclidean distances and distance-weighted voting. k controls how many neighbors vote. kNN has almost no optimization cost, but prediction can be expensive because it compares a query with stored examples. LR uses StandardScaler for both feature types. HOG kNN uses StandardScaler, while pixel kNN uses normalized intensities without learned standardization. The comparison therefore concerns declared pipelines rather than feature extraction in isolation.</a:t>
            </a:r>
          </a:p>
          <a:p xmlns:a="http://schemas.openxmlformats.org/drawingml/2006/main">
            <a:r>
              <a:t/>
            </a:r>
          </a:p>
          <a:p xmlns:a="http://schemas.openxmlformats.org/drawingml/2006/main">
            <a:r>
              <a:t>Sources:</a:t>
            </a:r>
          </a:p>
          <a:p xmlns:a="http://schemas.openxmlformats.org/drawingml/2006/main">
            <a:r>
              <a:t>src/clothing_ml/models.py</a:t>
            </a:r>
          </a:p>
          <a:p xmlns:a="http://schemas.openxmlformats.org/drawingml/2006/main">
            <a:r>
              <a:t>docs/protocol.md</a:t>
            </a:r>
          </a:p>
          <a:p xmlns:a="http://schemas.openxmlformats.org/drawingml/2006/main">
            <a:r>
              <a:t>results/full/freeze.json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Samarth</a:t>
            </a:r>
          </a:p>
          <a:p xmlns:a="http://schemas.openxmlformats.org/drawingml/2006/main">
            <a:r>
              <a:t/>
            </a:r>
          </a:p>
          <a:p xmlns:a="http://schemas.openxmlformats.org/drawingml/2006/main">
            <a:r>
              <a:t>Random Forest averages decisions from randomized trees. Bootstrap samples and random feature subsets reduce dependence between the trees. Each forest here contains 200 trees and uses square-root feature sampling. Maximum depth controls how detailed the tree rules can become. RF receives no StandardScaler because its threshold rules do not require it. RBF SVM uses a nonlinear similarity function and a margin-based decision rule. C controls the penalty for training errors relative to margin regularization, and gamma controls how local the RBF similarity is. Both SVM representations use StandardScaler. Gamma stays at scale, C is selected from a small grid, and probability estimation is disabled. These models illustrate different ways to use the same fixed image features.</a:t>
            </a:r>
          </a:p>
          <a:p xmlns:a="http://schemas.openxmlformats.org/drawingml/2006/main">
            <a:r>
              <a:t/>
            </a:r>
          </a:p>
          <a:p xmlns:a="http://schemas.openxmlformats.org/drawingml/2006/main">
            <a:r>
              <a:t>Sources:</a:t>
            </a:r>
          </a:p>
          <a:p xmlns:a="http://schemas.openxmlformats.org/drawingml/2006/main">
            <a:r>
              <a:t>src/clothing_ml/models.py</a:t>
            </a:r>
          </a:p>
          <a:p xmlns:a="http://schemas.openxmlformats.org/drawingml/2006/main">
            <a:r>
              <a:t>results/full/freeze.json</a:t>
            </a:r>
          </a:p>
          <a:p xmlns:a="http://schemas.openxmlformats.org/drawingml/2006/main">
            <a:r>
              <a:t>https://doi.org/10.1023/A:1010933404324</a:t>
            </a:r>
          </a:p>
          <a:p xmlns:a="http://schemas.openxmlformats.org/drawingml/2006/main">
            <a:r>
              <a:t>https://doi.org/10.1007/BF00994018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Samarth</a:t>
            </a:r>
          </a:p>
          <a:p xmlns:a="http://schemas.openxmlformats.org/drawingml/2006/main">
            <a:r>
              <a:t/>
            </a:r>
          </a:p>
          <a:p xmlns:a="http://schemas.openxmlformats.org/drawingml/2006/main">
            <a:r>
              <a:t>The smoke profile checks that all pipeline types run. It cannot unlock official-test evaluation. The compact search uses a stratified 12,000-image subset of the fit pool and the same 12,000-image validation set. Each of eight model-feature rows has two candidates, giving 16 search fits. LR searches C 0.1 and 1. kNN searches k 3 and 5. RF searches maximum depth 20 and None. RBF SVM searches C 1 and 10. Selected settings then train afresh on all 48,000 fit images. Full-profile validation macro F1 chooses the overall pipeline. Accuracy, prediction time and run ID break ties in that order. A hashed manifest freezes artifacts and selection before official-test access. This is a compact search, not exhaustive optimization.</a:t>
            </a:r>
          </a:p>
          <a:p xmlns:a="http://schemas.openxmlformats.org/drawingml/2006/main">
            <a:r>
              <a:t/>
            </a:r>
          </a:p>
          <a:p xmlns:a="http://schemas.openxmlformats.org/drawingml/2006/main">
            <a:r>
              <a:t>Sources:</a:t>
            </a:r>
          </a:p>
          <a:p xmlns:a="http://schemas.openxmlformats.org/drawingml/2006/main">
            <a:r>
              <a:t>docs/protocol.md</a:t>
            </a:r>
          </a:p>
          <a:p xmlns:a="http://schemas.openxmlformats.org/drawingml/2006/main">
            <a:r>
              <a:t>results/budget/validation_candidates.csv</a:t>
            </a:r>
          </a:p>
          <a:p xmlns:a="http://schemas.openxmlformats.org/drawingml/2006/main">
            <a:r>
              <a:t>results/full/freeze.json</a:t>
            </a:r>
          </a:p>
          <a:p xmlns:a="http://schemas.openxmlformats.org/drawingml/2006/main">
            <a:r>
              <a:t>results/full/test_receipt.json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Neelanshu</a:t>
            </a:r>
          </a:p>
          <a:p xmlns:a="http://schemas.openxmlformats.org/drawingml/2006/main">
            <a:r>
              <a:t/>
            </a:r>
          </a:p>
          <a:p xmlns:a="http://schemas.openxmlformats.org/drawingml/2006/main">
            <a:r>
              <a:t>Accuracy is the fraction of all images that receive the correct category. For a single class, precision measures how often that prediction is correct, and recall measures how many true members of that class the model finds. F1 is two times precision times recall divided by their sum. Macro F1 averages the ten class F1 values with equal class weight. It is not the harmonic mean of macro precision and macro recall. Per-class recall exposes a weak category even when overall accuracy is high. Confusion matrix rows are true categories and columns are predicted categories. We also measure inference time and model-specific complexity because classification quality alone does not determine usability.</a:t>
            </a:r>
          </a:p>
          <a:p xmlns:a="http://schemas.openxmlformats.org/drawingml/2006/main">
            <a:r>
              <a:t/>
            </a:r>
          </a:p>
          <a:p xmlns:a="http://schemas.openxmlformats.org/drawingml/2006/main">
            <a:r>
              <a:t>Sources:</a:t>
            </a:r>
          </a:p>
          <a:p xmlns:a="http://schemas.openxmlformats.org/drawingml/2006/main">
            <a:r>
              <a:t>src/clothing_ml/evaluate.py</a:t>
            </a:r>
          </a:p>
          <a:p xmlns:a="http://schemas.openxmlformats.org/drawingml/2006/main">
            <a:r>
              <a:t>tests/test_integrity.py</a:t>
            </a:r>
          </a:p>
          <a:p xmlns:a="http://schemas.openxmlformats.org/drawingml/2006/main">
            <a:r>
              <a:t>results/full/per_class_recall.csv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Neelanshu</a:t>
            </a:r>
          </a:p>
          <a:p xmlns:a="http://schemas.openxmlformats.org/drawingml/2006/main">
            <a:r>
              <a:t/>
            </a:r>
          </a:p>
          <a:p xmlns:a="http://schemas.openxmlformats.org/drawingml/2006/main">
            <a:r>
              <a:t>This native chart compares official-test macro F1 across the eight frozen pipelines. The HOG SVM row had already won validation selection. It reaches 90.91 percent test accuracy and macro F1 0.9090. Relative to pixels, HOG increases macro F1 by 3.63 percentage points for LR, 2.26 for kNN and 1.65 for SVM. It reduces RF macro F1 by 0.35 points. The effect therefore depends on the classifier and preprocessing. These results come from one split and a compact search. Do not claim a statistically significant difference, a universal winner or improvement caused only by HOG in isolation.</a:t>
            </a:r>
          </a:p>
          <a:p xmlns:a="http://schemas.openxmlformats.org/drawingml/2006/main">
            <a:r>
              <a:t/>
            </a:r>
          </a:p>
          <a:p xmlns:a="http://schemas.openxmlformats.org/drawingml/2006/main">
            <a:r>
              <a:t>Sources:</a:t>
            </a:r>
          </a:p>
          <a:p xmlns:a="http://schemas.openxmlformats.org/drawingml/2006/main">
            <a:r>
              <a:t>results/full/test_summary.csv</a:t>
            </a:r>
          </a:p>
          <a:p xmlns:a="http://schemas.openxmlformats.org/drawingml/2006/main">
            <a:r>
              <a:t>results/full/freeze.json</a:t>
            </a:r>
          </a:p>
          <a:p xmlns:a="http://schemas.openxmlformats.org/drawingml/2006/main">
            <a:r>
              <a:t>presentation/evidence.json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Neelanshu</a:t>
            </a:r>
          </a:p>
          <a:p xmlns:a="http://schemas.openxmlformats.org/drawingml/2006/main">
            <a:r>
              <a:t/>
            </a:r>
          </a:p>
          <a:p xmlns:a="http://schemas.openxmlformats.org/drawingml/2006/main">
            <a:r>
              <a:t>The chart shows official-test recall for the selected HOG SVM only. Each category has 1,000 test images. Shirt recall is 73.3 percent, which means 733 of the 1,000 true Shirts receive the Shirt label. Bag recall is 98.3 percent. The difference demonstrates why a single aggregate accuracy value is insufficient. Some upper-body categories share outlines and local edge patterns at 28 by 28 resolution. That is a plausible interpretation of the observed errors, not a proven causal mechanism. The next slide examines measured confusion counts rather than relying on visual impressions alone.</a:t>
            </a:r>
          </a:p>
          <a:p xmlns:a="http://schemas.openxmlformats.org/drawingml/2006/main">
            <a:r>
              <a:t/>
            </a:r>
          </a:p>
          <a:p xmlns:a="http://schemas.openxmlformats.org/drawingml/2006/main">
            <a:r>
              <a:t>Sources:</a:t>
            </a:r>
          </a:p>
          <a:p xmlns:a="http://schemas.openxmlformats.org/drawingml/2006/main">
            <a:r>
              <a:t>results/full/full_hog_svm_3fd9d87a_test_metrics.json</a:t>
            </a:r>
          </a:p>
          <a:p xmlns:a="http://schemas.openxmlformats.org/drawingml/2006/main">
            <a:r>
              <a:t>results/full/per_class_recall.csv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Neelanshu</a:t>
            </a:r>
          </a:p>
          <a:p xmlns:a="http://schemas.openxmlformats.org/drawingml/2006/main">
            <a:r>
              <a:t/>
            </a:r>
          </a:p>
          <a:p xmlns:a="http://schemas.openxmlformats.org/drawingml/2006/main">
            <a:r>
              <a:t>Read the table by row. The actual category is on the left and each column gives its predicted category. The Other column combines the six categories not displayed separately, so every row still sums to 1,000. Of the true T-shirt/top images, 104 are predicted as Shirt. Of the true Shirts, 103 are predicted as T-shirt/top, 63 as Pullover and 64 as Coat. This mutual confusion explains much of the weakest recall. The diagonal counts are correct classifications. The table is a focused view of the full ten by ten confusion matrix, not a separate experiment or a newly selected subset for model tuning.</a:t>
            </a:r>
          </a:p>
          <a:p xmlns:a="http://schemas.openxmlformats.org/drawingml/2006/main">
            <a:r>
              <a:t/>
            </a:r>
          </a:p>
          <a:p xmlns:a="http://schemas.openxmlformats.org/drawingml/2006/main">
            <a:r>
              <a:t>Sources:</a:t>
            </a:r>
          </a:p>
          <a:p xmlns:a="http://schemas.openxmlformats.org/drawingml/2006/main">
            <a:r>
              <a:t>results/full/full_hog_svm_3fd9d87a_test_metrics.json</a:t>
            </a:r>
          </a:p>
          <a:p xmlns:a="http://schemas.openxmlformats.org/drawingml/2006/main">
            <a:r>
              <a:t>presentation/evidence.json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Neelanshu</a:t>
            </a:r>
          </a:p>
          <a:p xmlns:a="http://schemas.openxmlformats.org/drawingml/2006/main">
            <a:r>
              <a:t/>
            </a:r>
          </a:p>
          <a:p xmlns:a="http://schemas.openxmlformats.org/drawingml/2006/main">
            <a:r>
              <a:t>These original test images compare the frozen pixel SVM and HOG SVM on identical sample IDs. The examples follow a deterministic first-ID rule within each outcome group. They do not estimate group prevalence. In the HOG-only-correct group, HOG succeeds where the pixel SVM fails. In the both-wrong group, fixed gradients still fail. Read the true label and both predictions before interpreting a shape. A single visual example can suggest a reason to investigate, but it does not establish a causal explanation or prove a dataset label is wrong. Group counts for the complete official test are in the saved error evidence.</a:t>
            </a:r>
          </a:p>
          <a:p xmlns:a="http://schemas.openxmlformats.org/drawingml/2006/main">
            <a:r>
              <a:t/>
            </a:r>
          </a:p>
          <a:p xmlns:a="http://schemas.openxmlformats.org/drawingml/2006/main">
            <a:r>
              <a:t>Sources:</a:t>
            </a:r>
          </a:p>
          <a:p xmlns:a="http://schemas.openxmlformats.org/drawingml/2006/main">
            <a:r>
              <a:t>results/full/error_example_ids.csv</a:t>
            </a:r>
          </a:p>
          <a:p xmlns:a="http://schemas.openxmlformats.org/drawingml/2006/main">
            <a:r>
              <a:t>report/figures/error_examples.png</a:t>
            </a:r>
          </a:p>
          <a:p xmlns:a="http://schemas.openxmlformats.org/drawingml/2006/main">
            <a:r>
              <a:t>src/clothing_ml/plots.py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Neelanshu</a:t>
            </a:r>
          </a:p>
          <a:p xmlns:a="http://schemas.openxmlformats.org/drawingml/2006/main">
            <a:r>
              <a:t/>
            </a:r>
          </a:p>
          <a:p xmlns:a="http://schemas.openxmlformats.org/drawingml/2006/main">
            <a:r>
              <a:t>The table reports median end-to-end inference time per image, amortized over batches. It includes normalization, feature extraction, training-fitted scaling where applicable and classifier prediction. It excludes disk reads and model loading. Measurements use official-test IDs zero through 1,023, batches of 128, one warm-up batch and five repeats, with one native thread on the recorded ARM64 macOS machine. HOG SVM is the strongest measured classifier but costs 21.7090 milliseconds per image in this setting. Pixel LR costs 0.0014 milliseconds, with lower accuracy. These are batch costs on one machine, not interactive single-image latency or guaranteed deployment performance. Pipeline-only timing and repeat ranges remain in the evidence files.</a:t>
            </a:r>
          </a:p>
          <a:p xmlns:a="http://schemas.openxmlformats.org/drawingml/2006/main">
            <a:r>
              <a:t/>
            </a:r>
          </a:p>
          <a:p xmlns:a="http://schemas.openxmlformats.org/drawingml/2006/main">
            <a:r>
              <a:t>Sources:</a:t>
            </a:r>
          </a:p>
          <a:p xmlns:a="http://schemas.openxmlformats.org/drawingml/2006/main">
            <a:r>
              <a:t>results/full/timing.json</a:t>
            </a:r>
          </a:p>
          <a:p xmlns:a="http://schemas.openxmlformats.org/drawingml/2006/main">
            <a:r>
              <a:t>results/full/test_summary.csv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Nakul</a:t>
            </a:r>
          </a:p>
          <a:p xmlns:a="http://schemas.openxmlformats.org/drawingml/2006/main">
            <a:r>
              <a:t/>
            </a:r>
          </a:p>
          <a:p xmlns:a="http://schemas.openxmlformats.org/drawingml/2006/main">
            <a:r>
              <a:t>The repository retains source modules, exact saved split membership, dataset checksums, candidate logs and the hashed selection manifest. Compressed predictions preserve original IDs and true labels. An independent audit rebuilds the reported metrics from the prediction files, while the executed notebook presents the analysis with saved outputs. Eight integrity tests passed, including split checks, metric checks, scaling behavior, prediction alignment and the test gate. The GitHub workflow repeats the lightweight checks. A fresh reproduction writes to an isolated result directory so that the checked-in frozen evidence stays intact. Large model bundles and downloaded data stay local. The deck itself reads recorded results and does not retrain any model.</a:t>
            </a:r>
          </a:p>
          <a:p xmlns:a="http://schemas.openxmlformats.org/drawingml/2006/main">
            <a:r>
              <a:t/>
            </a:r>
          </a:p>
          <a:p xmlns:a="http://schemas.openxmlformats.org/drawingml/2006/main">
            <a:r>
              <a:t>Sources:</a:t>
            </a:r>
          </a:p>
          <a:p xmlns:a="http://schemas.openxmlformats.org/drawingml/2006/main">
            <a:r>
              <a:t>results/full/evidence_audit.json</a:t>
            </a:r>
          </a:p>
          <a:p xmlns:a="http://schemas.openxmlformats.org/drawingml/2006/main">
            <a:r>
              <a:t>tests/test_integrity.py</a:t>
            </a:r>
          </a:p>
          <a:p xmlns:a="http://schemas.openxmlformats.org/drawingml/2006/main">
            <a:r>
              <a:t>.github/workflows/checks.yml</a:t>
            </a:r>
          </a:p>
          <a:p xmlns:a="http://schemas.openxmlformats.org/drawingml/2006/main">
            <a:r>
              <a:t>notebooks/00_phase1_master.ipynb</a:t>
            </a:r>
          </a:p>
          <a:p xmlns:a="http://schemas.openxmlformats.org/drawingml/2006/main">
            <a:r>
              <a:t>docs/protocol.md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Nakul</a:t>
            </a:r>
          </a:p>
          <a:p xmlns:a="http://schemas.openxmlformats.org/drawingml/2006/main">
            <a:r>
              <a:t/>
            </a:r>
          </a:p>
          <a:p xmlns:a="http://schemas.openxmlformats.org/drawingml/2006/main">
            <a:r>
              <a:t>Phase 1 establishes a controlled comparison of two feature representations and four classical classifiers. The validation-selected HOG SVM achieves 90.91 percent test accuracy, and HOG helps three model families under this protocol. Shirt remains the weakest class and inference cost increases substantially for the strongest model. Limits include one split, a small search, model-specific scaling and standardized low-resolution images. Phase 2 should test a small two- or three-block CNN with pooling and dropout, training-only validation for early stopping and architecture choices, and the same evaluation measures. The learned hierarchy may help distinguish similar clothes, but that remains an unmeasured hypothesis. Test results already seen in Phase 1 must not guide CNN tuning.</a:t>
            </a:r>
          </a:p>
          <a:p xmlns:a="http://schemas.openxmlformats.org/drawingml/2006/main">
            <a:r>
              <a:t/>
            </a:r>
          </a:p>
          <a:p xmlns:a="http://schemas.openxmlformats.org/drawingml/2006/main">
            <a:r>
              <a:t>Sources:</a:t>
            </a:r>
          </a:p>
          <a:p xmlns:a="http://schemas.openxmlformats.org/drawingml/2006/main">
            <a:r>
              <a:t>results/full/test_summary.csv</a:t>
            </a:r>
          </a:p>
          <a:p xmlns:a="http://schemas.openxmlformats.org/drawingml/2006/main">
            <a:r>
              <a:t>results/full/full_hog_svm_3fd9d87a_test_metrics.json</a:t>
            </a:r>
          </a:p>
          <a:p xmlns:a="http://schemas.openxmlformats.org/drawingml/2006/main">
            <a:r>
              <a:t>docs/course_instructions.md</a:t>
            </a:r>
          </a:p>
          <a:p xmlns:a="http://schemas.openxmlformats.org/drawingml/2006/main">
            <a:r>
              <a:t>report/main.tex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Nakul</a:t>
            </a:r>
          </a:p>
          <a:p xmlns:a="http://schemas.openxmlformats.org/drawingml/2006/main">
            <a:r>
              <a:t/>
            </a:r>
          </a:p>
          <a:p xmlns:a="http://schemas.openxmlformats.org/drawingml/2006/main">
            <a:r>
              <a:t>The full literature review and bibliography are available in the report and repository. Fashion-MNIST supplies the benchmark. Dalal and Triggs motivate HOG. Breiman introduces Random Forests. Cortes and Vapnik supply support-vector-network background. Scikit-learn provides the implementation and evaluation tools. LeCun and colleagues provide background for the later CNN. The team literature notes distinguish full-text reading from abstract-only access. The original HOG paper studies human detection, so cite it as the source of the descriptor rather than direct evidence about this clothing experiment.</a:t>
            </a:r>
          </a:p>
          <a:p xmlns:a="http://schemas.openxmlformats.org/drawingml/2006/main">
            <a:r>
              <a:t/>
            </a:r>
          </a:p>
          <a:p xmlns:a="http://schemas.openxmlformats.org/drawingml/2006/main">
            <a:r>
              <a:t>Sources:</a:t>
            </a:r>
          </a:p>
          <a:p xmlns:a="http://schemas.openxmlformats.org/drawingml/2006/main">
            <a:r>
              <a:t>docs/literature_review.md</a:t>
            </a:r>
          </a:p>
          <a:p xmlns:a="http://schemas.openxmlformats.org/drawingml/2006/main">
            <a:r>
              <a:t>report/references.bib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Samarth and Neelanshu</a:t>
            </a:r>
          </a:p>
          <a:p xmlns:a="http://schemas.openxmlformats.org/drawingml/2006/main">
            <a:r>
              <a:t/>
            </a:r>
          </a:p>
          <a:p xmlns:a="http://schemas.openxmlformats.org/drawingml/2006/main">
            <a:r>
              <a:t>This backup table shows validation macro F1 alongside official-test accuracy and macro F1 for every finalist. All final rows use 48,000 fit examples and the same 12,000 validation IDs. HOG SVM has the highest validation macro F1, 0.9114, which selected it before test access. Its test F1 is 0.9090. Compare like-for-like model families when explaining the feature effect. These values are rounded for display, while the CSVs retain full precision. The selection manifest records exact artifacts and parameters.</a:t>
            </a:r>
          </a:p>
          <a:p xmlns:a="http://schemas.openxmlformats.org/drawingml/2006/main">
            <a:r>
              <a:t/>
            </a:r>
          </a:p>
          <a:p xmlns:a="http://schemas.openxmlformats.org/drawingml/2006/main">
            <a:r>
              <a:t>Sources:</a:t>
            </a:r>
          </a:p>
          <a:p xmlns:a="http://schemas.openxmlformats.org/drawingml/2006/main">
            <a:r>
              <a:t>results/full/validation_summary.csv</a:t>
            </a:r>
          </a:p>
          <a:p xmlns:a="http://schemas.openxmlformats.org/drawingml/2006/main">
            <a:r>
              <a:t>results/full/test_summary.csv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Samarth</a:t>
            </a:r>
          </a:p>
          <a:p xmlns:a="http://schemas.openxmlformats.org/drawingml/2006/main">
            <a:r>
              <a:t/>
            </a:r>
          </a:p>
          <a:p xmlns:a="http://schemas.openxmlformats.org/drawingml/2006/main">
            <a:r>
              <a:t>The table lists the settings selected separately for each feature-model pair, plus the scaling policy. The compact search examines LR C 0.1 and 1, kNN k 3 and 5, RF depth 20 and None, and SVM C 1 and 10. RF keeps 200 trees and square-root feature sampling. LR uses LBFGS and at most 2,000 iterations. kNN uses distance weighting and brute-force Euclidean distance. SVM uses RBF, gamma scale and probability false. Other defaults and installed versions are captured in the saved run records. A small grid is a resource-conscious development choice and does not prove that each model family reached its best possible performance.</a:t>
            </a:r>
          </a:p>
          <a:p xmlns:a="http://schemas.openxmlformats.org/drawingml/2006/main">
            <a:r>
              <a:t/>
            </a:r>
          </a:p>
          <a:p xmlns:a="http://schemas.openxmlformats.org/drawingml/2006/main">
            <a:r>
              <a:t>Sources:</a:t>
            </a:r>
          </a:p>
          <a:p xmlns:a="http://schemas.openxmlformats.org/drawingml/2006/main">
            <a:r>
              <a:t>results/full/freeze.json</a:t>
            </a:r>
          </a:p>
          <a:p xmlns:a="http://schemas.openxmlformats.org/drawingml/2006/main">
            <a:r>
              <a:t>results/budget/validation_candidates.csv</a:t>
            </a:r>
          </a:p>
          <a:p xmlns:a="http://schemas.openxmlformats.org/drawingml/2006/main">
            <a:r>
              <a:t>src/clothing_ml/models.py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Nakul</a:t>
            </a:r>
          </a:p>
          <a:p xmlns:a="http://schemas.openxmlformats.org/drawingml/2006/main">
            <a:r>
              <a:t/>
            </a:r>
          </a:p>
          <a:p xmlns:a="http://schemas.openxmlformats.org/drawingml/2006/main">
            <a:r>
              <a:t>Classical models need different complexity descriptions. LR has learned coefficient and intercept scalars. kNN stores training feature values and has no comparable learned coefficient count. RF complexity here counts all tree nodes. SVM uses the stored support-vector and decision-array scalar count as a storage proxy. None of these quantities is directly interchangeable with neural-network trainable parameters. The right column reports compressed serialized bundle size in MiB, which is a common artifact measure but is not peak RAM. HOG SVM stores 20,916 support vectors. Scaler mean and scale arrays are counted separately in the evidence. Do not interpret the larger quantity as a general measure of statistical quality.</a:t>
            </a:r>
          </a:p>
          <a:p xmlns:a="http://schemas.openxmlformats.org/drawingml/2006/main">
            <a:r>
              <a:t/>
            </a:r>
          </a:p>
          <a:p xmlns:a="http://schemas.openxmlformats.org/drawingml/2006/main">
            <a:r>
              <a:t>Sources:</a:t>
            </a:r>
          </a:p>
          <a:p xmlns:a="http://schemas.openxmlformats.org/drawingml/2006/main">
            <a:r>
              <a:t>results/full/complexity.json</a:t>
            </a:r>
          </a:p>
          <a:p xmlns:a="http://schemas.openxmlformats.org/drawingml/2006/main">
            <a:r>
              <a:t>results/full/freeze.json</a:t>
            </a:r>
          </a:p>
          <a:p xmlns:a="http://schemas.openxmlformats.org/drawingml/2006/main">
            <a:r>
              <a:t>results/full/test_summary.csv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All five members</a:t>
            </a:r>
          </a:p>
          <a:p xmlns:a="http://schemas.openxmlformats.org/drawingml/2006/main">
            <a:r>
              <a:t/>
            </a:r>
          </a:p>
          <a:p xmlns:a="http://schemas.openxmlformats.org/drawingml/2006/main">
            <a:r>
              <a:t>For an offline demo, open the executed master notebook or its HTML companion. Find original test ID zero in the saved predictions. Its true category is Ankle boot and the selected HOG SVM predicts Ankle boot. Show the matching ID in another model’s prediction file to explain alignment. Recompute accuracy as the count of correct predictions divided by 10,000, using the saved CSV rather than training again. For viva practice, each member should explain the fit/validation/test distinction, the HOG dimension calculation and one weakness of the selected model. If asked whether CNN is better, say it has not been evaluated yet. The saved artifacts support the demonstration without network access.</a:t>
            </a:r>
          </a:p>
          <a:p xmlns:a="http://schemas.openxmlformats.org/drawingml/2006/main">
            <a:r>
              <a:t/>
            </a:r>
          </a:p>
          <a:p xmlns:a="http://schemas.openxmlformats.org/drawingml/2006/main">
            <a:r>
              <a:t>Sources:</a:t>
            </a:r>
          </a:p>
          <a:p xmlns:a="http://schemas.openxmlformats.org/drawingml/2006/main">
            <a:r>
              <a:t>notebooks/00_phase1_master.ipynb</a:t>
            </a:r>
          </a:p>
          <a:p xmlns:a="http://schemas.openxmlformats.org/drawingml/2006/main">
            <a:r>
              <a:t>notebooks/00_phase1_master.html</a:t>
            </a:r>
          </a:p>
          <a:p xmlns:a="http://schemas.openxmlformats.org/drawingml/2006/main">
            <a:r>
              <a:t>results/full/predictions/full_hog_svm_3fd9d87a_test.csv.gz</a:t>
            </a:r>
          </a:p>
          <a:p xmlns:a="http://schemas.openxmlformats.org/drawingml/2006/main">
            <a:r>
              <a:t>docs/START_HERE_NAKUL.md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37e8fb83ac414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d39647dac934fd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450cfb543d495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65a8d4a258e4d9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cb343e5d3ec47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c9adef21ccd4c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A1BDA9-CC93-4045-BA28-AF3E1C3DED4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4FDCACC-0F23-4345-B7AB-F4A34142D97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8E62E41-BCFB-4C7D-B0F4-82E0D953920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689CD9-0435-4E68-90D1-34548BD3E0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AEFE42-B966-4035-B1F1-65D198E4B0D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E510FF3-E960-4DB4-96CA-F80BACEE74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8D7781-D756-467C-8569-BB583BE7EF8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88D11D0-D4AE-46F7-97CE-5A612EB1B06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652653-690F-49EF-8DE5-260213236D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019F7C2-190C-41F4-99CA-2167AE00A1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72584186684cb0" /><Relationship Type="http://schemas.openxmlformats.org/officeDocument/2006/relationships/slideLayout" Target="/ppt/slideLayouts/slideLayout1.xml" Id="R1f54d4a3603e46ee" /><Relationship Type="http://schemas.openxmlformats.org/officeDocument/2006/relationships/slideLayout" Target="/ppt/slideLayouts/slideLayout2.xml" Id="Rb658155172134026" /><Relationship Type="http://schemas.openxmlformats.org/officeDocument/2006/relationships/slideLayout" Target="/ppt/slideLayouts/slideLayout3.xml" Id="R66f0e7f486194494" /><Relationship Type="http://schemas.openxmlformats.org/officeDocument/2006/relationships/slideLayout" Target="/ppt/slideLayouts/slideLayout4.xml" Id="Ra29dc4c64fd34fd5" /><Relationship Type="http://schemas.openxmlformats.org/officeDocument/2006/relationships/slideLayout" Target="/ppt/slideLayouts/slideLayout5.xml" Id="Red0bd1828cd545b3" /><Relationship Type="http://schemas.openxmlformats.org/officeDocument/2006/relationships/slideLayout" Target="/ppt/slideLayouts/slideLayout6.xml" Id="R3feb2d0b06394a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54d4a3603e46ee"/>
    <p:sldLayoutId xmlns:r="http://schemas.openxmlformats.org/officeDocument/2006/relationships" id="2147483650" r:id="Rb658155172134026"/>
    <p:sldLayoutId xmlns:r="http://schemas.openxmlformats.org/officeDocument/2006/relationships" id="2147483651" r:id="R66f0e7f486194494"/>
    <p:sldLayoutId xmlns:r="http://schemas.openxmlformats.org/officeDocument/2006/relationships" id="2147483652" r:id="Ra29dc4c64fd34fd5"/>
    <p:sldLayoutId xmlns:r="http://schemas.openxmlformats.org/officeDocument/2006/relationships" id="2147483653" r:id="Red0bd1828cd545b3"/>
    <p:sldLayoutId xmlns:r="http://schemas.openxmlformats.org/officeDocument/2006/relationships" id="2147483654" r:id="R3feb2d0b06394a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51bca15a3614664" /><Relationship Type="http://schemas.openxmlformats.org/officeDocument/2006/relationships/notesSlide" Target="/ppt/notesSlides/notesSlide1.xml" Id="Rcb2a2eec440246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25e24ebaa6f495b" /><Relationship Type="http://schemas.openxmlformats.org/officeDocument/2006/relationships/notesSlide" Target="/ppt/notesSlides/notesSlide2.xml" Id="R824352633df44a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c703c592957454f" /><Relationship Type="http://schemas.openxmlformats.org/officeDocument/2006/relationships/notesSlide" Target="/ppt/notesSlides/notesSlide3.xml" Id="Rb63463ff47b043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d31aeedbd7f4a23" /><Relationship Type="http://schemas.openxmlformats.org/officeDocument/2006/relationships/image" Target="/ppt/media/image.png" Id="R66dcc6d9f72d4f8c" /><Relationship Type="http://schemas.openxmlformats.org/officeDocument/2006/relationships/image" Target="/ppt/media/image2.png" Id="R13e60aa75f844d02" /><Relationship Type="http://schemas.openxmlformats.org/officeDocument/2006/relationships/image" Target="/ppt/media/image3.png" Id="Ra47c38743c71423c" /><Relationship Type="http://schemas.openxmlformats.org/officeDocument/2006/relationships/image" Target="/ppt/media/image4.png" Id="R2277c71abebd45fe" /><Relationship Type="http://schemas.openxmlformats.org/officeDocument/2006/relationships/image" Target="/ppt/media/image5.png" Id="R1276d34c7c65419e" /><Relationship Type="http://schemas.openxmlformats.org/officeDocument/2006/relationships/image" Target="/ppt/media/image6.png" Id="Rbbecdaa790584553" /><Relationship Type="http://schemas.openxmlformats.org/officeDocument/2006/relationships/image" Target="/ppt/media/image7.png" Id="Re37cabed944d41b5" /><Relationship Type="http://schemas.openxmlformats.org/officeDocument/2006/relationships/image" Target="/ppt/media/image8.png" Id="R668aad7162af438e" /><Relationship Type="http://schemas.openxmlformats.org/officeDocument/2006/relationships/image" Target="/ppt/media/image9.png" Id="R5389732680654758" /><Relationship Type="http://schemas.openxmlformats.org/officeDocument/2006/relationships/image" Target="/ppt/media/image10.png" Id="R5c90748356c44faf" /><Relationship Type="http://schemas.openxmlformats.org/officeDocument/2006/relationships/notesSlide" Target="/ppt/notesSlides/notesSlide4.xml" Id="Rd4ef1b90e6fc4f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667f8e6d8ee43b8" /><Relationship Type="http://schemas.openxmlformats.org/officeDocument/2006/relationships/notesSlide" Target="/ppt/notesSlides/notesSlide5.xml" Id="Rc299396c2c9e45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148043d9e2b4d53" /><Relationship Type="http://schemas.openxmlformats.org/officeDocument/2006/relationships/image" Target="/ppt/media/image11.png" Id="R77e053e78d564a41" /><Relationship Type="http://schemas.openxmlformats.org/officeDocument/2006/relationships/notesSlide" Target="/ppt/notesSlides/notesSlide6.xml" Id="R35d338bc3b764bc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36a9cb0f3cd42fe" /><Relationship Type="http://schemas.openxmlformats.org/officeDocument/2006/relationships/notesSlide" Target="/ppt/notesSlides/notesSlide7.xml" Id="Raaf6ed10073945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736b695255049a2" /><Relationship Type="http://schemas.openxmlformats.org/officeDocument/2006/relationships/notesSlide" Target="/ppt/notesSlides/notesSlide8.xml" Id="R5bfd24992256417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df08827fa134c8c" /><Relationship Type="http://schemas.openxmlformats.org/officeDocument/2006/relationships/notesSlide" Target="/ppt/notesSlides/notesSlide9.xml" Id="Rb8a583e9998e40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bcbeaf3b25f499f" /><Relationship Type="http://schemas.openxmlformats.org/officeDocument/2006/relationships/notesSlide" Target="/ppt/notesSlides/notesSlide10.xml" Id="R0c0625da73444d0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5da4530ff904b24" /><Relationship Type="http://schemas.openxmlformats.org/officeDocument/2006/relationships/chart" Target="/ppt/slides/charts/chart1.xml" Id="R432329bc865143ac" /><Relationship Type="http://schemas.openxmlformats.org/officeDocument/2006/relationships/notesSlide" Target="/ppt/notesSlides/notesSlide11.xml" Id="R2d7e4b0f833b447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faa54c0f5fe4607" /><Relationship Type="http://schemas.openxmlformats.org/officeDocument/2006/relationships/chart" Target="/ppt/slides/charts/chart2.xml" Id="Rad0bbbd1049f4480" /><Relationship Type="http://schemas.openxmlformats.org/officeDocument/2006/relationships/notesSlide" Target="/ppt/notesSlides/notesSlide12.xml" Id="R07553d7457b24c9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59154bb9f0b4302" /><Relationship Type="http://schemas.openxmlformats.org/officeDocument/2006/relationships/notesSlide" Target="/ppt/notesSlides/notesSlide13.xml" Id="R99166c80ab8c4ee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3aa6eb2460e48d5" /><Relationship Type="http://schemas.openxmlformats.org/officeDocument/2006/relationships/image" Target="/ppt/media/image12.png" Id="R0cc7f8aa75c74742" /><Relationship Type="http://schemas.openxmlformats.org/officeDocument/2006/relationships/image" Target="/ppt/media/image13.png" Id="Rc8578d03097249f4" /><Relationship Type="http://schemas.openxmlformats.org/officeDocument/2006/relationships/image" Target="/ppt/media/image14.png" Id="R6ed8637ef3464559" /><Relationship Type="http://schemas.openxmlformats.org/officeDocument/2006/relationships/image" Target="/ppt/media/image15.png" Id="Rbcce0140e97245fe" /><Relationship Type="http://schemas.openxmlformats.org/officeDocument/2006/relationships/notesSlide" Target="/ppt/notesSlides/notesSlide14.xml" Id="R0a2a6d5ea858491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09384740a464722" /><Relationship Type="http://schemas.openxmlformats.org/officeDocument/2006/relationships/notesSlide" Target="/ppt/notesSlides/notesSlide15.xml" Id="Rc4156584172c403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681d1ce84874e7f" /><Relationship Type="http://schemas.openxmlformats.org/officeDocument/2006/relationships/notesSlide" Target="/ppt/notesSlides/notesSlide16.xml" Id="R65e057a99695467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5fa9e2daae64036" /><Relationship Type="http://schemas.openxmlformats.org/officeDocument/2006/relationships/notesSlide" Target="/ppt/notesSlides/notesSlide17.xml" Id="R11e0a1818a7549a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b444c04b1f0480f" /><Relationship Type="http://schemas.openxmlformats.org/officeDocument/2006/relationships/notesSlide" Target="/ppt/notesSlides/notesSlide18.xml" Id="R7a0854c26a52482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228030f915946a3" /><Relationship Type="http://schemas.openxmlformats.org/officeDocument/2006/relationships/notesSlide" Target="/ppt/notesSlides/notesSlide19.xml" Id="Ra794cd646e0d445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10dfb227fcf4f82" /><Relationship Type="http://schemas.openxmlformats.org/officeDocument/2006/relationships/notesSlide" Target="/ppt/notesSlides/notesSlide20.xml" Id="R3045cffc8aff4d4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b157ff86f904633" /><Relationship Type="http://schemas.openxmlformats.org/officeDocument/2006/relationships/notesSlide" Target="/ppt/notesSlides/notesSlide21.xml" Id="Rcfdeab545b9b481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4e5352094e54a5e" /><Relationship Type="http://schemas.openxmlformats.org/officeDocument/2006/relationships/notesSlide" Target="/ppt/notesSlides/notesSlide22.xml" Id="Rc4222a030b4e45b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Pixels</c:v>
          </c:tx>
          <c:spPr>
            <a:solidFill xmlns:a="http://schemas.openxmlformats.org/drawingml/2006/main">
              <a:srgbClr val="285F99"/>
            </a:solidFill>
          </c:spPr>
          <c:invertIfNegative val="0"/>
          <c:cat>
            <c:strRef>
              <c:f>'Chart Data'!$A$2:$A$5</c:f>
              <c:strCache>
                <c:ptCount val="4"/>
                <c:pt idx="0">
                  <c:v>Logistic Regression</c:v>
                </c:pt>
                <c:pt idx="1">
                  <c:v>kNN</c:v>
                </c:pt>
                <c:pt idx="2">
                  <c:v>Random Forest</c:v>
                </c:pt>
                <c:pt idx="3">
                  <c:v>RBF SVM</c:v>
                </c:pt>
              </c:strCache>
            </c:strRef>
          </c:cat>
          <c:val>
            <c:numRef>
              <c:f>'Chart Data'!$B$2:$B$5</c:f>
              <c:numCache>
                <c:formatCode>0.000</c:formatCode>
                <c:ptCount val="4"/>
                <c:pt idx="0">
                  <c:v>0.839411</c:v>
                </c:pt>
                <c:pt idx="1">
                  <c:v>0.850472</c:v>
                </c:pt>
                <c:pt idx="2">
                  <c:v>0.87534</c:v>
                </c:pt>
                <c:pt idx="3">
                  <c:v>0.892435</c:v>
                </c:pt>
              </c:numCache>
            </c:numRef>
          </c:val>
        </c:ser>
        <c:ser>
          <c:idx val="1"/>
          <c:order val="1"/>
          <c:tx>
            <c:v>HOG</c:v>
          </c:tx>
          <c:spPr>
            <a:solidFill xmlns:a="http://schemas.openxmlformats.org/drawingml/2006/main">
              <a:srgbClr val="B86C16"/>
            </a:solidFill>
          </c:spPr>
          <c:invertIfNegative val="0"/>
          <c:cat>
            <c:strRef>
              <c:f>'Chart Data'!$C$2:$C$5</c:f>
              <c:strCache>
                <c:ptCount val="4"/>
                <c:pt idx="0">
                  <c:v>Logistic Regression</c:v>
                </c:pt>
                <c:pt idx="1">
                  <c:v>kNN</c:v>
                </c:pt>
                <c:pt idx="2">
                  <c:v>Random Forest</c:v>
                </c:pt>
                <c:pt idx="3">
                  <c:v>RBF SVM</c:v>
                </c:pt>
              </c:strCache>
            </c:strRef>
          </c:cat>
          <c:val>
            <c:numRef>
              <c:f>'Chart Data'!$D$2:$D$5</c:f>
              <c:numCache>
                <c:formatCode>0.000</c:formatCode>
                <c:ptCount val="4"/>
                <c:pt idx="0">
                  <c:v>0.875711</c:v>
                </c:pt>
                <c:pt idx="1">
                  <c:v>0.873042</c:v>
                </c:pt>
                <c:pt idx="2">
                  <c:v>0.871805</c:v>
                </c:pt>
                <c:pt idx="3">
                  <c:v>0.908953</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75" b="1">
                  <a:solidFill>
                    <a:srgbClr val="142F38"/>
                  </a:solidFil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FDF"/>
            </a:solidFill>
          </a:ln>
        </c:spPr>
        <c:txPr>
          <a:bodyPr xmlns:a="http://schemas.openxmlformats.org/drawingml/2006/main" anchorCtr="1"/>
          <a:lstStyle xmlns:a="http://schemas.openxmlformats.org/drawingml/2006/main"/>
          <a:p xmlns:a="http://schemas.openxmlformats.org/drawingml/2006/main">
            <a:pPr>
              <a:defRPr sz="1575">
                <a:solidFill>
                  <a:srgbClr val="142F38"/>
                </a:solidFill>
              </a:defRPr>
            </a:pPr>
          </a:p>
        </c:txPr>
        <c:crossAx val="48672768"/>
      </c:catAx>
      <c:valAx>
        <c:axId val="48672768"/>
        <c:scaling>
          <c:orientation val="minMax"/>
          <c:max val="1"/>
          <c:min val="0"/>
        </c:scaling>
        <c:delete val="0"/>
        <c:axPos val="l"/>
        <c:majorGridlines>
          <c:spPr>
            <a:ln xmlns:a="http://schemas.openxmlformats.org/drawingml/2006/main" w="6668">
              <a:solidFill>
                <a:srgbClr val="D9DFDF"/>
              </a:solidFill>
            </a:ln>
          </c:spPr>
        </c:majorGridlines>
        <c:title>
          <c:tx>
            <c:rich>
              <a:bodyPr xmlns:a="http://schemas.openxmlformats.org/drawingml/2006/main"/>
              <a:lstStyle xmlns:a="http://schemas.openxmlformats.org/drawingml/2006/main"/>
              <a:p xmlns:a="http://schemas.openxmlformats.org/drawingml/2006/main">
                <a:r>
                  <a:rPr sz="1650">
                    <a:solidFill>
                      <a:srgbClr val="142F38"/>
                    </a:solidFill>
                  </a:rPr>
                  <a:t>Macro F1</a:t>
                </a:r>
              </a:p>
            </c:rich>
          </c:tx>
          <c:overlay val="0"/>
          <c:txPr>
            <a:bodyPr xmlns:a="http://schemas.openxmlformats.org/drawingml/2006/main" anchorCtr="1"/>
            <a:lstStyle xmlns:a="http://schemas.openxmlformats.org/drawingml/2006/main"/>
            <a:p xmlns:a="http://schemas.openxmlformats.org/drawingml/2006/main">
              <a:pPr>
                <a:defRPr sz="1650">
                  <a:solidFill>
                    <a:srgbClr val="142F38"/>
                  </a:solidFill>
                </a:defRPr>
              </a:pPr>
            </a:p>
          </c:txPr>
        </c:title>
        <c:numFmt formatCode="0.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56D"/>
                </a:solidFill>
              </a:defRPr>
            </a:pPr>
          </a:p>
        </c:txPr>
        <c:crossAx val="48650112"/>
        <c:crossBetween val="between"/>
      </c:valAx>
      <c:spPr>
        <a:solidFill xmlns:a="http://schemas.openxmlformats.org/drawingml/2006/main">
          <a:srgbClr val="F7F6F2"/>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42F38"/>
              </a:solidFill>
            </a:defRPr>
          </a:pPr>
        </a:p>
      </c:txPr>
    </c:legend>
    <c:plotVisOnly val="1"/>
  </c:chart>
  <c:spPr>
    <a:solidFill xmlns:a="http://schemas.openxmlformats.org/drawingml/2006/main">
      <a:srgbClr val="F7F6F2"/>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HOG + RBF SVM recall</c:v>
          </c:tx>
          <c:spPr>
            <a:solidFill xmlns:a="http://schemas.openxmlformats.org/drawingml/2006/main">
              <a:srgbClr val="087F82"/>
            </a:solidFill>
          </c:spPr>
          <c:invertIfNegative val="0"/>
          <c:cat>
            <c:strRef>
              <c:f>'Chart Data'!$A$2:$A$11</c:f>
              <c:strCache>
                <c:ptCount val="10"/>
                <c:pt idx="0">
                  <c:v>T-shirt/top</c:v>
                </c:pt>
                <c:pt idx="1">
                  <c:v>Trouser</c:v>
                </c:pt>
                <c:pt idx="2">
                  <c:v>Pullover</c:v>
                </c:pt>
                <c:pt idx="3">
                  <c:v>Dress</c:v>
                </c:pt>
                <c:pt idx="4">
                  <c:v>Coat</c:v>
                </c:pt>
                <c:pt idx="5">
                  <c:v>Sandal</c:v>
                </c:pt>
                <c:pt idx="6">
                  <c:v>Shirt</c:v>
                </c:pt>
                <c:pt idx="7">
                  <c:v>Sneaker</c:v>
                </c:pt>
                <c:pt idx="8">
                  <c:v>Bag</c:v>
                </c:pt>
                <c:pt idx="9">
                  <c:v>Ankle boot</c:v>
                </c:pt>
              </c:strCache>
            </c:strRef>
          </c:cat>
          <c:val>
            <c:numRef>
              <c:f>'Chart Data'!$B$2:$B$11</c:f>
              <c:numCache>
                <c:formatCode>0.0%</c:formatCode>
                <c:ptCount val="10"/>
                <c:pt idx="0">
                  <c:v>0.857</c:v>
                </c:pt>
                <c:pt idx="1">
                  <c:v>0.976</c:v>
                </c:pt>
                <c:pt idx="2">
                  <c:v>0.862</c:v>
                </c:pt>
                <c:pt idx="3">
                  <c:v>0.912</c:v>
                </c:pt>
                <c:pt idx="4">
                  <c:v>0.864</c:v>
                </c:pt>
                <c:pt idx="5">
                  <c:v>0.965</c:v>
                </c:pt>
                <c:pt idx="6">
                  <c:v>0.733</c:v>
                </c:pt>
                <c:pt idx="7">
                  <c:v>0.973</c:v>
                </c:pt>
                <c:pt idx="8">
                  <c:v>0.983</c:v>
                </c:pt>
                <c:pt idx="9">
                  <c:v>0.966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b="1">
                  <a:solidFill>
                    <a:srgbClr val="142F38"/>
                  </a:solidFill>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l"/>
        <c:numFmt formatCode="0.0%"/>
        <c:majorTickMark val="none"/>
        <c:minorTickMark val="none"/>
        <c:spPr>
          <a:ln xmlns:a="http://schemas.openxmlformats.org/drawingml/2006/main" w="9525">
            <a:solidFill>
              <a:srgbClr val="D9DFDF"/>
            </a:solidFill>
          </a:ln>
        </c:spPr>
        <c:txPr>
          <a:bodyPr xmlns:a="http://schemas.openxmlformats.org/drawingml/2006/main" anchorCtr="1"/>
          <a:lstStyle xmlns:a="http://schemas.openxmlformats.org/drawingml/2006/main"/>
          <a:p xmlns:a="http://schemas.openxmlformats.org/drawingml/2006/main">
            <a:pPr>
              <a:defRPr sz="1575">
                <a:solidFill>
                  <a:srgbClr val="142F38"/>
                </a:solidFill>
              </a:defRPr>
            </a:pPr>
          </a:p>
        </c:txPr>
        <c:crossAx val="48672768"/>
      </c:catAx>
      <c:valAx>
        <c:axId val="48672768"/>
        <c:scaling>
          <c:orientation val="minMax"/>
          <c:max val="1.08"/>
          <c:min val="0"/>
        </c:scaling>
        <c:delete val="0"/>
        <c:axPos val="b"/>
        <c:majorGridlines>
          <c:spPr>
            <a:ln xmlns:a="http://schemas.openxmlformats.org/drawingml/2006/main" w="6668">
              <a:solidFill>
                <a:srgbClr val="D9DFDF"/>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56D"/>
                </a:solidFill>
              </a:defRPr>
            </a:pPr>
          </a:p>
        </c:txPr>
        <c:crossAx val="48650112"/>
        <c:crossBetween val="between"/>
      </c:valAx>
      <c:spPr>
        <a:solidFill xmlns:a="http://schemas.openxmlformats.org/drawingml/2006/main">
          <a:srgbClr val="F7F6F2"/>
        </a:solidFill>
        <a:ln xmlns:a="http://schemas.openxmlformats.org/drawingml/2006/main" w="0">
          <a:noFill/>
        </a:ln>
      </c:spPr>
    </c:plotArea>
    <c:plotVisOnly val="1"/>
  </c:chart>
  <c:spPr>
    <a:solidFill xmlns:a="http://schemas.openxmlformats.org/drawingml/2006/main">
      <a:srgbClr val="F7F6F2"/>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01F4DA5-D01F-4413-8C96-B67F04640A62}"/>
              </a:ext>
            </a:extLst>
          </p:cNvPr>
          <p:cNvSpPr>
            <a:spLocks xmlns:a="http://schemas.openxmlformats.org/drawingml/2006/main" noGrp="1"/>
          </p:cNvSpPr>
          <p:nvPr/>
        </p:nvSpPr>
        <p:spPr>
          <a:xfrm xmlns:a="http://schemas.openxmlformats.org/drawingml/2006/main">
            <a:off x="609600" y="400050"/>
            <a:ext cx="10953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350" b="1">
                <a:solidFill>
                  <a:srgbClr val="142F38"/>
                </a:solidFill>
                <a:latin typeface="Arial"/>
                <a:ea typeface="Arial"/>
                <a:cs typeface="Arial"/>
              </a:defRPr>
            </a:defPPr>
            <a:lvl1pPr>
              <a:defRPr sz="4350" b="1">
                <a:solidFill>
                  <a:srgbClr val="142F38"/>
                </a:solidFill>
                <a:latin typeface="Arial"/>
                <a:ea typeface="Arial"/>
                <a:cs typeface="Arial"/>
              </a:defRPr>
            </a:lvl1pPr>
            <a:lvl2pPr>
              <a:defRPr sz="4350" b="1">
                <a:solidFill>
                  <a:srgbClr val="142F38"/>
                </a:solidFill>
                <a:latin typeface="Arial"/>
                <a:ea typeface="Arial"/>
                <a:cs typeface="Arial"/>
              </a:defRPr>
            </a:lvl2pPr>
            <a:lvl3pPr>
              <a:defRPr sz="4350" b="1">
                <a:solidFill>
                  <a:srgbClr val="142F38"/>
                </a:solidFill>
                <a:latin typeface="Arial"/>
                <a:ea typeface="Arial"/>
                <a:cs typeface="Arial"/>
              </a:defRPr>
            </a:lvl3pPr>
            <a:lvl4pPr>
              <a:defRPr sz="4350" b="1">
                <a:solidFill>
                  <a:srgbClr val="142F38"/>
                </a:solidFill>
                <a:latin typeface="Arial"/>
                <a:ea typeface="Arial"/>
                <a:cs typeface="Arial"/>
              </a:defRPr>
            </a:lvl4pPr>
            <a:lvl5pPr>
              <a:defRPr sz="4350" b="1">
                <a:solidFill>
                  <a:srgbClr val="142F38"/>
                </a:solidFill>
                <a:latin typeface="Arial"/>
                <a:ea typeface="Arial"/>
                <a:cs typeface="Arial"/>
              </a:defRPr>
            </a:lvl5pPr>
            <a:lvl6pPr>
              <a:defRPr sz="4350" b="1">
                <a:solidFill>
                  <a:srgbClr val="142F38"/>
                </a:solidFill>
                <a:latin typeface="Arial"/>
                <a:ea typeface="Arial"/>
                <a:cs typeface="Arial"/>
              </a:defRPr>
            </a:lvl6pPr>
            <a:lvl7pPr>
              <a:defRPr sz="4350" b="1">
                <a:solidFill>
                  <a:srgbClr val="142F38"/>
                </a:solidFill>
                <a:latin typeface="Arial"/>
                <a:ea typeface="Arial"/>
                <a:cs typeface="Arial"/>
              </a:defRPr>
            </a:lvl7pPr>
            <a:lvl8pPr>
              <a:defRPr sz="4350" b="1">
                <a:solidFill>
                  <a:srgbClr val="142F38"/>
                </a:solidFill>
                <a:latin typeface="Arial"/>
                <a:ea typeface="Arial"/>
                <a:cs typeface="Arial"/>
              </a:defRPr>
            </a:lvl8pPr>
            <a:lvl9pPr>
              <a:defRPr sz="4350" b="1">
                <a:solidFill>
                  <a:srgbClr val="142F38"/>
                </a:solidFill>
                <a:latin typeface="Arial"/>
                <a:ea typeface="Arial"/>
                <a:cs typeface="Arial"/>
              </a:defRPr>
            </a:lvl9pPr>
          </a:lstStyle>
          <a:p xmlns:a="http://schemas.openxmlformats.org/drawingml/2006/main">
            <a:pPr>
              <a:defRPr sz="4350" b="1">
                <a:solidFill>
                  <a:srgbClr val="142F38"/>
                </a:solidFill>
                <a:latin typeface="Arial"/>
                <a:ea typeface="Arial"/>
                <a:cs typeface="Arial"/>
              </a:defRPr>
            </a:pPr>
            <a:r>
              <a:rPr sz="4350" b="1">
                <a:solidFill>
                  <a:srgbClr val="142F38"/>
                </a:solidFill>
                <a:latin typeface="Arial"/>
                <a:ea typeface="Arial"/>
                <a:cs typeface="Arial"/>
              </a:rPr>
              <a:t>Automatic clothing</a:t>
            </a:r>
          </a:p>
          <a:p xmlns:a="http://schemas.openxmlformats.org/drawingml/2006/main">
            <a:pPr>
              <a:defRPr sz="4350" b="1">
                <a:solidFill>
                  <a:srgbClr val="142F38"/>
                </a:solidFill>
                <a:latin typeface="Arial"/>
                <a:ea typeface="Arial"/>
                <a:cs typeface="Arial"/>
              </a:defRPr>
            </a:pPr>
            <a:r>
              <a:rPr sz="4350" b="1">
                <a:solidFill>
                  <a:srgbClr val="142F38"/>
                </a:solidFill>
                <a:latin typeface="Arial"/>
                <a:ea typeface="Arial"/>
                <a:cs typeface="Arial"/>
              </a:rPr>
              <a:t>category recognition</a:t>
            </a:r>
          </a:p>
        </p:txBody>
      </p:sp>
      <p:sp>
        <p:nvSpPr>
          <p:cNvPr id="3" name="">
            <a:extLst xmlns:a="http://schemas.openxmlformats.org/drawingml/2006/main">
              <a:ext uri="{FF2B5EF4-FFF2-40B4-BE49-F238E27FC236}">
                <a16:creationId xmlns:a16="http://schemas.microsoft.com/office/drawing/2014/main" id="{0E675E53-E6EC-4883-BA97-1967F03DC841}"/>
              </a:ext>
            </a:extLst>
          </p:cNvPr>
          <p:cNvSpPr>
            <a:spLocks xmlns:a="http://schemas.openxmlformats.org/drawingml/2006/main" noGrp="1"/>
          </p:cNvSpPr>
          <p:nvPr/>
        </p:nvSpPr>
        <p:spPr>
          <a:xfrm xmlns:a="http://schemas.openxmlformats.org/drawingml/2006/main">
            <a:off x="10001250" y="644842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56D"/>
                </a:solidFill>
                <a:latin typeface="Arial"/>
                <a:ea typeface="Arial"/>
                <a:cs typeface="Arial"/>
              </a:defRPr>
            </a:defPPr>
            <a:lvl1pPr>
              <a:defRPr sz="1200" b="0">
                <a:solidFill>
                  <a:srgbClr val="52656D"/>
                </a:solidFill>
                <a:latin typeface="Arial"/>
                <a:ea typeface="Arial"/>
                <a:cs typeface="Arial"/>
              </a:defRPr>
            </a:lvl1pPr>
            <a:lvl2pPr>
              <a:defRPr sz="1200" b="0">
                <a:solidFill>
                  <a:srgbClr val="52656D"/>
                </a:solidFill>
                <a:latin typeface="Arial"/>
                <a:ea typeface="Arial"/>
                <a:cs typeface="Arial"/>
              </a:defRPr>
            </a:lvl2pPr>
            <a:lvl3pPr>
              <a:defRPr sz="1200" b="0">
                <a:solidFill>
                  <a:srgbClr val="52656D"/>
                </a:solidFill>
                <a:latin typeface="Arial"/>
                <a:ea typeface="Arial"/>
                <a:cs typeface="Arial"/>
              </a:defRPr>
            </a:lvl3pPr>
            <a:lvl4pPr>
              <a:defRPr sz="1200" b="0">
                <a:solidFill>
                  <a:srgbClr val="52656D"/>
                </a:solidFill>
                <a:latin typeface="Arial"/>
                <a:ea typeface="Arial"/>
                <a:cs typeface="Arial"/>
              </a:defRPr>
            </a:lvl4pPr>
            <a:lvl5pPr>
              <a:defRPr sz="1200" b="0">
                <a:solidFill>
                  <a:srgbClr val="52656D"/>
                </a:solidFill>
                <a:latin typeface="Arial"/>
                <a:ea typeface="Arial"/>
                <a:cs typeface="Arial"/>
              </a:defRPr>
            </a:lvl5pPr>
            <a:lvl6pPr>
              <a:defRPr sz="1200" b="0">
                <a:solidFill>
                  <a:srgbClr val="52656D"/>
                </a:solidFill>
                <a:latin typeface="Arial"/>
                <a:ea typeface="Arial"/>
                <a:cs typeface="Arial"/>
              </a:defRPr>
            </a:lvl6pPr>
            <a:lvl7pPr>
              <a:defRPr sz="1200" b="0">
                <a:solidFill>
                  <a:srgbClr val="52656D"/>
                </a:solidFill>
                <a:latin typeface="Arial"/>
                <a:ea typeface="Arial"/>
                <a:cs typeface="Arial"/>
              </a:defRPr>
            </a:lvl7pPr>
            <a:lvl8pPr>
              <a:defRPr sz="1200" b="0">
                <a:solidFill>
                  <a:srgbClr val="52656D"/>
                </a:solidFill>
                <a:latin typeface="Arial"/>
                <a:ea typeface="Arial"/>
                <a:cs typeface="Arial"/>
              </a:defRPr>
            </a:lvl8pPr>
            <a:lvl9pPr>
              <a:defRPr sz="1200" b="0">
                <a:solidFill>
                  <a:srgbClr val="52656D"/>
                </a:solidFill>
                <a:latin typeface="Arial"/>
                <a:ea typeface="Arial"/>
                <a:cs typeface="Arial"/>
              </a:defRPr>
            </a:lvl9pPr>
          </a:lstStyle>
          <a:p xmlns:a="http://schemas.openxmlformats.org/drawingml/2006/main">
            <a:pPr>
              <a:defRPr sz="1200" b="0">
                <a:solidFill>
                  <a:srgbClr val="52656D"/>
                </a:solidFill>
                <a:latin typeface="Arial"/>
                <a:ea typeface="Arial"/>
                <a:cs typeface="Arial"/>
              </a:defRPr>
            </a:pPr>
            <a:r>
              <a:rPr sz="1200" b="0">
                <a:solidFill>
                  <a:srgbClr val="52656D"/>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DB2F2FC8-4020-425A-BE9E-CAD08B676537}"/>
              </a:ext>
            </a:extLst>
          </p:cNvPr>
          <p:cNvSpPr>
            <a:spLocks xmlns:a="http://schemas.openxmlformats.org/drawingml/2006/main" noGrp="1"/>
          </p:cNvSpPr>
          <p:nvPr/>
        </p:nvSpPr>
        <p:spPr>
          <a:xfrm xmlns:a="http://schemas.openxmlformats.org/drawingml/2006/main">
            <a:off x="647700" y="27241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087F82"/>
                </a:solidFill>
                <a:latin typeface="Arial"/>
                <a:ea typeface="Arial"/>
                <a:cs typeface="Arial"/>
              </a:defRPr>
            </a:defPPr>
            <a:lvl1pPr>
              <a:defRPr sz="1875" b="0">
                <a:solidFill>
                  <a:srgbClr val="087F82"/>
                </a:solidFill>
                <a:latin typeface="Arial"/>
                <a:ea typeface="Arial"/>
                <a:cs typeface="Arial"/>
              </a:defRPr>
            </a:lvl1pPr>
            <a:lvl2pPr>
              <a:defRPr sz="1875" b="0">
                <a:solidFill>
                  <a:srgbClr val="087F82"/>
                </a:solidFill>
                <a:latin typeface="Arial"/>
                <a:ea typeface="Arial"/>
                <a:cs typeface="Arial"/>
              </a:defRPr>
            </a:lvl2pPr>
            <a:lvl3pPr>
              <a:defRPr sz="1875" b="0">
                <a:solidFill>
                  <a:srgbClr val="087F82"/>
                </a:solidFill>
                <a:latin typeface="Arial"/>
                <a:ea typeface="Arial"/>
                <a:cs typeface="Arial"/>
              </a:defRPr>
            </a:lvl3pPr>
            <a:lvl4pPr>
              <a:defRPr sz="1875" b="0">
                <a:solidFill>
                  <a:srgbClr val="087F82"/>
                </a:solidFill>
                <a:latin typeface="Arial"/>
                <a:ea typeface="Arial"/>
                <a:cs typeface="Arial"/>
              </a:defRPr>
            </a:lvl4pPr>
            <a:lvl5pPr>
              <a:defRPr sz="1875" b="0">
                <a:solidFill>
                  <a:srgbClr val="087F82"/>
                </a:solidFill>
                <a:latin typeface="Arial"/>
                <a:ea typeface="Arial"/>
                <a:cs typeface="Arial"/>
              </a:defRPr>
            </a:lvl5pPr>
            <a:lvl6pPr>
              <a:defRPr sz="1875" b="0">
                <a:solidFill>
                  <a:srgbClr val="087F82"/>
                </a:solidFill>
                <a:latin typeface="Arial"/>
                <a:ea typeface="Arial"/>
                <a:cs typeface="Arial"/>
              </a:defRPr>
            </a:lvl6pPr>
            <a:lvl7pPr>
              <a:defRPr sz="1875" b="0">
                <a:solidFill>
                  <a:srgbClr val="087F82"/>
                </a:solidFill>
                <a:latin typeface="Arial"/>
                <a:ea typeface="Arial"/>
                <a:cs typeface="Arial"/>
              </a:defRPr>
            </a:lvl7pPr>
            <a:lvl8pPr>
              <a:defRPr sz="1875" b="0">
                <a:solidFill>
                  <a:srgbClr val="087F82"/>
                </a:solidFill>
                <a:latin typeface="Arial"/>
                <a:ea typeface="Arial"/>
                <a:cs typeface="Arial"/>
              </a:defRPr>
            </a:lvl8pPr>
            <a:lvl9pPr>
              <a:defRPr sz="1875" b="0">
                <a:solidFill>
                  <a:srgbClr val="087F82"/>
                </a:solidFill>
                <a:latin typeface="Arial"/>
                <a:ea typeface="Arial"/>
                <a:cs typeface="Arial"/>
              </a:defRPr>
            </a:lvl9pPr>
          </a:lstStyle>
          <a:p xmlns:a="http://schemas.openxmlformats.org/drawingml/2006/main">
            <a:pPr>
              <a:defRPr sz="1875" b="0">
                <a:solidFill>
                  <a:srgbClr val="087F82"/>
                </a:solidFill>
                <a:latin typeface="Arial"/>
                <a:ea typeface="Arial"/>
                <a:cs typeface="Arial"/>
              </a:defRPr>
            </a:pPr>
            <a:r>
              <a:rPr sz="1875" b="0">
                <a:solidFill>
                  <a:srgbClr val="087F82"/>
                </a:solidFill>
                <a:latin typeface="Arial"/>
                <a:ea typeface="Arial"/>
                <a:cs typeface="Arial"/>
              </a:rPr>
              <a:t>Phase 1  /  Project 11  /  Section A</a:t>
            </a:r>
          </a:p>
        </p:txBody>
      </p:sp>
      <p:sp>
        <p:nvSpPr>
          <p:cNvPr id="5" name="">
            <a:extLst xmlns:a="http://schemas.openxmlformats.org/drawingml/2006/main">
              <a:ext uri="{FF2B5EF4-FFF2-40B4-BE49-F238E27FC236}">
                <a16:creationId xmlns:a16="http://schemas.microsoft.com/office/drawing/2014/main" id="{3F3FA27B-1118-483C-9DE2-E92049151B4A}"/>
              </a:ext>
            </a:extLst>
          </p:cNvPr>
          <p:cNvSpPr>
            <a:spLocks xmlns:a="http://schemas.openxmlformats.org/drawingml/2006/main" noGrp="1"/>
          </p:cNvSpPr>
          <p:nvPr/>
        </p:nvSpPr>
        <p:spPr>
          <a:xfrm xmlns:a="http://schemas.openxmlformats.org/drawingml/2006/main">
            <a:off x="647700" y="347662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75" b="0">
                <a:solidFill>
                  <a:srgbClr val="142F38"/>
                </a:solidFill>
                <a:latin typeface="Arial"/>
                <a:ea typeface="Arial"/>
                <a:cs typeface="Arial"/>
              </a:defRPr>
            </a:defPPr>
            <a:lvl1pPr>
              <a:defRPr sz="2475" b="0">
                <a:solidFill>
                  <a:srgbClr val="142F38"/>
                </a:solidFill>
                <a:latin typeface="Arial"/>
                <a:ea typeface="Arial"/>
                <a:cs typeface="Arial"/>
              </a:defRPr>
            </a:lvl1pPr>
            <a:lvl2pPr>
              <a:defRPr sz="2475" b="0">
                <a:solidFill>
                  <a:srgbClr val="142F38"/>
                </a:solidFill>
                <a:latin typeface="Arial"/>
                <a:ea typeface="Arial"/>
                <a:cs typeface="Arial"/>
              </a:defRPr>
            </a:lvl2pPr>
            <a:lvl3pPr>
              <a:defRPr sz="2475" b="0">
                <a:solidFill>
                  <a:srgbClr val="142F38"/>
                </a:solidFill>
                <a:latin typeface="Arial"/>
                <a:ea typeface="Arial"/>
                <a:cs typeface="Arial"/>
              </a:defRPr>
            </a:lvl3pPr>
            <a:lvl4pPr>
              <a:defRPr sz="2475" b="0">
                <a:solidFill>
                  <a:srgbClr val="142F38"/>
                </a:solidFill>
                <a:latin typeface="Arial"/>
                <a:ea typeface="Arial"/>
                <a:cs typeface="Arial"/>
              </a:defRPr>
            </a:lvl4pPr>
            <a:lvl5pPr>
              <a:defRPr sz="2475" b="0">
                <a:solidFill>
                  <a:srgbClr val="142F38"/>
                </a:solidFill>
                <a:latin typeface="Arial"/>
                <a:ea typeface="Arial"/>
                <a:cs typeface="Arial"/>
              </a:defRPr>
            </a:lvl5pPr>
            <a:lvl6pPr>
              <a:defRPr sz="2475" b="0">
                <a:solidFill>
                  <a:srgbClr val="142F38"/>
                </a:solidFill>
                <a:latin typeface="Arial"/>
                <a:ea typeface="Arial"/>
                <a:cs typeface="Arial"/>
              </a:defRPr>
            </a:lvl6pPr>
            <a:lvl7pPr>
              <a:defRPr sz="2475" b="0">
                <a:solidFill>
                  <a:srgbClr val="142F38"/>
                </a:solidFill>
                <a:latin typeface="Arial"/>
                <a:ea typeface="Arial"/>
                <a:cs typeface="Arial"/>
              </a:defRPr>
            </a:lvl7pPr>
            <a:lvl8pPr>
              <a:defRPr sz="2475" b="0">
                <a:solidFill>
                  <a:srgbClr val="142F38"/>
                </a:solidFill>
                <a:latin typeface="Arial"/>
                <a:ea typeface="Arial"/>
                <a:cs typeface="Arial"/>
              </a:defRPr>
            </a:lvl8pPr>
            <a:lvl9pPr>
              <a:defRPr sz="2475" b="0">
                <a:solidFill>
                  <a:srgbClr val="142F38"/>
                </a:solidFill>
                <a:latin typeface="Arial"/>
                <a:ea typeface="Arial"/>
                <a:cs typeface="Arial"/>
              </a:defRPr>
            </a:lvl9pPr>
          </a:lstStyle>
          <a:p xmlns:a="http://schemas.openxmlformats.org/drawingml/2006/main">
            <a:pPr>
              <a:defRPr sz="2475" b="0">
                <a:solidFill>
                  <a:srgbClr val="142F38"/>
                </a:solidFill>
                <a:latin typeface="Arial"/>
                <a:ea typeface="Arial"/>
                <a:cs typeface="Arial"/>
              </a:defRPr>
            </a:pPr>
            <a:r>
              <a:rPr sz="2475" b="0">
                <a:solidFill>
                  <a:srgbClr val="142F38"/>
                </a:solidFill>
                <a:latin typeface="Arial"/>
                <a:ea typeface="Arial"/>
                <a:cs typeface="Arial"/>
              </a:rPr>
              <a:t>Inventory image tagging with pixels and HOG</a:t>
            </a:r>
          </a:p>
        </p:txBody>
      </p:sp>
      <p:sp>
        <p:nvSpPr>
          <p:cNvPr id="6" name="">
            <a:extLst xmlns:a="http://schemas.openxmlformats.org/drawingml/2006/main">
              <a:ext uri="{FF2B5EF4-FFF2-40B4-BE49-F238E27FC236}">
                <a16:creationId xmlns:a16="http://schemas.microsoft.com/office/drawing/2014/main" id="{4AF633F8-3546-4620-A390-67B384764E82}"/>
              </a:ext>
            </a:extLst>
          </p:cNvPr>
          <p:cNvSpPr>
            <a:spLocks xmlns:a="http://schemas.openxmlformats.org/drawingml/2006/main" noGrp="1"/>
          </p:cNvSpPr>
          <p:nvPr/>
        </p:nvSpPr>
        <p:spPr>
          <a:xfrm xmlns:a="http://schemas.openxmlformats.org/drawingml/2006/main">
            <a:off x="647700" y="54673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1">
                <a:solidFill>
                  <a:srgbClr val="142F38"/>
                </a:solidFill>
                <a:latin typeface="Arial"/>
                <a:ea typeface="Arial"/>
                <a:cs typeface="Arial"/>
              </a:defRPr>
            </a:defPPr>
            <a:lvl1pPr>
              <a:defRPr sz="1875" b="1">
                <a:solidFill>
                  <a:srgbClr val="142F38"/>
                </a:solidFill>
                <a:latin typeface="Arial"/>
                <a:ea typeface="Arial"/>
                <a:cs typeface="Arial"/>
              </a:defRPr>
            </a:lvl1pPr>
            <a:lvl2pPr>
              <a:defRPr sz="1875" b="1">
                <a:solidFill>
                  <a:srgbClr val="142F38"/>
                </a:solidFill>
                <a:latin typeface="Arial"/>
                <a:ea typeface="Arial"/>
                <a:cs typeface="Arial"/>
              </a:defRPr>
            </a:lvl2pPr>
            <a:lvl3pPr>
              <a:defRPr sz="1875" b="1">
                <a:solidFill>
                  <a:srgbClr val="142F38"/>
                </a:solidFill>
                <a:latin typeface="Arial"/>
                <a:ea typeface="Arial"/>
                <a:cs typeface="Arial"/>
              </a:defRPr>
            </a:lvl3pPr>
            <a:lvl4pPr>
              <a:defRPr sz="1875" b="1">
                <a:solidFill>
                  <a:srgbClr val="142F38"/>
                </a:solidFill>
                <a:latin typeface="Arial"/>
                <a:ea typeface="Arial"/>
                <a:cs typeface="Arial"/>
              </a:defRPr>
            </a:lvl4pPr>
            <a:lvl5pPr>
              <a:defRPr sz="1875" b="1">
                <a:solidFill>
                  <a:srgbClr val="142F38"/>
                </a:solidFill>
                <a:latin typeface="Arial"/>
                <a:ea typeface="Arial"/>
                <a:cs typeface="Arial"/>
              </a:defRPr>
            </a:lvl5pPr>
            <a:lvl6pPr>
              <a:defRPr sz="1875" b="1">
                <a:solidFill>
                  <a:srgbClr val="142F38"/>
                </a:solidFill>
                <a:latin typeface="Arial"/>
                <a:ea typeface="Arial"/>
                <a:cs typeface="Arial"/>
              </a:defRPr>
            </a:lvl6pPr>
            <a:lvl7pPr>
              <a:defRPr sz="1875" b="1">
                <a:solidFill>
                  <a:srgbClr val="142F38"/>
                </a:solidFill>
                <a:latin typeface="Arial"/>
                <a:ea typeface="Arial"/>
                <a:cs typeface="Arial"/>
              </a:defRPr>
            </a:lvl7pPr>
            <a:lvl8pPr>
              <a:defRPr sz="1875" b="1">
                <a:solidFill>
                  <a:srgbClr val="142F38"/>
                </a:solidFill>
                <a:latin typeface="Arial"/>
                <a:ea typeface="Arial"/>
                <a:cs typeface="Arial"/>
              </a:defRPr>
            </a:lvl8pPr>
            <a:lvl9pPr>
              <a:defRPr sz="1875" b="1">
                <a:solidFill>
                  <a:srgbClr val="142F38"/>
                </a:solidFill>
                <a:latin typeface="Arial"/>
                <a:ea typeface="Arial"/>
                <a:cs typeface="Arial"/>
              </a:defRPr>
            </a:lvl9pPr>
          </a:lstStyle>
          <a:p xmlns:a="http://schemas.openxmlformats.org/drawingml/2006/main">
            <a:pPr>
              <a:defRPr sz="1875" b="1">
                <a:solidFill>
                  <a:srgbClr val="142F38"/>
                </a:solidFill>
                <a:latin typeface="Arial"/>
                <a:ea typeface="Arial"/>
                <a:cs typeface="Arial"/>
              </a:defRPr>
            </a:pPr>
            <a:r>
              <a:rPr sz="1875" b="1">
                <a:solidFill>
                  <a:srgbClr val="142F38"/>
                </a:solidFill>
                <a:latin typeface="Arial"/>
                <a:ea typeface="Arial"/>
                <a:cs typeface="Arial"/>
              </a:rPr>
              <a:t>Nakul    Sudeshhna    Puneet    Samarth    Neelanshu</a:t>
            </a:r>
          </a:p>
        </p:txBody>
      </p:sp>
    </p:spTree>
    <p:extLst>
      <p:ext uri="{BB962C8B-B14F-4D97-AF65-F5344CB8AC3E}">
        <p14:creationId xmlns:p14="http://schemas.microsoft.com/office/powerpoint/2010/main" val="1064826101"/>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902A58A-DB55-4BA5-B242-DE799BA27BBB}"/>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42F38"/>
                </a:solidFill>
                <a:latin typeface="Arial"/>
                <a:ea typeface="Arial"/>
                <a:cs typeface="Arial"/>
              </a:defRPr>
            </a:defPPr>
            <a:lvl1pPr>
              <a:defRPr sz="3300" b="1">
                <a:solidFill>
                  <a:srgbClr val="142F38"/>
                </a:solidFill>
                <a:latin typeface="Arial"/>
                <a:ea typeface="Arial"/>
                <a:cs typeface="Arial"/>
              </a:defRPr>
            </a:lvl1pPr>
            <a:lvl2pPr>
              <a:defRPr sz="3300" b="1">
                <a:solidFill>
                  <a:srgbClr val="142F38"/>
                </a:solidFill>
                <a:latin typeface="Arial"/>
                <a:ea typeface="Arial"/>
                <a:cs typeface="Arial"/>
              </a:defRPr>
            </a:lvl2pPr>
            <a:lvl3pPr>
              <a:defRPr sz="3300" b="1">
                <a:solidFill>
                  <a:srgbClr val="142F38"/>
                </a:solidFill>
                <a:latin typeface="Arial"/>
                <a:ea typeface="Arial"/>
                <a:cs typeface="Arial"/>
              </a:defRPr>
            </a:lvl3pPr>
            <a:lvl4pPr>
              <a:defRPr sz="3300" b="1">
                <a:solidFill>
                  <a:srgbClr val="142F38"/>
                </a:solidFill>
                <a:latin typeface="Arial"/>
                <a:ea typeface="Arial"/>
                <a:cs typeface="Arial"/>
              </a:defRPr>
            </a:lvl4pPr>
            <a:lvl5pPr>
              <a:defRPr sz="3300" b="1">
                <a:solidFill>
                  <a:srgbClr val="142F38"/>
                </a:solidFill>
                <a:latin typeface="Arial"/>
                <a:ea typeface="Arial"/>
                <a:cs typeface="Arial"/>
              </a:defRPr>
            </a:lvl5pPr>
            <a:lvl6pPr>
              <a:defRPr sz="3300" b="1">
                <a:solidFill>
                  <a:srgbClr val="142F38"/>
                </a:solidFill>
                <a:latin typeface="Arial"/>
                <a:ea typeface="Arial"/>
                <a:cs typeface="Arial"/>
              </a:defRPr>
            </a:lvl6pPr>
            <a:lvl7pPr>
              <a:defRPr sz="3300" b="1">
                <a:solidFill>
                  <a:srgbClr val="142F38"/>
                </a:solidFill>
                <a:latin typeface="Arial"/>
                <a:ea typeface="Arial"/>
                <a:cs typeface="Arial"/>
              </a:defRPr>
            </a:lvl7pPr>
            <a:lvl8pPr>
              <a:defRPr sz="3300" b="1">
                <a:solidFill>
                  <a:srgbClr val="142F38"/>
                </a:solidFill>
                <a:latin typeface="Arial"/>
                <a:ea typeface="Arial"/>
                <a:cs typeface="Arial"/>
              </a:defRPr>
            </a:lvl8pPr>
            <a:lvl9pPr>
              <a:defRPr sz="3300" b="1">
                <a:solidFill>
                  <a:srgbClr val="142F38"/>
                </a:solidFill>
                <a:latin typeface="Arial"/>
                <a:ea typeface="Arial"/>
                <a:cs typeface="Arial"/>
              </a:defRPr>
            </a:lvl9pPr>
          </a:lstStyle>
          <a:p xmlns:a="http://schemas.openxmlformats.org/drawingml/2006/main">
            <a:pPr>
              <a:defRPr sz="3300" b="1">
                <a:solidFill>
                  <a:srgbClr val="142F38"/>
                </a:solidFill>
                <a:latin typeface="Arial"/>
                <a:ea typeface="Arial"/>
                <a:cs typeface="Arial"/>
              </a:defRPr>
            </a:pPr>
            <a:r>
              <a:rPr sz="3300" b="1">
                <a:solidFill>
                  <a:srgbClr val="142F38"/>
                </a:solidFill>
                <a:latin typeface="Arial"/>
                <a:ea typeface="Arial"/>
                <a:cs typeface="Arial"/>
              </a:rPr>
              <a:t>Research question and prior work</a:t>
            </a:r>
          </a:p>
        </p:txBody>
      </p:sp>
      <p:sp>
        <p:nvSpPr>
          <p:cNvPr id="3" name="">
            <a:extLst xmlns:a="http://schemas.openxmlformats.org/drawingml/2006/main">
              <a:ext uri="{FF2B5EF4-FFF2-40B4-BE49-F238E27FC236}">
                <a16:creationId xmlns:a16="http://schemas.microsoft.com/office/drawing/2014/main" id="{45EC82B4-0AAC-4EE3-B82D-E5D7B053AA32}"/>
              </a:ext>
            </a:extLst>
          </p:cNvPr>
          <p:cNvSpPr>
            <a:spLocks xmlns:a="http://schemas.openxmlformats.org/drawingml/2006/main" noGrp="1"/>
          </p:cNvSpPr>
          <p:nvPr/>
        </p:nvSpPr>
        <p:spPr>
          <a:xfrm xmlns:a="http://schemas.openxmlformats.org/drawingml/2006/main">
            <a:off x="10001250" y="644842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56D"/>
                </a:solidFill>
                <a:latin typeface="Arial"/>
                <a:ea typeface="Arial"/>
                <a:cs typeface="Arial"/>
              </a:defRPr>
            </a:defPPr>
            <a:lvl1pPr>
              <a:defRPr sz="1200" b="0">
                <a:solidFill>
                  <a:srgbClr val="52656D"/>
                </a:solidFill>
                <a:latin typeface="Arial"/>
                <a:ea typeface="Arial"/>
                <a:cs typeface="Arial"/>
              </a:defRPr>
            </a:lvl1pPr>
            <a:lvl2pPr>
              <a:defRPr sz="1200" b="0">
                <a:solidFill>
                  <a:srgbClr val="52656D"/>
                </a:solidFill>
                <a:latin typeface="Arial"/>
                <a:ea typeface="Arial"/>
                <a:cs typeface="Arial"/>
              </a:defRPr>
            </a:lvl2pPr>
            <a:lvl3pPr>
              <a:defRPr sz="1200" b="0">
                <a:solidFill>
                  <a:srgbClr val="52656D"/>
                </a:solidFill>
                <a:latin typeface="Arial"/>
                <a:ea typeface="Arial"/>
                <a:cs typeface="Arial"/>
              </a:defRPr>
            </a:lvl3pPr>
            <a:lvl4pPr>
              <a:defRPr sz="1200" b="0">
                <a:solidFill>
                  <a:srgbClr val="52656D"/>
                </a:solidFill>
                <a:latin typeface="Arial"/>
                <a:ea typeface="Arial"/>
                <a:cs typeface="Arial"/>
              </a:defRPr>
            </a:lvl4pPr>
            <a:lvl5pPr>
              <a:defRPr sz="1200" b="0">
                <a:solidFill>
                  <a:srgbClr val="52656D"/>
                </a:solidFill>
                <a:latin typeface="Arial"/>
                <a:ea typeface="Arial"/>
                <a:cs typeface="Arial"/>
              </a:defRPr>
            </a:lvl5pPr>
            <a:lvl6pPr>
              <a:defRPr sz="1200" b="0">
                <a:solidFill>
                  <a:srgbClr val="52656D"/>
                </a:solidFill>
                <a:latin typeface="Arial"/>
                <a:ea typeface="Arial"/>
                <a:cs typeface="Arial"/>
              </a:defRPr>
            </a:lvl6pPr>
            <a:lvl7pPr>
              <a:defRPr sz="1200" b="0">
                <a:solidFill>
                  <a:srgbClr val="52656D"/>
                </a:solidFill>
                <a:latin typeface="Arial"/>
                <a:ea typeface="Arial"/>
                <a:cs typeface="Arial"/>
              </a:defRPr>
            </a:lvl7pPr>
            <a:lvl8pPr>
              <a:defRPr sz="1200" b="0">
                <a:solidFill>
                  <a:srgbClr val="52656D"/>
                </a:solidFill>
                <a:latin typeface="Arial"/>
                <a:ea typeface="Arial"/>
                <a:cs typeface="Arial"/>
              </a:defRPr>
            </a:lvl8pPr>
            <a:lvl9pPr>
              <a:defRPr sz="1200" b="0">
                <a:solidFill>
                  <a:srgbClr val="52656D"/>
                </a:solidFill>
                <a:latin typeface="Arial"/>
                <a:ea typeface="Arial"/>
                <a:cs typeface="Arial"/>
              </a:defRPr>
            </a:lvl9pPr>
          </a:lstStyle>
          <a:p xmlns:a="http://schemas.openxmlformats.org/drawingml/2006/main">
            <a:pPr>
              <a:defRPr sz="1200" b="0">
                <a:solidFill>
                  <a:srgbClr val="52656D"/>
                </a:solidFill>
                <a:latin typeface="Arial"/>
                <a:ea typeface="Arial"/>
                <a:cs typeface="Arial"/>
              </a:defRPr>
            </a:pPr>
            <a:r>
              <a:rPr sz="1200" b="0">
                <a:solidFill>
                  <a:srgbClr val="52656D"/>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0F1BBCEE-A945-409C-B94A-B811E1DB22BA}"/>
              </a:ext>
            </a:extLst>
          </p:cNvPr>
          <p:cNvSpPr>
            <a:spLocks xmlns:a="http://schemas.openxmlformats.org/drawingml/2006/main" noGrp="1"/>
          </p:cNvSpPr>
          <p:nvPr/>
        </p:nvSpPr>
        <p:spPr>
          <a:xfrm xmlns:a="http://schemas.openxmlformats.org/drawingml/2006/main">
            <a:off x="647700" y="15049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1">
                <a:solidFill>
                  <a:srgbClr val="142F38"/>
                </a:solidFill>
                <a:latin typeface="Arial"/>
                <a:ea typeface="Arial"/>
                <a:cs typeface="Arial"/>
              </a:defRPr>
            </a:defPPr>
            <a:lvl1pPr>
              <a:defRPr sz="3000" b="1">
                <a:solidFill>
                  <a:srgbClr val="142F38"/>
                </a:solidFill>
                <a:latin typeface="Arial"/>
                <a:ea typeface="Arial"/>
                <a:cs typeface="Arial"/>
              </a:defRPr>
            </a:lvl1pPr>
            <a:lvl2pPr>
              <a:defRPr sz="3000" b="1">
                <a:solidFill>
                  <a:srgbClr val="142F38"/>
                </a:solidFill>
                <a:latin typeface="Arial"/>
                <a:ea typeface="Arial"/>
                <a:cs typeface="Arial"/>
              </a:defRPr>
            </a:lvl2pPr>
            <a:lvl3pPr>
              <a:defRPr sz="3000" b="1">
                <a:solidFill>
                  <a:srgbClr val="142F38"/>
                </a:solidFill>
                <a:latin typeface="Arial"/>
                <a:ea typeface="Arial"/>
                <a:cs typeface="Arial"/>
              </a:defRPr>
            </a:lvl3pPr>
            <a:lvl4pPr>
              <a:defRPr sz="3000" b="1">
                <a:solidFill>
                  <a:srgbClr val="142F38"/>
                </a:solidFill>
                <a:latin typeface="Arial"/>
                <a:ea typeface="Arial"/>
                <a:cs typeface="Arial"/>
              </a:defRPr>
            </a:lvl4pPr>
            <a:lvl5pPr>
              <a:defRPr sz="3000" b="1">
                <a:solidFill>
                  <a:srgbClr val="142F38"/>
                </a:solidFill>
                <a:latin typeface="Arial"/>
                <a:ea typeface="Arial"/>
                <a:cs typeface="Arial"/>
              </a:defRPr>
            </a:lvl5pPr>
            <a:lvl6pPr>
              <a:defRPr sz="3000" b="1">
                <a:solidFill>
                  <a:srgbClr val="142F38"/>
                </a:solidFill>
                <a:latin typeface="Arial"/>
                <a:ea typeface="Arial"/>
                <a:cs typeface="Arial"/>
              </a:defRPr>
            </a:lvl6pPr>
            <a:lvl7pPr>
              <a:defRPr sz="3000" b="1">
                <a:solidFill>
                  <a:srgbClr val="142F38"/>
                </a:solidFill>
                <a:latin typeface="Arial"/>
                <a:ea typeface="Arial"/>
                <a:cs typeface="Arial"/>
              </a:defRPr>
            </a:lvl7pPr>
            <a:lvl8pPr>
              <a:defRPr sz="3000" b="1">
                <a:solidFill>
                  <a:srgbClr val="142F38"/>
                </a:solidFill>
                <a:latin typeface="Arial"/>
                <a:ea typeface="Arial"/>
                <a:cs typeface="Arial"/>
              </a:defRPr>
            </a:lvl8pPr>
            <a:lvl9pPr>
              <a:defRPr sz="3000" b="1">
                <a:solidFill>
                  <a:srgbClr val="142F38"/>
                </a:solidFill>
                <a:latin typeface="Arial"/>
                <a:ea typeface="Arial"/>
                <a:cs typeface="Arial"/>
              </a:defRPr>
            </a:lvl9pPr>
          </a:lstStyle>
          <a:p xmlns:a="http://schemas.openxmlformats.org/drawingml/2006/main">
            <a:pPr>
              <a:defRPr sz="3000" b="1">
                <a:solidFill>
                  <a:srgbClr val="142F38"/>
                </a:solidFill>
                <a:latin typeface="Arial"/>
                <a:ea typeface="Arial"/>
                <a:cs typeface="Arial"/>
              </a:defRPr>
            </a:pPr>
            <a:r>
              <a:rPr sz="3000" b="1">
                <a:solidFill>
                  <a:srgbClr val="142F38"/>
                </a:solidFill>
                <a:latin typeface="Arial"/>
                <a:ea typeface="Arial"/>
                <a:cs typeface="Arial"/>
              </a:rPr>
              <a:t>Does local edge structure improve clothing classification?</a:t>
            </a:r>
          </a:p>
        </p:txBody>
      </p:sp>
      <p:sp>
        <p:nvSpPr>
          <p:cNvPr id="5" name="">
            <a:extLst xmlns:a="http://schemas.openxmlformats.org/drawingml/2006/main">
              <a:ext uri="{FF2B5EF4-FFF2-40B4-BE49-F238E27FC236}">
                <a16:creationId xmlns:a16="http://schemas.microsoft.com/office/drawing/2014/main" id="{23C52270-4281-4830-BA02-0C09A298B59C}"/>
              </a:ext>
            </a:extLst>
          </p:cNvPr>
          <p:cNvSpPr>
            <a:spLocks xmlns:a="http://schemas.openxmlformats.org/drawingml/2006/main" noGrp="1"/>
          </p:cNvSpPr>
          <p:nvPr/>
        </p:nvSpPr>
        <p:spPr>
          <a:xfrm xmlns:a="http://schemas.openxmlformats.org/drawingml/2006/main">
            <a:off x="647700" y="285750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087F82"/>
                </a:solidFill>
                <a:latin typeface="Arial"/>
                <a:ea typeface="Arial"/>
                <a:cs typeface="Arial"/>
              </a:defRPr>
            </a:defPPr>
            <a:lvl1pPr>
              <a:defRPr sz="2250" b="1">
                <a:solidFill>
                  <a:srgbClr val="087F82"/>
                </a:solidFill>
                <a:latin typeface="Arial"/>
                <a:ea typeface="Arial"/>
                <a:cs typeface="Arial"/>
              </a:defRPr>
            </a:lvl1pPr>
            <a:lvl2pPr>
              <a:defRPr sz="2250" b="1">
                <a:solidFill>
                  <a:srgbClr val="087F82"/>
                </a:solidFill>
                <a:latin typeface="Arial"/>
                <a:ea typeface="Arial"/>
                <a:cs typeface="Arial"/>
              </a:defRPr>
            </a:lvl2pPr>
            <a:lvl3pPr>
              <a:defRPr sz="2250" b="1">
                <a:solidFill>
                  <a:srgbClr val="087F82"/>
                </a:solidFill>
                <a:latin typeface="Arial"/>
                <a:ea typeface="Arial"/>
                <a:cs typeface="Arial"/>
              </a:defRPr>
            </a:lvl3pPr>
            <a:lvl4pPr>
              <a:defRPr sz="2250" b="1">
                <a:solidFill>
                  <a:srgbClr val="087F82"/>
                </a:solidFill>
                <a:latin typeface="Arial"/>
                <a:ea typeface="Arial"/>
                <a:cs typeface="Arial"/>
              </a:defRPr>
            </a:lvl4pPr>
            <a:lvl5pPr>
              <a:defRPr sz="2250" b="1">
                <a:solidFill>
                  <a:srgbClr val="087F82"/>
                </a:solidFill>
                <a:latin typeface="Arial"/>
                <a:ea typeface="Arial"/>
                <a:cs typeface="Arial"/>
              </a:defRPr>
            </a:lvl5pPr>
            <a:lvl6pPr>
              <a:defRPr sz="2250" b="1">
                <a:solidFill>
                  <a:srgbClr val="087F82"/>
                </a:solidFill>
                <a:latin typeface="Arial"/>
                <a:ea typeface="Arial"/>
                <a:cs typeface="Arial"/>
              </a:defRPr>
            </a:lvl6pPr>
            <a:lvl7pPr>
              <a:defRPr sz="2250" b="1">
                <a:solidFill>
                  <a:srgbClr val="087F82"/>
                </a:solidFill>
                <a:latin typeface="Arial"/>
                <a:ea typeface="Arial"/>
                <a:cs typeface="Arial"/>
              </a:defRPr>
            </a:lvl7pPr>
            <a:lvl8pPr>
              <a:defRPr sz="2250" b="1">
                <a:solidFill>
                  <a:srgbClr val="087F82"/>
                </a:solidFill>
                <a:latin typeface="Arial"/>
                <a:ea typeface="Arial"/>
                <a:cs typeface="Arial"/>
              </a:defRPr>
            </a:lvl8pPr>
            <a:lvl9pPr>
              <a:defRPr sz="2250" b="1">
                <a:solidFill>
                  <a:srgbClr val="087F82"/>
                </a:solidFill>
                <a:latin typeface="Arial"/>
                <a:ea typeface="Arial"/>
                <a:cs typeface="Arial"/>
              </a:defRPr>
            </a:lvl9pPr>
          </a:lstStyle>
          <a:p xmlns:a="http://schemas.openxmlformats.org/drawingml/2006/main">
            <a:pPr>
              <a:defRPr sz="2250" b="1">
                <a:solidFill>
                  <a:srgbClr val="087F82"/>
                </a:solidFill>
                <a:latin typeface="Arial"/>
                <a:ea typeface="Arial"/>
                <a:cs typeface="Arial"/>
              </a:defRPr>
            </a:pPr>
            <a:r>
              <a:rPr sz="2250" b="1">
                <a:solidFill>
                  <a:srgbClr val="087F82"/>
                </a:solidFill>
                <a:latin typeface="Arial"/>
                <a:ea typeface="Arial"/>
                <a:cs typeface="Arial"/>
              </a:rPr>
              <a:t>Raw pixels</a:t>
            </a:r>
          </a:p>
        </p:txBody>
      </p:sp>
      <p:sp>
        <p:nvSpPr>
          <p:cNvPr id="6" name="">
            <a:extLst xmlns:a="http://schemas.openxmlformats.org/drawingml/2006/main">
              <a:ext uri="{FF2B5EF4-FFF2-40B4-BE49-F238E27FC236}">
                <a16:creationId xmlns:a16="http://schemas.microsoft.com/office/drawing/2014/main" id="{BE4C1A6F-FA03-4B17-B476-059366CB4E59}"/>
              </a:ext>
            </a:extLst>
          </p:cNvPr>
          <p:cNvSpPr>
            <a:spLocks xmlns:a="http://schemas.openxmlformats.org/drawingml/2006/main" noGrp="1"/>
          </p:cNvSpPr>
          <p:nvPr/>
        </p:nvSpPr>
        <p:spPr>
          <a:xfrm xmlns:a="http://schemas.openxmlformats.org/drawingml/2006/main">
            <a:off x="647700" y="3400425"/>
            <a:ext cx="4953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42F38"/>
                </a:solidFill>
                <a:latin typeface="Arial"/>
                <a:ea typeface="Arial"/>
                <a:cs typeface="Arial"/>
              </a:defRPr>
            </a:defPPr>
            <a:lvl1pPr>
              <a:defRPr sz="1950" b="0">
                <a:solidFill>
                  <a:srgbClr val="142F38"/>
                </a:solidFill>
                <a:latin typeface="Arial"/>
                <a:ea typeface="Arial"/>
                <a:cs typeface="Arial"/>
              </a:defRPr>
            </a:lvl1pPr>
            <a:lvl2pPr>
              <a:defRPr sz="1950" b="0">
                <a:solidFill>
                  <a:srgbClr val="142F38"/>
                </a:solidFill>
                <a:latin typeface="Arial"/>
                <a:ea typeface="Arial"/>
                <a:cs typeface="Arial"/>
              </a:defRPr>
            </a:lvl2pPr>
            <a:lvl3pPr>
              <a:defRPr sz="1950" b="0">
                <a:solidFill>
                  <a:srgbClr val="142F38"/>
                </a:solidFill>
                <a:latin typeface="Arial"/>
                <a:ea typeface="Arial"/>
                <a:cs typeface="Arial"/>
              </a:defRPr>
            </a:lvl3pPr>
            <a:lvl4pPr>
              <a:defRPr sz="1950" b="0">
                <a:solidFill>
                  <a:srgbClr val="142F38"/>
                </a:solidFill>
                <a:latin typeface="Arial"/>
                <a:ea typeface="Arial"/>
                <a:cs typeface="Arial"/>
              </a:defRPr>
            </a:lvl4pPr>
            <a:lvl5pPr>
              <a:defRPr sz="1950" b="0">
                <a:solidFill>
                  <a:srgbClr val="142F38"/>
                </a:solidFill>
                <a:latin typeface="Arial"/>
                <a:ea typeface="Arial"/>
                <a:cs typeface="Arial"/>
              </a:defRPr>
            </a:lvl5pPr>
            <a:lvl6pPr>
              <a:defRPr sz="1950" b="0">
                <a:solidFill>
                  <a:srgbClr val="142F38"/>
                </a:solidFill>
                <a:latin typeface="Arial"/>
                <a:ea typeface="Arial"/>
                <a:cs typeface="Arial"/>
              </a:defRPr>
            </a:lvl6pPr>
            <a:lvl7pPr>
              <a:defRPr sz="1950" b="0">
                <a:solidFill>
                  <a:srgbClr val="142F38"/>
                </a:solidFill>
                <a:latin typeface="Arial"/>
                <a:ea typeface="Arial"/>
                <a:cs typeface="Arial"/>
              </a:defRPr>
            </a:lvl7pPr>
            <a:lvl8pPr>
              <a:defRPr sz="1950" b="0">
                <a:solidFill>
                  <a:srgbClr val="142F38"/>
                </a:solidFill>
                <a:latin typeface="Arial"/>
                <a:ea typeface="Arial"/>
                <a:cs typeface="Arial"/>
              </a:defRPr>
            </a:lvl8pPr>
            <a:lvl9pPr>
              <a:defRPr sz="1950" b="0">
                <a:solidFill>
                  <a:srgbClr val="142F38"/>
                </a:solidFill>
                <a:latin typeface="Arial"/>
                <a:ea typeface="Arial"/>
                <a:cs typeface="Arial"/>
              </a:defRPr>
            </a:lvl9pPr>
          </a:lstStyle>
          <a:p xmlns:a="http://schemas.openxmlformats.org/drawingml/2006/main">
            <a:pPr>
              <a:defRPr sz="1950" b="0">
                <a:solidFill>
                  <a:srgbClr val="142F38"/>
                </a:solidFill>
                <a:latin typeface="Arial"/>
                <a:ea typeface="Arial"/>
                <a:cs typeface="Arial"/>
              </a:defRPr>
            </a:pPr>
            <a:r>
              <a:rPr sz="1950" b="0">
                <a:solidFill>
                  <a:srgbClr val="142F38"/>
                </a:solidFill>
                <a:latin typeface="Arial"/>
                <a:ea typeface="Arial"/>
                <a:cs typeface="Arial"/>
              </a:rPr>
              <a:t>Intensity at each fixed image position. A simple, direct baseline.</a:t>
            </a:r>
          </a:p>
        </p:txBody>
      </p:sp>
      <p:sp>
        <p:nvSpPr>
          <p:cNvPr id="7" name="">
            <a:extLst xmlns:a="http://schemas.openxmlformats.org/drawingml/2006/main">
              <a:ext uri="{FF2B5EF4-FFF2-40B4-BE49-F238E27FC236}">
                <a16:creationId xmlns:a16="http://schemas.microsoft.com/office/drawing/2014/main" id="{E019AF1D-CB46-4112-90F1-8C0FC40F7A9D}"/>
              </a:ext>
            </a:extLst>
          </p:cNvPr>
          <p:cNvSpPr>
            <a:spLocks xmlns:a="http://schemas.openxmlformats.org/drawingml/2006/main" noGrp="1"/>
          </p:cNvSpPr>
          <p:nvPr/>
        </p:nvSpPr>
        <p:spPr>
          <a:xfrm xmlns:a="http://schemas.openxmlformats.org/drawingml/2006/main">
            <a:off x="6457950" y="285750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087F82"/>
                </a:solidFill>
                <a:latin typeface="Arial"/>
                <a:ea typeface="Arial"/>
                <a:cs typeface="Arial"/>
              </a:defRPr>
            </a:defPPr>
            <a:lvl1pPr>
              <a:defRPr sz="2250" b="1">
                <a:solidFill>
                  <a:srgbClr val="087F82"/>
                </a:solidFill>
                <a:latin typeface="Arial"/>
                <a:ea typeface="Arial"/>
                <a:cs typeface="Arial"/>
              </a:defRPr>
            </a:lvl1pPr>
            <a:lvl2pPr>
              <a:defRPr sz="2250" b="1">
                <a:solidFill>
                  <a:srgbClr val="087F82"/>
                </a:solidFill>
                <a:latin typeface="Arial"/>
                <a:ea typeface="Arial"/>
                <a:cs typeface="Arial"/>
              </a:defRPr>
            </a:lvl2pPr>
            <a:lvl3pPr>
              <a:defRPr sz="2250" b="1">
                <a:solidFill>
                  <a:srgbClr val="087F82"/>
                </a:solidFill>
                <a:latin typeface="Arial"/>
                <a:ea typeface="Arial"/>
                <a:cs typeface="Arial"/>
              </a:defRPr>
            </a:lvl3pPr>
            <a:lvl4pPr>
              <a:defRPr sz="2250" b="1">
                <a:solidFill>
                  <a:srgbClr val="087F82"/>
                </a:solidFill>
                <a:latin typeface="Arial"/>
                <a:ea typeface="Arial"/>
                <a:cs typeface="Arial"/>
              </a:defRPr>
            </a:lvl4pPr>
            <a:lvl5pPr>
              <a:defRPr sz="2250" b="1">
                <a:solidFill>
                  <a:srgbClr val="087F82"/>
                </a:solidFill>
                <a:latin typeface="Arial"/>
                <a:ea typeface="Arial"/>
                <a:cs typeface="Arial"/>
              </a:defRPr>
            </a:lvl5pPr>
            <a:lvl6pPr>
              <a:defRPr sz="2250" b="1">
                <a:solidFill>
                  <a:srgbClr val="087F82"/>
                </a:solidFill>
                <a:latin typeface="Arial"/>
                <a:ea typeface="Arial"/>
                <a:cs typeface="Arial"/>
              </a:defRPr>
            </a:lvl6pPr>
            <a:lvl7pPr>
              <a:defRPr sz="2250" b="1">
                <a:solidFill>
                  <a:srgbClr val="087F82"/>
                </a:solidFill>
                <a:latin typeface="Arial"/>
                <a:ea typeface="Arial"/>
                <a:cs typeface="Arial"/>
              </a:defRPr>
            </a:lvl7pPr>
            <a:lvl8pPr>
              <a:defRPr sz="2250" b="1">
                <a:solidFill>
                  <a:srgbClr val="087F82"/>
                </a:solidFill>
                <a:latin typeface="Arial"/>
                <a:ea typeface="Arial"/>
                <a:cs typeface="Arial"/>
              </a:defRPr>
            </a:lvl8pPr>
            <a:lvl9pPr>
              <a:defRPr sz="2250" b="1">
                <a:solidFill>
                  <a:srgbClr val="087F82"/>
                </a:solidFill>
                <a:latin typeface="Arial"/>
                <a:ea typeface="Arial"/>
                <a:cs typeface="Arial"/>
              </a:defRPr>
            </a:lvl9pPr>
          </a:lstStyle>
          <a:p xmlns:a="http://schemas.openxmlformats.org/drawingml/2006/main">
            <a:pPr>
              <a:defRPr sz="2250" b="1">
                <a:solidFill>
                  <a:srgbClr val="087F82"/>
                </a:solidFill>
                <a:latin typeface="Arial"/>
                <a:ea typeface="Arial"/>
                <a:cs typeface="Arial"/>
              </a:defRPr>
            </a:pPr>
            <a:r>
              <a:rPr sz="2250" b="1">
                <a:solidFill>
                  <a:srgbClr val="087F82"/>
                </a:solidFill>
                <a:latin typeface="Arial"/>
                <a:ea typeface="Arial"/>
                <a:cs typeface="Arial"/>
              </a:rPr>
              <a:t>HOG descriptors</a:t>
            </a:r>
          </a:p>
        </p:txBody>
      </p:sp>
      <p:sp>
        <p:nvSpPr>
          <p:cNvPr id="8" name="">
            <a:extLst xmlns:a="http://schemas.openxmlformats.org/drawingml/2006/main">
              <a:ext uri="{FF2B5EF4-FFF2-40B4-BE49-F238E27FC236}">
                <a16:creationId xmlns:a16="http://schemas.microsoft.com/office/drawing/2014/main" id="{3CB81E95-9D9B-4025-898A-875CEBE08CF7}"/>
              </a:ext>
            </a:extLst>
          </p:cNvPr>
          <p:cNvSpPr>
            <a:spLocks xmlns:a="http://schemas.openxmlformats.org/drawingml/2006/main" noGrp="1"/>
          </p:cNvSpPr>
          <p:nvPr/>
        </p:nvSpPr>
        <p:spPr>
          <a:xfrm xmlns:a="http://schemas.openxmlformats.org/drawingml/2006/main">
            <a:off x="6457950" y="3400425"/>
            <a:ext cx="4953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42F38"/>
                </a:solidFill>
                <a:latin typeface="Arial"/>
                <a:ea typeface="Arial"/>
                <a:cs typeface="Arial"/>
              </a:defRPr>
            </a:defPPr>
            <a:lvl1pPr>
              <a:defRPr sz="1950" b="0">
                <a:solidFill>
                  <a:srgbClr val="142F38"/>
                </a:solidFill>
                <a:latin typeface="Arial"/>
                <a:ea typeface="Arial"/>
                <a:cs typeface="Arial"/>
              </a:defRPr>
            </a:lvl1pPr>
            <a:lvl2pPr>
              <a:defRPr sz="1950" b="0">
                <a:solidFill>
                  <a:srgbClr val="142F38"/>
                </a:solidFill>
                <a:latin typeface="Arial"/>
                <a:ea typeface="Arial"/>
                <a:cs typeface="Arial"/>
              </a:defRPr>
            </a:lvl2pPr>
            <a:lvl3pPr>
              <a:defRPr sz="1950" b="0">
                <a:solidFill>
                  <a:srgbClr val="142F38"/>
                </a:solidFill>
                <a:latin typeface="Arial"/>
                <a:ea typeface="Arial"/>
                <a:cs typeface="Arial"/>
              </a:defRPr>
            </a:lvl3pPr>
            <a:lvl4pPr>
              <a:defRPr sz="1950" b="0">
                <a:solidFill>
                  <a:srgbClr val="142F38"/>
                </a:solidFill>
                <a:latin typeface="Arial"/>
                <a:ea typeface="Arial"/>
                <a:cs typeface="Arial"/>
              </a:defRPr>
            </a:lvl4pPr>
            <a:lvl5pPr>
              <a:defRPr sz="1950" b="0">
                <a:solidFill>
                  <a:srgbClr val="142F38"/>
                </a:solidFill>
                <a:latin typeface="Arial"/>
                <a:ea typeface="Arial"/>
                <a:cs typeface="Arial"/>
              </a:defRPr>
            </a:lvl5pPr>
            <a:lvl6pPr>
              <a:defRPr sz="1950" b="0">
                <a:solidFill>
                  <a:srgbClr val="142F38"/>
                </a:solidFill>
                <a:latin typeface="Arial"/>
                <a:ea typeface="Arial"/>
                <a:cs typeface="Arial"/>
              </a:defRPr>
            </a:lvl6pPr>
            <a:lvl7pPr>
              <a:defRPr sz="1950" b="0">
                <a:solidFill>
                  <a:srgbClr val="142F38"/>
                </a:solidFill>
                <a:latin typeface="Arial"/>
                <a:ea typeface="Arial"/>
                <a:cs typeface="Arial"/>
              </a:defRPr>
            </a:lvl7pPr>
            <a:lvl8pPr>
              <a:defRPr sz="1950" b="0">
                <a:solidFill>
                  <a:srgbClr val="142F38"/>
                </a:solidFill>
                <a:latin typeface="Arial"/>
                <a:ea typeface="Arial"/>
                <a:cs typeface="Arial"/>
              </a:defRPr>
            </a:lvl8pPr>
            <a:lvl9pPr>
              <a:defRPr sz="1950" b="0">
                <a:solidFill>
                  <a:srgbClr val="142F38"/>
                </a:solidFill>
                <a:latin typeface="Arial"/>
                <a:ea typeface="Arial"/>
                <a:cs typeface="Arial"/>
              </a:defRPr>
            </a:lvl9pPr>
          </a:lstStyle>
          <a:p xmlns:a="http://schemas.openxmlformats.org/drawingml/2006/main">
            <a:pPr>
              <a:defRPr sz="1950" b="0">
                <a:solidFill>
                  <a:srgbClr val="142F38"/>
                </a:solidFill>
                <a:latin typeface="Arial"/>
                <a:ea typeface="Arial"/>
                <a:cs typeface="Arial"/>
              </a:defRPr>
            </a:pPr>
            <a:r>
              <a:rPr sz="1950" b="0">
                <a:solidFill>
                  <a:srgbClr val="142F38"/>
                </a:solidFill>
                <a:latin typeface="Arial"/>
                <a:ea typeface="Arial"/>
                <a:cs typeface="Arial"/>
              </a:rPr>
              <a:t>Histograms of local edge directions. The representation stays fixed during classifier training.</a:t>
            </a:r>
          </a:p>
        </p:txBody>
      </p:sp>
      <p:sp>
        <p:nvSpPr>
          <p:cNvPr id="9" name="">
            <a:extLst xmlns:a="http://schemas.openxmlformats.org/drawingml/2006/main">
              <a:ext uri="{FF2B5EF4-FFF2-40B4-BE49-F238E27FC236}">
                <a16:creationId xmlns:a16="http://schemas.microsoft.com/office/drawing/2014/main" id="{01005E7D-B337-4F3B-A622-BFDBE85C9F21}"/>
              </a:ext>
            </a:extLst>
          </p:cNvPr>
          <p:cNvSpPr>
            <a:spLocks xmlns:a="http://schemas.openxmlformats.org/drawingml/2006/main" noGrp="1"/>
          </p:cNvSpPr>
          <p:nvPr/>
        </p:nvSpPr>
        <p:spPr>
          <a:xfrm xmlns:a="http://schemas.openxmlformats.org/drawingml/2006/main">
            <a:off x="647700" y="560070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52656D"/>
                </a:solidFill>
                <a:latin typeface="Arial"/>
                <a:ea typeface="Arial"/>
                <a:cs typeface="Arial"/>
              </a:defRPr>
            </a:defPPr>
            <a:lvl1pPr>
              <a:defRPr sz="1725" b="0">
                <a:solidFill>
                  <a:srgbClr val="52656D"/>
                </a:solidFill>
                <a:latin typeface="Arial"/>
                <a:ea typeface="Arial"/>
                <a:cs typeface="Arial"/>
              </a:defRPr>
            </a:lvl1pPr>
            <a:lvl2pPr>
              <a:defRPr sz="1725" b="0">
                <a:solidFill>
                  <a:srgbClr val="52656D"/>
                </a:solidFill>
                <a:latin typeface="Arial"/>
                <a:ea typeface="Arial"/>
                <a:cs typeface="Arial"/>
              </a:defRPr>
            </a:lvl2pPr>
            <a:lvl3pPr>
              <a:defRPr sz="1725" b="0">
                <a:solidFill>
                  <a:srgbClr val="52656D"/>
                </a:solidFill>
                <a:latin typeface="Arial"/>
                <a:ea typeface="Arial"/>
                <a:cs typeface="Arial"/>
              </a:defRPr>
            </a:lvl3pPr>
            <a:lvl4pPr>
              <a:defRPr sz="1725" b="0">
                <a:solidFill>
                  <a:srgbClr val="52656D"/>
                </a:solidFill>
                <a:latin typeface="Arial"/>
                <a:ea typeface="Arial"/>
                <a:cs typeface="Arial"/>
              </a:defRPr>
            </a:lvl4pPr>
            <a:lvl5pPr>
              <a:defRPr sz="1725" b="0">
                <a:solidFill>
                  <a:srgbClr val="52656D"/>
                </a:solidFill>
                <a:latin typeface="Arial"/>
                <a:ea typeface="Arial"/>
                <a:cs typeface="Arial"/>
              </a:defRPr>
            </a:lvl5pPr>
            <a:lvl6pPr>
              <a:defRPr sz="1725" b="0">
                <a:solidFill>
                  <a:srgbClr val="52656D"/>
                </a:solidFill>
                <a:latin typeface="Arial"/>
                <a:ea typeface="Arial"/>
                <a:cs typeface="Arial"/>
              </a:defRPr>
            </a:lvl6pPr>
            <a:lvl7pPr>
              <a:defRPr sz="1725" b="0">
                <a:solidFill>
                  <a:srgbClr val="52656D"/>
                </a:solidFill>
                <a:latin typeface="Arial"/>
                <a:ea typeface="Arial"/>
                <a:cs typeface="Arial"/>
              </a:defRPr>
            </a:lvl7pPr>
            <a:lvl8pPr>
              <a:defRPr sz="1725" b="0">
                <a:solidFill>
                  <a:srgbClr val="52656D"/>
                </a:solidFill>
                <a:latin typeface="Arial"/>
                <a:ea typeface="Arial"/>
                <a:cs typeface="Arial"/>
              </a:defRPr>
            </a:lvl8pPr>
            <a:lvl9pPr>
              <a:defRPr sz="1725" b="0">
                <a:solidFill>
                  <a:srgbClr val="52656D"/>
                </a:solidFill>
                <a:latin typeface="Arial"/>
                <a:ea typeface="Arial"/>
                <a:cs typeface="Arial"/>
              </a:defRPr>
            </a:lvl9pPr>
          </a:lstStyle>
          <a:p xmlns:a="http://schemas.openxmlformats.org/drawingml/2006/main">
            <a:pPr>
              <a:defRPr sz="1725" b="0">
                <a:solidFill>
                  <a:srgbClr val="52656D"/>
                </a:solidFill>
                <a:latin typeface="Arial"/>
                <a:ea typeface="Arial"/>
                <a:cs typeface="Arial"/>
              </a:defRPr>
            </a:pPr>
            <a:r>
              <a:rPr sz="1725" b="0">
                <a:solidFill>
                  <a:srgbClr val="52656D"/>
                </a:solidFill>
                <a:latin typeface="Arial"/>
                <a:ea typeface="Arial"/>
                <a:cs typeface="Arial"/>
              </a:rPr>
              <a:t>Fashion-MNIST: Xiao et al. (2017)     HOG: Dalal &amp; Triggs (2005)</a:t>
            </a:r>
          </a:p>
        </p:txBody>
      </p:sp>
    </p:spTree>
    <p:extLst>
      <p:ext uri="{BB962C8B-B14F-4D97-AF65-F5344CB8AC3E}">
        <p14:creationId xmlns:p14="http://schemas.microsoft.com/office/powerpoint/2010/main" val="1885834090"/>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F9EFFCE-C90E-4F05-A460-456D1D9E0A4B}"/>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42F38"/>
                </a:solidFill>
                <a:latin typeface="Arial"/>
                <a:ea typeface="Arial"/>
                <a:cs typeface="Arial"/>
              </a:defRPr>
            </a:defPPr>
            <a:lvl1pPr>
              <a:defRPr sz="3300" b="1">
                <a:solidFill>
                  <a:srgbClr val="142F38"/>
                </a:solidFill>
                <a:latin typeface="Arial"/>
                <a:ea typeface="Arial"/>
                <a:cs typeface="Arial"/>
              </a:defRPr>
            </a:lvl1pPr>
            <a:lvl2pPr>
              <a:defRPr sz="3300" b="1">
                <a:solidFill>
                  <a:srgbClr val="142F38"/>
                </a:solidFill>
                <a:latin typeface="Arial"/>
                <a:ea typeface="Arial"/>
                <a:cs typeface="Arial"/>
              </a:defRPr>
            </a:lvl2pPr>
            <a:lvl3pPr>
              <a:defRPr sz="3300" b="1">
                <a:solidFill>
                  <a:srgbClr val="142F38"/>
                </a:solidFill>
                <a:latin typeface="Arial"/>
                <a:ea typeface="Arial"/>
                <a:cs typeface="Arial"/>
              </a:defRPr>
            </a:lvl3pPr>
            <a:lvl4pPr>
              <a:defRPr sz="3300" b="1">
                <a:solidFill>
                  <a:srgbClr val="142F38"/>
                </a:solidFill>
                <a:latin typeface="Arial"/>
                <a:ea typeface="Arial"/>
                <a:cs typeface="Arial"/>
              </a:defRPr>
            </a:lvl4pPr>
            <a:lvl5pPr>
              <a:defRPr sz="3300" b="1">
                <a:solidFill>
                  <a:srgbClr val="142F38"/>
                </a:solidFill>
                <a:latin typeface="Arial"/>
                <a:ea typeface="Arial"/>
                <a:cs typeface="Arial"/>
              </a:defRPr>
            </a:lvl5pPr>
            <a:lvl6pPr>
              <a:defRPr sz="3300" b="1">
                <a:solidFill>
                  <a:srgbClr val="142F38"/>
                </a:solidFill>
                <a:latin typeface="Arial"/>
                <a:ea typeface="Arial"/>
                <a:cs typeface="Arial"/>
              </a:defRPr>
            </a:lvl6pPr>
            <a:lvl7pPr>
              <a:defRPr sz="3300" b="1">
                <a:solidFill>
                  <a:srgbClr val="142F38"/>
                </a:solidFill>
                <a:latin typeface="Arial"/>
                <a:ea typeface="Arial"/>
                <a:cs typeface="Arial"/>
              </a:defRPr>
            </a:lvl7pPr>
            <a:lvl8pPr>
              <a:defRPr sz="3300" b="1">
                <a:solidFill>
                  <a:srgbClr val="142F38"/>
                </a:solidFill>
                <a:latin typeface="Arial"/>
                <a:ea typeface="Arial"/>
                <a:cs typeface="Arial"/>
              </a:defRPr>
            </a:lvl8pPr>
            <a:lvl9pPr>
              <a:defRPr sz="3300" b="1">
                <a:solidFill>
                  <a:srgbClr val="142F38"/>
                </a:solidFill>
                <a:latin typeface="Arial"/>
                <a:ea typeface="Arial"/>
                <a:cs typeface="Arial"/>
              </a:defRPr>
            </a:lvl9pPr>
          </a:lstStyle>
          <a:p xmlns:a="http://schemas.openxmlformats.org/drawingml/2006/main">
            <a:pPr>
              <a:defRPr sz="3300" b="1">
                <a:solidFill>
                  <a:srgbClr val="142F38"/>
                </a:solidFill>
                <a:latin typeface="Arial"/>
                <a:ea typeface="Arial"/>
                <a:cs typeface="Arial"/>
              </a:defRPr>
            </a:pPr>
            <a:r>
              <a:rPr sz="3300" b="1">
                <a:solidFill>
                  <a:srgbClr val="142F38"/>
                </a:solidFill>
                <a:latin typeface="Arial"/>
                <a:ea typeface="Arial"/>
                <a:cs typeface="Arial"/>
              </a:rPr>
              <a:t>Team responsibilities</a:t>
            </a:r>
          </a:p>
        </p:txBody>
      </p:sp>
      <p:sp>
        <p:nvSpPr>
          <p:cNvPr id="3" name="">
            <a:extLst xmlns:a="http://schemas.openxmlformats.org/drawingml/2006/main">
              <a:ext uri="{FF2B5EF4-FFF2-40B4-BE49-F238E27FC236}">
                <a16:creationId xmlns:a16="http://schemas.microsoft.com/office/drawing/2014/main" id="{95E2D4F7-2B1D-4BFF-B9DC-A8BE45034214}"/>
              </a:ext>
            </a:extLst>
          </p:cNvPr>
          <p:cNvSpPr>
            <a:spLocks xmlns:a="http://schemas.openxmlformats.org/drawingml/2006/main" noGrp="1"/>
          </p:cNvSpPr>
          <p:nvPr/>
        </p:nvSpPr>
        <p:spPr>
          <a:xfrm xmlns:a="http://schemas.openxmlformats.org/drawingml/2006/main">
            <a:off x="10001250" y="644842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56D"/>
                </a:solidFill>
                <a:latin typeface="Arial"/>
                <a:ea typeface="Arial"/>
                <a:cs typeface="Arial"/>
              </a:defRPr>
            </a:defPPr>
            <a:lvl1pPr>
              <a:defRPr sz="1200" b="0">
                <a:solidFill>
                  <a:srgbClr val="52656D"/>
                </a:solidFill>
                <a:latin typeface="Arial"/>
                <a:ea typeface="Arial"/>
                <a:cs typeface="Arial"/>
              </a:defRPr>
            </a:lvl1pPr>
            <a:lvl2pPr>
              <a:defRPr sz="1200" b="0">
                <a:solidFill>
                  <a:srgbClr val="52656D"/>
                </a:solidFill>
                <a:latin typeface="Arial"/>
                <a:ea typeface="Arial"/>
                <a:cs typeface="Arial"/>
              </a:defRPr>
            </a:lvl2pPr>
            <a:lvl3pPr>
              <a:defRPr sz="1200" b="0">
                <a:solidFill>
                  <a:srgbClr val="52656D"/>
                </a:solidFill>
                <a:latin typeface="Arial"/>
                <a:ea typeface="Arial"/>
                <a:cs typeface="Arial"/>
              </a:defRPr>
            </a:lvl3pPr>
            <a:lvl4pPr>
              <a:defRPr sz="1200" b="0">
                <a:solidFill>
                  <a:srgbClr val="52656D"/>
                </a:solidFill>
                <a:latin typeface="Arial"/>
                <a:ea typeface="Arial"/>
                <a:cs typeface="Arial"/>
              </a:defRPr>
            </a:lvl4pPr>
            <a:lvl5pPr>
              <a:defRPr sz="1200" b="0">
                <a:solidFill>
                  <a:srgbClr val="52656D"/>
                </a:solidFill>
                <a:latin typeface="Arial"/>
                <a:ea typeface="Arial"/>
                <a:cs typeface="Arial"/>
              </a:defRPr>
            </a:lvl5pPr>
            <a:lvl6pPr>
              <a:defRPr sz="1200" b="0">
                <a:solidFill>
                  <a:srgbClr val="52656D"/>
                </a:solidFill>
                <a:latin typeface="Arial"/>
                <a:ea typeface="Arial"/>
                <a:cs typeface="Arial"/>
              </a:defRPr>
            </a:lvl6pPr>
            <a:lvl7pPr>
              <a:defRPr sz="1200" b="0">
                <a:solidFill>
                  <a:srgbClr val="52656D"/>
                </a:solidFill>
                <a:latin typeface="Arial"/>
                <a:ea typeface="Arial"/>
                <a:cs typeface="Arial"/>
              </a:defRPr>
            </a:lvl7pPr>
            <a:lvl8pPr>
              <a:defRPr sz="1200" b="0">
                <a:solidFill>
                  <a:srgbClr val="52656D"/>
                </a:solidFill>
                <a:latin typeface="Arial"/>
                <a:ea typeface="Arial"/>
                <a:cs typeface="Arial"/>
              </a:defRPr>
            </a:lvl8pPr>
            <a:lvl9pPr>
              <a:defRPr sz="1200" b="0">
                <a:solidFill>
                  <a:srgbClr val="52656D"/>
                </a:solidFill>
                <a:latin typeface="Arial"/>
                <a:ea typeface="Arial"/>
                <a:cs typeface="Arial"/>
              </a:defRPr>
            </a:lvl9pPr>
          </a:lstStyle>
          <a:p xmlns:a="http://schemas.openxmlformats.org/drawingml/2006/main">
            <a:pPr>
              <a:defRPr sz="1200" b="0">
                <a:solidFill>
                  <a:srgbClr val="52656D"/>
                </a:solidFill>
                <a:latin typeface="Arial"/>
                <a:ea typeface="Arial"/>
                <a:cs typeface="Arial"/>
              </a:defRPr>
            </a:pPr>
            <a:r>
              <a:rPr sz="1200" b="0">
                <a:solidFill>
                  <a:srgbClr val="52656D"/>
                </a:solidFill>
                <a:latin typeface="Arial"/>
                <a:ea typeface="Arial"/>
                <a:cs typeface="Arial"/>
              </a:rPr>
              <a:t>03</a:t>
            </a:r>
          </a:p>
        </p:txBody>
      </p:sp>
      <p:graphicFrame>
        <p:nvGraphicFramePr>
          <p:cNvPr id="4" name="">
            <a:extLst xmlns:a="http://schemas.openxmlformats.org/drawingml/2006/main">
              <a:ext uri="{FF2B5EF4-FFF2-40B4-BE49-F238E27FC236}">
                <a16:creationId xmlns:a16="http://schemas.microsoft.com/office/drawing/2014/main" id="{55943BA9-54B6-4B6B-A0C3-F0B34C667940}"/>
              </a:ext>
            </a:extLst>
          </p:cNvPr>
          <p:cNvGraphicFramePr/>
          <p:nvPr/>
        </p:nvGraphicFramePr>
        <p:xfrm>
          <a:off xmlns:a="http://schemas.openxmlformats.org/drawingml/2006/main" x="647700" y="1504950"/>
          <a:ext xmlns:a="http://schemas.openxmlformats.org/drawingml/2006/main" cx="10896600" cy="4095750"/>
        </p:xfrm>
        <a:graphic xmlns:a="http://schemas.openxmlformats.org/drawingml/2006/main">
          <a:graphicData uri="http://schemas.openxmlformats.org/drawingml/2006/table">
            <a:tbl>
              <a:tblPr/>
              <a:tblGrid>
                <a:gridCol w="2381250"/>
                <a:gridCol w="8515350"/>
              </a:tblGrid>
              <a:tr h="682625">
                <a:tc>
                  <a:txBody>
                    <a:bodyPr/>
                    <a:lstStyle/>
                    <a:p>
                      <a:r>
                        <a:rPr sz="2025" b="1">
                          <a:solidFill>
                            <a:srgbClr val="FFFFFF"/>
                          </a:solidFill>
                          <a:latin typeface="Arial"/>
                          <a:ea typeface="Arial"/>
                          <a:cs typeface="Arial"/>
                        </a:rPr>
                        <a:t>Member</a:t>
                      </a:r>
                    </a:p>
                  </a:txBody>
                  <a:tcPr marL="95250" marR="95250" marT="85725" marB="57150" anchor="ctr">
                    <a:lnL w="6668">
                      <a:solidFill>
                        <a:srgbClr val="D9DFDF"/>
                      </a:solidFill>
                      <a:prstDash val="solid"/>
                    </a:lnL>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c>
                  <a:txBody>
                    <a:bodyPr/>
                    <a:lstStyle/>
                    <a:p>
                      <a:r>
                        <a:rPr sz="2025" b="1">
                          <a:solidFill>
                            <a:srgbClr val="FFFFFF"/>
                          </a:solidFill>
                          <a:latin typeface="Arial"/>
                          <a:ea typeface="Arial"/>
                          <a:cs typeface="Arial"/>
                        </a:rPr>
                        <a:t>Responsibility</a:t>
                      </a:r>
                    </a:p>
                  </a:txBody>
                  <a:tcPr marL="95250" marR="95250" marT="85725" marB="57150" anchor="ctr">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r>
              <a:tr h="682625">
                <a:tc>
                  <a:txBody>
                    <a:bodyPr/>
                    <a:lstStyle/>
                    <a:p>
                      <a:r>
                        <a:rPr sz="2025">
                          <a:solidFill>
                            <a:srgbClr val="142F38"/>
                          </a:solidFill>
                          <a:latin typeface="Arial"/>
                          <a:ea typeface="Arial"/>
                          <a:cs typeface="Arial"/>
                        </a:rPr>
                        <a:t>Nakul</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2025">
                          <a:solidFill>
                            <a:srgbClr val="142F38"/>
                          </a:solidFill>
                          <a:latin typeface="Arial"/>
                          <a:ea typeface="Arial"/>
                          <a:cs typeface="Arial"/>
                        </a:rPr>
                        <a:t>Integration, literature and reporting</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682625">
                <a:tc>
                  <a:txBody>
                    <a:bodyPr/>
                    <a:lstStyle/>
                    <a:p>
                      <a:r>
                        <a:rPr sz="2025">
                          <a:solidFill>
                            <a:srgbClr val="142F38"/>
                          </a:solidFill>
                          <a:latin typeface="Arial"/>
                          <a:ea typeface="Arial"/>
                          <a:cs typeface="Arial"/>
                        </a:rPr>
                        <a:t>Sudeshhna</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2025">
                          <a:solidFill>
                            <a:srgbClr val="142F38"/>
                          </a:solidFill>
                          <a:latin typeface="Arial"/>
                          <a:ea typeface="Arial"/>
                          <a:cs typeface="Arial"/>
                        </a:rPr>
                        <a:t>Data quality, EDA and shared splits</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682625">
                <a:tc>
                  <a:txBody>
                    <a:bodyPr/>
                    <a:lstStyle/>
                    <a:p>
                      <a:r>
                        <a:rPr sz="2025">
                          <a:solidFill>
                            <a:srgbClr val="142F38"/>
                          </a:solidFill>
                          <a:latin typeface="Arial"/>
                          <a:ea typeface="Arial"/>
                          <a:cs typeface="Arial"/>
                        </a:rPr>
                        <a:t>Puneet</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2025">
                          <a:solidFill>
                            <a:srgbClr val="142F38"/>
                          </a:solidFill>
                          <a:latin typeface="Arial"/>
                          <a:ea typeface="Arial"/>
                          <a:cs typeface="Arial"/>
                        </a:rPr>
                        <a:t>Pixels, HOG, Logistic Regression and kNN</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682625">
                <a:tc>
                  <a:txBody>
                    <a:bodyPr/>
                    <a:lstStyle/>
                    <a:p>
                      <a:r>
                        <a:rPr sz="2025">
                          <a:solidFill>
                            <a:srgbClr val="142F38"/>
                          </a:solidFill>
                          <a:latin typeface="Arial"/>
                          <a:ea typeface="Arial"/>
                          <a:cs typeface="Arial"/>
                        </a:rPr>
                        <a:t>Samarth</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2025">
                          <a:solidFill>
                            <a:srgbClr val="142F38"/>
                          </a:solidFill>
                          <a:latin typeface="Arial"/>
                          <a:ea typeface="Arial"/>
                          <a:cs typeface="Arial"/>
                        </a:rPr>
                        <a:t>Random Forest, SVM and experiment management</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682625">
                <a:tc>
                  <a:txBody>
                    <a:bodyPr/>
                    <a:lstStyle/>
                    <a:p>
                      <a:r>
                        <a:rPr sz="2025">
                          <a:solidFill>
                            <a:srgbClr val="142F38"/>
                          </a:solidFill>
                          <a:latin typeface="Arial"/>
                          <a:ea typeface="Arial"/>
                          <a:cs typeface="Arial"/>
                        </a:rPr>
                        <a:t>Neelanshu</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2025">
                          <a:solidFill>
                            <a:srgbClr val="142F38"/>
                          </a:solidFill>
                          <a:latin typeface="Arial"/>
                          <a:ea typeface="Arial"/>
                          <a:cs typeface="Arial"/>
                        </a:rPr>
                        <a:t>Evaluation, timing and error analysis</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bl>
          </a:graphicData>
        </a:graphic>
      </p:graphicFrame>
    </p:spTree>
    <p:extLst>
      <p:ext uri="{BB962C8B-B14F-4D97-AF65-F5344CB8AC3E}">
        <p14:creationId xmlns:p14="http://schemas.microsoft.com/office/powerpoint/2010/main" val="844547834"/>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CCE1878-40E3-494B-81CC-24C5F723D700}"/>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42F38"/>
                </a:solidFill>
                <a:latin typeface="Arial"/>
                <a:ea typeface="Arial"/>
                <a:cs typeface="Arial"/>
              </a:defRPr>
            </a:defPPr>
            <a:lvl1pPr>
              <a:defRPr sz="3300" b="1">
                <a:solidFill>
                  <a:srgbClr val="142F38"/>
                </a:solidFill>
                <a:latin typeface="Arial"/>
                <a:ea typeface="Arial"/>
                <a:cs typeface="Arial"/>
              </a:defRPr>
            </a:lvl1pPr>
            <a:lvl2pPr>
              <a:defRPr sz="3300" b="1">
                <a:solidFill>
                  <a:srgbClr val="142F38"/>
                </a:solidFill>
                <a:latin typeface="Arial"/>
                <a:ea typeface="Arial"/>
                <a:cs typeface="Arial"/>
              </a:defRPr>
            </a:lvl2pPr>
            <a:lvl3pPr>
              <a:defRPr sz="3300" b="1">
                <a:solidFill>
                  <a:srgbClr val="142F38"/>
                </a:solidFill>
                <a:latin typeface="Arial"/>
                <a:ea typeface="Arial"/>
                <a:cs typeface="Arial"/>
              </a:defRPr>
            </a:lvl3pPr>
            <a:lvl4pPr>
              <a:defRPr sz="3300" b="1">
                <a:solidFill>
                  <a:srgbClr val="142F38"/>
                </a:solidFill>
                <a:latin typeface="Arial"/>
                <a:ea typeface="Arial"/>
                <a:cs typeface="Arial"/>
              </a:defRPr>
            </a:lvl4pPr>
            <a:lvl5pPr>
              <a:defRPr sz="3300" b="1">
                <a:solidFill>
                  <a:srgbClr val="142F38"/>
                </a:solidFill>
                <a:latin typeface="Arial"/>
                <a:ea typeface="Arial"/>
                <a:cs typeface="Arial"/>
              </a:defRPr>
            </a:lvl5pPr>
            <a:lvl6pPr>
              <a:defRPr sz="3300" b="1">
                <a:solidFill>
                  <a:srgbClr val="142F38"/>
                </a:solidFill>
                <a:latin typeface="Arial"/>
                <a:ea typeface="Arial"/>
                <a:cs typeface="Arial"/>
              </a:defRPr>
            </a:lvl6pPr>
            <a:lvl7pPr>
              <a:defRPr sz="3300" b="1">
                <a:solidFill>
                  <a:srgbClr val="142F38"/>
                </a:solidFill>
                <a:latin typeface="Arial"/>
                <a:ea typeface="Arial"/>
                <a:cs typeface="Arial"/>
              </a:defRPr>
            </a:lvl7pPr>
            <a:lvl8pPr>
              <a:defRPr sz="3300" b="1">
                <a:solidFill>
                  <a:srgbClr val="142F38"/>
                </a:solidFill>
                <a:latin typeface="Arial"/>
                <a:ea typeface="Arial"/>
                <a:cs typeface="Arial"/>
              </a:defRPr>
            </a:lvl8pPr>
            <a:lvl9pPr>
              <a:defRPr sz="3300" b="1">
                <a:solidFill>
                  <a:srgbClr val="142F38"/>
                </a:solidFill>
                <a:latin typeface="Arial"/>
                <a:ea typeface="Arial"/>
                <a:cs typeface="Arial"/>
              </a:defRPr>
            </a:lvl9pPr>
          </a:lstStyle>
          <a:p xmlns:a="http://schemas.openxmlformats.org/drawingml/2006/main">
            <a:pPr>
              <a:defRPr sz="3300" b="1">
                <a:solidFill>
                  <a:srgbClr val="142F38"/>
                </a:solidFill>
                <a:latin typeface="Arial"/>
                <a:ea typeface="Arial"/>
                <a:cs typeface="Arial"/>
              </a:defRPr>
            </a:pPr>
            <a:r>
              <a:rPr sz="3300" b="1">
                <a:solidFill>
                  <a:srgbClr val="142F38"/>
                </a:solidFill>
                <a:latin typeface="Arial"/>
                <a:ea typeface="Arial"/>
                <a:cs typeface="Arial"/>
              </a:rPr>
              <a:t>Fashion-MNIST dataset</a:t>
            </a:r>
          </a:p>
        </p:txBody>
      </p:sp>
      <p:sp>
        <p:nvSpPr>
          <p:cNvPr id="3" name="">
            <a:extLst xmlns:a="http://schemas.openxmlformats.org/drawingml/2006/main">
              <a:ext uri="{FF2B5EF4-FFF2-40B4-BE49-F238E27FC236}">
                <a16:creationId xmlns:a16="http://schemas.microsoft.com/office/drawing/2014/main" id="{34D7DA85-271F-4DCD-898A-3B24D412B082}"/>
              </a:ext>
            </a:extLst>
          </p:cNvPr>
          <p:cNvSpPr>
            <a:spLocks xmlns:a="http://schemas.openxmlformats.org/drawingml/2006/main" noGrp="1"/>
          </p:cNvSpPr>
          <p:nvPr/>
        </p:nvSpPr>
        <p:spPr>
          <a:xfrm xmlns:a="http://schemas.openxmlformats.org/drawingml/2006/main">
            <a:off x="10001250" y="644842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56D"/>
                </a:solidFill>
                <a:latin typeface="Arial"/>
                <a:ea typeface="Arial"/>
                <a:cs typeface="Arial"/>
              </a:defRPr>
            </a:defPPr>
            <a:lvl1pPr>
              <a:defRPr sz="1200" b="0">
                <a:solidFill>
                  <a:srgbClr val="52656D"/>
                </a:solidFill>
                <a:latin typeface="Arial"/>
                <a:ea typeface="Arial"/>
                <a:cs typeface="Arial"/>
              </a:defRPr>
            </a:lvl1pPr>
            <a:lvl2pPr>
              <a:defRPr sz="1200" b="0">
                <a:solidFill>
                  <a:srgbClr val="52656D"/>
                </a:solidFill>
                <a:latin typeface="Arial"/>
                <a:ea typeface="Arial"/>
                <a:cs typeface="Arial"/>
              </a:defRPr>
            </a:lvl2pPr>
            <a:lvl3pPr>
              <a:defRPr sz="1200" b="0">
                <a:solidFill>
                  <a:srgbClr val="52656D"/>
                </a:solidFill>
                <a:latin typeface="Arial"/>
                <a:ea typeface="Arial"/>
                <a:cs typeface="Arial"/>
              </a:defRPr>
            </a:lvl3pPr>
            <a:lvl4pPr>
              <a:defRPr sz="1200" b="0">
                <a:solidFill>
                  <a:srgbClr val="52656D"/>
                </a:solidFill>
                <a:latin typeface="Arial"/>
                <a:ea typeface="Arial"/>
                <a:cs typeface="Arial"/>
              </a:defRPr>
            </a:lvl4pPr>
            <a:lvl5pPr>
              <a:defRPr sz="1200" b="0">
                <a:solidFill>
                  <a:srgbClr val="52656D"/>
                </a:solidFill>
                <a:latin typeface="Arial"/>
                <a:ea typeface="Arial"/>
                <a:cs typeface="Arial"/>
              </a:defRPr>
            </a:lvl5pPr>
            <a:lvl6pPr>
              <a:defRPr sz="1200" b="0">
                <a:solidFill>
                  <a:srgbClr val="52656D"/>
                </a:solidFill>
                <a:latin typeface="Arial"/>
                <a:ea typeface="Arial"/>
                <a:cs typeface="Arial"/>
              </a:defRPr>
            </a:lvl6pPr>
            <a:lvl7pPr>
              <a:defRPr sz="1200" b="0">
                <a:solidFill>
                  <a:srgbClr val="52656D"/>
                </a:solidFill>
                <a:latin typeface="Arial"/>
                <a:ea typeface="Arial"/>
                <a:cs typeface="Arial"/>
              </a:defRPr>
            </a:lvl7pPr>
            <a:lvl8pPr>
              <a:defRPr sz="1200" b="0">
                <a:solidFill>
                  <a:srgbClr val="52656D"/>
                </a:solidFill>
                <a:latin typeface="Arial"/>
                <a:ea typeface="Arial"/>
                <a:cs typeface="Arial"/>
              </a:defRPr>
            </a:lvl8pPr>
            <a:lvl9pPr>
              <a:defRPr sz="1200" b="0">
                <a:solidFill>
                  <a:srgbClr val="52656D"/>
                </a:solidFill>
                <a:latin typeface="Arial"/>
                <a:ea typeface="Arial"/>
                <a:cs typeface="Arial"/>
              </a:defRPr>
            </a:lvl9pPr>
          </a:lstStyle>
          <a:p xmlns:a="http://schemas.openxmlformats.org/drawingml/2006/main">
            <a:pPr>
              <a:defRPr sz="1200" b="0">
                <a:solidFill>
                  <a:srgbClr val="52656D"/>
                </a:solidFill>
                <a:latin typeface="Arial"/>
                <a:ea typeface="Arial"/>
                <a:cs typeface="Arial"/>
              </a:defRPr>
            </a:pPr>
            <a:r>
              <a:rPr sz="1200" b="0">
                <a:solidFill>
                  <a:srgbClr val="52656D"/>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8F1EB645-770E-4A71-A414-DAD8D398EF11}"/>
              </a:ext>
            </a:extLst>
          </p:cNvPr>
          <p:cNvSpPr>
            <a:spLocks xmlns:a="http://schemas.openxmlformats.org/drawingml/2006/main" noGrp="1"/>
          </p:cNvSpPr>
          <p:nvPr/>
        </p:nvSpPr>
        <p:spPr>
          <a:xfrm xmlns:a="http://schemas.openxmlformats.org/drawingml/2006/main">
            <a:off x="647700" y="13811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142F38"/>
                </a:solidFill>
                <a:latin typeface="Arial"/>
                <a:ea typeface="Arial"/>
                <a:cs typeface="Arial"/>
              </a:defRPr>
            </a:defPPr>
            <a:lvl1pPr>
              <a:defRPr sz="2100" b="1">
                <a:solidFill>
                  <a:srgbClr val="142F38"/>
                </a:solidFill>
                <a:latin typeface="Arial"/>
                <a:ea typeface="Arial"/>
                <a:cs typeface="Arial"/>
              </a:defRPr>
            </a:lvl1pPr>
            <a:lvl2pPr>
              <a:defRPr sz="2100" b="1">
                <a:solidFill>
                  <a:srgbClr val="142F38"/>
                </a:solidFill>
                <a:latin typeface="Arial"/>
                <a:ea typeface="Arial"/>
                <a:cs typeface="Arial"/>
              </a:defRPr>
            </a:lvl2pPr>
            <a:lvl3pPr>
              <a:defRPr sz="2100" b="1">
                <a:solidFill>
                  <a:srgbClr val="142F38"/>
                </a:solidFill>
                <a:latin typeface="Arial"/>
                <a:ea typeface="Arial"/>
                <a:cs typeface="Arial"/>
              </a:defRPr>
            </a:lvl3pPr>
            <a:lvl4pPr>
              <a:defRPr sz="2100" b="1">
                <a:solidFill>
                  <a:srgbClr val="142F38"/>
                </a:solidFill>
                <a:latin typeface="Arial"/>
                <a:ea typeface="Arial"/>
                <a:cs typeface="Arial"/>
              </a:defRPr>
            </a:lvl4pPr>
            <a:lvl5pPr>
              <a:defRPr sz="2100" b="1">
                <a:solidFill>
                  <a:srgbClr val="142F38"/>
                </a:solidFill>
                <a:latin typeface="Arial"/>
                <a:ea typeface="Arial"/>
                <a:cs typeface="Arial"/>
              </a:defRPr>
            </a:lvl5pPr>
            <a:lvl6pPr>
              <a:defRPr sz="2100" b="1">
                <a:solidFill>
                  <a:srgbClr val="142F38"/>
                </a:solidFill>
                <a:latin typeface="Arial"/>
                <a:ea typeface="Arial"/>
                <a:cs typeface="Arial"/>
              </a:defRPr>
            </a:lvl6pPr>
            <a:lvl7pPr>
              <a:defRPr sz="2100" b="1">
                <a:solidFill>
                  <a:srgbClr val="142F38"/>
                </a:solidFill>
                <a:latin typeface="Arial"/>
                <a:ea typeface="Arial"/>
                <a:cs typeface="Arial"/>
              </a:defRPr>
            </a:lvl7pPr>
            <a:lvl8pPr>
              <a:defRPr sz="2100" b="1">
                <a:solidFill>
                  <a:srgbClr val="142F38"/>
                </a:solidFill>
                <a:latin typeface="Arial"/>
                <a:ea typeface="Arial"/>
                <a:cs typeface="Arial"/>
              </a:defRPr>
            </a:lvl8pPr>
            <a:lvl9pPr>
              <a:defRPr sz="2100" b="1">
                <a:solidFill>
                  <a:srgbClr val="142F38"/>
                </a:solidFill>
                <a:latin typeface="Arial"/>
                <a:ea typeface="Arial"/>
                <a:cs typeface="Arial"/>
              </a:defRPr>
            </a:lvl9pPr>
          </a:lstStyle>
          <a:p xmlns:a="http://schemas.openxmlformats.org/drawingml/2006/main">
            <a:pPr>
              <a:defRPr sz="2100" b="1">
                <a:solidFill>
                  <a:srgbClr val="142F38"/>
                </a:solidFill>
                <a:latin typeface="Arial"/>
                <a:ea typeface="Arial"/>
                <a:cs typeface="Arial"/>
              </a:defRPr>
            </a:pPr>
            <a:r>
              <a:rPr sz="2100" b="1">
                <a:solidFill>
                  <a:srgbClr val="142F38"/>
                </a:solidFill>
                <a:latin typeface="Arial"/>
                <a:ea typeface="Arial"/>
                <a:cs typeface="Arial"/>
              </a:rPr>
              <a:t>60,000 training images     10,000 test images     28 × 28 grayscale</a:t>
            </a:r>
          </a:p>
        </p:txBody>
      </p:sp>
      <p:pic>
        <p:nvPicPr>
          <p:cNvPr id="5" name="">
            <a:extLst xmlns:a="http://schemas.openxmlformats.org/drawingml/2006/main">
              <a:ext uri="{FF2B5EF4-FFF2-40B4-BE49-F238E27FC236}">
                <a16:creationId xmlns:a16="http://schemas.microsoft.com/office/drawing/2014/main" id="{0BDA5875-8253-4852-9981-C6C2D03CB532}"/>
              </a:ext>
            </a:extLst>
          </p:cNvPr>
          <p:cNvPicPr>
            <a:picLocks xmlns:a="http://schemas.openxmlformats.org/drawingml/2006/main" noChangeAspect="1"/>
          </p:cNvPicPr>
          <p:nvPr/>
        </p:nvPicPr>
        <p:blipFill>
          <a:blip xmlns:r="http://schemas.openxmlformats.org/officeDocument/2006/relationships" xmlns:a="http://schemas.openxmlformats.org/drawingml/2006/main" r:embed="R66dcc6d9f72d4f8c"/>
          <a:stretch xmlns:a="http://schemas.openxmlformats.org/drawingml/2006/main"/>
        </p:blipFill>
        <p:spPr>
          <a:xfrm xmlns:a="http://schemas.openxmlformats.org/drawingml/2006/main">
            <a:off x="742950" y="2047875"/>
            <a:ext cx="1428750" cy="1428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0A21574-EA3F-4025-B455-7A90D0BB8ECE}"/>
              </a:ext>
            </a:extLst>
          </p:cNvPr>
          <p:cNvSpPr>
            <a:spLocks xmlns:a="http://schemas.openxmlformats.org/drawingml/2006/main" noGrp="1"/>
          </p:cNvSpPr>
          <p:nvPr/>
        </p:nvSpPr>
        <p:spPr>
          <a:xfrm xmlns:a="http://schemas.openxmlformats.org/drawingml/2006/main">
            <a:off x="742950" y="3562350"/>
            <a:ext cx="2066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1">
                <a:solidFill>
                  <a:srgbClr val="142F38"/>
                </a:solidFill>
                <a:latin typeface="Arial"/>
                <a:ea typeface="Arial"/>
                <a:cs typeface="Arial"/>
              </a:defRPr>
            </a:defPPr>
            <a:lvl1pPr>
              <a:defRPr sz="1650" b="1">
                <a:solidFill>
                  <a:srgbClr val="142F38"/>
                </a:solidFill>
                <a:latin typeface="Arial"/>
                <a:ea typeface="Arial"/>
                <a:cs typeface="Arial"/>
              </a:defRPr>
            </a:lvl1pPr>
            <a:lvl2pPr>
              <a:defRPr sz="1650" b="1">
                <a:solidFill>
                  <a:srgbClr val="142F38"/>
                </a:solidFill>
                <a:latin typeface="Arial"/>
                <a:ea typeface="Arial"/>
                <a:cs typeface="Arial"/>
              </a:defRPr>
            </a:lvl2pPr>
            <a:lvl3pPr>
              <a:defRPr sz="1650" b="1">
                <a:solidFill>
                  <a:srgbClr val="142F38"/>
                </a:solidFill>
                <a:latin typeface="Arial"/>
                <a:ea typeface="Arial"/>
                <a:cs typeface="Arial"/>
              </a:defRPr>
            </a:lvl3pPr>
            <a:lvl4pPr>
              <a:defRPr sz="1650" b="1">
                <a:solidFill>
                  <a:srgbClr val="142F38"/>
                </a:solidFill>
                <a:latin typeface="Arial"/>
                <a:ea typeface="Arial"/>
                <a:cs typeface="Arial"/>
              </a:defRPr>
            </a:lvl4pPr>
            <a:lvl5pPr>
              <a:defRPr sz="1650" b="1">
                <a:solidFill>
                  <a:srgbClr val="142F38"/>
                </a:solidFill>
                <a:latin typeface="Arial"/>
                <a:ea typeface="Arial"/>
                <a:cs typeface="Arial"/>
              </a:defRPr>
            </a:lvl5pPr>
            <a:lvl6pPr>
              <a:defRPr sz="1650" b="1">
                <a:solidFill>
                  <a:srgbClr val="142F38"/>
                </a:solidFill>
                <a:latin typeface="Arial"/>
                <a:ea typeface="Arial"/>
                <a:cs typeface="Arial"/>
              </a:defRPr>
            </a:lvl6pPr>
            <a:lvl7pPr>
              <a:defRPr sz="1650" b="1">
                <a:solidFill>
                  <a:srgbClr val="142F38"/>
                </a:solidFill>
                <a:latin typeface="Arial"/>
                <a:ea typeface="Arial"/>
                <a:cs typeface="Arial"/>
              </a:defRPr>
            </a:lvl7pPr>
            <a:lvl8pPr>
              <a:defRPr sz="1650" b="1">
                <a:solidFill>
                  <a:srgbClr val="142F38"/>
                </a:solidFill>
                <a:latin typeface="Arial"/>
                <a:ea typeface="Arial"/>
                <a:cs typeface="Arial"/>
              </a:defRPr>
            </a:lvl8pPr>
            <a:lvl9pPr>
              <a:defRPr sz="1650" b="1">
                <a:solidFill>
                  <a:srgbClr val="142F38"/>
                </a:solidFill>
                <a:latin typeface="Arial"/>
                <a:ea typeface="Arial"/>
                <a:cs typeface="Arial"/>
              </a:defRPr>
            </a:lvl9pPr>
          </a:lstStyle>
          <a:p xmlns:a="http://schemas.openxmlformats.org/drawingml/2006/main">
            <a:pPr>
              <a:defRPr sz="1650" b="1">
                <a:solidFill>
                  <a:srgbClr val="142F38"/>
                </a:solidFill>
                <a:latin typeface="Arial"/>
                <a:ea typeface="Arial"/>
                <a:cs typeface="Arial"/>
              </a:defRPr>
            </a:pPr>
            <a:r>
              <a:rPr sz="1650" b="1">
                <a:solidFill>
                  <a:srgbClr val="142F38"/>
                </a:solidFill>
                <a:latin typeface="Arial"/>
                <a:ea typeface="Arial"/>
                <a:cs typeface="Arial"/>
              </a:rPr>
              <a:t>T-shirt/top</a:t>
            </a:r>
          </a:p>
        </p:txBody>
      </p:sp>
      <p:pic>
        <p:nvPicPr>
          <p:cNvPr id="7" name="">
            <a:extLst xmlns:a="http://schemas.openxmlformats.org/drawingml/2006/main">
              <a:ext uri="{FF2B5EF4-FFF2-40B4-BE49-F238E27FC236}">
                <a16:creationId xmlns:a16="http://schemas.microsoft.com/office/drawing/2014/main" id="{B4E36B75-7778-4F54-929A-4F19037FF762}"/>
              </a:ext>
            </a:extLst>
          </p:cNvPr>
          <p:cNvPicPr>
            <a:picLocks xmlns:a="http://schemas.openxmlformats.org/drawingml/2006/main" noChangeAspect="1"/>
          </p:cNvPicPr>
          <p:nvPr/>
        </p:nvPicPr>
        <p:blipFill>
          <a:blip xmlns:r="http://schemas.openxmlformats.org/officeDocument/2006/relationships" xmlns:a="http://schemas.openxmlformats.org/drawingml/2006/main" r:embed="R13e60aa75f844d02"/>
          <a:stretch xmlns:a="http://schemas.openxmlformats.org/drawingml/2006/main"/>
        </p:blipFill>
        <p:spPr>
          <a:xfrm xmlns:a="http://schemas.openxmlformats.org/drawingml/2006/main">
            <a:off x="2933700" y="2047875"/>
            <a:ext cx="1428750" cy="1428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C674698-C48C-4C48-90D1-8957319FF15D}"/>
              </a:ext>
            </a:extLst>
          </p:cNvPr>
          <p:cNvSpPr>
            <a:spLocks xmlns:a="http://schemas.openxmlformats.org/drawingml/2006/main" noGrp="1"/>
          </p:cNvSpPr>
          <p:nvPr/>
        </p:nvSpPr>
        <p:spPr>
          <a:xfrm xmlns:a="http://schemas.openxmlformats.org/drawingml/2006/main">
            <a:off x="2933700" y="3562350"/>
            <a:ext cx="2066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1">
                <a:solidFill>
                  <a:srgbClr val="142F38"/>
                </a:solidFill>
                <a:latin typeface="Arial"/>
                <a:ea typeface="Arial"/>
                <a:cs typeface="Arial"/>
              </a:defRPr>
            </a:defPPr>
            <a:lvl1pPr>
              <a:defRPr sz="1650" b="1">
                <a:solidFill>
                  <a:srgbClr val="142F38"/>
                </a:solidFill>
                <a:latin typeface="Arial"/>
                <a:ea typeface="Arial"/>
                <a:cs typeface="Arial"/>
              </a:defRPr>
            </a:lvl1pPr>
            <a:lvl2pPr>
              <a:defRPr sz="1650" b="1">
                <a:solidFill>
                  <a:srgbClr val="142F38"/>
                </a:solidFill>
                <a:latin typeface="Arial"/>
                <a:ea typeface="Arial"/>
                <a:cs typeface="Arial"/>
              </a:defRPr>
            </a:lvl2pPr>
            <a:lvl3pPr>
              <a:defRPr sz="1650" b="1">
                <a:solidFill>
                  <a:srgbClr val="142F38"/>
                </a:solidFill>
                <a:latin typeface="Arial"/>
                <a:ea typeface="Arial"/>
                <a:cs typeface="Arial"/>
              </a:defRPr>
            </a:lvl3pPr>
            <a:lvl4pPr>
              <a:defRPr sz="1650" b="1">
                <a:solidFill>
                  <a:srgbClr val="142F38"/>
                </a:solidFill>
                <a:latin typeface="Arial"/>
                <a:ea typeface="Arial"/>
                <a:cs typeface="Arial"/>
              </a:defRPr>
            </a:lvl4pPr>
            <a:lvl5pPr>
              <a:defRPr sz="1650" b="1">
                <a:solidFill>
                  <a:srgbClr val="142F38"/>
                </a:solidFill>
                <a:latin typeface="Arial"/>
                <a:ea typeface="Arial"/>
                <a:cs typeface="Arial"/>
              </a:defRPr>
            </a:lvl5pPr>
            <a:lvl6pPr>
              <a:defRPr sz="1650" b="1">
                <a:solidFill>
                  <a:srgbClr val="142F38"/>
                </a:solidFill>
                <a:latin typeface="Arial"/>
                <a:ea typeface="Arial"/>
                <a:cs typeface="Arial"/>
              </a:defRPr>
            </a:lvl6pPr>
            <a:lvl7pPr>
              <a:defRPr sz="1650" b="1">
                <a:solidFill>
                  <a:srgbClr val="142F38"/>
                </a:solidFill>
                <a:latin typeface="Arial"/>
                <a:ea typeface="Arial"/>
                <a:cs typeface="Arial"/>
              </a:defRPr>
            </a:lvl7pPr>
            <a:lvl8pPr>
              <a:defRPr sz="1650" b="1">
                <a:solidFill>
                  <a:srgbClr val="142F38"/>
                </a:solidFill>
                <a:latin typeface="Arial"/>
                <a:ea typeface="Arial"/>
                <a:cs typeface="Arial"/>
              </a:defRPr>
            </a:lvl8pPr>
            <a:lvl9pPr>
              <a:defRPr sz="1650" b="1">
                <a:solidFill>
                  <a:srgbClr val="142F38"/>
                </a:solidFill>
                <a:latin typeface="Arial"/>
                <a:ea typeface="Arial"/>
                <a:cs typeface="Arial"/>
              </a:defRPr>
            </a:lvl9pPr>
          </a:lstStyle>
          <a:p xmlns:a="http://schemas.openxmlformats.org/drawingml/2006/main">
            <a:pPr>
              <a:defRPr sz="1650" b="1">
                <a:solidFill>
                  <a:srgbClr val="142F38"/>
                </a:solidFill>
                <a:latin typeface="Arial"/>
                <a:ea typeface="Arial"/>
                <a:cs typeface="Arial"/>
              </a:defRPr>
            </a:pPr>
            <a:r>
              <a:rPr sz="1650" b="1">
                <a:solidFill>
                  <a:srgbClr val="142F38"/>
                </a:solidFill>
                <a:latin typeface="Arial"/>
                <a:ea typeface="Arial"/>
                <a:cs typeface="Arial"/>
              </a:rPr>
              <a:t>Trouser</a:t>
            </a:r>
          </a:p>
        </p:txBody>
      </p:sp>
      <p:pic>
        <p:nvPicPr>
          <p:cNvPr id="9" name="">
            <a:extLst xmlns:a="http://schemas.openxmlformats.org/drawingml/2006/main">
              <a:ext uri="{FF2B5EF4-FFF2-40B4-BE49-F238E27FC236}">
                <a16:creationId xmlns:a16="http://schemas.microsoft.com/office/drawing/2014/main" id="{3D7AD9FD-CD08-432E-9EF9-459D1B815E05}"/>
              </a:ext>
            </a:extLst>
          </p:cNvPr>
          <p:cNvPicPr>
            <a:picLocks xmlns:a="http://schemas.openxmlformats.org/drawingml/2006/main" noChangeAspect="1"/>
          </p:cNvPicPr>
          <p:nvPr/>
        </p:nvPicPr>
        <p:blipFill>
          <a:blip xmlns:r="http://schemas.openxmlformats.org/officeDocument/2006/relationships" xmlns:a="http://schemas.openxmlformats.org/drawingml/2006/main" r:embed="Ra47c38743c71423c"/>
          <a:stretch xmlns:a="http://schemas.openxmlformats.org/drawingml/2006/main"/>
        </p:blipFill>
        <p:spPr>
          <a:xfrm xmlns:a="http://schemas.openxmlformats.org/drawingml/2006/main">
            <a:off x="5124450" y="2047875"/>
            <a:ext cx="1428750" cy="14287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5F6DE1F-C162-4E03-9E30-36A4507AC653}"/>
              </a:ext>
            </a:extLst>
          </p:cNvPr>
          <p:cNvSpPr>
            <a:spLocks xmlns:a="http://schemas.openxmlformats.org/drawingml/2006/main" noGrp="1"/>
          </p:cNvSpPr>
          <p:nvPr/>
        </p:nvSpPr>
        <p:spPr>
          <a:xfrm xmlns:a="http://schemas.openxmlformats.org/drawingml/2006/main">
            <a:off x="5124450" y="3562350"/>
            <a:ext cx="2066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1">
                <a:solidFill>
                  <a:srgbClr val="142F38"/>
                </a:solidFill>
                <a:latin typeface="Arial"/>
                <a:ea typeface="Arial"/>
                <a:cs typeface="Arial"/>
              </a:defRPr>
            </a:defPPr>
            <a:lvl1pPr>
              <a:defRPr sz="1650" b="1">
                <a:solidFill>
                  <a:srgbClr val="142F38"/>
                </a:solidFill>
                <a:latin typeface="Arial"/>
                <a:ea typeface="Arial"/>
                <a:cs typeface="Arial"/>
              </a:defRPr>
            </a:lvl1pPr>
            <a:lvl2pPr>
              <a:defRPr sz="1650" b="1">
                <a:solidFill>
                  <a:srgbClr val="142F38"/>
                </a:solidFill>
                <a:latin typeface="Arial"/>
                <a:ea typeface="Arial"/>
                <a:cs typeface="Arial"/>
              </a:defRPr>
            </a:lvl2pPr>
            <a:lvl3pPr>
              <a:defRPr sz="1650" b="1">
                <a:solidFill>
                  <a:srgbClr val="142F38"/>
                </a:solidFill>
                <a:latin typeface="Arial"/>
                <a:ea typeface="Arial"/>
                <a:cs typeface="Arial"/>
              </a:defRPr>
            </a:lvl3pPr>
            <a:lvl4pPr>
              <a:defRPr sz="1650" b="1">
                <a:solidFill>
                  <a:srgbClr val="142F38"/>
                </a:solidFill>
                <a:latin typeface="Arial"/>
                <a:ea typeface="Arial"/>
                <a:cs typeface="Arial"/>
              </a:defRPr>
            </a:lvl4pPr>
            <a:lvl5pPr>
              <a:defRPr sz="1650" b="1">
                <a:solidFill>
                  <a:srgbClr val="142F38"/>
                </a:solidFill>
                <a:latin typeface="Arial"/>
                <a:ea typeface="Arial"/>
                <a:cs typeface="Arial"/>
              </a:defRPr>
            </a:lvl5pPr>
            <a:lvl6pPr>
              <a:defRPr sz="1650" b="1">
                <a:solidFill>
                  <a:srgbClr val="142F38"/>
                </a:solidFill>
                <a:latin typeface="Arial"/>
                <a:ea typeface="Arial"/>
                <a:cs typeface="Arial"/>
              </a:defRPr>
            </a:lvl6pPr>
            <a:lvl7pPr>
              <a:defRPr sz="1650" b="1">
                <a:solidFill>
                  <a:srgbClr val="142F38"/>
                </a:solidFill>
                <a:latin typeface="Arial"/>
                <a:ea typeface="Arial"/>
                <a:cs typeface="Arial"/>
              </a:defRPr>
            </a:lvl7pPr>
            <a:lvl8pPr>
              <a:defRPr sz="1650" b="1">
                <a:solidFill>
                  <a:srgbClr val="142F38"/>
                </a:solidFill>
                <a:latin typeface="Arial"/>
                <a:ea typeface="Arial"/>
                <a:cs typeface="Arial"/>
              </a:defRPr>
            </a:lvl8pPr>
            <a:lvl9pPr>
              <a:defRPr sz="1650" b="1">
                <a:solidFill>
                  <a:srgbClr val="142F38"/>
                </a:solidFill>
                <a:latin typeface="Arial"/>
                <a:ea typeface="Arial"/>
                <a:cs typeface="Arial"/>
              </a:defRPr>
            </a:lvl9pPr>
          </a:lstStyle>
          <a:p xmlns:a="http://schemas.openxmlformats.org/drawingml/2006/main">
            <a:pPr>
              <a:defRPr sz="1650" b="1">
                <a:solidFill>
                  <a:srgbClr val="142F38"/>
                </a:solidFill>
                <a:latin typeface="Arial"/>
                <a:ea typeface="Arial"/>
                <a:cs typeface="Arial"/>
              </a:defRPr>
            </a:pPr>
            <a:r>
              <a:rPr sz="1650" b="1">
                <a:solidFill>
                  <a:srgbClr val="142F38"/>
                </a:solidFill>
                <a:latin typeface="Arial"/>
                <a:ea typeface="Arial"/>
                <a:cs typeface="Arial"/>
              </a:rPr>
              <a:t>Pullover</a:t>
            </a:r>
          </a:p>
        </p:txBody>
      </p:sp>
      <p:pic>
        <p:nvPicPr>
          <p:cNvPr id="11" name="">
            <a:extLst xmlns:a="http://schemas.openxmlformats.org/drawingml/2006/main">
              <a:ext uri="{FF2B5EF4-FFF2-40B4-BE49-F238E27FC236}">
                <a16:creationId xmlns:a16="http://schemas.microsoft.com/office/drawing/2014/main" id="{5ECE276F-2AA7-43F7-9247-3ADFEBE1EE1A}"/>
              </a:ext>
            </a:extLst>
          </p:cNvPr>
          <p:cNvPicPr>
            <a:picLocks xmlns:a="http://schemas.openxmlformats.org/drawingml/2006/main" noChangeAspect="1"/>
          </p:cNvPicPr>
          <p:nvPr/>
        </p:nvPicPr>
        <p:blipFill>
          <a:blip xmlns:r="http://schemas.openxmlformats.org/officeDocument/2006/relationships" xmlns:a="http://schemas.openxmlformats.org/drawingml/2006/main" r:embed="R2277c71abebd45fe"/>
          <a:stretch xmlns:a="http://schemas.openxmlformats.org/drawingml/2006/main"/>
        </p:blipFill>
        <p:spPr>
          <a:xfrm xmlns:a="http://schemas.openxmlformats.org/drawingml/2006/main">
            <a:off x="7315200" y="2047875"/>
            <a:ext cx="1428750" cy="14287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F36E264-A4A2-4534-B024-F547CCE58C3E}"/>
              </a:ext>
            </a:extLst>
          </p:cNvPr>
          <p:cNvSpPr>
            <a:spLocks xmlns:a="http://schemas.openxmlformats.org/drawingml/2006/main" noGrp="1"/>
          </p:cNvSpPr>
          <p:nvPr/>
        </p:nvSpPr>
        <p:spPr>
          <a:xfrm xmlns:a="http://schemas.openxmlformats.org/drawingml/2006/main">
            <a:off x="7315200" y="3562350"/>
            <a:ext cx="2066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1">
                <a:solidFill>
                  <a:srgbClr val="142F38"/>
                </a:solidFill>
                <a:latin typeface="Arial"/>
                <a:ea typeface="Arial"/>
                <a:cs typeface="Arial"/>
              </a:defRPr>
            </a:defPPr>
            <a:lvl1pPr>
              <a:defRPr sz="1650" b="1">
                <a:solidFill>
                  <a:srgbClr val="142F38"/>
                </a:solidFill>
                <a:latin typeface="Arial"/>
                <a:ea typeface="Arial"/>
                <a:cs typeface="Arial"/>
              </a:defRPr>
            </a:lvl1pPr>
            <a:lvl2pPr>
              <a:defRPr sz="1650" b="1">
                <a:solidFill>
                  <a:srgbClr val="142F38"/>
                </a:solidFill>
                <a:latin typeface="Arial"/>
                <a:ea typeface="Arial"/>
                <a:cs typeface="Arial"/>
              </a:defRPr>
            </a:lvl2pPr>
            <a:lvl3pPr>
              <a:defRPr sz="1650" b="1">
                <a:solidFill>
                  <a:srgbClr val="142F38"/>
                </a:solidFill>
                <a:latin typeface="Arial"/>
                <a:ea typeface="Arial"/>
                <a:cs typeface="Arial"/>
              </a:defRPr>
            </a:lvl3pPr>
            <a:lvl4pPr>
              <a:defRPr sz="1650" b="1">
                <a:solidFill>
                  <a:srgbClr val="142F38"/>
                </a:solidFill>
                <a:latin typeface="Arial"/>
                <a:ea typeface="Arial"/>
                <a:cs typeface="Arial"/>
              </a:defRPr>
            </a:lvl4pPr>
            <a:lvl5pPr>
              <a:defRPr sz="1650" b="1">
                <a:solidFill>
                  <a:srgbClr val="142F38"/>
                </a:solidFill>
                <a:latin typeface="Arial"/>
                <a:ea typeface="Arial"/>
                <a:cs typeface="Arial"/>
              </a:defRPr>
            </a:lvl5pPr>
            <a:lvl6pPr>
              <a:defRPr sz="1650" b="1">
                <a:solidFill>
                  <a:srgbClr val="142F38"/>
                </a:solidFill>
                <a:latin typeface="Arial"/>
                <a:ea typeface="Arial"/>
                <a:cs typeface="Arial"/>
              </a:defRPr>
            </a:lvl6pPr>
            <a:lvl7pPr>
              <a:defRPr sz="1650" b="1">
                <a:solidFill>
                  <a:srgbClr val="142F38"/>
                </a:solidFill>
                <a:latin typeface="Arial"/>
                <a:ea typeface="Arial"/>
                <a:cs typeface="Arial"/>
              </a:defRPr>
            </a:lvl7pPr>
            <a:lvl8pPr>
              <a:defRPr sz="1650" b="1">
                <a:solidFill>
                  <a:srgbClr val="142F38"/>
                </a:solidFill>
                <a:latin typeface="Arial"/>
                <a:ea typeface="Arial"/>
                <a:cs typeface="Arial"/>
              </a:defRPr>
            </a:lvl8pPr>
            <a:lvl9pPr>
              <a:defRPr sz="1650" b="1">
                <a:solidFill>
                  <a:srgbClr val="142F38"/>
                </a:solidFill>
                <a:latin typeface="Arial"/>
                <a:ea typeface="Arial"/>
                <a:cs typeface="Arial"/>
              </a:defRPr>
            </a:lvl9pPr>
          </a:lstStyle>
          <a:p xmlns:a="http://schemas.openxmlformats.org/drawingml/2006/main">
            <a:pPr>
              <a:defRPr sz="1650" b="1">
                <a:solidFill>
                  <a:srgbClr val="142F38"/>
                </a:solidFill>
                <a:latin typeface="Arial"/>
                <a:ea typeface="Arial"/>
                <a:cs typeface="Arial"/>
              </a:defRPr>
            </a:pPr>
            <a:r>
              <a:rPr sz="1650" b="1">
                <a:solidFill>
                  <a:srgbClr val="142F38"/>
                </a:solidFill>
                <a:latin typeface="Arial"/>
                <a:ea typeface="Arial"/>
                <a:cs typeface="Arial"/>
              </a:rPr>
              <a:t>Dress</a:t>
            </a:r>
          </a:p>
        </p:txBody>
      </p:sp>
      <p:pic>
        <p:nvPicPr>
          <p:cNvPr id="13" name="">
            <a:extLst xmlns:a="http://schemas.openxmlformats.org/drawingml/2006/main">
              <a:ext uri="{FF2B5EF4-FFF2-40B4-BE49-F238E27FC236}">
                <a16:creationId xmlns:a16="http://schemas.microsoft.com/office/drawing/2014/main" id="{E240FBCF-B773-46E7-BDE6-FD2DEECB46E6}"/>
              </a:ext>
            </a:extLst>
          </p:cNvPr>
          <p:cNvPicPr>
            <a:picLocks xmlns:a="http://schemas.openxmlformats.org/drawingml/2006/main" noChangeAspect="1"/>
          </p:cNvPicPr>
          <p:nvPr/>
        </p:nvPicPr>
        <p:blipFill>
          <a:blip xmlns:r="http://schemas.openxmlformats.org/officeDocument/2006/relationships" xmlns:a="http://schemas.openxmlformats.org/drawingml/2006/main" r:embed="R1276d34c7c65419e"/>
          <a:stretch xmlns:a="http://schemas.openxmlformats.org/drawingml/2006/main"/>
        </p:blipFill>
        <p:spPr>
          <a:xfrm xmlns:a="http://schemas.openxmlformats.org/drawingml/2006/main">
            <a:off x="9505950" y="2047875"/>
            <a:ext cx="1428750" cy="14287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D21AA6D4-D641-4C17-9C3E-1E5AC7B31EC1}"/>
              </a:ext>
            </a:extLst>
          </p:cNvPr>
          <p:cNvSpPr>
            <a:spLocks xmlns:a="http://schemas.openxmlformats.org/drawingml/2006/main" noGrp="1"/>
          </p:cNvSpPr>
          <p:nvPr/>
        </p:nvSpPr>
        <p:spPr>
          <a:xfrm xmlns:a="http://schemas.openxmlformats.org/drawingml/2006/main">
            <a:off x="9505950" y="3562350"/>
            <a:ext cx="2066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1">
                <a:solidFill>
                  <a:srgbClr val="142F38"/>
                </a:solidFill>
                <a:latin typeface="Arial"/>
                <a:ea typeface="Arial"/>
                <a:cs typeface="Arial"/>
              </a:defRPr>
            </a:defPPr>
            <a:lvl1pPr>
              <a:defRPr sz="1650" b="1">
                <a:solidFill>
                  <a:srgbClr val="142F38"/>
                </a:solidFill>
                <a:latin typeface="Arial"/>
                <a:ea typeface="Arial"/>
                <a:cs typeface="Arial"/>
              </a:defRPr>
            </a:lvl1pPr>
            <a:lvl2pPr>
              <a:defRPr sz="1650" b="1">
                <a:solidFill>
                  <a:srgbClr val="142F38"/>
                </a:solidFill>
                <a:latin typeface="Arial"/>
                <a:ea typeface="Arial"/>
                <a:cs typeface="Arial"/>
              </a:defRPr>
            </a:lvl2pPr>
            <a:lvl3pPr>
              <a:defRPr sz="1650" b="1">
                <a:solidFill>
                  <a:srgbClr val="142F38"/>
                </a:solidFill>
                <a:latin typeface="Arial"/>
                <a:ea typeface="Arial"/>
                <a:cs typeface="Arial"/>
              </a:defRPr>
            </a:lvl3pPr>
            <a:lvl4pPr>
              <a:defRPr sz="1650" b="1">
                <a:solidFill>
                  <a:srgbClr val="142F38"/>
                </a:solidFill>
                <a:latin typeface="Arial"/>
                <a:ea typeface="Arial"/>
                <a:cs typeface="Arial"/>
              </a:defRPr>
            </a:lvl4pPr>
            <a:lvl5pPr>
              <a:defRPr sz="1650" b="1">
                <a:solidFill>
                  <a:srgbClr val="142F38"/>
                </a:solidFill>
                <a:latin typeface="Arial"/>
                <a:ea typeface="Arial"/>
                <a:cs typeface="Arial"/>
              </a:defRPr>
            </a:lvl5pPr>
            <a:lvl6pPr>
              <a:defRPr sz="1650" b="1">
                <a:solidFill>
                  <a:srgbClr val="142F38"/>
                </a:solidFill>
                <a:latin typeface="Arial"/>
                <a:ea typeface="Arial"/>
                <a:cs typeface="Arial"/>
              </a:defRPr>
            </a:lvl6pPr>
            <a:lvl7pPr>
              <a:defRPr sz="1650" b="1">
                <a:solidFill>
                  <a:srgbClr val="142F38"/>
                </a:solidFill>
                <a:latin typeface="Arial"/>
                <a:ea typeface="Arial"/>
                <a:cs typeface="Arial"/>
              </a:defRPr>
            </a:lvl7pPr>
            <a:lvl8pPr>
              <a:defRPr sz="1650" b="1">
                <a:solidFill>
                  <a:srgbClr val="142F38"/>
                </a:solidFill>
                <a:latin typeface="Arial"/>
                <a:ea typeface="Arial"/>
                <a:cs typeface="Arial"/>
              </a:defRPr>
            </a:lvl8pPr>
            <a:lvl9pPr>
              <a:defRPr sz="1650" b="1">
                <a:solidFill>
                  <a:srgbClr val="142F38"/>
                </a:solidFill>
                <a:latin typeface="Arial"/>
                <a:ea typeface="Arial"/>
                <a:cs typeface="Arial"/>
              </a:defRPr>
            </a:lvl9pPr>
          </a:lstStyle>
          <a:p xmlns:a="http://schemas.openxmlformats.org/drawingml/2006/main">
            <a:pPr>
              <a:defRPr sz="1650" b="1">
                <a:solidFill>
                  <a:srgbClr val="142F38"/>
                </a:solidFill>
                <a:latin typeface="Arial"/>
                <a:ea typeface="Arial"/>
                <a:cs typeface="Arial"/>
              </a:defRPr>
            </a:pPr>
            <a:r>
              <a:rPr sz="1650" b="1">
                <a:solidFill>
                  <a:srgbClr val="142F38"/>
                </a:solidFill>
                <a:latin typeface="Arial"/>
                <a:ea typeface="Arial"/>
                <a:cs typeface="Arial"/>
              </a:rPr>
              <a:t>Coat</a:t>
            </a:r>
          </a:p>
        </p:txBody>
      </p:sp>
      <p:pic>
        <p:nvPicPr>
          <p:cNvPr id="15" name="">
            <a:extLst xmlns:a="http://schemas.openxmlformats.org/drawingml/2006/main">
              <a:ext uri="{FF2B5EF4-FFF2-40B4-BE49-F238E27FC236}">
                <a16:creationId xmlns:a16="http://schemas.microsoft.com/office/drawing/2014/main" id="{EECF151F-FF8A-41EF-BC11-FFCA01405D9B}"/>
              </a:ext>
            </a:extLst>
          </p:cNvPr>
          <p:cNvPicPr>
            <a:picLocks xmlns:a="http://schemas.openxmlformats.org/drawingml/2006/main" noChangeAspect="1"/>
          </p:cNvPicPr>
          <p:nvPr/>
        </p:nvPicPr>
        <p:blipFill>
          <a:blip xmlns:r="http://schemas.openxmlformats.org/officeDocument/2006/relationships" xmlns:a="http://schemas.openxmlformats.org/drawingml/2006/main" r:embed="Rbbecdaa790584553"/>
          <a:stretch xmlns:a="http://schemas.openxmlformats.org/drawingml/2006/main"/>
        </p:blipFill>
        <p:spPr>
          <a:xfrm xmlns:a="http://schemas.openxmlformats.org/drawingml/2006/main">
            <a:off x="742950" y="4048125"/>
            <a:ext cx="1428750" cy="14287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C0EABA66-0C31-4C05-9243-9233F1B810AA}"/>
              </a:ext>
            </a:extLst>
          </p:cNvPr>
          <p:cNvSpPr>
            <a:spLocks xmlns:a="http://schemas.openxmlformats.org/drawingml/2006/main" noGrp="1"/>
          </p:cNvSpPr>
          <p:nvPr/>
        </p:nvSpPr>
        <p:spPr>
          <a:xfrm xmlns:a="http://schemas.openxmlformats.org/drawingml/2006/main">
            <a:off x="742950" y="5562600"/>
            <a:ext cx="2066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1">
                <a:solidFill>
                  <a:srgbClr val="142F38"/>
                </a:solidFill>
                <a:latin typeface="Arial"/>
                <a:ea typeface="Arial"/>
                <a:cs typeface="Arial"/>
              </a:defRPr>
            </a:defPPr>
            <a:lvl1pPr>
              <a:defRPr sz="1650" b="1">
                <a:solidFill>
                  <a:srgbClr val="142F38"/>
                </a:solidFill>
                <a:latin typeface="Arial"/>
                <a:ea typeface="Arial"/>
                <a:cs typeface="Arial"/>
              </a:defRPr>
            </a:lvl1pPr>
            <a:lvl2pPr>
              <a:defRPr sz="1650" b="1">
                <a:solidFill>
                  <a:srgbClr val="142F38"/>
                </a:solidFill>
                <a:latin typeface="Arial"/>
                <a:ea typeface="Arial"/>
                <a:cs typeface="Arial"/>
              </a:defRPr>
            </a:lvl2pPr>
            <a:lvl3pPr>
              <a:defRPr sz="1650" b="1">
                <a:solidFill>
                  <a:srgbClr val="142F38"/>
                </a:solidFill>
                <a:latin typeface="Arial"/>
                <a:ea typeface="Arial"/>
                <a:cs typeface="Arial"/>
              </a:defRPr>
            </a:lvl3pPr>
            <a:lvl4pPr>
              <a:defRPr sz="1650" b="1">
                <a:solidFill>
                  <a:srgbClr val="142F38"/>
                </a:solidFill>
                <a:latin typeface="Arial"/>
                <a:ea typeface="Arial"/>
                <a:cs typeface="Arial"/>
              </a:defRPr>
            </a:lvl4pPr>
            <a:lvl5pPr>
              <a:defRPr sz="1650" b="1">
                <a:solidFill>
                  <a:srgbClr val="142F38"/>
                </a:solidFill>
                <a:latin typeface="Arial"/>
                <a:ea typeface="Arial"/>
                <a:cs typeface="Arial"/>
              </a:defRPr>
            </a:lvl5pPr>
            <a:lvl6pPr>
              <a:defRPr sz="1650" b="1">
                <a:solidFill>
                  <a:srgbClr val="142F38"/>
                </a:solidFill>
                <a:latin typeface="Arial"/>
                <a:ea typeface="Arial"/>
                <a:cs typeface="Arial"/>
              </a:defRPr>
            </a:lvl6pPr>
            <a:lvl7pPr>
              <a:defRPr sz="1650" b="1">
                <a:solidFill>
                  <a:srgbClr val="142F38"/>
                </a:solidFill>
                <a:latin typeface="Arial"/>
                <a:ea typeface="Arial"/>
                <a:cs typeface="Arial"/>
              </a:defRPr>
            </a:lvl7pPr>
            <a:lvl8pPr>
              <a:defRPr sz="1650" b="1">
                <a:solidFill>
                  <a:srgbClr val="142F38"/>
                </a:solidFill>
                <a:latin typeface="Arial"/>
                <a:ea typeface="Arial"/>
                <a:cs typeface="Arial"/>
              </a:defRPr>
            </a:lvl8pPr>
            <a:lvl9pPr>
              <a:defRPr sz="1650" b="1">
                <a:solidFill>
                  <a:srgbClr val="142F38"/>
                </a:solidFill>
                <a:latin typeface="Arial"/>
                <a:ea typeface="Arial"/>
                <a:cs typeface="Arial"/>
              </a:defRPr>
            </a:lvl9pPr>
          </a:lstStyle>
          <a:p xmlns:a="http://schemas.openxmlformats.org/drawingml/2006/main">
            <a:pPr>
              <a:defRPr sz="1650" b="1">
                <a:solidFill>
                  <a:srgbClr val="142F38"/>
                </a:solidFill>
                <a:latin typeface="Arial"/>
                <a:ea typeface="Arial"/>
                <a:cs typeface="Arial"/>
              </a:defRPr>
            </a:pPr>
            <a:r>
              <a:rPr sz="1650" b="1">
                <a:solidFill>
                  <a:srgbClr val="142F38"/>
                </a:solidFill>
                <a:latin typeface="Arial"/>
                <a:ea typeface="Arial"/>
                <a:cs typeface="Arial"/>
              </a:rPr>
              <a:t>Sandal</a:t>
            </a:r>
          </a:p>
        </p:txBody>
      </p:sp>
      <p:pic>
        <p:nvPicPr>
          <p:cNvPr id="17" name="">
            <a:extLst xmlns:a="http://schemas.openxmlformats.org/drawingml/2006/main">
              <a:ext uri="{FF2B5EF4-FFF2-40B4-BE49-F238E27FC236}">
                <a16:creationId xmlns:a16="http://schemas.microsoft.com/office/drawing/2014/main" id="{61B94E33-9C5B-4F17-81D1-EEDC2E22C264}"/>
              </a:ext>
            </a:extLst>
          </p:cNvPr>
          <p:cNvPicPr>
            <a:picLocks xmlns:a="http://schemas.openxmlformats.org/drawingml/2006/main" noChangeAspect="1"/>
          </p:cNvPicPr>
          <p:nvPr/>
        </p:nvPicPr>
        <p:blipFill>
          <a:blip xmlns:r="http://schemas.openxmlformats.org/officeDocument/2006/relationships" xmlns:a="http://schemas.openxmlformats.org/drawingml/2006/main" r:embed="Re37cabed944d41b5"/>
          <a:stretch xmlns:a="http://schemas.openxmlformats.org/drawingml/2006/main"/>
        </p:blipFill>
        <p:spPr>
          <a:xfrm xmlns:a="http://schemas.openxmlformats.org/drawingml/2006/main">
            <a:off x="2933700" y="4048125"/>
            <a:ext cx="1428750" cy="14287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B653EB2F-53C4-4C3E-98DD-CF528D2A26AC}"/>
              </a:ext>
            </a:extLst>
          </p:cNvPr>
          <p:cNvSpPr>
            <a:spLocks xmlns:a="http://schemas.openxmlformats.org/drawingml/2006/main" noGrp="1"/>
          </p:cNvSpPr>
          <p:nvPr/>
        </p:nvSpPr>
        <p:spPr>
          <a:xfrm xmlns:a="http://schemas.openxmlformats.org/drawingml/2006/main">
            <a:off x="2933700" y="5562600"/>
            <a:ext cx="2066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1">
                <a:solidFill>
                  <a:srgbClr val="142F38"/>
                </a:solidFill>
                <a:latin typeface="Arial"/>
                <a:ea typeface="Arial"/>
                <a:cs typeface="Arial"/>
              </a:defRPr>
            </a:defPPr>
            <a:lvl1pPr>
              <a:defRPr sz="1650" b="1">
                <a:solidFill>
                  <a:srgbClr val="142F38"/>
                </a:solidFill>
                <a:latin typeface="Arial"/>
                <a:ea typeface="Arial"/>
                <a:cs typeface="Arial"/>
              </a:defRPr>
            </a:lvl1pPr>
            <a:lvl2pPr>
              <a:defRPr sz="1650" b="1">
                <a:solidFill>
                  <a:srgbClr val="142F38"/>
                </a:solidFill>
                <a:latin typeface="Arial"/>
                <a:ea typeface="Arial"/>
                <a:cs typeface="Arial"/>
              </a:defRPr>
            </a:lvl2pPr>
            <a:lvl3pPr>
              <a:defRPr sz="1650" b="1">
                <a:solidFill>
                  <a:srgbClr val="142F38"/>
                </a:solidFill>
                <a:latin typeface="Arial"/>
                <a:ea typeface="Arial"/>
                <a:cs typeface="Arial"/>
              </a:defRPr>
            </a:lvl3pPr>
            <a:lvl4pPr>
              <a:defRPr sz="1650" b="1">
                <a:solidFill>
                  <a:srgbClr val="142F38"/>
                </a:solidFill>
                <a:latin typeface="Arial"/>
                <a:ea typeface="Arial"/>
                <a:cs typeface="Arial"/>
              </a:defRPr>
            </a:lvl4pPr>
            <a:lvl5pPr>
              <a:defRPr sz="1650" b="1">
                <a:solidFill>
                  <a:srgbClr val="142F38"/>
                </a:solidFill>
                <a:latin typeface="Arial"/>
                <a:ea typeface="Arial"/>
                <a:cs typeface="Arial"/>
              </a:defRPr>
            </a:lvl5pPr>
            <a:lvl6pPr>
              <a:defRPr sz="1650" b="1">
                <a:solidFill>
                  <a:srgbClr val="142F38"/>
                </a:solidFill>
                <a:latin typeface="Arial"/>
                <a:ea typeface="Arial"/>
                <a:cs typeface="Arial"/>
              </a:defRPr>
            </a:lvl6pPr>
            <a:lvl7pPr>
              <a:defRPr sz="1650" b="1">
                <a:solidFill>
                  <a:srgbClr val="142F38"/>
                </a:solidFill>
                <a:latin typeface="Arial"/>
                <a:ea typeface="Arial"/>
                <a:cs typeface="Arial"/>
              </a:defRPr>
            </a:lvl7pPr>
            <a:lvl8pPr>
              <a:defRPr sz="1650" b="1">
                <a:solidFill>
                  <a:srgbClr val="142F38"/>
                </a:solidFill>
                <a:latin typeface="Arial"/>
                <a:ea typeface="Arial"/>
                <a:cs typeface="Arial"/>
              </a:defRPr>
            </a:lvl8pPr>
            <a:lvl9pPr>
              <a:defRPr sz="1650" b="1">
                <a:solidFill>
                  <a:srgbClr val="142F38"/>
                </a:solidFill>
                <a:latin typeface="Arial"/>
                <a:ea typeface="Arial"/>
                <a:cs typeface="Arial"/>
              </a:defRPr>
            </a:lvl9pPr>
          </a:lstStyle>
          <a:p xmlns:a="http://schemas.openxmlformats.org/drawingml/2006/main">
            <a:pPr>
              <a:defRPr sz="1650" b="1">
                <a:solidFill>
                  <a:srgbClr val="142F38"/>
                </a:solidFill>
                <a:latin typeface="Arial"/>
                <a:ea typeface="Arial"/>
                <a:cs typeface="Arial"/>
              </a:defRPr>
            </a:pPr>
            <a:r>
              <a:rPr sz="1650" b="1">
                <a:solidFill>
                  <a:srgbClr val="142F38"/>
                </a:solidFill>
                <a:latin typeface="Arial"/>
                <a:ea typeface="Arial"/>
                <a:cs typeface="Arial"/>
              </a:rPr>
              <a:t>Shirt</a:t>
            </a:r>
          </a:p>
        </p:txBody>
      </p:sp>
      <p:pic>
        <p:nvPicPr>
          <p:cNvPr id="19" name="">
            <a:extLst xmlns:a="http://schemas.openxmlformats.org/drawingml/2006/main">
              <a:ext uri="{FF2B5EF4-FFF2-40B4-BE49-F238E27FC236}">
                <a16:creationId xmlns:a16="http://schemas.microsoft.com/office/drawing/2014/main" id="{5B5B4655-5858-4912-AECE-8E49CDDE4C71}"/>
              </a:ext>
            </a:extLst>
          </p:cNvPr>
          <p:cNvPicPr>
            <a:picLocks xmlns:a="http://schemas.openxmlformats.org/drawingml/2006/main" noChangeAspect="1"/>
          </p:cNvPicPr>
          <p:nvPr/>
        </p:nvPicPr>
        <p:blipFill>
          <a:blip xmlns:r="http://schemas.openxmlformats.org/officeDocument/2006/relationships" xmlns:a="http://schemas.openxmlformats.org/drawingml/2006/main" r:embed="R668aad7162af438e"/>
          <a:stretch xmlns:a="http://schemas.openxmlformats.org/drawingml/2006/main"/>
        </p:blipFill>
        <p:spPr>
          <a:xfrm xmlns:a="http://schemas.openxmlformats.org/drawingml/2006/main">
            <a:off x="5124450" y="4048125"/>
            <a:ext cx="1428750" cy="14287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BAC02338-D91B-4694-874D-D65F0306D900}"/>
              </a:ext>
            </a:extLst>
          </p:cNvPr>
          <p:cNvSpPr>
            <a:spLocks xmlns:a="http://schemas.openxmlformats.org/drawingml/2006/main" noGrp="1"/>
          </p:cNvSpPr>
          <p:nvPr/>
        </p:nvSpPr>
        <p:spPr>
          <a:xfrm xmlns:a="http://schemas.openxmlformats.org/drawingml/2006/main">
            <a:off x="5124450" y="5562600"/>
            <a:ext cx="2066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1">
                <a:solidFill>
                  <a:srgbClr val="142F38"/>
                </a:solidFill>
                <a:latin typeface="Arial"/>
                <a:ea typeface="Arial"/>
                <a:cs typeface="Arial"/>
              </a:defRPr>
            </a:defPPr>
            <a:lvl1pPr>
              <a:defRPr sz="1650" b="1">
                <a:solidFill>
                  <a:srgbClr val="142F38"/>
                </a:solidFill>
                <a:latin typeface="Arial"/>
                <a:ea typeface="Arial"/>
                <a:cs typeface="Arial"/>
              </a:defRPr>
            </a:lvl1pPr>
            <a:lvl2pPr>
              <a:defRPr sz="1650" b="1">
                <a:solidFill>
                  <a:srgbClr val="142F38"/>
                </a:solidFill>
                <a:latin typeface="Arial"/>
                <a:ea typeface="Arial"/>
                <a:cs typeface="Arial"/>
              </a:defRPr>
            </a:lvl2pPr>
            <a:lvl3pPr>
              <a:defRPr sz="1650" b="1">
                <a:solidFill>
                  <a:srgbClr val="142F38"/>
                </a:solidFill>
                <a:latin typeface="Arial"/>
                <a:ea typeface="Arial"/>
                <a:cs typeface="Arial"/>
              </a:defRPr>
            </a:lvl3pPr>
            <a:lvl4pPr>
              <a:defRPr sz="1650" b="1">
                <a:solidFill>
                  <a:srgbClr val="142F38"/>
                </a:solidFill>
                <a:latin typeface="Arial"/>
                <a:ea typeface="Arial"/>
                <a:cs typeface="Arial"/>
              </a:defRPr>
            </a:lvl4pPr>
            <a:lvl5pPr>
              <a:defRPr sz="1650" b="1">
                <a:solidFill>
                  <a:srgbClr val="142F38"/>
                </a:solidFill>
                <a:latin typeface="Arial"/>
                <a:ea typeface="Arial"/>
                <a:cs typeface="Arial"/>
              </a:defRPr>
            </a:lvl5pPr>
            <a:lvl6pPr>
              <a:defRPr sz="1650" b="1">
                <a:solidFill>
                  <a:srgbClr val="142F38"/>
                </a:solidFill>
                <a:latin typeface="Arial"/>
                <a:ea typeface="Arial"/>
                <a:cs typeface="Arial"/>
              </a:defRPr>
            </a:lvl6pPr>
            <a:lvl7pPr>
              <a:defRPr sz="1650" b="1">
                <a:solidFill>
                  <a:srgbClr val="142F38"/>
                </a:solidFill>
                <a:latin typeface="Arial"/>
                <a:ea typeface="Arial"/>
                <a:cs typeface="Arial"/>
              </a:defRPr>
            </a:lvl7pPr>
            <a:lvl8pPr>
              <a:defRPr sz="1650" b="1">
                <a:solidFill>
                  <a:srgbClr val="142F38"/>
                </a:solidFill>
                <a:latin typeface="Arial"/>
                <a:ea typeface="Arial"/>
                <a:cs typeface="Arial"/>
              </a:defRPr>
            </a:lvl8pPr>
            <a:lvl9pPr>
              <a:defRPr sz="1650" b="1">
                <a:solidFill>
                  <a:srgbClr val="142F38"/>
                </a:solidFill>
                <a:latin typeface="Arial"/>
                <a:ea typeface="Arial"/>
                <a:cs typeface="Arial"/>
              </a:defRPr>
            </a:lvl9pPr>
          </a:lstStyle>
          <a:p xmlns:a="http://schemas.openxmlformats.org/drawingml/2006/main">
            <a:pPr>
              <a:defRPr sz="1650" b="1">
                <a:solidFill>
                  <a:srgbClr val="142F38"/>
                </a:solidFill>
                <a:latin typeface="Arial"/>
                <a:ea typeface="Arial"/>
                <a:cs typeface="Arial"/>
              </a:defRPr>
            </a:pPr>
            <a:r>
              <a:rPr sz="1650" b="1">
                <a:solidFill>
                  <a:srgbClr val="142F38"/>
                </a:solidFill>
                <a:latin typeface="Arial"/>
                <a:ea typeface="Arial"/>
                <a:cs typeface="Arial"/>
              </a:rPr>
              <a:t>Sneaker</a:t>
            </a:r>
          </a:p>
        </p:txBody>
      </p:sp>
      <p:pic>
        <p:nvPicPr>
          <p:cNvPr id="21" name="">
            <a:extLst xmlns:a="http://schemas.openxmlformats.org/drawingml/2006/main">
              <a:ext uri="{FF2B5EF4-FFF2-40B4-BE49-F238E27FC236}">
                <a16:creationId xmlns:a16="http://schemas.microsoft.com/office/drawing/2014/main" id="{750BDFED-F8F7-493F-BF40-A8669C18953C}"/>
              </a:ext>
            </a:extLst>
          </p:cNvPr>
          <p:cNvPicPr>
            <a:picLocks xmlns:a="http://schemas.openxmlformats.org/drawingml/2006/main" noChangeAspect="1"/>
          </p:cNvPicPr>
          <p:nvPr/>
        </p:nvPicPr>
        <p:blipFill>
          <a:blip xmlns:r="http://schemas.openxmlformats.org/officeDocument/2006/relationships" xmlns:a="http://schemas.openxmlformats.org/drawingml/2006/main" r:embed="R5389732680654758"/>
          <a:stretch xmlns:a="http://schemas.openxmlformats.org/drawingml/2006/main"/>
        </p:blipFill>
        <p:spPr>
          <a:xfrm xmlns:a="http://schemas.openxmlformats.org/drawingml/2006/main">
            <a:off x="7315200" y="4048125"/>
            <a:ext cx="1428750" cy="142875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65C12E6A-0A64-4B00-BF59-514EA86ED332}"/>
              </a:ext>
            </a:extLst>
          </p:cNvPr>
          <p:cNvSpPr>
            <a:spLocks xmlns:a="http://schemas.openxmlformats.org/drawingml/2006/main" noGrp="1"/>
          </p:cNvSpPr>
          <p:nvPr/>
        </p:nvSpPr>
        <p:spPr>
          <a:xfrm xmlns:a="http://schemas.openxmlformats.org/drawingml/2006/main">
            <a:off x="7315200" y="5562600"/>
            <a:ext cx="2066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1">
                <a:solidFill>
                  <a:srgbClr val="142F38"/>
                </a:solidFill>
                <a:latin typeface="Arial"/>
                <a:ea typeface="Arial"/>
                <a:cs typeface="Arial"/>
              </a:defRPr>
            </a:defPPr>
            <a:lvl1pPr>
              <a:defRPr sz="1650" b="1">
                <a:solidFill>
                  <a:srgbClr val="142F38"/>
                </a:solidFill>
                <a:latin typeface="Arial"/>
                <a:ea typeface="Arial"/>
                <a:cs typeface="Arial"/>
              </a:defRPr>
            </a:lvl1pPr>
            <a:lvl2pPr>
              <a:defRPr sz="1650" b="1">
                <a:solidFill>
                  <a:srgbClr val="142F38"/>
                </a:solidFill>
                <a:latin typeface="Arial"/>
                <a:ea typeface="Arial"/>
                <a:cs typeface="Arial"/>
              </a:defRPr>
            </a:lvl2pPr>
            <a:lvl3pPr>
              <a:defRPr sz="1650" b="1">
                <a:solidFill>
                  <a:srgbClr val="142F38"/>
                </a:solidFill>
                <a:latin typeface="Arial"/>
                <a:ea typeface="Arial"/>
                <a:cs typeface="Arial"/>
              </a:defRPr>
            </a:lvl3pPr>
            <a:lvl4pPr>
              <a:defRPr sz="1650" b="1">
                <a:solidFill>
                  <a:srgbClr val="142F38"/>
                </a:solidFill>
                <a:latin typeface="Arial"/>
                <a:ea typeface="Arial"/>
                <a:cs typeface="Arial"/>
              </a:defRPr>
            </a:lvl4pPr>
            <a:lvl5pPr>
              <a:defRPr sz="1650" b="1">
                <a:solidFill>
                  <a:srgbClr val="142F38"/>
                </a:solidFill>
                <a:latin typeface="Arial"/>
                <a:ea typeface="Arial"/>
                <a:cs typeface="Arial"/>
              </a:defRPr>
            </a:lvl5pPr>
            <a:lvl6pPr>
              <a:defRPr sz="1650" b="1">
                <a:solidFill>
                  <a:srgbClr val="142F38"/>
                </a:solidFill>
                <a:latin typeface="Arial"/>
                <a:ea typeface="Arial"/>
                <a:cs typeface="Arial"/>
              </a:defRPr>
            </a:lvl6pPr>
            <a:lvl7pPr>
              <a:defRPr sz="1650" b="1">
                <a:solidFill>
                  <a:srgbClr val="142F38"/>
                </a:solidFill>
                <a:latin typeface="Arial"/>
                <a:ea typeface="Arial"/>
                <a:cs typeface="Arial"/>
              </a:defRPr>
            </a:lvl7pPr>
            <a:lvl8pPr>
              <a:defRPr sz="1650" b="1">
                <a:solidFill>
                  <a:srgbClr val="142F38"/>
                </a:solidFill>
                <a:latin typeface="Arial"/>
                <a:ea typeface="Arial"/>
                <a:cs typeface="Arial"/>
              </a:defRPr>
            </a:lvl8pPr>
            <a:lvl9pPr>
              <a:defRPr sz="1650" b="1">
                <a:solidFill>
                  <a:srgbClr val="142F38"/>
                </a:solidFill>
                <a:latin typeface="Arial"/>
                <a:ea typeface="Arial"/>
                <a:cs typeface="Arial"/>
              </a:defRPr>
            </a:lvl9pPr>
          </a:lstStyle>
          <a:p xmlns:a="http://schemas.openxmlformats.org/drawingml/2006/main">
            <a:pPr>
              <a:defRPr sz="1650" b="1">
                <a:solidFill>
                  <a:srgbClr val="142F38"/>
                </a:solidFill>
                <a:latin typeface="Arial"/>
                <a:ea typeface="Arial"/>
                <a:cs typeface="Arial"/>
              </a:defRPr>
            </a:pPr>
            <a:r>
              <a:rPr sz="1650" b="1">
                <a:solidFill>
                  <a:srgbClr val="142F38"/>
                </a:solidFill>
                <a:latin typeface="Arial"/>
                <a:ea typeface="Arial"/>
                <a:cs typeface="Arial"/>
              </a:rPr>
              <a:t>Bag</a:t>
            </a:r>
          </a:p>
        </p:txBody>
      </p:sp>
      <p:pic>
        <p:nvPicPr>
          <p:cNvPr id="23" name="">
            <a:extLst xmlns:a="http://schemas.openxmlformats.org/drawingml/2006/main">
              <a:ext uri="{FF2B5EF4-FFF2-40B4-BE49-F238E27FC236}">
                <a16:creationId xmlns:a16="http://schemas.microsoft.com/office/drawing/2014/main" id="{9BEBB2C9-2D6F-427E-BA33-9D4F6B34FE9C}"/>
              </a:ext>
            </a:extLst>
          </p:cNvPr>
          <p:cNvPicPr>
            <a:picLocks xmlns:a="http://schemas.openxmlformats.org/drawingml/2006/main" noChangeAspect="1"/>
          </p:cNvPicPr>
          <p:nvPr/>
        </p:nvPicPr>
        <p:blipFill>
          <a:blip xmlns:r="http://schemas.openxmlformats.org/officeDocument/2006/relationships" xmlns:a="http://schemas.openxmlformats.org/drawingml/2006/main" r:embed="R5c90748356c44faf"/>
          <a:stretch xmlns:a="http://schemas.openxmlformats.org/drawingml/2006/main"/>
        </p:blipFill>
        <p:spPr>
          <a:xfrm xmlns:a="http://schemas.openxmlformats.org/drawingml/2006/main">
            <a:off x="9505950" y="4048125"/>
            <a:ext cx="1428750" cy="142875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569BD5AD-AC5D-47DE-97EF-85E844CD4F93}"/>
              </a:ext>
            </a:extLst>
          </p:cNvPr>
          <p:cNvSpPr>
            <a:spLocks xmlns:a="http://schemas.openxmlformats.org/drawingml/2006/main" noGrp="1"/>
          </p:cNvSpPr>
          <p:nvPr/>
        </p:nvSpPr>
        <p:spPr>
          <a:xfrm xmlns:a="http://schemas.openxmlformats.org/drawingml/2006/main">
            <a:off x="9505950" y="5562600"/>
            <a:ext cx="2066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1">
                <a:solidFill>
                  <a:srgbClr val="142F38"/>
                </a:solidFill>
                <a:latin typeface="Arial"/>
                <a:ea typeface="Arial"/>
                <a:cs typeface="Arial"/>
              </a:defRPr>
            </a:defPPr>
            <a:lvl1pPr>
              <a:defRPr sz="1650" b="1">
                <a:solidFill>
                  <a:srgbClr val="142F38"/>
                </a:solidFill>
                <a:latin typeface="Arial"/>
                <a:ea typeface="Arial"/>
                <a:cs typeface="Arial"/>
              </a:defRPr>
            </a:lvl1pPr>
            <a:lvl2pPr>
              <a:defRPr sz="1650" b="1">
                <a:solidFill>
                  <a:srgbClr val="142F38"/>
                </a:solidFill>
                <a:latin typeface="Arial"/>
                <a:ea typeface="Arial"/>
                <a:cs typeface="Arial"/>
              </a:defRPr>
            </a:lvl2pPr>
            <a:lvl3pPr>
              <a:defRPr sz="1650" b="1">
                <a:solidFill>
                  <a:srgbClr val="142F38"/>
                </a:solidFill>
                <a:latin typeface="Arial"/>
                <a:ea typeface="Arial"/>
                <a:cs typeface="Arial"/>
              </a:defRPr>
            </a:lvl3pPr>
            <a:lvl4pPr>
              <a:defRPr sz="1650" b="1">
                <a:solidFill>
                  <a:srgbClr val="142F38"/>
                </a:solidFill>
                <a:latin typeface="Arial"/>
                <a:ea typeface="Arial"/>
                <a:cs typeface="Arial"/>
              </a:defRPr>
            </a:lvl4pPr>
            <a:lvl5pPr>
              <a:defRPr sz="1650" b="1">
                <a:solidFill>
                  <a:srgbClr val="142F38"/>
                </a:solidFill>
                <a:latin typeface="Arial"/>
                <a:ea typeface="Arial"/>
                <a:cs typeface="Arial"/>
              </a:defRPr>
            </a:lvl5pPr>
            <a:lvl6pPr>
              <a:defRPr sz="1650" b="1">
                <a:solidFill>
                  <a:srgbClr val="142F38"/>
                </a:solidFill>
                <a:latin typeface="Arial"/>
                <a:ea typeface="Arial"/>
                <a:cs typeface="Arial"/>
              </a:defRPr>
            </a:lvl6pPr>
            <a:lvl7pPr>
              <a:defRPr sz="1650" b="1">
                <a:solidFill>
                  <a:srgbClr val="142F38"/>
                </a:solidFill>
                <a:latin typeface="Arial"/>
                <a:ea typeface="Arial"/>
                <a:cs typeface="Arial"/>
              </a:defRPr>
            </a:lvl7pPr>
            <a:lvl8pPr>
              <a:defRPr sz="1650" b="1">
                <a:solidFill>
                  <a:srgbClr val="142F38"/>
                </a:solidFill>
                <a:latin typeface="Arial"/>
                <a:ea typeface="Arial"/>
                <a:cs typeface="Arial"/>
              </a:defRPr>
            </a:lvl8pPr>
            <a:lvl9pPr>
              <a:defRPr sz="1650" b="1">
                <a:solidFill>
                  <a:srgbClr val="142F38"/>
                </a:solidFill>
                <a:latin typeface="Arial"/>
                <a:ea typeface="Arial"/>
                <a:cs typeface="Arial"/>
              </a:defRPr>
            </a:lvl9pPr>
          </a:lstStyle>
          <a:p xmlns:a="http://schemas.openxmlformats.org/drawingml/2006/main">
            <a:pPr>
              <a:defRPr sz="1650" b="1">
                <a:solidFill>
                  <a:srgbClr val="142F38"/>
                </a:solidFill>
                <a:latin typeface="Arial"/>
                <a:ea typeface="Arial"/>
                <a:cs typeface="Arial"/>
              </a:defRPr>
            </a:pPr>
            <a:r>
              <a:rPr sz="1650" b="1">
                <a:solidFill>
                  <a:srgbClr val="142F38"/>
                </a:solidFill>
                <a:latin typeface="Arial"/>
                <a:ea typeface="Arial"/>
                <a:cs typeface="Arial"/>
              </a:rPr>
              <a:t>Ankle boot</a:t>
            </a:r>
          </a:p>
        </p:txBody>
      </p:sp>
      <p:sp>
        <p:nvSpPr>
          <p:cNvPr id="25" name="">
            <a:extLst xmlns:a="http://schemas.openxmlformats.org/drawingml/2006/main">
              <a:ext uri="{FF2B5EF4-FFF2-40B4-BE49-F238E27FC236}">
                <a16:creationId xmlns:a16="http://schemas.microsoft.com/office/drawing/2014/main" id="{03C58DA4-4A2B-4551-8504-EAB59E24448E}"/>
              </a:ext>
            </a:extLst>
          </p:cNvPr>
          <p:cNvSpPr>
            <a:spLocks xmlns:a="http://schemas.openxmlformats.org/drawingml/2006/main" noGrp="1"/>
          </p:cNvSpPr>
          <p:nvPr/>
        </p:nvSpPr>
        <p:spPr>
          <a:xfrm xmlns:a="http://schemas.openxmlformats.org/drawingml/2006/main">
            <a:off x="647700" y="616267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425" b="0">
                <a:solidFill>
                  <a:srgbClr val="52656D"/>
                </a:solidFill>
                <a:latin typeface="Arial"/>
                <a:ea typeface="Arial"/>
                <a:cs typeface="Arial"/>
              </a:defRPr>
            </a:defPPr>
            <a:lvl1pPr>
              <a:defRPr sz="1425" b="0">
                <a:solidFill>
                  <a:srgbClr val="52656D"/>
                </a:solidFill>
                <a:latin typeface="Arial"/>
                <a:ea typeface="Arial"/>
                <a:cs typeface="Arial"/>
              </a:defRPr>
            </a:lvl1pPr>
            <a:lvl2pPr>
              <a:defRPr sz="1425" b="0">
                <a:solidFill>
                  <a:srgbClr val="52656D"/>
                </a:solidFill>
                <a:latin typeface="Arial"/>
                <a:ea typeface="Arial"/>
                <a:cs typeface="Arial"/>
              </a:defRPr>
            </a:lvl2pPr>
            <a:lvl3pPr>
              <a:defRPr sz="1425" b="0">
                <a:solidFill>
                  <a:srgbClr val="52656D"/>
                </a:solidFill>
                <a:latin typeface="Arial"/>
                <a:ea typeface="Arial"/>
                <a:cs typeface="Arial"/>
              </a:defRPr>
            </a:lvl3pPr>
            <a:lvl4pPr>
              <a:defRPr sz="1425" b="0">
                <a:solidFill>
                  <a:srgbClr val="52656D"/>
                </a:solidFill>
                <a:latin typeface="Arial"/>
                <a:ea typeface="Arial"/>
                <a:cs typeface="Arial"/>
              </a:defRPr>
            </a:lvl4pPr>
            <a:lvl5pPr>
              <a:defRPr sz="1425" b="0">
                <a:solidFill>
                  <a:srgbClr val="52656D"/>
                </a:solidFill>
                <a:latin typeface="Arial"/>
                <a:ea typeface="Arial"/>
                <a:cs typeface="Arial"/>
              </a:defRPr>
            </a:lvl5pPr>
            <a:lvl6pPr>
              <a:defRPr sz="1425" b="0">
                <a:solidFill>
                  <a:srgbClr val="52656D"/>
                </a:solidFill>
                <a:latin typeface="Arial"/>
                <a:ea typeface="Arial"/>
                <a:cs typeface="Arial"/>
              </a:defRPr>
            </a:lvl6pPr>
            <a:lvl7pPr>
              <a:defRPr sz="1425" b="0">
                <a:solidFill>
                  <a:srgbClr val="52656D"/>
                </a:solidFill>
                <a:latin typeface="Arial"/>
                <a:ea typeface="Arial"/>
                <a:cs typeface="Arial"/>
              </a:defRPr>
            </a:lvl7pPr>
            <a:lvl8pPr>
              <a:defRPr sz="1425" b="0">
                <a:solidFill>
                  <a:srgbClr val="52656D"/>
                </a:solidFill>
                <a:latin typeface="Arial"/>
                <a:ea typeface="Arial"/>
                <a:cs typeface="Arial"/>
              </a:defRPr>
            </a:lvl8pPr>
            <a:lvl9pPr>
              <a:defRPr sz="1425" b="0">
                <a:solidFill>
                  <a:srgbClr val="52656D"/>
                </a:solidFill>
                <a:latin typeface="Arial"/>
                <a:ea typeface="Arial"/>
                <a:cs typeface="Arial"/>
              </a:defRPr>
            </a:lvl9pPr>
          </a:lstStyle>
          <a:p xmlns:a="http://schemas.openxmlformats.org/drawingml/2006/main">
            <a:pPr>
              <a:defRPr sz="1425" b="0">
                <a:solidFill>
                  <a:srgbClr val="52656D"/>
                </a:solidFill>
                <a:latin typeface="Arial"/>
                <a:ea typeface="Arial"/>
                <a:cs typeface="Arial"/>
              </a:defRPr>
            </a:pPr>
            <a:r>
              <a:rPr sz="1425" b="0">
                <a:solidFill>
                  <a:srgbClr val="52656D"/>
                </a:solidFill>
                <a:latin typeface="Arial"/>
                <a:ea typeface="Arial"/>
                <a:cs typeface="Arial"/>
              </a:rPr>
              <a:t>Official Zalando Fashion-MNIST. Seeded examples from the training fit pool.</a:t>
            </a:r>
          </a:p>
        </p:txBody>
      </p:sp>
    </p:spTree>
    <p:extLst>
      <p:ext uri="{BB962C8B-B14F-4D97-AF65-F5344CB8AC3E}">
        <p14:creationId xmlns:p14="http://schemas.microsoft.com/office/powerpoint/2010/main" val="321817250"/>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ACC29B0-CFB2-42BC-9DEF-F8E73CD458FB}"/>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42F38"/>
                </a:solidFill>
                <a:latin typeface="Arial"/>
                <a:ea typeface="Arial"/>
                <a:cs typeface="Arial"/>
              </a:defRPr>
            </a:defPPr>
            <a:lvl1pPr>
              <a:defRPr sz="3300" b="1">
                <a:solidFill>
                  <a:srgbClr val="142F38"/>
                </a:solidFill>
                <a:latin typeface="Arial"/>
                <a:ea typeface="Arial"/>
                <a:cs typeface="Arial"/>
              </a:defRPr>
            </a:lvl1pPr>
            <a:lvl2pPr>
              <a:defRPr sz="3300" b="1">
                <a:solidFill>
                  <a:srgbClr val="142F38"/>
                </a:solidFill>
                <a:latin typeface="Arial"/>
                <a:ea typeface="Arial"/>
                <a:cs typeface="Arial"/>
              </a:defRPr>
            </a:lvl2pPr>
            <a:lvl3pPr>
              <a:defRPr sz="3300" b="1">
                <a:solidFill>
                  <a:srgbClr val="142F38"/>
                </a:solidFill>
                <a:latin typeface="Arial"/>
                <a:ea typeface="Arial"/>
                <a:cs typeface="Arial"/>
              </a:defRPr>
            </a:lvl3pPr>
            <a:lvl4pPr>
              <a:defRPr sz="3300" b="1">
                <a:solidFill>
                  <a:srgbClr val="142F38"/>
                </a:solidFill>
                <a:latin typeface="Arial"/>
                <a:ea typeface="Arial"/>
                <a:cs typeface="Arial"/>
              </a:defRPr>
            </a:lvl4pPr>
            <a:lvl5pPr>
              <a:defRPr sz="3300" b="1">
                <a:solidFill>
                  <a:srgbClr val="142F38"/>
                </a:solidFill>
                <a:latin typeface="Arial"/>
                <a:ea typeface="Arial"/>
                <a:cs typeface="Arial"/>
              </a:defRPr>
            </a:lvl5pPr>
            <a:lvl6pPr>
              <a:defRPr sz="3300" b="1">
                <a:solidFill>
                  <a:srgbClr val="142F38"/>
                </a:solidFill>
                <a:latin typeface="Arial"/>
                <a:ea typeface="Arial"/>
                <a:cs typeface="Arial"/>
              </a:defRPr>
            </a:lvl6pPr>
            <a:lvl7pPr>
              <a:defRPr sz="3300" b="1">
                <a:solidFill>
                  <a:srgbClr val="142F38"/>
                </a:solidFill>
                <a:latin typeface="Arial"/>
                <a:ea typeface="Arial"/>
                <a:cs typeface="Arial"/>
              </a:defRPr>
            </a:lvl7pPr>
            <a:lvl8pPr>
              <a:defRPr sz="3300" b="1">
                <a:solidFill>
                  <a:srgbClr val="142F38"/>
                </a:solidFill>
                <a:latin typeface="Arial"/>
                <a:ea typeface="Arial"/>
                <a:cs typeface="Arial"/>
              </a:defRPr>
            </a:lvl8pPr>
            <a:lvl9pPr>
              <a:defRPr sz="3300" b="1">
                <a:solidFill>
                  <a:srgbClr val="142F38"/>
                </a:solidFill>
                <a:latin typeface="Arial"/>
                <a:ea typeface="Arial"/>
                <a:cs typeface="Arial"/>
              </a:defRPr>
            </a:lvl9pPr>
          </a:lstStyle>
          <a:p xmlns:a="http://schemas.openxmlformats.org/drawingml/2006/main">
            <a:pPr>
              <a:defRPr sz="3300" b="1">
                <a:solidFill>
                  <a:srgbClr val="142F38"/>
                </a:solidFill>
                <a:latin typeface="Arial"/>
                <a:ea typeface="Arial"/>
                <a:cs typeface="Arial"/>
              </a:defRPr>
            </a:pPr>
            <a:r>
              <a:rPr sz="3300" b="1">
                <a:solidFill>
                  <a:srgbClr val="142F38"/>
                </a:solidFill>
                <a:latin typeface="Arial"/>
                <a:ea typeface="Arial"/>
                <a:cs typeface="Arial"/>
              </a:rPr>
              <a:t>Data checks and fair partitions</a:t>
            </a:r>
          </a:p>
        </p:txBody>
      </p:sp>
      <p:sp>
        <p:nvSpPr>
          <p:cNvPr id="3" name="">
            <a:extLst xmlns:a="http://schemas.openxmlformats.org/drawingml/2006/main">
              <a:ext uri="{FF2B5EF4-FFF2-40B4-BE49-F238E27FC236}">
                <a16:creationId xmlns:a16="http://schemas.microsoft.com/office/drawing/2014/main" id="{3F955813-0511-4CA8-85A3-BA3359335C68}"/>
              </a:ext>
            </a:extLst>
          </p:cNvPr>
          <p:cNvSpPr>
            <a:spLocks xmlns:a="http://schemas.openxmlformats.org/drawingml/2006/main" noGrp="1"/>
          </p:cNvSpPr>
          <p:nvPr/>
        </p:nvSpPr>
        <p:spPr>
          <a:xfrm xmlns:a="http://schemas.openxmlformats.org/drawingml/2006/main">
            <a:off x="10001250" y="644842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56D"/>
                </a:solidFill>
                <a:latin typeface="Arial"/>
                <a:ea typeface="Arial"/>
                <a:cs typeface="Arial"/>
              </a:defRPr>
            </a:defPPr>
            <a:lvl1pPr>
              <a:defRPr sz="1200" b="0">
                <a:solidFill>
                  <a:srgbClr val="52656D"/>
                </a:solidFill>
                <a:latin typeface="Arial"/>
                <a:ea typeface="Arial"/>
                <a:cs typeface="Arial"/>
              </a:defRPr>
            </a:lvl1pPr>
            <a:lvl2pPr>
              <a:defRPr sz="1200" b="0">
                <a:solidFill>
                  <a:srgbClr val="52656D"/>
                </a:solidFill>
                <a:latin typeface="Arial"/>
                <a:ea typeface="Arial"/>
                <a:cs typeface="Arial"/>
              </a:defRPr>
            </a:lvl2pPr>
            <a:lvl3pPr>
              <a:defRPr sz="1200" b="0">
                <a:solidFill>
                  <a:srgbClr val="52656D"/>
                </a:solidFill>
                <a:latin typeface="Arial"/>
                <a:ea typeface="Arial"/>
                <a:cs typeface="Arial"/>
              </a:defRPr>
            </a:lvl3pPr>
            <a:lvl4pPr>
              <a:defRPr sz="1200" b="0">
                <a:solidFill>
                  <a:srgbClr val="52656D"/>
                </a:solidFill>
                <a:latin typeface="Arial"/>
                <a:ea typeface="Arial"/>
                <a:cs typeface="Arial"/>
              </a:defRPr>
            </a:lvl4pPr>
            <a:lvl5pPr>
              <a:defRPr sz="1200" b="0">
                <a:solidFill>
                  <a:srgbClr val="52656D"/>
                </a:solidFill>
                <a:latin typeface="Arial"/>
                <a:ea typeface="Arial"/>
                <a:cs typeface="Arial"/>
              </a:defRPr>
            </a:lvl5pPr>
            <a:lvl6pPr>
              <a:defRPr sz="1200" b="0">
                <a:solidFill>
                  <a:srgbClr val="52656D"/>
                </a:solidFill>
                <a:latin typeface="Arial"/>
                <a:ea typeface="Arial"/>
                <a:cs typeface="Arial"/>
              </a:defRPr>
            </a:lvl6pPr>
            <a:lvl7pPr>
              <a:defRPr sz="1200" b="0">
                <a:solidFill>
                  <a:srgbClr val="52656D"/>
                </a:solidFill>
                <a:latin typeface="Arial"/>
                <a:ea typeface="Arial"/>
                <a:cs typeface="Arial"/>
              </a:defRPr>
            </a:lvl7pPr>
            <a:lvl8pPr>
              <a:defRPr sz="1200" b="0">
                <a:solidFill>
                  <a:srgbClr val="52656D"/>
                </a:solidFill>
                <a:latin typeface="Arial"/>
                <a:ea typeface="Arial"/>
                <a:cs typeface="Arial"/>
              </a:defRPr>
            </a:lvl8pPr>
            <a:lvl9pPr>
              <a:defRPr sz="1200" b="0">
                <a:solidFill>
                  <a:srgbClr val="52656D"/>
                </a:solidFill>
                <a:latin typeface="Arial"/>
                <a:ea typeface="Arial"/>
                <a:cs typeface="Arial"/>
              </a:defRPr>
            </a:lvl9pPr>
          </a:lstStyle>
          <a:p xmlns:a="http://schemas.openxmlformats.org/drawingml/2006/main">
            <a:pPr>
              <a:defRPr sz="1200" b="0">
                <a:solidFill>
                  <a:srgbClr val="52656D"/>
                </a:solidFill>
                <a:latin typeface="Arial"/>
                <a:ea typeface="Arial"/>
                <a:cs typeface="Arial"/>
              </a:defRPr>
            </a:pPr>
            <a:r>
              <a:rPr sz="1200" b="0">
                <a:solidFill>
                  <a:srgbClr val="52656D"/>
                </a:solidFill>
                <a:latin typeface="Arial"/>
                <a:ea typeface="Arial"/>
                <a:cs typeface="Arial"/>
              </a:rPr>
              <a:t>05</a:t>
            </a:r>
          </a:p>
        </p:txBody>
      </p:sp>
      <p:graphicFrame>
        <p:nvGraphicFramePr>
          <p:cNvPr id="4" name="">
            <a:extLst xmlns:a="http://schemas.openxmlformats.org/drawingml/2006/main">
              <a:ext uri="{FF2B5EF4-FFF2-40B4-BE49-F238E27FC236}">
                <a16:creationId xmlns:a16="http://schemas.microsoft.com/office/drawing/2014/main" id="{BE116C80-8E9A-43E3-82D5-771A32B65C9B}"/>
              </a:ext>
            </a:extLst>
          </p:cNvPr>
          <p:cNvGraphicFramePr/>
          <p:nvPr/>
        </p:nvGraphicFramePr>
        <p:xfrm>
          <a:off xmlns:a="http://schemas.openxmlformats.org/drawingml/2006/main" x="647700" y="1524000"/>
          <a:ext xmlns:a="http://schemas.openxmlformats.org/drawingml/2006/main" cx="10896600" cy="2609850"/>
        </p:xfrm>
        <a:graphic xmlns:a="http://schemas.openxmlformats.org/drawingml/2006/main">
          <a:graphicData uri="http://schemas.openxmlformats.org/drawingml/2006/table">
            <a:tbl>
              <a:tblPr/>
              <a:tblGrid>
                <a:gridCol w="2667000"/>
                <a:gridCol w="2000250"/>
                <a:gridCol w="6229350"/>
              </a:tblGrid>
              <a:tr h="652463">
                <a:tc>
                  <a:txBody>
                    <a:bodyPr/>
                    <a:lstStyle/>
                    <a:p>
                      <a:r>
                        <a:rPr sz="2025" b="1">
                          <a:solidFill>
                            <a:srgbClr val="FFFFFF"/>
                          </a:solidFill>
                          <a:latin typeface="Arial"/>
                          <a:ea typeface="Arial"/>
                          <a:cs typeface="Arial"/>
                        </a:rPr>
                        <a:t>Partition</a:t>
                      </a:r>
                    </a:p>
                  </a:txBody>
                  <a:tcPr marL="95250" marR="95250" marT="85725" marB="57150" anchor="ctr">
                    <a:lnL w="6668">
                      <a:solidFill>
                        <a:srgbClr val="D9DFDF"/>
                      </a:solidFill>
                      <a:prstDash val="solid"/>
                    </a:lnL>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c>
                  <a:txBody>
                    <a:bodyPr/>
                    <a:lstStyle/>
                    <a:p>
                      <a:r>
                        <a:rPr sz="2025" b="1">
                          <a:solidFill>
                            <a:srgbClr val="FFFFFF"/>
                          </a:solidFill>
                          <a:latin typeface="Arial"/>
                          <a:ea typeface="Arial"/>
                          <a:cs typeface="Arial"/>
                        </a:rPr>
                        <a:t>Images</a:t>
                      </a:r>
                    </a:p>
                  </a:txBody>
                  <a:tcPr marL="95250" marR="95250" marT="85725" marB="57150" anchor="ctr">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c>
                  <a:txBody>
                    <a:bodyPr/>
                    <a:lstStyle/>
                    <a:p>
                      <a:r>
                        <a:rPr sz="2025" b="1">
                          <a:solidFill>
                            <a:srgbClr val="FFFFFF"/>
                          </a:solidFill>
                          <a:latin typeface="Arial"/>
                          <a:ea typeface="Arial"/>
                          <a:cs typeface="Arial"/>
                        </a:rPr>
                        <a:t>Use</a:t>
                      </a:r>
                    </a:p>
                  </a:txBody>
                  <a:tcPr marL="95250" marR="95250" marT="85725" marB="57150" anchor="ctr">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r>
              <a:tr h="652463">
                <a:tc>
                  <a:txBody>
                    <a:bodyPr/>
                    <a:lstStyle/>
                    <a:p>
                      <a:r>
                        <a:rPr sz="2025">
                          <a:solidFill>
                            <a:srgbClr val="142F38"/>
                          </a:solidFill>
                          <a:latin typeface="Arial"/>
                          <a:ea typeface="Arial"/>
                          <a:cs typeface="Arial"/>
                        </a:rPr>
                        <a:t>Fit pool</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2025">
                          <a:solidFill>
                            <a:srgbClr val="142F38"/>
                          </a:solidFill>
                          <a:latin typeface="Arial"/>
                          <a:ea typeface="Arial"/>
                          <a:cs typeface="Arial"/>
                        </a:rPr>
                        <a:t>48,000</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2025">
                          <a:solidFill>
                            <a:srgbClr val="142F38"/>
                          </a:solidFill>
                          <a:latin typeface="Arial"/>
                          <a:ea typeface="Arial"/>
                          <a:cs typeface="Arial"/>
                        </a:rPr>
                        <a:t>Fit all eight final models</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652463">
                <a:tc>
                  <a:txBody>
                    <a:bodyPr/>
                    <a:lstStyle/>
                    <a:p>
                      <a:r>
                        <a:rPr sz="2025">
                          <a:solidFill>
                            <a:srgbClr val="142F38"/>
                          </a:solidFill>
                          <a:latin typeface="Arial"/>
                          <a:ea typeface="Arial"/>
                          <a:cs typeface="Arial"/>
                        </a:rPr>
                        <a:t>Validation</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2025">
                          <a:solidFill>
                            <a:srgbClr val="142F38"/>
                          </a:solidFill>
                          <a:latin typeface="Arial"/>
                          <a:ea typeface="Arial"/>
                          <a:cs typeface="Arial"/>
                        </a:rPr>
                        <a:t>12,000</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2025">
                          <a:solidFill>
                            <a:srgbClr val="142F38"/>
                          </a:solidFill>
                          <a:latin typeface="Arial"/>
                          <a:ea typeface="Arial"/>
                          <a:cs typeface="Arial"/>
                        </a:rPr>
                        <a:t>Choose settings and overall model</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652463">
                <a:tc>
                  <a:txBody>
                    <a:bodyPr/>
                    <a:lstStyle/>
                    <a:p>
                      <a:r>
                        <a:rPr sz="2025">
                          <a:solidFill>
                            <a:srgbClr val="142F38"/>
                          </a:solidFill>
                          <a:latin typeface="Arial"/>
                          <a:ea typeface="Arial"/>
                          <a:cs typeface="Arial"/>
                        </a:rPr>
                        <a:t>Official test</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2025">
                          <a:solidFill>
                            <a:srgbClr val="142F38"/>
                          </a:solidFill>
                          <a:latin typeface="Arial"/>
                          <a:ea typeface="Arial"/>
                          <a:cs typeface="Arial"/>
                        </a:rPr>
                        <a:t>10,000</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2025">
                          <a:solidFill>
                            <a:srgbClr val="142F38"/>
                          </a:solidFill>
                          <a:latin typeface="Arial"/>
                          <a:ea typeface="Arial"/>
                          <a:cs typeface="Arial"/>
                        </a:rPr>
                        <a:t>Evaluate after selection freeze</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bl>
          </a:graphicData>
        </a:graphic>
      </p:graphicFrame>
      <p:sp>
        <p:nvSpPr>
          <p:cNvPr id="5" name="">
            <a:extLst xmlns:a="http://schemas.openxmlformats.org/drawingml/2006/main">
              <a:ext uri="{FF2B5EF4-FFF2-40B4-BE49-F238E27FC236}">
                <a16:creationId xmlns:a16="http://schemas.microsoft.com/office/drawing/2014/main" id="{71F4F203-AA11-4A68-88BF-E629FA96C408}"/>
              </a:ext>
            </a:extLst>
          </p:cNvPr>
          <p:cNvSpPr>
            <a:spLocks xmlns:a="http://schemas.openxmlformats.org/drawingml/2006/main" noGrp="1"/>
          </p:cNvSpPr>
          <p:nvPr/>
        </p:nvSpPr>
        <p:spPr>
          <a:xfrm xmlns:a="http://schemas.openxmlformats.org/drawingml/2006/main">
            <a:off x="647700" y="4476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087F82"/>
                </a:solidFill>
                <a:latin typeface="Arial"/>
                <a:ea typeface="Arial"/>
                <a:cs typeface="Arial"/>
              </a:defRPr>
            </a:defPPr>
            <a:lvl1pPr>
              <a:defRPr sz="2175" b="1">
                <a:solidFill>
                  <a:srgbClr val="087F82"/>
                </a:solidFill>
                <a:latin typeface="Arial"/>
                <a:ea typeface="Arial"/>
                <a:cs typeface="Arial"/>
              </a:defRPr>
            </a:lvl1pPr>
            <a:lvl2pPr>
              <a:defRPr sz="2175" b="1">
                <a:solidFill>
                  <a:srgbClr val="087F82"/>
                </a:solidFill>
                <a:latin typeface="Arial"/>
                <a:ea typeface="Arial"/>
                <a:cs typeface="Arial"/>
              </a:defRPr>
            </a:lvl2pPr>
            <a:lvl3pPr>
              <a:defRPr sz="2175" b="1">
                <a:solidFill>
                  <a:srgbClr val="087F82"/>
                </a:solidFill>
                <a:latin typeface="Arial"/>
                <a:ea typeface="Arial"/>
                <a:cs typeface="Arial"/>
              </a:defRPr>
            </a:lvl3pPr>
            <a:lvl4pPr>
              <a:defRPr sz="2175" b="1">
                <a:solidFill>
                  <a:srgbClr val="087F82"/>
                </a:solidFill>
                <a:latin typeface="Arial"/>
                <a:ea typeface="Arial"/>
                <a:cs typeface="Arial"/>
              </a:defRPr>
            </a:lvl4pPr>
            <a:lvl5pPr>
              <a:defRPr sz="2175" b="1">
                <a:solidFill>
                  <a:srgbClr val="087F82"/>
                </a:solidFill>
                <a:latin typeface="Arial"/>
                <a:ea typeface="Arial"/>
                <a:cs typeface="Arial"/>
              </a:defRPr>
            </a:lvl5pPr>
            <a:lvl6pPr>
              <a:defRPr sz="2175" b="1">
                <a:solidFill>
                  <a:srgbClr val="087F82"/>
                </a:solidFill>
                <a:latin typeface="Arial"/>
                <a:ea typeface="Arial"/>
                <a:cs typeface="Arial"/>
              </a:defRPr>
            </a:lvl6pPr>
            <a:lvl7pPr>
              <a:defRPr sz="2175" b="1">
                <a:solidFill>
                  <a:srgbClr val="087F82"/>
                </a:solidFill>
                <a:latin typeface="Arial"/>
                <a:ea typeface="Arial"/>
                <a:cs typeface="Arial"/>
              </a:defRPr>
            </a:lvl7pPr>
            <a:lvl8pPr>
              <a:defRPr sz="2175" b="1">
                <a:solidFill>
                  <a:srgbClr val="087F82"/>
                </a:solidFill>
                <a:latin typeface="Arial"/>
                <a:ea typeface="Arial"/>
                <a:cs typeface="Arial"/>
              </a:defRPr>
            </a:lvl8pPr>
            <a:lvl9pPr>
              <a:defRPr sz="2175" b="1">
                <a:solidFill>
                  <a:srgbClr val="087F82"/>
                </a:solidFill>
                <a:latin typeface="Arial"/>
                <a:ea typeface="Arial"/>
                <a:cs typeface="Arial"/>
              </a:defRPr>
            </a:lvl9pPr>
          </a:lstStyle>
          <a:p xmlns:a="http://schemas.openxmlformats.org/drawingml/2006/main">
            <a:pPr>
              <a:defRPr sz="2175" b="1">
                <a:solidFill>
                  <a:srgbClr val="087F82"/>
                </a:solidFill>
                <a:latin typeface="Arial"/>
                <a:ea typeface="Arial"/>
                <a:cs typeface="Arial"/>
              </a:defRPr>
            </a:pPr>
            <a:r>
              <a:rPr sz="2175" b="1">
                <a:solidFill>
                  <a:srgbClr val="087F82"/>
                </a:solidFill>
                <a:latin typeface="Arial"/>
                <a:ea typeface="Arial"/>
                <a:cs typeface="Arial"/>
              </a:rPr>
              <a:t>Seed 42, stratified membership, saved original IDs</a:t>
            </a:r>
          </a:p>
        </p:txBody>
      </p:sp>
      <p:sp>
        <p:nvSpPr>
          <p:cNvPr id="6" name="">
            <a:extLst xmlns:a="http://schemas.openxmlformats.org/drawingml/2006/main">
              <a:ext uri="{FF2B5EF4-FFF2-40B4-BE49-F238E27FC236}">
                <a16:creationId xmlns:a16="http://schemas.microsoft.com/office/drawing/2014/main" id="{90572573-4530-4DEC-9A0C-D2FA609343AA}"/>
              </a:ext>
            </a:extLst>
          </p:cNvPr>
          <p:cNvSpPr>
            <a:spLocks xmlns:a="http://schemas.openxmlformats.org/drawingml/2006/main" noGrp="1"/>
          </p:cNvSpPr>
          <p:nvPr/>
        </p:nvSpPr>
        <p:spPr>
          <a:xfrm xmlns:a="http://schemas.openxmlformats.org/drawingml/2006/main">
            <a:off x="647700" y="50958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42F38"/>
                </a:solidFill>
                <a:latin typeface="Arial"/>
                <a:ea typeface="Arial"/>
                <a:cs typeface="Arial"/>
              </a:defRPr>
            </a:defPPr>
            <a:lvl1pPr>
              <a:defRPr sz="1875" b="0">
                <a:solidFill>
                  <a:srgbClr val="142F38"/>
                </a:solidFill>
                <a:latin typeface="Arial"/>
                <a:ea typeface="Arial"/>
                <a:cs typeface="Arial"/>
              </a:defRPr>
            </a:lvl1pPr>
            <a:lvl2pPr>
              <a:defRPr sz="1875" b="0">
                <a:solidFill>
                  <a:srgbClr val="142F38"/>
                </a:solidFill>
                <a:latin typeface="Arial"/>
                <a:ea typeface="Arial"/>
                <a:cs typeface="Arial"/>
              </a:defRPr>
            </a:lvl2pPr>
            <a:lvl3pPr>
              <a:defRPr sz="1875" b="0">
                <a:solidFill>
                  <a:srgbClr val="142F38"/>
                </a:solidFill>
                <a:latin typeface="Arial"/>
                <a:ea typeface="Arial"/>
                <a:cs typeface="Arial"/>
              </a:defRPr>
            </a:lvl3pPr>
            <a:lvl4pPr>
              <a:defRPr sz="1875" b="0">
                <a:solidFill>
                  <a:srgbClr val="142F38"/>
                </a:solidFill>
                <a:latin typeface="Arial"/>
                <a:ea typeface="Arial"/>
                <a:cs typeface="Arial"/>
              </a:defRPr>
            </a:lvl4pPr>
            <a:lvl5pPr>
              <a:defRPr sz="1875" b="0">
                <a:solidFill>
                  <a:srgbClr val="142F38"/>
                </a:solidFill>
                <a:latin typeface="Arial"/>
                <a:ea typeface="Arial"/>
                <a:cs typeface="Arial"/>
              </a:defRPr>
            </a:lvl5pPr>
            <a:lvl6pPr>
              <a:defRPr sz="1875" b="0">
                <a:solidFill>
                  <a:srgbClr val="142F38"/>
                </a:solidFill>
                <a:latin typeface="Arial"/>
                <a:ea typeface="Arial"/>
                <a:cs typeface="Arial"/>
              </a:defRPr>
            </a:lvl6pPr>
            <a:lvl7pPr>
              <a:defRPr sz="1875" b="0">
                <a:solidFill>
                  <a:srgbClr val="142F38"/>
                </a:solidFill>
                <a:latin typeface="Arial"/>
                <a:ea typeface="Arial"/>
                <a:cs typeface="Arial"/>
              </a:defRPr>
            </a:lvl7pPr>
            <a:lvl8pPr>
              <a:defRPr sz="1875" b="0">
                <a:solidFill>
                  <a:srgbClr val="142F38"/>
                </a:solidFill>
                <a:latin typeface="Arial"/>
                <a:ea typeface="Arial"/>
                <a:cs typeface="Arial"/>
              </a:defRPr>
            </a:lvl8pPr>
            <a:lvl9pPr>
              <a:defRPr sz="1875" b="0">
                <a:solidFill>
                  <a:srgbClr val="142F38"/>
                </a:solidFill>
                <a:latin typeface="Arial"/>
                <a:ea typeface="Arial"/>
                <a:cs typeface="Arial"/>
              </a:defRPr>
            </a:lvl9pPr>
          </a:lstStyle>
          <a:p xmlns:a="http://schemas.openxmlformats.org/drawingml/2006/main">
            <a:pPr>
              <a:defRPr sz="1875" b="0">
                <a:solidFill>
                  <a:srgbClr val="142F38"/>
                </a:solidFill>
                <a:latin typeface="Arial"/>
                <a:ea typeface="Arial"/>
                <a:cs typeface="Arial"/>
              </a:defRPr>
            </a:pPr>
            <a:r>
              <a:rPr sz="1875" b="0">
                <a:solidFill>
                  <a:srgbClr val="142F38"/>
                </a:solidFill>
                <a:latin typeface="Arial"/>
                <a:ea typeface="Arial"/>
                <a:cs typeface="Arial"/>
              </a:rPr>
              <a:t>Checks passed: shape, range, labels, exact duplicates and split overlap.</a:t>
            </a:r>
          </a:p>
          <a:p xmlns:a="http://schemas.openxmlformats.org/drawingml/2006/main">
            <a:pPr>
              <a:defRPr sz="1875" b="0">
                <a:solidFill>
                  <a:srgbClr val="142F38"/>
                </a:solidFill>
                <a:latin typeface="Arial"/>
                <a:ea typeface="Arial"/>
                <a:cs typeface="Arial"/>
              </a:defRPr>
            </a:pPr>
            <a:r>
              <a:rPr sz="1875" b="0">
                <a:solidFill>
                  <a:srgbClr val="142F38"/>
                </a:solidFill>
                <a:latin typeface="Arial"/>
                <a:ea typeface="Arial"/>
                <a:cs typeface="Arial"/>
              </a:rPr>
              <a:t>Near-duplicate detection and a full semantic label audit remain outside scope.</a:t>
            </a:r>
          </a:p>
        </p:txBody>
      </p:sp>
    </p:spTree>
    <p:extLst>
      <p:ext uri="{BB962C8B-B14F-4D97-AF65-F5344CB8AC3E}">
        <p14:creationId xmlns:p14="http://schemas.microsoft.com/office/powerpoint/2010/main" val="464350581"/>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D9302B8-88EE-4F71-B9D6-4E3B6A4BEAA3}"/>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42F38"/>
                </a:solidFill>
                <a:latin typeface="Arial"/>
                <a:ea typeface="Arial"/>
                <a:cs typeface="Arial"/>
              </a:defRPr>
            </a:defPPr>
            <a:lvl1pPr>
              <a:defRPr sz="3300" b="1">
                <a:solidFill>
                  <a:srgbClr val="142F38"/>
                </a:solidFill>
                <a:latin typeface="Arial"/>
                <a:ea typeface="Arial"/>
                <a:cs typeface="Arial"/>
              </a:defRPr>
            </a:lvl1pPr>
            <a:lvl2pPr>
              <a:defRPr sz="3300" b="1">
                <a:solidFill>
                  <a:srgbClr val="142F38"/>
                </a:solidFill>
                <a:latin typeface="Arial"/>
                <a:ea typeface="Arial"/>
                <a:cs typeface="Arial"/>
              </a:defRPr>
            </a:lvl2pPr>
            <a:lvl3pPr>
              <a:defRPr sz="3300" b="1">
                <a:solidFill>
                  <a:srgbClr val="142F38"/>
                </a:solidFill>
                <a:latin typeface="Arial"/>
                <a:ea typeface="Arial"/>
                <a:cs typeface="Arial"/>
              </a:defRPr>
            </a:lvl3pPr>
            <a:lvl4pPr>
              <a:defRPr sz="3300" b="1">
                <a:solidFill>
                  <a:srgbClr val="142F38"/>
                </a:solidFill>
                <a:latin typeface="Arial"/>
                <a:ea typeface="Arial"/>
                <a:cs typeface="Arial"/>
              </a:defRPr>
            </a:lvl4pPr>
            <a:lvl5pPr>
              <a:defRPr sz="3300" b="1">
                <a:solidFill>
                  <a:srgbClr val="142F38"/>
                </a:solidFill>
                <a:latin typeface="Arial"/>
                <a:ea typeface="Arial"/>
                <a:cs typeface="Arial"/>
              </a:defRPr>
            </a:lvl5pPr>
            <a:lvl6pPr>
              <a:defRPr sz="3300" b="1">
                <a:solidFill>
                  <a:srgbClr val="142F38"/>
                </a:solidFill>
                <a:latin typeface="Arial"/>
                <a:ea typeface="Arial"/>
                <a:cs typeface="Arial"/>
              </a:defRPr>
            </a:lvl6pPr>
            <a:lvl7pPr>
              <a:defRPr sz="3300" b="1">
                <a:solidFill>
                  <a:srgbClr val="142F38"/>
                </a:solidFill>
                <a:latin typeface="Arial"/>
                <a:ea typeface="Arial"/>
                <a:cs typeface="Arial"/>
              </a:defRPr>
            </a:lvl7pPr>
            <a:lvl8pPr>
              <a:defRPr sz="3300" b="1">
                <a:solidFill>
                  <a:srgbClr val="142F38"/>
                </a:solidFill>
                <a:latin typeface="Arial"/>
                <a:ea typeface="Arial"/>
                <a:cs typeface="Arial"/>
              </a:defRPr>
            </a:lvl8pPr>
            <a:lvl9pPr>
              <a:defRPr sz="3300" b="1">
                <a:solidFill>
                  <a:srgbClr val="142F38"/>
                </a:solidFill>
                <a:latin typeface="Arial"/>
                <a:ea typeface="Arial"/>
                <a:cs typeface="Arial"/>
              </a:defRPr>
            </a:lvl9pPr>
          </a:lstStyle>
          <a:p xmlns:a="http://schemas.openxmlformats.org/drawingml/2006/main">
            <a:pPr>
              <a:defRPr sz="3300" b="1">
                <a:solidFill>
                  <a:srgbClr val="142F38"/>
                </a:solidFill>
                <a:latin typeface="Arial"/>
                <a:ea typeface="Arial"/>
                <a:cs typeface="Arial"/>
              </a:defRPr>
            </a:pPr>
            <a:r>
              <a:rPr sz="3300" b="1">
                <a:solidFill>
                  <a:srgbClr val="142F38"/>
                </a:solidFill>
                <a:latin typeface="Arial"/>
                <a:ea typeface="Arial"/>
                <a:cs typeface="Arial"/>
              </a:rPr>
              <a:t>Pixels and HOG features</a:t>
            </a:r>
          </a:p>
        </p:txBody>
      </p:sp>
      <p:sp>
        <p:nvSpPr>
          <p:cNvPr id="3" name="">
            <a:extLst xmlns:a="http://schemas.openxmlformats.org/drawingml/2006/main">
              <a:ext uri="{FF2B5EF4-FFF2-40B4-BE49-F238E27FC236}">
                <a16:creationId xmlns:a16="http://schemas.microsoft.com/office/drawing/2014/main" id="{791A17A1-C4C3-4FF9-AEDE-4D4CA80E8929}"/>
              </a:ext>
            </a:extLst>
          </p:cNvPr>
          <p:cNvSpPr>
            <a:spLocks xmlns:a="http://schemas.openxmlformats.org/drawingml/2006/main" noGrp="1"/>
          </p:cNvSpPr>
          <p:nvPr/>
        </p:nvSpPr>
        <p:spPr>
          <a:xfrm xmlns:a="http://schemas.openxmlformats.org/drawingml/2006/main">
            <a:off x="10001250" y="644842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56D"/>
                </a:solidFill>
                <a:latin typeface="Arial"/>
                <a:ea typeface="Arial"/>
                <a:cs typeface="Arial"/>
              </a:defRPr>
            </a:defPPr>
            <a:lvl1pPr>
              <a:defRPr sz="1200" b="0">
                <a:solidFill>
                  <a:srgbClr val="52656D"/>
                </a:solidFill>
                <a:latin typeface="Arial"/>
                <a:ea typeface="Arial"/>
                <a:cs typeface="Arial"/>
              </a:defRPr>
            </a:lvl1pPr>
            <a:lvl2pPr>
              <a:defRPr sz="1200" b="0">
                <a:solidFill>
                  <a:srgbClr val="52656D"/>
                </a:solidFill>
                <a:latin typeface="Arial"/>
                <a:ea typeface="Arial"/>
                <a:cs typeface="Arial"/>
              </a:defRPr>
            </a:lvl2pPr>
            <a:lvl3pPr>
              <a:defRPr sz="1200" b="0">
                <a:solidFill>
                  <a:srgbClr val="52656D"/>
                </a:solidFill>
                <a:latin typeface="Arial"/>
                <a:ea typeface="Arial"/>
                <a:cs typeface="Arial"/>
              </a:defRPr>
            </a:lvl3pPr>
            <a:lvl4pPr>
              <a:defRPr sz="1200" b="0">
                <a:solidFill>
                  <a:srgbClr val="52656D"/>
                </a:solidFill>
                <a:latin typeface="Arial"/>
                <a:ea typeface="Arial"/>
                <a:cs typeface="Arial"/>
              </a:defRPr>
            </a:lvl4pPr>
            <a:lvl5pPr>
              <a:defRPr sz="1200" b="0">
                <a:solidFill>
                  <a:srgbClr val="52656D"/>
                </a:solidFill>
                <a:latin typeface="Arial"/>
                <a:ea typeface="Arial"/>
                <a:cs typeface="Arial"/>
              </a:defRPr>
            </a:lvl5pPr>
            <a:lvl6pPr>
              <a:defRPr sz="1200" b="0">
                <a:solidFill>
                  <a:srgbClr val="52656D"/>
                </a:solidFill>
                <a:latin typeface="Arial"/>
                <a:ea typeface="Arial"/>
                <a:cs typeface="Arial"/>
              </a:defRPr>
            </a:lvl6pPr>
            <a:lvl7pPr>
              <a:defRPr sz="1200" b="0">
                <a:solidFill>
                  <a:srgbClr val="52656D"/>
                </a:solidFill>
                <a:latin typeface="Arial"/>
                <a:ea typeface="Arial"/>
                <a:cs typeface="Arial"/>
              </a:defRPr>
            </a:lvl7pPr>
            <a:lvl8pPr>
              <a:defRPr sz="1200" b="0">
                <a:solidFill>
                  <a:srgbClr val="52656D"/>
                </a:solidFill>
                <a:latin typeface="Arial"/>
                <a:ea typeface="Arial"/>
                <a:cs typeface="Arial"/>
              </a:defRPr>
            </a:lvl8pPr>
            <a:lvl9pPr>
              <a:defRPr sz="1200" b="0">
                <a:solidFill>
                  <a:srgbClr val="52656D"/>
                </a:solidFill>
                <a:latin typeface="Arial"/>
                <a:ea typeface="Arial"/>
                <a:cs typeface="Arial"/>
              </a:defRPr>
            </a:lvl9pPr>
          </a:lstStyle>
          <a:p xmlns:a="http://schemas.openxmlformats.org/drawingml/2006/main">
            <a:pPr>
              <a:defRPr sz="1200" b="0">
                <a:solidFill>
                  <a:srgbClr val="52656D"/>
                </a:solidFill>
                <a:latin typeface="Arial"/>
                <a:ea typeface="Arial"/>
                <a:cs typeface="Arial"/>
              </a:defRPr>
            </a:pPr>
            <a:r>
              <a:rPr sz="1200" b="0">
                <a:solidFill>
                  <a:srgbClr val="52656D"/>
                </a:solidFill>
                <a:latin typeface="Arial"/>
                <a:ea typeface="Arial"/>
                <a:cs typeface="Arial"/>
              </a:rPr>
              <a:t>06</a:t>
            </a:r>
          </a:p>
        </p:txBody>
      </p:sp>
      <p:pic>
        <p:nvPicPr>
          <p:cNvPr id="4" name="">
            <a:extLst xmlns:a="http://schemas.openxmlformats.org/drawingml/2006/main">
              <a:ext uri="{FF2B5EF4-FFF2-40B4-BE49-F238E27FC236}">
                <a16:creationId xmlns:a16="http://schemas.microsoft.com/office/drawing/2014/main" id="{246259AD-53E4-4DB0-9A21-3A91EFA564D4}"/>
              </a:ext>
            </a:extLst>
          </p:cNvPr>
          <p:cNvPicPr>
            <a:picLocks xmlns:a="http://schemas.openxmlformats.org/drawingml/2006/main" noChangeAspect="1"/>
          </p:cNvPicPr>
          <p:nvPr/>
        </p:nvPicPr>
        <p:blipFill>
          <a:blip xmlns:r="http://schemas.openxmlformats.org/officeDocument/2006/relationships" xmlns:a="http://schemas.openxmlformats.org/drawingml/2006/main" r:embed="R77e053e78d564a41"/>
          <a:stretch xmlns:a="http://schemas.openxmlformats.org/drawingml/2006/main"/>
        </p:blipFill>
        <p:spPr>
          <a:xfrm xmlns:a="http://schemas.openxmlformats.org/drawingml/2006/main">
            <a:off x="647700" y="1684873"/>
            <a:ext cx="5810250" cy="282150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D4FBB2D-935D-46DD-A135-576118622825}"/>
              </a:ext>
            </a:extLst>
          </p:cNvPr>
          <p:cNvSpPr>
            <a:spLocks xmlns:a="http://schemas.openxmlformats.org/drawingml/2006/main" noGrp="1"/>
          </p:cNvSpPr>
          <p:nvPr/>
        </p:nvSpPr>
        <p:spPr>
          <a:xfrm xmlns:a="http://schemas.openxmlformats.org/drawingml/2006/main">
            <a:off x="6953250" y="1666875"/>
            <a:ext cx="4476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325" b="1">
                <a:solidFill>
                  <a:srgbClr val="142F38"/>
                </a:solidFill>
                <a:latin typeface="Arial"/>
                <a:ea typeface="Arial"/>
                <a:cs typeface="Arial"/>
              </a:defRPr>
            </a:defPPr>
            <a:lvl1pPr>
              <a:defRPr sz="2325" b="1">
                <a:solidFill>
                  <a:srgbClr val="142F38"/>
                </a:solidFill>
                <a:latin typeface="Arial"/>
                <a:ea typeface="Arial"/>
                <a:cs typeface="Arial"/>
              </a:defRPr>
            </a:lvl1pPr>
            <a:lvl2pPr>
              <a:defRPr sz="2325" b="1">
                <a:solidFill>
                  <a:srgbClr val="142F38"/>
                </a:solidFill>
                <a:latin typeface="Arial"/>
                <a:ea typeface="Arial"/>
                <a:cs typeface="Arial"/>
              </a:defRPr>
            </a:lvl2pPr>
            <a:lvl3pPr>
              <a:defRPr sz="2325" b="1">
                <a:solidFill>
                  <a:srgbClr val="142F38"/>
                </a:solidFill>
                <a:latin typeface="Arial"/>
                <a:ea typeface="Arial"/>
                <a:cs typeface="Arial"/>
              </a:defRPr>
            </a:lvl3pPr>
            <a:lvl4pPr>
              <a:defRPr sz="2325" b="1">
                <a:solidFill>
                  <a:srgbClr val="142F38"/>
                </a:solidFill>
                <a:latin typeface="Arial"/>
                <a:ea typeface="Arial"/>
                <a:cs typeface="Arial"/>
              </a:defRPr>
            </a:lvl4pPr>
            <a:lvl5pPr>
              <a:defRPr sz="2325" b="1">
                <a:solidFill>
                  <a:srgbClr val="142F38"/>
                </a:solidFill>
                <a:latin typeface="Arial"/>
                <a:ea typeface="Arial"/>
                <a:cs typeface="Arial"/>
              </a:defRPr>
            </a:lvl5pPr>
            <a:lvl6pPr>
              <a:defRPr sz="2325" b="1">
                <a:solidFill>
                  <a:srgbClr val="142F38"/>
                </a:solidFill>
                <a:latin typeface="Arial"/>
                <a:ea typeface="Arial"/>
                <a:cs typeface="Arial"/>
              </a:defRPr>
            </a:lvl6pPr>
            <a:lvl7pPr>
              <a:defRPr sz="2325" b="1">
                <a:solidFill>
                  <a:srgbClr val="142F38"/>
                </a:solidFill>
                <a:latin typeface="Arial"/>
                <a:ea typeface="Arial"/>
                <a:cs typeface="Arial"/>
              </a:defRPr>
            </a:lvl7pPr>
            <a:lvl8pPr>
              <a:defRPr sz="2325" b="1">
                <a:solidFill>
                  <a:srgbClr val="142F38"/>
                </a:solidFill>
                <a:latin typeface="Arial"/>
                <a:ea typeface="Arial"/>
                <a:cs typeface="Arial"/>
              </a:defRPr>
            </a:lvl8pPr>
            <a:lvl9pPr>
              <a:defRPr sz="2325" b="1">
                <a:solidFill>
                  <a:srgbClr val="142F38"/>
                </a:solidFill>
                <a:latin typeface="Arial"/>
                <a:ea typeface="Arial"/>
                <a:cs typeface="Arial"/>
              </a:defRPr>
            </a:lvl9pPr>
          </a:lstStyle>
          <a:p xmlns:a="http://schemas.openxmlformats.org/drawingml/2006/main">
            <a:pPr>
              <a:defRPr sz="2325" b="1">
                <a:solidFill>
                  <a:srgbClr val="142F38"/>
                </a:solidFill>
                <a:latin typeface="Arial"/>
                <a:ea typeface="Arial"/>
                <a:cs typeface="Arial"/>
              </a:defRPr>
            </a:pPr>
            <a:r>
              <a:rPr sz="2325" b="1">
                <a:solidFill>
                  <a:srgbClr val="142F38"/>
                </a:solidFill>
                <a:latin typeface="Arial"/>
                <a:ea typeface="Arial"/>
                <a:cs typeface="Arial"/>
              </a:rPr>
              <a:t>Pixels: 28 × 28 = 784</a:t>
            </a:r>
          </a:p>
          <a:p xmlns:a="http://schemas.openxmlformats.org/drawingml/2006/main">
            <a:r>
              <a:t/>
            </a:r>
          </a:p>
          <a:p xmlns:a="http://schemas.openxmlformats.org/drawingml/2006/main">
            <a:pPr>
              <a:defRPr sz="2325" b="1">
                <a:solidFill>
                  <a:srgbClr val="142F38"/>
                </a:solidFill>
                <a:latin typeface="Arial"/>
                <a:ea typeface="Arial"/>
                <a:cs typeface="Arial"/>
              </a:defRPr>
            </a:pPr>
            <a:r>
              <a:rPr sz="2325" b="1">
                <a:solidFill>
                  <a:srgbClr val="142F38"/>
                </a:solidFill>
                <a:latin typeface="Arial"/>
                <a:ea typeface="Arial"/>
                <a:cs typeface="Arial"/>
              </a:rPr>
              <a:t>HOG: 6 × 6 × 2 × 2 × 9</a:t>
            </a:r>
          </a:p>
          <a:p xmlns:a="http://schemas.openxmlformats.org/drawingml/2006/main">
            <a:pPr>
              <a:defRPr sz="2325" b="1">
                <a:solidFill>
                  <a:srgbClr val="142F38"/>
                </a:solidFill>
                <a:latin typeface="Arial"/>
                <a:ea typeface="Arial"/>
                <a:cs typeface="Arial"/>
              </a:defRPr>
            </a:pPr>
            <a:r>
              <a:rPr sz="2325" b="1">
                <a:solidFill>
                  <a:srgbClr val="142F38"/>
                </a:solidFill>
                <a:latin typeface="Arial"/>
                <a:ea typeface="Arial"/>
                <a:cs typeface="Arial"/>
              </a:rPr>
              <a:t>= 1,296 features</a:t>
            </a:r>
          </a:p>
        </p:txBody>
      </p:sp>
      <p:sp>
        <p:nvSpPr>
          <p:cNvPr id="6" name="">
            <a:extLst xmlns:a="http://schemas.openxmlformats.org/drawingml/2006/main">
              <a:ext uri="{FF2B5EF4-FFF2-40B4-BE49-F238E27FC236}">
                <a16:creationId xmlns:a16="http://schemas.microsoft.com/office/drawing/2014/main" id="{8E5BD0A8-7D00-4F46-9503-12F05319581B}"/>
              </a:ext>
            </a:extLst>
          </p:cNvPr>
          <p:cNvSpPr>
            <a:spLocks xmlns:a="http://schemas.openxmlformats.org/drawingml/2006/main" noGrp="1"/>
          </p:cNvSpPr>
          <p:nvPr/>
        </p:nvSpPr>
        <p:spPr>
          <a:xfrm xmlns:a="http://schemas.openxmlformats.org/drawingml/2006/main">
            <a:off x="647700" y="51911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42F38"/>
                </a:solidFill>
                <a:latin typeface="Arial"/>
                <a:ea typeface="Arial"/>
                <a:cs typeface="Arial"/>
              </a:defRPr>
            </a:defPPr>
            <a:lvl1pPr>
              <a:defRPr sz="1950" b="0">
                <a:solidFill>
                  <a:srgbClr val="142F38"/>
                </a:solidFill>
                <a:latin typeface="Arial"/>
                <a:ea typeface="Arial"/>
                <a:cs typeface="Arial"/>
              </a:defRPr>
            </a:lvl1pPr>
            <a:lvl2pPr>
              <a:defRPr sz="1950" b="0">
                <a:solidFill>
                  <a:srgbClr val="142F38"/>
                </a:solidFill>
                <a:latin typeface="Arial"/>
                <a:ea typeface="Arial"/>
                <a:cs typeface="Arial"/>
              </a:defRPr>
            </a:lvl2pPr>
            <a:lvl3pPr>
              <a:defRPr sz="1950" b="0">
                <a:solidFill>
                  <a:srgbClr val="142F38"/>
                </a:solidFill>
                <a:latin typeface="Arial"/>
                <a:ea typeface="Arial"/>
                <a:cs typeface="Arial"/>
              </a:defRPr>
            </a:lvl3pPr>
            <a:lvl4pPr>
              <a:defRPr sz="1950" b="0">
                <a:solidFill>
                  <a:srgbClr val="142F38"/>
                </a:solidFill>
                <a:latin typeface="Arial"/>
                <a:ea typeface="Arial"/>
                <a:cs typeface="Arial"/>
              </a:defRPr>
            </a:lvl4pPr>
            <a:lvl5pPr>
              <a:defRPr sz="1950" b="0">
                <a:solidFill>
                  <a:srgbClr val="142F38"/>
                </a:solidFill>
                <a:latin typeface="Arial"/>
                <a:ea typeface="Arial"/>
                <a:cs typeface="Arial"/>
              </a:defRPr>
            </a:lvl5pPr>
            <a:lvl6pPr>
              <a:defRPr sz="1950" b="0">
                <a:solidFill>
                  <a:srgbClr val="142F38"/>
                </a:solidFill>
                <a:latin typeface="Arial"/>
                <a:ea typeface="Arial"/>
                <a:cs typeface="Arial"/>
              </a:defRPr>
            </a:lvl6pPr>
            <a:lvl7pPr>
              <a:defRPr sz="1950" b="0">
                <a:solidFill>
                  <a:srgbClr val="142F38"/>
                </a:solidFill>
                <a:latin typeface="Arial"/>
                <a:ea typeface="Arial"/>
                <a:cs typeface="Arial"/>
              </a:defRPr>
            </a:lvl7pPr>
            <a:lvl8pPr>
              <a:defRPr sz="1950" b="0">
                <a:solidFill>
                  <a:srgbClr val="142F38"/>
                </a:solidFill>
                <a:latin typeface="Arial"/>
                <a:ea typeface="Arial"/>
                <a:cs typeface="Arial"/>
              </a:defRPr>
            </a:lvl8pPr>
            <a:lvl9pPr>
              <a:defRPr sz="1950" b="0">
                <a:solidFill>
                  <a:srgbClr val="142F38"/>
                </a:solidFill>
                <a:latin typeface="Arial"/>
                <a:ea typeface="Arial"/>
                <a:cs typeface="Arial"/>
              </a:defRPr>
            </a:lvl9pPr>
          </a:lstStyle>
          <a:p xmlns:a="http://schemas.openxmlformats.org/drawingml/2006/main">
            <a:pPr>
              <a:defRPr sz="1950" b="0">
                <a:solidFill>
                  <a:srgbClr val="142F38"/>
                </a:solidFill>
                <a:latin typeface="Arial"/>
                <a:ea typeface="Arial"/>
                <a:cs typeface="Arial"/>
              </a:defRPr>
            </a:pPr>
            <a:r>
              <a:rPr sz="1950" b="0">
                <a:solidFill>
                  <a:srgbClr val="142F38"/>
                </a:solidFill>
                <a:latin typeface="Arial"/>
                <a:ea typeface="Arial"/>
                <a:cs typeface="Arial"/>
              </a:rPr>
              <a:t>HOG settings: 9 orientations, 4 × 4 cells, 2 × 2 blocks, L2-Hys</a:t>
            </a:r>
          </a:p>
          <a:p xmlns:a="http://schemas.openxmlformats.org/drawingml/2006/main">
            <a:pPr>
              <a:defRPr sz="1950" b="0">
                <a:solidFill>
                  <a:srgbClr val="142F38"/>
                </a:solidFill>
                <a:latin typeface="Arial"/>
                <a:ea typeface="Arial"/>
                <a:cs typeface="Arial"/>
              </a:defRPr>
            </a:pPr>
            <a:r>
              <a:rPr sz="1950" b="0">
                <a:solidFill>
                  <a:srgbClr val="142F38"/>
                </a:solidFill>
                <a:latin typeface="Arial"/>
                <a:ea typeface="Arial"/>
                <a:cs typeface="Arial"/>
              </a:rPr>
              <a:t>Normalize pixels to [0, 1]. Fit any StandardScaler on the fit pool only.</a:t>
            </a:r>
          </a:p>
        </p:txBody>
      </p:sp>
    </p:spTree>
    <p:extLst>
      <p:ext uri="{BB962C8B-B14F-4D97-AF65-F5344CB8AC3E}">
        <p14:creationId xmlns:p14="http://schemas.microsoft.com/office/powerpoint/2010/main" val="1596579246"/>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CA8AFE4-EE98-4649-B26F-6E6EA46FD8AF}"/>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42F38"/>
                </a:solidFill>
                <a:latin typeface="Arial"/>
                <a:ea typeface="Arial"/>
                <a:cs typeface="Arial"/>
              </a:defRPr>
            </a:defPPr>
            <a:lvl1pPr>
              <a:defRPr sz="3300" b="1">
                <a:solidFill>
                  <a:srgbClr val="142F38"/>
                </a:solidFill>
                <a:latin typeface="Arial"/>
                <a:ea typeface="Arial"/>
                <a:cs typeface="Arial"/>
              </a:defRPr>
            </a:lvl1pPr>
            <a:lvl2pPr>
              <a:defRPr sz="3300" b="1">
                <a:solidFill>
                  <a:srgbClr val="142F38"/>
                </a:solidFill>
                <a:latin typeface="Arial"/>
                <a:ea typeface="Arial"/>
                <a:cs typeface="Arial"/>
              </a:defRPr>
            </a:lvl2pPr>
            <a:lvl3pPr>
              <a:defRPr sz="3300" b="1">
                <a:solidFill>
                  <a:srgbClr val="142F38"/>
                </a:solidFill>
                <a:latin typeface="Arial"/>
                <a:ea typeface="Arial"/>
                <a:cs typeface="Arial"/>
              </a:defRPr>
            </a:lvl3pPr>
            <a:lvl4pPr>
              <a:defRPr sz="3300" b="1">
                <a:solidFill>
                  <a:srgbClr val="142F38"/>
                </a:solidFill>
                <a:latin typeface="Arial"/>
                <a:ea typeface="Arial"/>
                <a:cs typeface="Arial"/>
              </a:defRPr>
            </a:lvl4pPr>
            <a:lvl5pPr>
              <a:defRPr sz="3300" b="1">
                <a:solidFill>
                  <a:srgbClr val="142F38"/>
                </a:solidFill>
                <a:latin typeface="Arial"/>
                <a:ea typeface="Arial"/>
                <a:cs typeface="Arial"/>
              </a:defRPr>
            </a:lvl5pPr>
            <a:lvl6pPr>
              <a:defRPr sz="3300" b="1">
                <a:solidFill>
                  <a:srgbClr val="142F38"/>
                </a:solidFill>
                <a:latin typeface="Arial"/>
                <a:ea typeface="Arial"/>
                <a:cs typeface="Arial"/>
              </a:defRPr>
            </a:lvl6pPr>
            <a:lvl7pPr>
              <a:defRPr sz="3300" b="1">
                <a:solidFill>
                  <a:srgbClr val="142F38"/>
                </a:solidFill>
                <a:latin typeface="Arial"/>
                <a:ea typeface="Arial"/>
                <a:cs typeface="Arial"/>
              </a:defRPr>
            </a:lvl7pPr>
            <a:lvl8pPr>
              <a:defRPr sz="3300" b="1">
                <a:solidFill>
                  <a:srgbClr val="142F38"/>
                </a:solidFill>
                <a:latin typeface="Arial"/>
                <a:ea typeface="Arial"/>
                <a:cs typeface="Arial"/>
              </a:defRPr>
            </a:lvl8pPr>
            <a:lvl9pPr>
              <a:defRPr sz="3300" b="1">
                <a:solidFill>
                  <a:srgbClr val="142F38"/>
                </a:solidFill>
                <a:latin typeface="Arial"/>
                <a:ea typeface="Arial"/>
                <a:cs typeface="Arial"/>
              </a:defRPr>
            </a:lvl9pPr>
          </a:lstStyle>
          <a:p xmlns:a="http://schemas.openxmlformats.org/drawingml/2006/main">
            <a:pPr>
              <a:defRPr sz="3300" b="1">
                <a:solidFill>
                  <a:srgbClr val="142F38"/>
                </a:solidFill>
                <a:latin typeface="Arial"/>
                <a:ea typeface="Arial"/>
                <a:cs typeface="Arial"/>
              </a:defRPr>
            </a:pPr>
            <a:r>
              <a:rPr sz="3300" b="1">
                <a:solidFill>
                  <a:srgbClr val="142F38"/>
                </a:solidFill>
                <a:latin typeface="Arial"/>
                <a:ea typeface="Arial"/>
                <a:cs typeface="Arial"/>
              </a:rPr>
              <a:t>Logistic Regression and kNN</a:t>
            </a:r>
          </a:p>
        </p:txBody>
      </p:sp>
      <p:sp>
        <p:nvSpPr>
          <p:cNvPr id="3" name="">
            <a:extLst xmlns:a="http://schemas.openxmlformats.org/drawingml/2006/main">
              <a:ext uri="{FF2B5EF4-FFF2-40B4-BE49-F238E27FC236}">
                <a16:creationId xmlns:a16="http://schemas.microsoft.com/office/drawing/2014/main" id="{DBB1569D-8FFD-4B31-9077-0F4F1B8B8481}"/>
              </a:ext>
            </a:extLst>
          </p:cNvPr>
          <p:cNvSpPr>
            <a:spLocks xmlns:a="http://schemas.openxmlformats.org/drawingml/2006/main" noGrp="1"/>
          </p:cNvSpPr>
          <p:nvPr/>
        </p:nvSpPr>
        <p:spPr>
          <a:xfrm xmlns:a="http://schemas.openxmlformats.org/drawingml/2006/main">
            <a:off x="10001250" y="644842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56D"/>
                </a:solidFill>
                <a:latin typeface="Arial"/>
                <a:ea typeface="Arial"/>
                <a:cs typeface="Arial"/>
              </a:defRPr>
            </a:defPPr>
            <a:lvl1pPr>
              <a:defRPr sz="1200" b="0">
                <a:solidFill>
                  <a:srgbClr val="52656D"/>
                </a:solidFill>
                <a:latin typeface="Arial"/>
                <a:ea typeface="Arial"/>
                <a:cs typeface="Arial"/>
              </a:defRPr>
            </a:lvl1pPr>
            <a:lvl2pPr>
              <a:defRPr sz="1200" b="0">
                <a:solidFill>
                  <a:srgbClr val="52656D"/>
                </a:solidFill>
                <a:latin typeface="Arial"/>
                <a:ea typeface="Arial"/>
                <a:cs typeface="Arial"/>
              </a:defRPr>
            </a:lvl2pPr>
            <a:lvl3pPr>
              <a:defRPr sz="1200" b="0">
                <a:solidFill>
                  <a:srgbClr val="52656D"/>
                </a:solidFill>
                <a:latin typeface="Arial"/>
                <a:ea typeface="Arial"/>
                <a:cs typeface="Arial"/>
              </a:defRPr>
            </a:lvl3pPr>
            <a:lvl4pPr>
              <a:defRPr sz="1200" b="0">
                <a:solidFill>
                  <a:srgbClr val="52656D"/>
                </a:solidFill>
                <a:latin typeface="Arial"/>
                <a:ea typeface="Arial"/>
                <a:cs typeface="Arial"/>
              </a:defRPr>
            </a:lvl4pPr>
            <a:lvl5pPr>
              <a:defRPr sz="1200" b="0">
                <a:solidFill>
                  <a:srgbClr val="52656D"/>
                </a:solidFill>
                <a:latin typeface="Arial"/>
                <a:ea typeface="Arial"/>
                <a:cs typeface="Arial"/>
              </a:defRPr>
            </a:lvl5pPr>
            <a:lvl6pPr>
              <a:defRPr sz="1200" b="0">
                <a:solidFill>
                  <a:srgbClr val="52656D"/>
                </a:solidFill>
                <a:latin typeface="Arial"/>
                <a:ea typeface="Arial"/>
                <a:cs typeface="Arial"/>
              </a:defRPr>
            </a:lvl6pPr>
            <a:lvl7pPr>
              <a:defRPr sz="1200" b="0">
                <a:solidFill>
                  <a:srgbClr val="52656D"/>
                </a:solidFill>
                <a:latin typeface="Arial"/>
                <a:ea typeface="Arial"/>
                <a:cs typeface="Arial"/>
              </a:defRPr>
            </a:lvl7pPr>
            <a:lvl8pPr>
              <a:defRPr sz="1200" b="0">
                <a:solidFill>
                  <a:srgbClr val="52656D"/>
                </a:solidFill>
                <a:latin typeface="Arial"/>
                <a:ea typeface="Arial"/>
                <a:cs typeface="Arial"/>
              </a:defRPr>
            </a:lvl8pPr>
            <a:lvl9pPr>
              <a:defRPr sz="1200" b="0">
                <a:solidFill>
                  <a:srgbClr val="52656D"/>
                </a:solidFill>
                <a:latin typeface="Arial"/>
                <a:ea typeface="Arial"/>
                <a:cs typeface="Arial"/>
              </a:defRPr>
            </a:lvl9pPr>
          </a:lstStyle>
          <a:p xmlns:a="http://schemas.openxmlformats.org/drawingml/2006/main">
            <a:pPr>
              <a:defRPr sz="1200" b="0">
                <a:solidFill>
                  <a:srgbClr val="52656D"/>
                </a:solidFill>
                <a:latin typeface="Arial"/>
                <a:ea typeface="Arial"/>
                <a:cs typeface="Arial"/>
              </a:defRPr>
            </a:pPr>
            <a:r>
              <a:rPr sz="1200" b="0">
                <a:solidFill>
                  <a:srgbClr val="52656D"/>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9E9F604E-85E8-4D60-B667-BBE8936559A4}"/>
              </a:ext>
            </a:extLst>
          </p:cNvPr>
          <p:cNvSpPr>
            <a:spLocks xmlns:a="http://schemas.openxmlformats.org/drawingml/2006/main" noGrp="1"/>
          </p:cNvSpPr>
          <p:nvPr/>
        </p:nvSpPr>
        <p:spPr>
          <a:xfrm xmlns:a="http://schemas.openxmlformats.org/drawingml/2006/main">
            <a:off x="647700" y="16192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087F82"/>
                </a:solidFill>
                <a:latin typeface="Arial"/>
                <a:ea typeface="Arial"/>
                <a:cs typeface="Arial"/>
              </a:defRPr>
            </a:defPPr>
            <a:lvl1pPr>
              <a:defRPr sz="2250" b="1">
                <a:solidFill>
                  <a:srgbClr val="087F82"/>
                </a:solidFill>
                <a:latin typeface="Arial"/>
                <a:ea typeface="Arial"/>
                <a:cs typeface="Arial"/>
              </a:defRPr>
            </a:lvl1pPr>
            <a:lvl2pPr>
              <a:defRPr sz="2250" b="1">
                <a:solidFill>
                  <a:srgbClr val="087F82"/>
                </a:solidFill>
                <a:latin typeface="Arial"/>
                <a:ea typeface="Arial"/>
                <a:cs typeface="Arial"/>
              </a:defRPr>
            </a:lvl2pPr>
            <a:lvl3pPr>
              <a:defRPr sz="2250" b="1">
                <a:solidFill>
                  <a:srgbClr val="087F82"/>
                </a:solidFill>
                <a:latin typeface="Arial"/>
                <a:ea typeface="Arial"/>
                <a:cs typeface="Arial"/>
              </a:defRPr>
            </a:lvl3pPr>
            <a:lvl4pPr>
              <a:defRPr sz="2250" b="1">
                <a:solidFill>
                  <a:srgbClr val="087F82"/>
                </a:solidFill>
                <a:latin typeface="Arial"/>
                <a:ea typeface="Arial"/>
                <a:cs typeface="Arial"/>
              </a:defRPr>
            </a:lvl4pPr>
            <a:lvl5pPr>
              <a:defRPr sz="2250" b="1">
                <a:solidFill>
                  <a:srgbClr val="087F82"/>
                </a:solidFill>
                <a:latin typeface="Arial"/>
                <a:ea typeface="Arial"/>
                <a:cs typeface="Arial"/>
              </a:defRPr>
            </a:lvl5pPr>
            <a:lvl6pPr>
              <a:defRPr sz="2250" b="1">
                <a:solidFill>
                  <a:srgbClr val="087F82"/>
                </a:solidFill>
                <a:latin typeface="Arial"/>
                <a:ea typeface="Arial"/>
                <a:cs typeface="Arial"/>
              </a:defRPr>
            </a:lvl6pPr>
            <a:lvl7pPr>
              <a:defRPr sz="2250" b="1">
                <a:solidFill>
                  <a:srgbClr val="087F82"/>
                </a:solidFill>
                <a:latin typeface="Arial"/>
                <a:ea typeface="Arial"/>
                <a:cs typeface="Arial"/>
              </a:defRPr>
            </a:lvl7pPr>
            <a:lvl8pPr>
              <a:defRPr sz="2250" b="1">
                <a:solidFill>
                  <a:srgbClr val="087F82"/>
                </a:solidFill>
                <a:latin typeface="Arial"/>
                <a:ea typeface="Arial"/>
                <a:cs typeface="Arial"/>
              </a:defRPr>
            </a:lvl8pPr>
            <a:lvl9pPr>
              <a:defRPr sz="2250" b="1">
                <a:solidFill>
                  <a:srgbClr val="087F82"/>
                </a:solidFill>
                <a:latin typeface="Arial"/>
                <a:ea typeface="Arial"/>
                <a:cs typeface="Arial"/>
              </a:defRPr>
            </a:lvl9pPr>
          </a:lstStyle>
          <a:p xmlns:a="http://schemas.openxmlformats.org/drawingml/2006/main">
            <a:pPr>
              <a:defRPr sz="2250" b="1">
                <a:solidFill>
                  <a:srgbClr val="087F82"/>
                </a:solidFill>
                <a:latin typeface="Arial"/>
                <a:ea typeface="Arial"/>
                <a:cs typeface="Arial"/>
              </a:defRPr>
            </a:pPr>
            <a:r>
              <a:rPr sz="2250" b="1">
                <a:solidFill>
                  <a:srgbClr val="087F82"/>
                </a:solidFill>
                <a:latin typeface="Arial"/>
                <a:ea typeface="Arial"/>
                <a:cs typeface="Arial"/>
              </a:rPr>
              <a:t>Logistic Regression</a:t>
            </a:r>
          </a:p>
        </p:txBody>
      </p:sp>
      <p:sp>
        <p:nvSpPr>
          <p:cNvPr id="5" name="">
            <a:extLst xmlns:a="http://schemas.openxmlformats.org/drawingml/2006/main">
              <a:ext uri="{FF2B5EF4-FFF2-40B4-BE49-F238E27FC236}">
                <a16:creationId xmlns:a16="http://schemas.microsoft.com/office/drawing/2014/main" id="{F5045E33-619F-41CA-B875-D180144D567E}"/>
              </a:ext>
            </a:extLst>
          </p:cNvPr>
          <p:cNvSpPr>
            <a:spLocks xmlns:a="http://schemas.openxmlformats.org/drawingml/2006/main" noGrp="1"/>
          </p:cNvSpPr>
          <p:nvPr/>
        </p:nvSpPr>
        <p:spPr>
          <a:xfrm xmlns:a="http://schemas.openxmlformats.org/drawingml/2006/main">
            <a:off x="647700" y="2162175"/>
            <a:ext cx="4953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42F38"/>
                </a:solidFill>
                <a:latin typeface="Arial"/>
                <a:ea typeface="Arial"/>
                <a:cs typeface="Arial"/>
              </a:defRPr>
            </a:defPPr>
            <a:lvl1pPr>
              <a:defRPr sz="1950" b="0">
                <a:solidFill>
                  <a:srgbClr val="142F38"/>
                </a:solidFill>
                <a:latin typeface="Arial"/>
                <a:ea typeface="Arial"/>
                <a:cs typeface="Arial"/>
              </a:defRPr>
            </a:lvl1pPr>
            <a:lvl2pPr>
              <a:defRPr sz="1950" b="0">
                <a:solidFill>
                  <a:srgbClr val="142F38"/>
                </a:solidFill>
                <a:latin typeface="Arial"/>
                <a:ea typeface="Arial"/>
                <a:cs typeface="Arial"/>
              </a:defRPr>
            </a:lvl2pPr>
            <a:lvl3pPr>
              <a:defRPr sz="1950" b="0">
                <a:solidFill>
                  <a:srgbClr val="142F38"/>
                </a:solidFill>
                <a:latin typeface="Arial"/>
                <a:ea typeface="Arial"/>
                <a:cs typeface="Arial"/>
              </a:defRPr>
            </a:lvl3pPr>
            <a:lvl4pPr>
              <a:defRPr sz="1950" b="0">
                <a:solidFill>
                  <a:srgbClr val="142F38"/>
                </a:solidFill>
                <a:latin typeface="Arial"/>
                <a:ea typeface="Arial"/>
                <a:cs typeface="Arial"/>
              </a:defRPr>
            </a:lvl4pPr>
            <a:lvl5pPr>
              <a:defRPr sz="1950" b="0">
                <a:solidFill>
                  <a:srgbClr val="142F38"/>
                </a:solidFill>
                <a:latin typeface="Arial"/>
                <a:ea typeface="Arial"/>
                <a:cs typeface="Arial"/>
              </a:defRPr>
            </a:lvl5pPr>
            <a:lvl6pPr>
              <a:defRPr sz="1950" b="0">
                <a:solidFill>
                  <a:srgbClr val="142F38"/>
                </a:solidFill>
                <a:latin typeface="Arial"/>
                <a:ea typeface="Arial"/>
                <a:cs typeface="Arial"/>
              </a:defRPr>
            </a:lvl6pPr>
            <a:lvl7pPr>
              <a:defRPr sz="1950" b="0">
                <a:solidFill>
                  <a:srgbClr val="142F38"/>
                </a:solidFill>
                <a:latin typeface="Arial"/>
                <a:ea typeface="Arial"/>
                <a:cs typeface="Arial"/>
              </a:defRPr>
            </a:lvl7pPr>
            <a:lvl8pPr>
              <a:defRPr sz="1950" b="0">
                <a:solidFill>
                  <a:srgbClr val="142F38"/>
                </a:solidFill>
                <a:latin typeface="Arial"/>
                <a:ea typeface="Arial"/>
                <a:cs typeface="Arial"/>
              </a:defRPr>
            </a:lvl8pPr>
            <a:lvl9pPr>
              <a:defRPr sz="1950" b="0">
                <a:solidFill>
                  <a:srgbClr val="142F38"/>
                </a:solidFill>
                <a:latin typeface="Arial"/>
                <a:ea typeface="Arial"/>
                <a:cs typeface="Arial"/>
              </a:defRPr>
            </a:lvl9pPr>
          </a:lstStyle>
          <a:p xmlns:a="http://schemas.openxmlformats.org/drawingml/2006/main">
            <a:pPr>
              <a:defRPr sz="1950" b="0">
                <a:solidFill>
                  <a:srgbClr val="142F38"/>
                </a:solidFill>
                <a:latin typeface="Arial"/>
                <a:ea typeface="Arial"/>
                <a:cs typeface="Arial"/>
              </a:defRPr>
            </a:pPr>
            <a:r>
              <a:rPr sz="1950" b="0">
                <a:solidFill>
                  <a:srgbClr val="142F38"/>
                </a:solidFill>
                <a:latin typeface="Arial"/>
                <a:ea typeface="Arial"/>
                <a:cs typeface="Arial"/>
              </a:rPr>
              <a:t>Learns linear category scores. C controls regularization strength.</a:t>
            </a:r>
          </a:p>
        </p:txBody>
      </p:sp>
      <p:sp>
        <p:nvSpPr>
          <p:cNvPr id="6" name="">
            <a:extLst xmlns:a="http://schemas.openxmlformats.org/drawingml/2006/main">
              <a:ext uri="{FF2B5EF4-FFF2-40B4-BE49-F238E27FC236}">
                <a16:creationId xmlns:a16="http://schemas.microsoft.com/office/drawing/2014/main" id="{841ED92B-F11B-4E38-BB94-352903A219D4}"/>
              </a:ext>
            </a:extLst>
          </p:cNvPr>
          <p:cNvSpPr>
            <a:spLocks xmlns:a="http://schemas.openxmlformats.org/drawingml/2006/main" noGrp="1"/>
          </p:cNvSpPr>
          <p:nvPr/>
        </p:nvSpPr>
        <p:spPr>
          <a:xfrm xmlns:a="http://schemas.openxmlformats.org/drawingml/2006/main">
            <a:off x="6457950" y="16192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087F82"/>
                </a:solidFill>
                <a:latin typeface="Arial"/>
                <a:ea typeface="Arial"/>
                <a:cs typeface="Arial"/>
              </a:defRPr>
            </a:defPPr>
            <a:lvl1pPr>
              <a:defRPr sz="2250" b="1">
                <a:solidFill>
                  <a:srgbClr val="087F82"/>
                </a:solidFill>
                <a:latin typeface="Arial"/>
                <a:ea typeface="Arial"/>
                <a:cs typeface="Arial"/>
              </a:defRPr>
            </a:lvl1pPr>
            <a:lvl2pPr>
              <a:defRPr sz="2250" b="1">
                <a:solidFill>
                  <a:srgbClr val="087F82"/>
                </a:solidFill>
                <a:latin typeface="Arial"/>
                <a:ea typeface="Arial"/>
                <a:cs typeface="Arial"/>
              </a:defRPr>
            </a:lvl2pPr>
            <a:lvl3pPr>
              <a:defRPr sz="2250" b="1">
                <a:solidFill>
                  <a:srgbClr val="087F82"/>
                </a:solidFill>
                <a:latin typeface="Arial"/>
                <a:ea typeface="Arial"/>
                <a:cs typeface="Arial"/>
              </a:defRPr>
            </a:lvl3pPr>
            <a:lvl4pPr>
              <a:defRPr sz="2250" b="1">
                <a:solidFill>
                  <a:srgbClr val="087F82"/>
                </a:solidFill>
                <a:latin typeface="Arial"/>
                <a:ea typeface="Arial"/>
                <a:cs typeface="Arial"/>
              </a:defRPr>
            </a:lvl4pPr>
            <a:lvl5pPr>
              <a:defRPr sz="2250" b="1">
                <a:solidFill>
                  <a:srgbClr val="087F82"/>
                </a:solidFill>
                <a:latin typeface="Arial"/>
                <a:ea typeface="Arial"/>
                <a:cs typeface="Arial"/>
              </a:defRPr>
            </a:lvl5pPr>
            <a:lvl6pPr>
              <a:defRPr sz="2250" b="1">
                <a:solidFill>
                  <a:srgbClr val="087F82"/>
                </a:solidFill>
                <a:latin typeface="Arial"/>
                <a:ea typeface="Arial"/>
                <a:cs typeface="Arial"/>
              </a:defRPr>
            </a:lvl6pPr>
            <a:lvl7pPr>
              <a:defRPr sz="2250" b="1">
                <a:solidFill>
                  <a:srgbClr val="087F82"/>
                </a:solidFill>
                <a:latin typeface="Arial"/>
                <a:ea typeface="Arial"/>
                <a:cs typeface="Arial"/>
              </a:defRPr>
            </a:lvl7pPr>
            <a:lvl8pPr>
              <a:defRPr sz="2250" b="1">
                <a:solidFill>
                  <a:srgbClr val="087F82"/>
                </a:solidFill>
                <a:latin typeface="Arial"/>
                <a:ea typeface="Arial"/>
                <a:cs typeface="Arial"/>
              </a:defRPr>
            </a:lvl8pPr>
            <a:lvl9pPr>
              <a:defRPr sz="2250" b="1">
                <a:solidFill>
                  <a:srgbClr val="087F82"/>
                </a:solidFill>
                <a:latin typeface="Arial"/>
                <a:ea typeface="Arial"/>
                <a:cs typeface="Arial"/>
              </a:defRPr>
            </a:lvl9pPr>
          </a:lstStyle>
          <a:p xmlns:a="http://schemas.openxmlformats.org/drawingml/2006/main">
            <a:pPr>
              <a:defRPr sz="2250" b="1">
                <a:solidFill>
                  <a:srgbClr val="087F82"/>
                </a:solidFill>
                <a:latin typeface="Arial"/>
                <a:ea typeface="Arial"/>
                <a:cs typeface="Arial"/>
              </a:defRPr>
            </a:pPr>
            <a:r>
              <a:rPr sz="2250" b="1">
                <a:solidFill>
                  <a:srgbClr val="087F82"/>
                </a:solidFill>
                <a:latin typeface="Arial"/>
                <a:ea typeface="Arial"/>
                <a:cs typeface="Arial"/>
              </a:rPr>
              <a:t>k nearest neighbors</a:t>
            </a:r>
          </a:p>
        </p:txBody>
      </p:sp>
      <p:sp>
        <p:nvSpPr>
          <p:cNvPr id="7" name="">
            <a:extLst xmlns:a="http://schemas.openxmlformats.org/drawingml/2006/main">
              <a:ext uri="{FF2B5EF4-FFF2-40B4-BE49-F238E27FC236}">
                <a16:creationId xmlns:a16="http://schemas.microsoft.com/office/drawing/2014/main" id="{C4A9A761-5ECF-46A3-8C32-E65C78927C83}"/>
              </a:ext>
            </a:extLst>
          </p:cNvPr>
          <p:cNvSpPr>
            <a:spLocks xmlns:a="http://schemas.openxmlformats.org/drawingml/2006/main" noGrp="1"/>
          </p:cNvSpPr>
          <p:nvPr/>
        </p:nvSpPr>
        <p:spPr>
          <a:xfrm xmlns:a="http://schemas.openxmlformats.org/drawingml/2006/main">
            <a:off x="6457950" y="2162175"/>
            <a:ext cx="4953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42F38"/>
                </a:solidFill>
                <a:latin typeface="Arial"/>
                <a:ea typeface="Arial"/>
                <a:cs typeface="Arial"/>
              </a:defRPr>
            </a:defPPr>
            <a:lvl1pPr>
              <a:defRPr sz="1950" b="0">
                <a:solidFill>
                  <a:srgbClr val="142F38"/>
                </a:solidFill>
                <a:latin typeface="Arial"/>
                <a:ea typeface="Arial"/>
                <a:cs typeface="Arial"/>
              </a:defRPr>
            </a:lvl1pPr>
            <a:lvl2pPr>
              <a:defRPr sz="1950" b="0">
                <a:solidFill>
                  <a:srgbClr val="142F38"/>
                </a:solidFill>
                <a:latin typeface="Arial"/>
                <a:ea typeface="Arial"/>
                <a:cs typeface="Arial"/>
              </a:defRPr>
            </a:lvl2pPr>
            <a:lvl3pPr>
              <a:defRPr sz="1950" b="0">
                <a:solidFill>
                  <a:srgbClr val="142F38"/>
                </a:solidFill>
                <a:latin typeface="Arial"/>
                <a:ea typeface="Arial"/>
                <a:cs typeface="Arial"/>
              </a:defRPr>
            </a:lvl3pPr>
            <a:lvl4pPr>
              <a:defRPr sz="1950" b="0">
                <a:solidFill>
                  <a:srgbClr val="142F38"/>
                </a:solidFill>
                <a:latin typeface="Arial"/>
                <a:ea typeface="Arial"/>
                <a:cs typeface="Arial"/>
              </a:defRPr>
            </a:lvl4pPr>
            <a:lvl5pPr>
              <a:defRPr sz="1950" b="0">
                <a:solidFill>
                  <a:srgbClr val="142F38"/>
                </a:solidFill>
                <a:latin typeface="Arial"/>
                <a:ea typeface="Arial"/>
                <a:cs typeface="Arial"/>
              </a:defRPr>
            </a:lvl5pPr>
            <a:lvl6pPr>
              <a:defRPr sz="1950" b="0">
                <a:solidFill>
                  <a:srgbClr val="142F38"/>
                </a:solidFill>
                <a:latin typeface="Arial"/>
                <a:ea typeface="Arial"/>
                <a:cs typeface="Arial"/>
              </a:defRPr>
            </a:lvl6pPr>
            <a:lvl7pPr>
              <a:defRPr sz="1950" b="0">
                <a:solidFill>
                  <a:srgbClr val="142F38"/>
                </a:solidFill>
                <a:latin typeface="Arial"/>
                <a:ea typeface="Arial"/>
                <a:cs typeface="Arial"/>
              </a:defRPr>
            </a:lvl7pPr>
            <a:lvl8pPr>
              <a:defRPr sz="1950" b="0">
                <a:solidFill>
                  <a:srgbClr val="142F38"/>
                </a:solidFill>
                <a:latin typeface="Arial"/>
                <a:ea typeface="Arial"/>
                <a:cs typeface="Arial"/>
              </a:defRPr>
            </a:lvl8pPr>
            <a:lvl9pPr>
              <a:defRPr sz="1950" b="0">
                <a:solidFill>
                  <a:srgbClr val="142F38"/>
                </a:solidFill>
                <a:latin typeface="Arial"/>
                <a:ea typeface="Arial"/>
                <a:cs typeface="Arial"/>
              </a:defRPr>
            </a:lvl9pPr>
          </a:lstStyle>
          <a:p xmlns:a="http://schemas.openxmlformats.org/drawingml/2006/main">
            <a:pPr>
              <a:defRPr sz="1950" b="0">
                <a:solidFill>
                  <a:srgbClr val="142F38"/>
                </a:solidFill>
                <a:latin typeface="Arial"/>
                <a:ea typeface="Arial"/>
                <a:cs typeface="Arial"/>
              </a:defRPr>
            </a:pPr>
            <a:r>
              <a:rPr sz="1950" b="0">
                <a:solidFill>
                  <a:srgbClr val="142F38"/>
                </a:solidFill>
                <a:latin typeface="Arial"/>
                <a:ea typeface="Arial"/>
                <a:cs typeface="Arial"/>
              </a:rPr>
              <a:t>Uses distance-weighted votes from stored examples. k controls the neighborhood.</a:t>
            </a:r>
          </a:p>
        </p:txBody>
      </p:sp>
      <p:graphicFrame>
        <p:nvGraphicFramePr>
          <p:cNvPr id="8" name="">
            <a:extLst xmlns:a="http://schemas.openxmlformats.org/drawingml/2006/main">
              <a:ext uri="{FF2B5EF4-FFF2-40B4-BE49-F238E27FC236}">
                <a16:creationId xmlns:a16="http://schemas.microsoft.com/office/drawing/2014/main" id="{258F94B2-D86C-4025-B384-3F754719AC7F}"/>
              </a:ext>
            </a:extLst>
          </p:cNvPr>
          <p:cNvGraphicFramePr/>
          <p:nvPr/>
        </p:nvGraphicFramePr>
        <p:xfrm>
          <a:off xmlns:a="http://schemas.openxmlformats.org/drawingml/2006/main" x="647700" y="4191000"/>
          <a:ext xmlns:a="http://schemas.openxmlformats.org/drawingml/2006/main" cx="10896600" cy="1866900"/>
        </p:xfrm>
        <a:graphic xmlns:a="http://schemas.openxmlformats.org/drawingml/2006/main">
          <a:graphicData uri="http://schemas.openxmlformats.org/drawingml/2006/table">
            <a:tbl>
              <a:tblPr/>
              <a:tblGrid>
                <a:gridCol w="4572000"/>
                <a:gridCol w="6324600"/>
              </a:tblGrid>
              <a:tr h="466725">
                <a:tc>
                  <a:txBody>
                    <a:bodyPr/>
                    <a:lstStyle/>
                    <a:p>
                      <a:r>
                        <a:rPr sz="1875" b="1">
                          <a:solidFill>
                            <a:srgbClr val="FFFFFF"/>
                          </a:solidFill>
                          <a:latin typeface="Arial"/>
                          <a:ea typeface="Arial"/>
                          <a:cs typeface="Arial"/>
                        </a:rPr>
                        <a:t>Pipeline</a:t>
                      </a:r>
                    </a:p>
                  </a:txBody>
                  <a:tcPr marL="95250" marR="95250" marT="85725" marB="57150" anchor="ctr">
                    <a:lnL w="6668">
                      <a:solidFill>
                        <a:srgbClr val="D9DFDF"/>
                      </a:solidFill>
                      <a:prstDash val="solid"/>
                    </a:lnL>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c>
                  <a:txBody>
                    <a:bodyPr/>
                    <a:lstStyle/>
                    <a:p>
                      <a:r>
                        <a:rPr sz="1875" b="1">
                          <a:solidFill>
                            <a:srgbClr val="FFFFFF"/>
                          </a:solidFill>
                          <a:latin typeface="Arial"/>
                          <a:ea typeface="Arial"/>
                          <a:cs typeface="Arial"/>
                        </a:rPr>
                        <a:t>Preprocessing</a:t>
                      </a:r>
                    </a:p>
                  </a:txBody>
                  <a:tcPr marL="95250" marR="95250" marT="85725" marB="57150" anchor="ctr">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r>
              <a:tr h="466725">
                <a:tc>
                  <a:txBody>
                    <a:bodyPr/>
                    <a:lstStyle/>
                    <a:p>
                      <a:r>
                        <a:rPr sz="1875">
                          <a:solidFill>
                            <a:srgbClr val="142F38"/>
                          </a:solidFill>
                          <a:latin typeface="Arial"/>
                          <a:ea typeface="Arial"/>
                          <a:cs typeface="Arial"/>
                        </a:rPr>
                        <a:t>LR with pixels or HOG</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875">
                          <a:solidFill>
                            <a:srgbClr val="142F38"/>
                          </a:solidFill>
                          <a:latin typeface="Arial"/>
                          <a:ea typeface="Arial"/>
                          <a:cs typeface="Arial"/>
                        </a:rPr>
                        <a:t>Training-only StandardScaler</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466725">
                <a:tc>
                  <a:txBody>
                    <a:bodyPr/>
                    <a:lstStyle/>
                    <a:p>
                      <a:r>
                        <a:rPr sz="1875">
                          <a:solidFill>
                            <a:srgbClr val="142F38"/>
                          </a:solidFill>
                          <a:latin typeface="Arial"/>
                          <a:ea typeface="Arial"/>
                          <a:cs typeface="Arial"/>
                        </a:rPr>
                        <a:t>kNN with pixels</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875">
                          <a:solidFill>
                            <a:srgbClr val="142F38"/>
                          </a:solidFill>
                          <a:latin typeface="Arial"/>
                          <a:ea typeface="Arial"/>
                          <a:cs typeface="Arial"/>
                        </a:rPr>
                        <a:t>Pixel normalization only</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466725">
                <a:tc>
                  <a:txBody>
                    <a:bodyPr/>
                    <a:lstStyle/>
                    <a:p>
                      <a:r>
                        <a:rPr sz="1875">
                          <a:solidFill>
                            <a:srgbClr val="142F38"/>
                          </a:solidFill>
                          <a:latin typeface="Arial"/>
                          <a:ea typeface="Arial"/>
                          <a:cs typeface="Arial"/>
                        </a:rPr>
                        <a:t>kNN with HOG</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875">
                          <a:solidFill>
                            <a:srgbClr val="142F38"/>
                          </a:solidFill>
                          <a:latin typeface="Arial"/>
                          <a:ea typeface="Arial"/>
                          <a:cs typeface="Arial"/>
                        </a:rPr>
                        <a:t>Training-only StandardScaler</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bl>
          </a:graphicData>
        </a:graphic>
      </p:graphicFrame>
    </p:spTree>
    <p:extLst>
      <p:ext uri="{BB962C8B-B14F-4D97-AF65-F5344CB8AC3E}">
        <p14:creationId xmlns:p14="http://schemas.microsoft.com/office/powerpoint/2010/main" val="1668916559"/>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ECDD452-2FCB-42A0-9632-694C699E810B}"/>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42F38"/>
                </a:solidFill>
                <a:latin typeface="Arial"/>
                <a:ea typeface="Arial"/>
                <a:cs typeface="Arial"/>
              </a:defRPr>
            </a:defPPr>
            <a:lvl1pPr>
              <a:defRPr sz="3300" b="1">
                <a:solidFill>
                  <a:srgbClr val="142F38"/>
                </a:solidFill>
                <a:latin typeface="Arial"/>
                <a:ea typeface="Arial"/>
                <a:cs typeface="Arial"/>
              </a:defRPr>
            </a:lvl1pPr>
            <a:lvl2pPr>
              <a:defRPr sz="3300" b="1">
                <a:solidFill>
                  <a:srgbClr val="142F38"/>
                </a:solidFill>
                <a:latin typeface="Arial"/>
                <a:ea typeface="Arial"/>
                <a:cs typeface="Arial"/>
              </a:defRPr>
            </a:lvl2pPr>
            <a:lvl3pPr>
              <a:defRPr sz="3300" b="1">
                <a:solidFill>
                  <a:srgbClr val="142F38"/>
                </a:solidFill>
                <a:latin typeface="Arial"/>
                <a:ea typeface="Arial"/>
                <a:cs typeface="Arial"/>
              </a:defRPr>
            </a:lvl3pPr>
            <a:lvl4pPr>
              <a:defRPr sz="3300" b="1">
                <a:solidFill>
                  <a:srgbClr val="142F38"/>
                </a:solidFill>
                <a:latin typeface="Arial"/>
                <a:ea typeface="Arial"/>
                <a:cs typeface="Arial"/>
              </a:defRPr>
            </a:lvl4pPr>
            <a:lvl5pPr>
              <a:defRPr sz="3300" b="1">
                <a:solidFill>
                  <a:srgbClr val="142F38"/>
                </a:solidFill>
                <a:latin typeface="Arial"/>
                <a:ea typeface="Arial"/>
                <a:cs typeface="Arial"/>
              </a:defRPr>
            </a:lvl5pPr>
            <a:lvl6pPr>
              <a:defRPr sz="3300" b="1">
                <a:solidFill>
                  <a:srgbClr val="142F38"/>
                </a:solidFill>
                <a:latin typeface="Arial"/>
                <a:ea typeface="Arial"/>
                <a:cs typeface="Arial"/>
              </a:defRPr>
            </a:lvl6pPr>
            <a:lvl7pPr>
              <a:defRPr sz="3300" b="1">
                <a:solidFill>
                  <a:srgbClr val="142F38"/>
                </a:solidFill>
                <a:latin typeface="Arial"/>
                <a:ea typeface="Arial"/>
                <a:cs typeface="Arial"/>
              </a:defRPr>
            </a:lvl7pPr>
            <a:lvl8pPr>
              <a:defRPr sz="3300" b="1">
                <a:solidFill>
                  <a:srgbClr val="142F38"/>
                </a:solidFill>
                <a:latin typeface="Arial"/>
                <a:ea typeface="Arial"/>
                <a:cs typeface="Arial"/>
              </a:defRPr>
            </a:lvl8pPr>
            <a:lvl9pPr>
              <a:defRPr sz="3300" b="1">
                <a:solidFill>
                  <a:srgbClr val="142F38"/>
                </a:solidFill>
                <a:latin typeface="Arial"/>
                <a:ea typeface="Arial"/>
                <a:cs typeface="Arial"/>
              </a:defRPr>
            </a:lvl9pPr>
          </a:lstStyle>
          <a:p xmlns:a="http://schemas.openxmlformats.org/drawingml/2006/main">
            <a:pPr>
              <a:defRPr sz="3300" b="1">
                <a:solidFill>
                  <a:srgbClr val="142F38"/>
                </a:solidFill>
                <a:latin typeface="Arial"/>
                <a:ea typeface="Arial"/>
                <a:cs typeface="Arial"/>
              </a:defRPr>
            </a:pPr>
            <a:r>
              <a:rPr sz="3300" b="1">
                <a:solidFill>
                  <a:srgbClr val="142F38"/>
                </a:solidFill>
                <a:latin typeface="Arial"/>
                <a:ea typeface="Arial"/>
                <a:cs typeface="Arial"/>
              </a:rPr>
              <a:t>Random Forest and RBF SVM</a:t>
            </a:r>
          </a:p>
        </p:txBody>
      </p:sp>
      <p:sp>
        <p:nvSpPr>
          <p:cNvPr id="3" name="">
            <a:extLst xmlns:a="http://schemas.openxmlformats.org/drawingml/2006/main">
              <a:ext uri="{FF2B5EF4-FFF2-40B4-BE49-F238E27FC236}">
                <a16:creationId xmlns:a16="http://schemas.microsoft.com/office/drawing/2014/main" id="{D19FB861-E73D-4E80-B92E-19B026644848}"/>
              </a:ext>
            </a:extLst>
          </p:cNvPr>
          <p:cNvSpPr>
            <a:spLocks xmlns:a="http://schemas.openxmlformats.org/drawingml/2006/main" noGrp="1"/>
          </p:cNvSpPr>
          <p:nvPr/>
        </p:nvSpPr>
        <p:spPr>
          <a:xfrm xmlns:a="http://schemas.openxmlformats.org/drawingml/2006/main">
            <a:off x="10001250" y="644842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56D"/>
                </a:solidFill>
                <a:latin typeface="Arial"/>
                <a:ea typeface="Arial"/>
                <a:cs typeface="Arial"/>
              </a:defRPr>
            </a:defPPr>
            <a:lvl1pPr>
              <a:defRPr sz="1200" b="0">
                <a:solidFill>
                  <a:srgbClr val="52656D"/>
                </a:solidFill>
                <a:latin typeface="Arial"/>
                <a:ea typeface="Arial"/>
                <a:cs typeface="Arial"/>
              </a:defRPr>
            </a:lvl1pPr>
            <a:lvl2pPr>
              <a:defRPr sz="1200" b="0">
                <a:solidFill>
                  <a:srgbClr val="52656D"/>
                </a:solidFill>
                <a:latin typeface="Arial"/>
                <a:ea typeface="Arial"/>
                <a:cs typeface="Arial"/>
              </a:defRPr>
            </a:lvl2pPr>
            <a:lvl3pPr>
              <a:defRPr sz="1200" b="0">
                <a:solidFill>
                  <a:srgbClr val="52656D"/>
                </a:solidFill>
                <a:latin typeface="Arial"/>
                <a:ea typeface="Arial"/>
                <a:cs typeface="Arial"/>
              </a:defRPr>
            </a:lvl3pPr>
            <a:lvl4pPr>
              <a:defRPr sz="1200" b="0">
                <a:solidFill>
                  <a:srgbClr val="52656D"/>
                </a:solidFill>
                <a:latin typeface="Arial"/>
                <a:ea typeface="Arial"/>
                <a:cs typeface="Arial"/>
              </a:defRPr>
            </a:lvl4pPr>
            <a:lvl5pPr>
              <a:defRPr sz="1200" b="0">
                <a:solidFill>
                  <a:srgbClr val="52656D"/>
                </a:solidFill>
                <a:latin typeface="Arial"/>
                <a:ea typeface="Arial"/>
                <a:cs typeface="Arial"/>
              </a:defRPr>
            </a:lvl5pPr>
            <a:lvl6pPr>
              <a:defRPr sz="1200" b="0">
                <a:solidFill>
                  <a:srgbClr val="52656D"/>
                </a:solidFill>
                <a:latin typeface="Arial"/>
                <a:ea typeface="Arial"/>
                <a:cs typeface="Arial"/>
              </a:defRPr>
            </a:lvl6pPr>
            <a:lvl7pPr>
              <a:defRPr sz="1200" b="0">
                <a:solidFill>
                  <a:srgbClr val="52656D"/>
                </a:solidFill>
                <a:latin typeface="Arial"/>
                <a:ea typeface="Arial"/>
                <a:cs typeface="Arial"/>
              </a:defRPr>
            </a:lvl7pPr>
            <a:lvl8pPr>
              <a:defRPr sz="1200" b="0">
                <a:solidFill>
                  <a:srgbClr val="52656D"/>
                </a:solidFill>
                <a:latin typeface="Arial"/>
                <a:ea typeface="Arial"/>
                <a:cs typeface="Arial"/>
              </a:defRPr>
            </a:lvl8pPr>
            <a:lvl9pPr>
              <a:defRPr sz="1200" b="0">
                <a:solidFill>
                  <a:srgbClr val="52656D"/>
                </a:solidFill>
                <a:latin typeface="Arial"/>
                <a:ea typeface="Arial"/>
                <a:cs typeface="Arial"/>
              </a:defRPr>
            </a:lvl9pPr>
          </a:lstStyle>
          <a:p xmlns:a="http://schemas.openxmlformats.org/drawingml/2006/main">
            <a:pPr>
              <a:defRPr sz="1200" b="0">
                <a:solidFill>
                  <a:srgbClr val="52656D"/>
                </a:solidFill>
                <a:latin typeface="Arial"/>
                <a:ea typeface="Arial"/>
                <a:cs typeface="Arial"/>
              </a:defRPr>
            </a:pPr>
            <a:r>
              <a:rPr sz="1200" b="0">
                <a:solidFill>
                  <a:srgbClr val="52656D"/>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0DFEB886-87FE-44BD-9C92-656FBCE17767}"/>
              </a:ext>
            </a:extLst>
          </p:cNvPr>
          <p:cNvSpPr>
            <a:spLocks xmlns:a="http://schemas.openxmlformats.org/drawingml/2006/main" noGrp="1"/>
          </p:cNvSpPr>
          <p:nvPr/>
        </p:nvSpPr>
        <p:spPr>
          <a:xfrm xmlns:a="http://schemas.openxmlformats.org/drawingml/2006/main">
            <a:off x="647700" y="166687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087F82"/>
                </a:solidFill>
                <a:latin typeface="Arial"/>
                <a:ea typeface="Arial"/>
                <a:cs typeface="Arial"/>
              </a:defRPr>
            </a:defPPr>
            <a:lvl1pPr>
              <a:defRPr sz="2250" b="1">
                <a:solidFill>
                  <a:srgbClr val="087F82"/>
                </a:solidFill>
                <a:latin typeface="Arial"/>
                <a:ea typeface="Arial"/>
                <a:cs typeface="Arial"/>
              </a:defRPr>
            </a:lvl1pPr>
            <a:lvl2pPr>
              <a:defRPr sz="2250" b="1">
                <a:solidFill>
                  <a:srgbClr val="087F82"/>
                </a:solidFill>
                <a:latin typeface="Arial"/>
                <a:ea typeface="Arial"/>
                <a:cs typeface="Arial"/>
              </a:defRPr>
            </a:lvl2pPr>
            <a:lvl3pPr>
              <a:defRPr sz="2250" b="1">
                <a:solidFill>
                  <a:srgbClr val="087F82"/>
                </a:solidFill>
                <a:latin typeface="Arial"/>
                <a:ea typeface="Arial"/>
                <a:cs typeface="Arial"/>
              </a:defRPr>
            </a:lvl3pPr>
            <a:lvl4pPr>
              <a:defRPr sz="2250" b="1">
                <a:solidFill>
                  <a:srgbClr val="087F82"/>
                </a:solidFill>
                <a:latin typeface="Arial"/>
                <a:ea typeface="Arial"/>
                <a:cs typeface="Arial"/>
              </a:defRPr>
            </a:lvl4pPr>
            <a:lvl5pPr>
              <a:defRPr sz="2250" b="1">
                <a:solidFill>
                  <a:srgbClr val="087F82"/>
                </a:solidFill>
                <a:latin typeface="Arial"/>
                <a:ea typeface="Arial"/>
                <a:cs typeface="Arial"/>
              </a:defRPr>
            </a:lvl5pPr>
            <a:lvl6pPr>
              <a:defRPr sz="2250" b="1">
                <a:solidFill>
                  <a:srgbClr val="087F82"/>
                </a:solidFill>
                <a:latin typeface="Arial"/>
                <a:ea typeface="Arial"/>
                <a:cs typeface="Arial"/>
              </a:defRPr>
            </a:lvl6pPr>
            <a:lvl7pPr>
              <a:defRPr sz="2250" b="1">
                <a:solidFill>
                  <a:srgbClr val="087F82"/>
                </a:solidFill>
                <a:latin typeface="Arial"/>
                <a:ea typeface="Arial"/>
                <a:cs typeface="Arial"/>
              </a:defRPr>
            </a:lvl7pPr>
            <a:lvl8pPr>
              <a:defRPr sz="2250" b="1">
                <a:solidFill>
                  <a:srgbClr val="087F82"/>
                </a:solidFill>
                <a:latin typeface="Arial"/>
                <a:ea typeface="Arial"/>
                <a:cs typeface="Arial"/>
              </a:defRPr>
            </a:lvl8pPr>
            <a:lvl9pPr>
              <a:defRPr sz="2250" b="1">
                <a:solidFill>
                  <a:srgbClr val="087F82"/>
                </a:solidFill>
                <a:latin typeface="Arial"/>
                <a:ea typeface="Arial"/>
                <a:cs typeface="Arial"/>
              </a:defRPr>
            </a:lvl9pPr>
          </a:lstStyle>
          <a:p xmlns:a="http://schemas.openxmlformats.org/drawingml/2006/main">
            <a:pPr>
              <a:defRPr sz="2250" b="1">
                <a:solidFill>
                  <a:srgbClr val="087F82"/>
                </a:solidFill>
                <a:latin typeface="Arial"/>
                <a:ea typeface="Arial"/>
                <a:cs typeface="Arial"/>
              </a:defRPr>
            </a:pPr>
            <a:r>
              <a:rPr sz="2250" b="1">
                <a:solidFill>
                  <a:srgbClr val="087F82"/>
                </a:solidFill>
                <a:latin typeface="Arial"/>
                <a:ea typeface="Arial"/>
                <a:cs typeface="Arial"/>
              </a:rPr>
              <a:t>Random Forest</a:t>
            </a:r>
          </a:p>
        </p:txBody>
      </p:sp>
      <p:sp>
        <p:nvSpPr>
          <p:cNvPr id="5" name="">
            <a:extLst xmlns:a="http://schemas.openxmlformats.org/drawingml/2006/main">
              <a:ext uri="{FF2B5EF4-FFF2-40B4-BE49-F238E27FC236}">
                <a16:creationId xmlns:a16="http://schemas.microsoft.com/office/drawing/2014/main" id="{0132CE39-02A5-443B-BBB5-5BE8AC723CD4}"/>
              </a:ext>
            </a:extLst>
          </p:cNvPr>
          <p:cNvSpPr>
            <a:spLocks xmlns:a="http://schemas.openxmlformats.org/drawingml/2006/main" noGrp="1"/>
          </p:cNvSpPr>
          <p:nvPr/>
        </p:nvSpPr>
        <p:spPr>
          <a:xfrm xmlns:a="http://schemas.openxmlformats.org/drawingml/2006/main">
            <a:off x="647700" y="2209800"/>
            <a:ext cx="4953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42F38"/>
                </a:solidFill>
                <a:latin typeface="Arial"/>
                <a:ea typeface="Arial"/>
                <a:cs typeface="Arial"/>
              </a:defRPr>
            </a:defPPr>
            <a:lvl1pPr>
              <a:defRPr sz="1950" b="0">
                <a:solidFill>
                  <a:srgbClr val="142F38"/>
                </a:solidFill>
                <a:latin typeface="Arial"/>
                <a:ea typeface="Arial"/>
                <a:cs typeface="Arial"/>
              </a:defRPr>
            </a:lvl1pPr>
            <a:lvl2pPr>
              <a:defRPr sz="1950" b="0">
                <a:solidFill>
                  <a:srgbClr val="142F38"/>
                </a:solidFill>
                <a:latin typeface="Arial"/>
                <a:ea typeface="Arial"/>
                <a:cs typeface="Arial"/>
              </a:defRPr>
            </a:lvl2pPr>
            <a:lvl3pPr>
              <a:defRPr sz="1950" b="0">
                <a:solidFill>
                  <a:srgbClr val="142F38"/>
                </a:solidFill>
                <a:latin typeface="Arial"/>
                <a:ea typeface="Arial"/>
                <a:cs typeface="Arial"/>
              </a:defRPr>
            </a:lvl3pPr>
            <a:lvl4pPr>
              <a:defRPr sz="1950" b="0">
                <a:solidFill>
                  <a:srgbClr val="142F38"/>
                </a:solidFill>
                <a:latin typeface="Arial"/>
                <a:ea typeface="Arial"/>
                <a:cs typeface="Arial"/>
              </a:defRPr>
            </a:lvl4pPr>
            <a:lvl5pPr>
              <a:defRPr sz="1950" b="0">
                <a:solidFill>
                  <a:srgbClr val="142F38"/>
                </a:solidFill>
                <a:latin typeface="Arial"/>
                <a:ea typeface="Arial"/>
                <a:cs typeface="Arial"/>
              </a:defRPr>
            </a:lvl5pPr>
            <a:lvl6pPr>
              <a:defRPr sz="1950" b="0">
                <a:solidFill>
                  <a:srgbClr val="142F38"/>
                </a:solidFill>
                <a:latin typeface="Arial"/>
                <a:ea typeface="Arial"/>
                <a:cs typeface="Arial"/>
              </a:defRPr>
            </a:lvl6pPr>
            <a:lvl7pPr>
              <a:defRPr sz="1950" b="0">
                <a:solidFill>
                  <a:srgbClr val="142F38"/>
                </a:solidFill>
                <a:latin typeface="Arial"/>
                <a:ea typeface="Arial"/>
                <a:cs typeface="Arial"/>
              </a:defRPr>
            </a:lvl7pPr>
            <a:lvl8pPr>
              <a:defRPr sz="1950" b="0">
                <a:solidFill>
                  <a:srgbClr val="142F38"/>
                </a:solidFill>
                <a:latin typeface="Arial"/>
                <a:ea typeface="Arial"/>
                <a:cs typeface="Arial"/>
              </a:defRPr>
            </a:lvl8pPr>
            <a:lvl9pPr>
              <a:defRPr sz="1950" b="0">
                <a:solidFill>
                  <a:srgbClr val="142F38"/>
                </a:solidFill>
                <a:latin typeface="Arial"/>
                <a:ea typeface="Arial"/>
                <a:cs typeface="Arial"/>
              </a:defRPr>
            </a:lvl9pPr>
          </a:lstStyle>
          <a:p xmlns:a="http://schemas.openxmlformats.org/drawingml/2006/main">
            <a:pPr>
              <a:defRPr sz="1950" b="0">
                <a:solidFill>
                  <a:srgbClr val="142F38"/>
                </a:solidFill>
                <a:latin typeface="Arial"/>
                <a:ea typeface="Arial"/>
                <a:cs typeface="Arial"/>
              </a:defRPr>
            </a:pPr>
            <a:r>
              <a:rPr sz="1950" b="0">
                <a:solidFill>
                  <a:srgbClr val="142F38"/>
                </a:solidFill>
                <a:latin typeface="Arial"/>
                <a:ea typeface="Arial"/>
                <a:cs typeface="Arial"/>
              </a:rPr>
              <a:t>200 randomized decision trees. Depth controls rule complexity. No StandardScaler.</a:t>
            </a:r>
          </a:p>
        </p:txBody>
      </p:sp>
      <p:sp>
        <p:nvSpPr>
          <p:cNvPr id="6" name="">
            <a:extLst xmlns:a="http://schemas.openxmlformats.org/drawingml/2006/main">
              <a:ext uri="{FF2B5EF4-FFF2-40B4-BE49-F238E27FC236}">
                <a16:creationId xmlns:a16="http://schemas.microsoft.com/office/drawing/2014/main" id="{EB1FB51A-36FB-4153-A166-88B9A5473194}"/>
              </a:ext>
            </a:extLst>
          </p:cNvPr>
          <p:cNvSpPr>
            <a:spLocks xmlns:a="http://schemas.openxmlformats.org/drawingml/2006/main" noGrp="1"/>
          </p:cNvSpPr>
          <p:nvPr/>
        </p:nvSpPr>
        <p:spPr>
          <a:xfrm xmlns:a="http://schemas.openxmlformats.org/drawingml/2006/main">
            <a:off x="6457950" y="166687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087F82"/>
                </a:solidFill>
                <a:latin typeface="Arial"/>
                <a:ea typeface="Arial"/>
                <a:cs typeface="Arial"/>
              </a:defRPr>
            </a:defPPr>
            <a:lvl1pPr>
              <a:defRPr sz="2250" b="1">
                <a:solidFill>
                  <a:srgbClr val="087F82"/>
                </a:solidFill>
                <a:latin typeface="Arial"/>
                <a:ea typeface="Arial"/>
                <a:cs typeface="Arial"/>
              </a:defRPr>
            </a:lvl1pPr>
            <a:lvl2pPr>
              <a:defRPr sz="2250" b="1">
                <a:solidFill>
                  <a:srgbClr val="087F82"/>
                </a:solidFill>
                <a:latin typeface="Arial"/>
                <a:ea typeface="Arial"/>
                <a:cs typeface="Arial"/>
              </a:defRPr>
            </a:lvl2pPr>
            <a:lvl3pPr>
              <a:defRPr sz="2250" b="1">
                <a:solidFill>
                  <a:srgbClr val="087F82"/>
                </a:solidFill>
                <a:latin typeface="Arial"/>
                <a:ea typeface="Arial"/>
                <a:cs typeface="Arial"/>
              </a:defRPr>
            </a:lvl3pPr>
            <a:lvl4pPr>
              <a:defRPr sz="2250" b="1">
                <a:solidFill>
                  <a:srgbClr val="087F82"/>
                </a:solidFill>
                <a:latin typeface="Arial"/>
                <a:ea typeface="Arial"/>
                <a:cs typeface="Arial"/>
              </a:defRPr>
            </a:lvl4pPr>
            <a:lvl5pPr>
              <a:defRPr sz="2250" b="1">
                <a:solidFill>
                  <a:srgbClr val="087F82"/>
                </a:solidFill>
                <a:latin typeface="Arial"/>
                <a:ea typeface="Arial"/>
                <a:cs typeface="Arial"/>
              </a:defRPr>
            </a:lvl5pPr>
            <a:lvl6pPr>
              <a:defRPr sz="2250" b="1">
                <a:solidFill>
                  <a:srgbClr val="087F82"/>
                </a:solidFill>
                <a:latin typeface="Arial"/>
                <a:ea typeface="Arial"/>
                <a:cs typeface="Arial"/>
              </a:defRPr>
            </a:lvl6pPr>
            <a:lvl7pPr>
              <a:defRPr sz="2250" b="1">
                <a:solidFill>
                  <a:srgbClr val="087F82"/>
                </a:solidFill>
                <a:latin typeface="Arial"/>
                <a:ea typeface="Arial"/>
                <a:cs typeface="Arial"/>
              </a:defRPr>
            </a:lvl7pPr>
            <a:lvl8pPr>
              <a:defRPr sz="2250" b="1">
                <a:solidFill>
                  <a:srgbClr val="087F82"/>
                </a:solidFill>
                <a:latin typeface="Arial"/>
                <a:ea typeface="Arial"/>
                <a:cs typeface="Arial"/>
              </a:defRPr>
            </a:lvl8pPr>
            <a:lvl9pPr>
              <a:defRPr sz="2250" b="1">
                <a:solidFill>
                  <a:srgbClr val="087F82"/>
                </a:solidFill>
                <a:latin typeface="Arial"/>
                <a:ea typeface="Arial"/>
                <a:cs typeface="Arial"/>
              </a:defRPr>
            </a:lvl9pPr>
          </a:lstStyle>
          <a:p xmlns:a="http://schemas.openxmlformats.org/drawingml/2006/main">
            <a:pPr>
              <a:defRPr sz="2250" b="1">
                <a:solidFill>
                  <a:srgbClr val="087F82"/>
                </a:solidFill>
                <a:latin typeface="Arial"/>
                <a:ea typeface="Arial"/>
                <a:cs typeface="Arial"/>
              </a:defRPr>
            </a:pPr>
            <a:r>
              <a:rPr sz="2250" b="1">
                <a:solidFill>
                  <a:srgbClr val="087F82"/>
                </a:solidFill>
                <a:latin typeface="Arial"/>
                <a:ea typeface="Arial"/>
                <a:cs typeface="Arial"/>
              </a:rPr>
              <a:t>RBF SVM</a:t>
            </a:r>
          </a:p>
        </p:txBody>
      </p:sp>
      <p:sp>
        <p:nvSpPr>
          <p:cNvPr id="7" name="">
            <a:extLst xmlns:a="http://schemas.openxmlformats.org/drawingml/2006/main">
              <a:ext uri="{FF2B5EF4-FFF2-40B4-BE49-F238E27FC236}">
                <a16:creationId xmlns:a16="http://schemas.microsoft.com/office/drawing/2014/main" id="{C17FE4BA-3DC9-42FC-875A-A813CE03BE0E}"/>
              </a:ext>
            </a:extLst>
          </p:cNvPr>
          <p:cNvSpPr>
            <a:spLocks xmlns:a="http://schemas.openxmlformats.org/drawingml/2006/main" noGrp="1"/>
          </p:cNvSpPr>
          <p:nvPr/>
        </p:nvSpPr>
        <p:spPr>
          <a:xfrm xmlns:a="http://schemas.openxmlformats.org/drawingml/2006/main">
            <a:off x="6457950" y="2209800"/>
            <a:ext cx="4953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42F38"/>
                </a:solidFill>
                <a:latin typeface="Arial"/>
                <a:ea typeface="Arial"/>
                <a:cs typeface="Arial"/>
              </a:defRPr>
            </a:defPPr>
            <a:lvl1pPr>
              <a:defRPr sz="1950" b="0">
                <a:solidFill>
                  <a:srgbClr val="142F38"/>
                </a:solidFill>
                <a:latin typeface="Arial"/>
                <a:ea typeface="Arial"/>
                <a:cs typeface="Arial"/>
              </a:defRPr>
            </a:lvl1pPr>
            <a:lvl2pPr>
              <a:defRPr sz="1950" b="0">
                <a:solidFill>
                  <a:srgbClr val="142F38"/>
                </a:solidFill>
                <a:latin typeface="Arial"/>
                <a:ea typeface="Arial"/>
                <a:cs typeface="Arial"/>
              </a:defRPr>
            </a:lvl2pPr>
            <a:lvl3pPr>
              <a:defRPr sz="1950" b="0">
                <a:solidFill>
                  <a:srgbClr val="142F38"/>
                </a:solidFill>
                <a:latin typeface="Arial"/>
                <a:ea typeface="Arial"/>
                <a:cs typeface="Arial"/>
              </a:defRPr>
            </a:lvl3pPr>
            <a:lvl4pPr>
              <a:defRPr sz="1950" b="0">
                <a:solidFill>
                  <a:srgbClr val="142F38"/>
                </a:solidFill>
                <a:latin typeface="Arial"/>
                <a:ea typeface="Arial"/>
                <a:cs typeface="Arial"/>
              </a:defRPr>
            </a:lvl4pPr>
            <a:lvl5pPr>
              <a:defRPr sz="1950" b="0">
                <a:solidFill>
                  <a:srgbClr val="142F38"/>
                </a:solidFill>
                <a:latin typeface="Arial"/>
                <a:ea typeface="Arial"/>
                <a:cs typeface="Arial"/>
              </a:defRPr>
            </a:lvl5pPr>
            <a:lvl6pPr>
              <a:defRPr sz="1950" b="0">
                <a:solidFill>
                  <a:srgbClr val="142F38"/>
                </a:solidFill>
                <a:latin typeface="Arial"/>
                <a:ea typeface="Arial"/>
                <a:cs typeface="Arial"/>
              </a:defRPr>
            </a:lvl6pPr>
            <a:lvl7pPr>
              <a:defRPr sz="1950" b="0">
                <a:solidFill>
                  <a:srgbClr val="142F38"/>
                </a:solidFill>
                <a:latin typeface="Arial"/>
                <a:ea typeface="Arial"/>
                <a:cs typeface="Arial"/>
              </a:defRPr>
            </a:lvl7pPr>
            <a:lvl8pPr>
              <a:defRPr sz="1950" b="0">
                <a:solidFill>
                  <a:srgbClr val="142F38"/>
                </a:solidFill>
                <a:latin typeface="Arial"/>
                <a:ea typeface="Arial"/>
                <a:cs typeface="Arial"/>
              </a:defRPr>
            </a:lvl8pPr>
            <a:lvl9pPr>
              <a:defRPr sz="1950" b="0">
                <a:solidFill>
                  <a:srgbClr val="142F38"/>
                </a:solidFill>
                <a:latin typeface="Arial"/>
                <a:ea typeface="Arial"/>
                <a:cs typeface="Arial"/>
              </a:defRPr>
            </a:lvl9pPr>
          </a:lstStyle>
          <a:p xmlns:a="http://schemas.openxmlformats.org/drawingml/2006/main">
            <a:pPr>
              <a:defRPr sz="1950" b="0">
                <a:solidFill>
                  <a:srgbClr val="142F38"/>
                </a:solidFill>
                <a:latin typeface="Arial"/>
                <a:ea typeface="Arial"/>
                <a:cs typeface="Arial"/>
              </a:defRPr>
            </a:pPr>
            <a:r>
              <a:rPr sz="1950" b="0">
                <a:solidFill>
                  <a:srgbClr val="142F38"/>
                </a:solidFill>
                <a:latin typeface="Arial"/>
                <a:ea typeface="Arial"/>
                <a:cs typeface="Arial"/>
              </a:rPr>
              <a:t>Nonlinear similarity and margin decisions. StandardScaler, gamma = scale, no probability estimation.</a:t>
            </a:r>
          </a:p>
        </p:txBody>
      </p:sp>
      <p:sp>
        <p:nvSpPr>
          <p:cNvPr id="8" name="">
            <a:extLst xmlns:a="http://schemas.openxmlformats.org/drawingml/2006/main">
              <a:ext uri="{FF2B5EF4-FFF2-40B4-BE49-F238E27FC236}">
                <a16:creationId xmlns:a16="http://schemas.microsoft.com/office/drawing/2014/main" id="{648741D1-E55F-4E22-99BF-A6530560BA01}"/>
              </a:ext>
            </a:extLst>
          </p:cNvPr>
          <p:cNvSpPr>
            <a:spLocks xmlns:a="http://schemas.openxmlformats.org/drawingml/2006/main" noGrp="1"/>
          </p:cNvSpPr>
          <p:nvPr/>
        </p:nvSpPr>
        <p:spPr>
          <a:xfrm xmlns:a="http://schemas.openxmlformats.org/drawingml/2006/main">
            <a:off x="647700" y="46863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700" b="1">
                <a:solidFill>
                  <a:srgbClr val="087F82"/>
                </a:solidFill>
                <a:latin typeface="Arial"/>
                <a:ea typeface="Arial"/>
                <a:cs typeface="Arial"/>
              </a:defRPr>
            </a:defPPr>
            <a:lvl1pPr>
              <a:defRPr sz="2700" b="1">
                <a:solidFill>
                  <a:srgbClr val="087F82"/>
                </a:solidFill>
                <a:latin typeface="Arial"/>
                <a:ea typeface="Arial"/>
                <a:cs typeface="Arial"/>
              </a:defRPr>
            </a:lvl1pPr>
            <a:lvl2pPr>
              <a:defRPr sz="2700" b="1">
                <a:solidFill>
                  <a:srgbClr val="087F82"/>
                </a:solidFill>
                <a:latin typeface="Arial"/>
                <a:ea typeface="Arial"/>
                <a:cs typeface="Arial"/>
              </a:defRPr>
            </a:lvl2pPr>
            <a:lvl3pPr>
              <a:defRPr sz="2700" b="1">
                <a:solidFill>
                  <a:srgbClr val="087F82"/>
                </a:solidFill>
                <a:latin typeface="Arial"/>
                <a:ea typeface="Arial"/>
                <a:cs typeface="Arial"/>
              </a:defRPr>
            </a:lvl3pPr>
            <a:lvl4pPr>
              <a:defRPr sz="2700" b="1">
                <a:solidFill>
                  <a:srgbClr val="087F82"/>
                </a:solidFill>
                <a:latin typeface="Arial"/>
                <a:ea typeface="Arial"/>
                <a:cs typeface="Arial"/>
              </a:defRPr>
            </a:lvl4pPr>
            <a:lvl5pPr>
              <a:defRPr sz="2700" b="1">
                <a:solidFill>
                  <a:srgbClr val="087F82"/>
                </a:solidFill>
                <a:latin typeface="Arial"/>
                <a:ea typeface="Arial"/>
                <a:cs typeface="Arial"/>
              </a:defRPr>
            </a:lvl5pPr>
            <a:lvl6pPr>
              <a:defRPr sz="2700" b="1">
                <a:solidFill>
                  <a:srgbClr val="087F82"/>
                </a:solidFill>
                <a:latin typeface="Arial"/>
                <a:ea typeface="Arial"/>
                <a:cs typeface="Arial"/>
              </a:defRPr>
            </a:lvl6pPr>
            <a:lvl7pPr>
              <a:defRPr sz="2700" b="1">
                <a:solidFill>
                  <a:srgbClr val="087F82"/>
                </a:solidFill>
                <a:latin typeface="Arial"/>
                <a:ea typeface="Arial"/>
                <a:cs typeface="Arial"/>
              </a:defRPr>
            </a:lvl7pPr>
            <a:lvl8pPr>
              <a:defRPr sz="2700" b="1">
                <a:solidFill>
                  <a:srgbClr val="087F82"/>
                </a:solidFill>
                <a:latin typeface="Arial"/>
                <a:ea typeface="Arial"/>
                <a:cs typeface="Arial"/>
              </a:defRPr>
            </a:lvl8pPr>
            <a:lvl9pPr>
              <a:defRPr sz="2700" b="1">
                <a:solidFill>
                  <a:srgbClr val="087F82"/>
                </a:solidFill>
                <a:latin typeface="Arial"/>
                <a:ea typeface="Arial"/>
                <a:cs typeface="Arial"/>
              </a:defRPr>
            </a:lvl9pPr>
          </a:lstStyle>
          <a:p xmlns:a="http://schemas.openxmlformats.org/drawingml/2006/main">
            <a:pPr>
              <a:defRPr sz="2700" b="1">
                <a:solidFill>
                  <a:srgbClr val="087F82"/>
                </a:solidFill>
                <a:latin typeface="Arial"/>
                <a:ea typeface="Arial"/>
                <a:cs typeface="Arial"/>
              </a:defRPr>
            </a:pPr>
            <a:r>
              <a:rPr sz="2700" b="1">
                <a:solidFill>
                  <a:srgbClr val="087F82"/>
                </a:solidFill>
                <a:latin typeface="Arial"/>
                <a:ea typeface="Arial"/>
                <a:cs typeface="Arial"/>
              </a:rPr>
              <a:t>The same fit and validation IDs support all four model families</a:t>
            </a:r>
          </a:p>
        </p:txBody>
      </p:sp>
    </p:spTree>
    <p:extLst>
      <p:ext uri="{BB962C8B-B14F-4D97-AF65-F5344CB8AC3E}">
        <p14:creationId xmlns:p14="http://schemas.microsoft.com/office/powerpoint/2010/main" val="2000818069"/>
      </p:ext>
    </p:extLst>
  </p:cSld>
</p:sld>
</file>

<file path=ppt/slides/slide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52078E5-BCEA-4F77-9630-4E0626F675C7}"/>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42F38"/>
                </a:solidFill>
                <a:latin typeface="Arial"/>
                <a:ea typeface="Arial"/>
                <a:cs typeface="Arial"/>
              </a:defRPr>
            </a:defPPr>
            <a:lvl1pPr>
              <a:defRPr sz="3300" b="1">
                <a:solidFill>
                  <a:srgbClr val="142F38"/>
                </a:solidFill>
                <a:latin typeface="Arial"/>
                <a:ea typeface="Arial"/>
                <a:cs typeface="Arial"/>
              </a:defRPr>
            </a:lvl1pPr>
            <a:lvl2pPr>
              <a:defRPr sz="3300" b="1">
                <a:solidFill>
                  <a:srgbClr val="142F38"/>
                </a:solidFill>
                <a:latin typeface="Arial"/>
                <a:ea typeface="Arial"/>
                <a:cs typeface="Arial"/>
              </a:defRPr>
            </a:lvl2pPr>
            <a:lvl3pPr>
              <a:defRPr sz="3300" b="1">
                <a:solidFill>
                  <a:srgbClr val="142F38"/>
                </a:solidFill>
                <a:latin typeface="Arial"/>
                <a:ea typeface="Arial"/>
                <a:cs typeface="Arial"/>
              </a:defRPr>
            </a:lvl3pPr>
            <a:lvl4pPr>
              <a:defRPr sz="3300" b="1">
                <a:solidFill>
                  <a:srgbClr val="142F38"/>
                </a:solidFill>
                <a:latin typeface="Arial"/>
                <a:ea typeface="Arial"/>
                <a:cs typeface="Arial"/>
              </a:defRPr>
            </a:lvl4pPr>
            <a:lvl5pPr>
              <a:defRPr sz="3300" b="1">
                <a:solidFill>
                  <a:srgbClr val="142F38"/>
                </a:solidFill>
                <a:latin typeface="Arial"/>
                <a:ea typeface="Arial"/>
                <a:cs typeface="Arial"/>
              </a:defRPr>
            </a:lvl5pPr>
            <a:lvl6pPr>
              <a:defRPr sz="3300" b="1">
                <a:solidFill>
                  <a:srgbClr val="142F38"/>
                </a:solidFill>
                <a:latin typeface="Arial"/>
                <a:ea typeface="Arial"/>
                <a:cs typeface="Arial"/>
              </a:defRPr>
            </a:lvl6pPr>
            <a:lvl7pPr>
              <a:defRPr sz="3300" b="1">
                <a:solidFill>
                  <a:srgbClr val="142F38"/>
                </a:solidFill>
                <a:latin typeface="Arial"/>
                <a:ea typeface="Arial"/>
                <a:cs typeface="Arial"/>
              </a:defRPr>
            </a:lvl7pPr>
            <a:lvl8pPr>
              <a:defRPr sz="3300" b="1">
                <a:solidFill>
                  <a:srgbClr val="142F38"/>
                </a:solidFill>
                <a:latin typeface="Arial"/>
                <a:ea typeface="Arial"/>
                <a:cs typeface="Arial"/>
              </a:defRPr>
            </a:lvl8pPr>
            <a:lvl9pPr>
              <a:defRPr sz="3300" b="1">
                <a:solidFill>
                  <a:srgbClr val="142F38"/>
                </a:solidFill>
                <a:latin typeface="Arial"/>
                <a:ea typeface="Arial"/>
                <a:cs typeface="Arial"/>
              </a:defRPr>
            </a:lvl9pPr>
          </a:lstStyle>
          <a:p xmlns:a="http://schemas.openxmlformats.org/drawingml/2006/main">
            <a:pPr>
              <a:defRPr sz="3300" b="1">
                <a:solidFill>
                  <a:srgbClr val="142F38"/>
                </a:solidFill>
                <a:latin typeface="Arial"/>
                <a:ea typeface="Arial"/>
                <a:cs typeface="Arial"/>
              </a:defRPr>
            </a:pPr>
            <a:r>
              <a:rPr sz="3300" b="1">
                <a:solidFill>
                  <a:srgbClr val="142F38"/>
                </a:solidFill>
                <a:latin typeface="Arial"/>
                <a:ea typeface="Arial"/>
                <a:cs typeface="Arial"/>
              </a:rPr>
              <a:t>Model selection before test access</a:t>
            </a:r>
          </a:p>
        </p:txBody>
      </p:sp>
      <p:sp>
        <p:nvSpPr>
          <p:cNvPr id="3" name="">
            <a:extLst xmlns:a="http://schemas.openxmlformats.org/drawingml/2006/main">
              <a:ext uri="{FF2B5EF4-FFF2-40B4-BE49-F238E27FC236}">
                <a16:creationId xmlns:a16="http://schemas.microsoft.com/office/drawing/2014/main" id="{76AF4352-E8D5-4120-AF61-456619F3CC0A}"/>
              </a:ext>
            </a:extLst>
          </p:cNvPr>
          <p:cNvSpPr>
            <a:spLocks xmlns:a="http://schemas.openxmlformats.org/drawingml/2006/main" noGrp="1"/>
          </p:cNvSpPr>
          <p:nvPr/>
        </p:nvSpPr>
        <p:spPr>
          <a:xfrm xmlns:a="http://schemas.openxmlformats.org/drawingml/2006/main">
            <a:off x="10001250" y="644842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56D"/>
                </a:solidFill>
                <a:latin typeface="Arial"/>
                <a:ea typeface="Arial"/>
                <a:cs typeface="Arial"/>
              </a:defRPr>
            </a:defPPr>
            <a:lvl1pPr>
              <a:defRPr sz="1200" b="0">
                <a:solidFill>
                  <a:srgbClr val="52656D"/>
                </a:solidFill>
                <a:latin typeface="Arial"/>
                <a:ea typeface="Arial"/>
                <a:cs typeface="Arial"/>
              </a:defRPr>
            </a:lvl1pPr>
            <a:lvl2pPr>
              <a:defRPr sz="1200" b="0">
                <a:solidFill>
                  <a:srgbClr val="52656D"/>
                </a:solidFill>
                <a:latin typeface="Arial"/>
                <a:ea typeface="Arial"/>
                <a:cs typeface="Arial"/>
              </a:defRPr>
            </a:lvl2pPr>
            <a:lvl3pPr>
              <a:defRPr sz="1200" b="0">
                <a:solidFill>
                  <a:srgbClr val="52656D"/>
                </a:solidFill>
                <a:latin typeface="Arial"/>
                <a:ea typeface="Arial"/>
                <a:cs typeface="Arial"/>
              </a:defRPr>
            </a:lvl3pPr>
            <a:lvl4pPr>
              <a:defRPr sz="1200" b="0">
                <a:solidFill>
                  <a:srgbClr val="52656D"/>
                </a:solidFill>
                <a:latin typeface="Arial"/>
                <a:ea typeface="Arial"/>
                <a:cs typeface="Arial"/>
              </a:defRPr>
            </a:lvl4pPr>
            <a:lvl5pPr>
              <a:defRPr sz="1200" b="0">
                <a:solidFill>
                  <a:srgbClr val="52656D"/>
                </a:solidFill>
                <a:latin typeface="Arial"/>
                <a:ea typeface="Arial"/>
                <a:cs typeface="Arial"/>
              </a:defRPr>
            </a:lvl5pPr>
            <a:lvl6pPr>
              <a:defRPr sz="1200" b="0">
                <a:solidFill>
                  <a:srgbClr val="52656D"/>
                </a:solidFill>
                <a:latin typeface="Arial"/>
                <a:ea typeface="Arial"/>
                <a:cs typeface="Arial"/>
              </a:defRPr>
            </a:lvl6pPr>
            <a:lvl7pPr>
              <a:defRPr sz="1200" b="0">
                <a:solidFill>
                  <a:srgbClr val="52656D"/>
                </a:solidFill>
                <a:latin typeface="Arial"/>
                <a:ea typeface="Arial"/>
                <a:cs typeface="Arial"/>
              </a:defRPr>
            </a:lvl7pPr>
            <a:lvl8pPr>
              <a:defRPr sz="1200" b="0">
                <a:solidFill>
                  <a:srgbClr val="52656D"/>
                </a:solidFill>
                <a:latin typeface="Arial"/>
                <a:ea typeface="Arial"/>
                <a:cs typeface="Arial"/>
              </a:defRPr>
            </a:lvl8pPr>
            <a:lvl9pPr>
              <a:defRPr sz="1200" b="0">
                <a:solidFill>
                  <a:srgbClr val="52656D"/>
                </a:solidFill>
                <a:latin typeface="Arial"/>
                <a:ea typeface="Arial"/>
                <a:cs typeface="Arial"/>
              </a:defRPr>
            </a:lvl9pPr>
          </a:lstStyle>
          <a:p xmlns:a="http://schemas.openxmlformats.org/drawingml/2006/main">
            <a:pPr>
              <a:defRPr sz="1200" b="0">
                <a:solidFill>
                  <a:srgbClr val="52656D"/>
                </a:solidFill>
                <a:latin typeface="Arial"/>
                <a:ea typeface="Arial"/>
                <a:cs typeface="Arial"/>
              </a:defRPr>
            </a:pPr>
            <a:r>
              <a:rPr sz="1200" b="0">
                <a:solidFill>
                  <a:srgbClr val="52656D"/>
                </a:solidFill>
                <a:latin typeface="Arial"/>
                <a:ea typeface="Arial"/>
                <a:cs typeface="Arial"/>
              </a:rPr>
              <a:t>09</a:t>
            </a:r>
          </a:p>
        </p:txBody>
      </p:sp>
      <p:graphicFrame>
        <p:nvGraphicFramePr>
          <p:cNvPr id="4" name="">
            <a:extLst xmlns:a="http://schemas.openxmlformats.org/drawingml/2006/main">
              <a:ext uri="{FF2B5EF4-FFF2-40B4-BE49-F238E27FC236}">
                <a16:creationId xmlns:a16="http://schemas.microsoft.com/office/drawing/2014/main" id="{8DD49086-BD38-4B83-9562-F0A8A1D9AEDF}"/>
              </a:ext>
            </a:extLst>
          </p:cNvPr>
          <p:cNvGraphicFramePr/>
          <p:nvPr/>
        </p:nvGraphicFramePr>
        <p:xfrm>
          <a:off xmlns:a="http://schemas.openxmlformats.org/drawingml/2006/main" x="647700" y="1485900"/>
          <a:ext xmlns:a="http://schemas.openxmlformats.org/drawingml/2006/main" cx="10896600" cy="3333750"/>
        </p:xfrm>
        <a:graphic xmlns:a="http://schemas.openxmlformats.org/drawingml/2006/main">
          <a:graphicData uri="http://schemas.openxmlformats.org/drawingml/2006/table">
            <a:tbl>
              <a:tblPr/>
              <a:tblGrid>
                <a:gridCol w="4191000"/>
                <a:gridCol w="1809750"/>
                <a:gridCol w="4895850"/>
              </a:tblGrid>
              <a:tr h="666750">
                <a:tc>
                  <a:txBody>
                    <a:bodyPr/>
                    <a:lstStyle/>
                    <a:p>
                      <a:r>
                        <a:rPr sz="1875" b="1">
                          <a:solidFill>
                            <a:srgbClr val="FFFFFF"/>
                          </a:solidFill>
                          <a:latin typeface="Arial"/>
                          <a:ea typeface="Arial"/>
                          <a:cs typeface="Arial"/>
                        </a:rPr>
                        <a:t>Stage</a:t>
                      </a:r>
                    </a:p>
                  </a:txBody>
                  <a:tcPr marL="95250" marR="95250" marT="85725" marB="57150" anchor="ctr">
                    <a:lnL w="6668">
                      <a:solidFill>
                        <a:srgbClr val="D9DFDF"/>
                      </a:solidFill>
                      <a:prstDash val="solid"/>
                    </a:lnL>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c>
                  <a:txBody>
                    <a:bodyPr/>
                    <a:lstStyle/>
                    <a:p>
                      <a:r>
                        <a:rPr sz="1875" b="1">
                          <a:solidFill>
                            <a:srgbClr val="FFFFFF"/>
                          </a:solidFill>
                          <a:latin typeface="Arial"/>
                          <a:ea typeface="Arial"/>
                          <a:cs typeface="Arial"/>
                        </a:rPr>
                        <a:t>Images used</a:t>
                      </a:r>
                    </a:p>
                  </a:txBody>
                  <a:tcPr marL="95250" marR="95250" marT="85725" marB="57150" anchor="ctr">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c>
                  <a:txBody>
                    <a:bodyPr/>
                    <a:lstStyle/>
                    <a:p>
                      <a:r>
                        <a:rPr sz="1875" b="1">
                          <a:solidFill>
                            <a:srgbClr val="FFFFFF"/>
                          </a:solidFill>
                          <a:latin typeface="Arial"/>
                          <a:ea typeface="Arial"/>
                          <a:cs typeface="Arial"/>
                        </a:rPr>
                        <a:t>Decision</a:t>
                      </a:r>
                    </a:p>
                  </a:txBody>
                  <a:tcPr marL="95250" marR="95250" marT="85725" marB="57150" anchor="ctr">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r>
              <a:tr h="666750">
                <a:tc>
                  <a:txBody>
                    <a:bodyPr/>
                    <a:lstStyle/>
                    <a:p>
                      <a:r>
                        <a:rPr sz="1875">
                          <a:solidFill>
                            <a:srgbClr val="142F38"/>
                          </a:solidFill>
                          <a:latin typeface="Arial"/>
                          <a:ea typeface="Arial"/>
                          <a:cs typeface="Arial"/>
                        </a:rPr>
                        <a:t>Smoke check</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875">
                          <a:solidFill>
                            <a:srgbClr val="142F38"/>
                          </a:solidFill>
                          <a:latin typeface="Arial"/>
                          <a:ea typeface="Arial"/>
                          <a:cs typeface="Arial"/>
                        </a:rPr>
                        <a:t>2,000</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75">
                          <a:solidFill>
                            <a:srgbClr val="142F38"/>
                          </a:solidFill>
                          <a:latin typeface="Arial"/>
                          <a:ea typeface="Arial"/>
                          <a:cs typeface="Arial"/>
                        </a:rPr>
                        <a:t>Verify the pipeline</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666750">
                <a:tc>
                  <a:txBody>
                    <a:bodyPr/>
                    <a:lstStyle/>
                    <a:p>
                      <a:r>
                        <a:rPr sz="1875">
                          <a:solidFill>
                            <a:srgbClr val="142F38"/>
                          </a:solidFill>
                          <a:latin typeface="Arial"/>
                          <a:ea typeface="Arial"/>
                          <a:cs typeface="Arial"/>
                        </a:rPr>
                        <a:t>Compact development search</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875">
                          <a:solidFill>
                            <a:srgbClr val="142F38"/>
                          </a:solidFill>
                          <a:latin typeface="Arial"/>
                          <a:ea typeface="Arial"/>
                          <a:cs typeface="Arial"/>
                        </a:rPr>
                        <a:t>12,000</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75">
                          <a:solidFill>
                            <a:srgbClr val="142F38"/>
                          </a:solidFill>
                          <a:latin typeface="Arial"/>
                          <a:ea typeface="Arial"/>
                          <a:cs typeface="Arial"/>
                        </a:rPr>
                        <a:t>Two candidates per feature/model row</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666750">
                <a:tc>
                  <a:txBody>
                    <a:bodyPr/>
                    <a:lstStyle/>
                    <a:p>
                      <a:r>
                        <a:rPr sz="1875">
                          <a:solidFill>
                            <a:srgbClr val="142F38"/>
                          </a:solidFill>
                          <a:latin typeface="Arial"/>
                          <a:ea typeface="Arial"/>
                          <a:cs typeface="Arial"/>
                        </a:rPr>
                        <a:t>Final fitting</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875">
                          <a:solidFill>
                            <a:srgbClr val="142F38"/>
                          </a:solidFill>
                          <a:latin typeface="Arial"/>
                          <a:ea typeface="Arial"/>
                          <a:cs typeface="Arial"/>
                        </a:rPr>
                        <a:t>48,000</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75">
                          <a:solidFill>
                            <a:srgbClr val="142F38"/>
                          </a:solidFill>
                          <a:latin typeface="Arial"/>
                          <a:ea typeface="Arial"/>
                          <a:cs typeface="Arial"/>
                        </a:rPr>
                        <a:t>Fit eight selected configurations</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666750">
                <a:tc>
                  <a:txBody>
                    <a:bodyPr/>
                    <a:lstStyle/>
                    <a:p>
                      <a:r>
                        <a:rPr sz="1875">
                          <a:solidFill>
                            <a:srgbClr val="142F38"/>
                          </a:solidFill>
                          <a:latin typeface="Arial"/>
                          <a:ea typeface="Arial"/>
                          <a:cs typeface="Arial"/>
                        </a:rPr>
                        <a:t>Freeze, then official test</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875">
                          <a:solidFill>
                            <a:srgbClr val="142F38"/>
                          </a:solidFill>
                          <a:latin typeface="Arial"/>
                          <a:ea typeface="Arial"/>
                          <a:cs typeface="Arial"/>
                        </a:rPr>
                        <a:t>10,000 test</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75">
                          <a:solidFill>
                            <a:srgbClr val="142F38"/>
                          </a:solidFill>
                          <a:latin typeface="Arial"/>
                          <a:ea typeface="Arial"/>
                          <a:cs typeface="Arial"/>
                        </a:rPr>
                        <a:t>Evaluate the fixed finalists</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bl>
          </a:graphicData>
        </a:graphic>
      </p:graphicFrame>
      <p:sp>
        <p:nvSpPr>
          <p:cNvPr id="5" name="">
            <a:extLst xmlns:a="http://schemas.openxmlformats.org/drawingml/2006/main">
              <a:ext uri="{FF2B5EF4-FFF2-40B4-BE49-F238E27FC236}">
                <a16:creationId xmlns:a16="http://schemas.microsoft.com/office/drawing/2014/main" id="{675B65E2-A98F-461F-B09A-77A7000B0E92}"/>
              </a:ext>
            </a:extLst>
          </p:cNvPr>
          <p:cNvSpPr>
            <a:spLocks xmlns:a="http://schemas.openxmlformats.org/drawingml/2006/main" noGrp="1"/>
          </p:cNvSpPr>
          <p:nvPr/>
        </p:nvSpPr>
        <p:spPr>
          <a:xfrm xmlns:a="http://schemas.openxmlformats.org/drawingml/2006/main">
            <a:off x="647700" y="52101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1">
                <a:solidFill>
                  <a:srgbClr val="087F82"/>
                </a:solidFill>
                <a:latin typeface="Arial"/>
                <a:ea typeface="Arial"/>
                <a:cs typeface="Arial"/>
              </a:defRPr>
            </a:defPPr>
            <a:lvl1pPr>
              <a:defRPr sz="2550" b="1">
                <a:solidFill>
                  <a:srgbClr val="087F82"/>
                </a:solidFill>
                <a:latin typeface="Arial"/>
                <a:ea typeface="Arial"/>
                <a:cs typeface="Arial"/>
              </a:defRPr>
            </a:lvl1pPr>
            <a:lvl2pPr>
              <a:defRPr sz="2550" b="1">
                <a:solidFill>
                  <a:srgbClr val="087F82"/>
                </a:solidFill>
                <a:latin typeface="Arial"/>
                <a:ea typeface="Arial"/>
                <a:cs typeface="Arial"/>
              </a:defRPr>
            </a:lvl2pPr>
            <a:lvl3pPr>
              <a:defRPr sz="2550" b="1">
                <a:solidFill>
                  <a:srgbClr val="087F82"/>
                </a:solidFill>
                <a:latin typeface="Arial"/>
                <a:ea typeface="Arial"/>
                <a:cs typeface="Arial"/>
              </a:defRPr>
            </a:lvl3pPr>
            <a:lvl4pPr>
              <a:defRPr sz="2550" b="1">
                <a:solidFill>
                  <a:srgbClr val="087F82"/>
                </a:solidFill>
                <a:latin typeface="Arial"/>
                <a:ea typeface="Arial"/>
                <a:cs typeface="Arial"/>
              </a:defRPr>
            </a:lvl4pPr>
            <a:lvl5pPr>
              <a:defRPr sz="2550" b="1">
                <a:solidFill>
                  <a:srgbClr val="087F82"/>
                </a:solidFill>
                <a:latin typeface="Arial"/>
                <a:ea typeface="Arial"/>
                <a:cs typeface="Arial"/>
              </a:defRPr>
            </a:lvl5pPr>
            <a:lvl6pPr>
              <a:defRPr sz="2550" b="1">
                <a:solidFill>
                  <a:srgbClr val="087F82"/>
                </a:solidFill>
                <a:latin typeface="Arial"/>
                <a:ea typeface="Arial"/>
                <a:cs typeface="Arial"/>
              </a:defRPr>
            </a:lvl6pPr>
            <a:lvl7pPr>
              <a:defRPr sz="2550" b="1">
                <a:solidFill>
                  <a:srgbClr val="087F82"/>
                </a:solidFill>
                <a:latin typeface="Arial"/>
                <a:ea typeface="Arial"/>
                <a:cs typeface="Arial"/>
              </a:defRPr>
            </a:lvl7pPr>
            <a:lvl8pPr>
              <a:defRPr sz="2550" b="1">
                <a:solidFill>
                  <a:srgbClr val="087F82"/>
                </a:solidFill>
                <a:latin typeface="Arial"/>
                <a:ea typeface="Arial"/>
                <a:cs typeface="Arial"/>
              </a:defRPr>
            </a:lvl8pPr>
            <a:lvl9pPr>
              <a:defRPr sz="2550" b="1">
                <a:solidFill>
                  <a:srgbClr val="087F82"/>
                </a:solidFill>
                <a:latin typeface="Arial"/>
                <a:ea typeface="Arial"/>
                <a:cs typeface="Arial"/>
              </a:defRPr>
            </a:lvl9pPr>
          </a:lstStyle>
          <a:p xmlns:a="http://schemas.openxmlformats.org/drawingml/2006/main">
            <a:pPr>
              <a:defRPr sz="2550" b="1">
                <a:solidFill>
                  <a:srgbClr val="087F82"/>
                </a:solidFill>
                <a:latin typeface="Arial"/>
                <a:ea typeface="Arial"/>
                <a:cs typeface="Arial"/>
              </a:defRPr>
            </a:pPr>
            <a:r>
              <a:rPr sz="2550" b="1">
                <a:solidFill>
                  <a:srgbClr val="087F82"/>
                </a:solidFill>
                <a:latin typeface="Arial"/>
                <a:ea typeface="Arial"/>
                <a:cs typeface="Arial"/>
              </a:rPr>
              <a:t>Primary selection metric: validation macro F1</a:t>
            </a:r>
          </a:p>
        </p:txBody>
      </p:sp>
      <p:sp>
        <p:nvSpPr>
          <p:cNvPr id="6" name="">
            <a:extLst xmlns:a="http://schemas.openxmlformats.org/drawingml/2006/main">
              <a:ext uri="{FF2B5EF4-FFF2-40B4-BE49-F238E27FC236}">
                <a16:creationId xmlns:a16="http://schemas.microsoft.com/office/drawing/2014/main" id="{99E53B00-EA73-46D6-9263-FC7BC49BFF73}"/>
              </a:ext>
            </a:extLst>
          </p:cNvPr>
          <p:cNvSpPr>
            <a:spLocks xmlns:a="http://schemas.openxmlformats.org/drawingml/2006/main" noGrp="1"/>
          </p:cNvSpPr>
          <p:nvPr/>
        </p:nvSpPr>
        <p:spPr>
          <a:xfrm xmlns:a="http://schemas.openxmlformats.org/drawingml/2006/main">
            <a:off x="647700" y="58102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42F38"/>
                </a:solidFill>
                <a:latin typeface="Arial"/>
                <a:ea typeface="Arial"/>
                <a:cs typeface="Arial"/>
              </a:defRPr>
            </a:defPPr>
            <a:lvl1pPr>
              <a:defRPr sz="1875" b="0">
                <a:solidFill>
                  <a:srgbClr val="142F38"/>
                </a:solidFill>
                <a:latin typeface="Arial"/>
                <a:ea typeface="Arial"/>
                <a:cs typeface="Arial"/>
              </a:defRPr>
            </a:lvl1pPr>
            <a:lvl2pPr>
              <a:defRPr sz="1875" b="0">
                <a:solidFill>
                  <a:srgbClr val="142F38"/>
                </a:solidFill>
                <a:latin typeface="Arial"/>
                <a:ea typeface="Arial"/>
                <a:cs typeface="Arial"/>
              </a:defRPr>
            </a:lvl2pPr>
            <a:lvl3pPr>
              <a:defRPr sz="1875" b="0">
                <a:solidFill>
                  <a:srgbClr val="142F38"/>
                </a:solidFill>
                <a:latin typeface="Arial"/>
                <a:ea typeface="Arial"/>
                <a:cs typeface="Arial"/>
              </a:defRPr>
            </a:lvl3pPr>
            <a:lvl4pPr>
              <a:defRPr sz="1875" b="0">
                <a:solidFill>
                  <a:srgbClr val="142F38"/>
                </a:solidFill>
                <a:latin typeface="Arial"/>
                <a:ea typeface="Arial"/>
                <a:cs typeface="Arial"/>
              </a:defRPr>
            </a:lvl4pPr>
            <a:lvl5pPr>
              <a:defRPr sz="1875" b="0">
                <a:solidFill>
                  <a:srgbClr val="142F38"/>
                </a:solidFill>
                <a:latin typeface="Arial"/>
                <a:ea typeface="Arial"/>
                <a:cs typeface="Arial"/>
              </a:defRPr>
            </a:lvl5pPr>
            <a:lvl6pPr>
              <a:defRPr sz="1875" b="0">
                <a:solidFill>
                  <a:srgbClr val="142F38"/>
                </a:solidFill>
                <a:latin typeface="Arial"/>
                <a:ea typeface="Arial"/>
                <a:cs typeface="Arial"/>
              </a:defRPr>
            </a:lvl6pPr>
            <a:lvl7pPr>
              <a:defRPr sz="1875" b="0">
                <a:solidFill>
                  <a:srgbClr val="142F38"/>
                </a:solidFill>
                <a:latin typeface="Arial"/>
                <a:ea typeface="Arial"/>
                <a:cs typeface="Arial"/>
              </a:defRPr>
            </a:lvl7pPr>
            <a:lvl8pPr>
              <a:defRPr sz="1875" b="0">
                <a:solidFill>
                  <a:srgbClr val="142F38"/>
                </a:solidFill>
                <a:latin typeface="Arial"/>
                <a:ea typeface="Arial"/>
                <a:cs typeface="Arial"/>
              </a:defRPr>
            </a:lvl8pPr>
            <a:lvl9pPr>
              <a:defRPr sz="1875" b="0">
                <a:solidFill>
                  <a:srgbClr val="142F38"/>
                </a:solidFill>
                <a:latin typeface="Arial"/>
                <a:ea typeface="Arial"/>
                <a:cs typeface="Arial"/>
              </a:defRPr>
            </a:lvl9pPr>
          </a:lstStyle>
          <a:p xmlns:a="http://schemas.openxmlformats.org/drawingml/2006/main">
            <a:pPr>
              <a:defRPr sz="1875" b="0">
                <a:solidFill>
                  <a:srgbClr val="142F38"/>
                </a:solidFill>
                <a:latin typeface="Arial"/>
                <a:ea typeface="Arial"/>
                <a:cs typeface="Arial"/>
              </a:defRPr>
            </a:pPr>
            <a:r>
              <a:rPr sz="1875" b="0">
                <a:solidFill>
                  <a:srgbClr val="142F38"/>
                </a:solidFill>
                <a:latin typeface="Arial"/>
                <a:ea typeface="Arial"/>
                <a:cs typeface="Arial"/>
              </a:rPr>
              <a:t>All eight final models share the same 48,000 fit images.</a:t>
            </a:r>
          </a:p>
        </p:txBody>
      </p:sp>
    </p:spTree>
    <p:extLst>
      <p:ext uri="{BB962C8B-B14F-4D97-AF65-F5344CB8AC3E}">
        <p14:creationId xmlns:p14="http://schemas.microsoft.com/office/powerpoint/2010/main" val="2030881241"/>
      </p:ext>
    </p:extLst>
  </p:cSld>
</p:sld>
</file>

<file path=ppt/slides/slide1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6FEA771-520F-4B1A-9536-C4BDFE0A6FBC}"/>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42F38"/>
                </a:solidFill>
                <a:latin typeface="Arial"/>
                <a:ea typeface="Arial"/>
                <a:cs typeface="Arial"/>
              </a:defRPr>
            </a:defPPr>
            <a:lvl1pPr>
              <a:defRPr sz="3300" b="1">
                <a:solidFill>
                  <a:srgbClr val="142F38"/>
                </a:solidFill>
                <a:latin typeface="Arial"/>
                <a:ea typeface="Arial"/>
                <a:cs typeface="Arial"/>
              </a:defRPr>
            </a:lvl1pPr>
            <a:lvl2pPr>
              <a:defRPr sz="3300" b="1">
                <a:solidFill>
                  <a:srgbClr val="142F38"/>
                </a:solidFill>
                <a:latin typeface="Arial"/>
                <a:ea typeface="Arial"/>
                <a:cs typeface="Arial"/>
              </a:defRPr>
            </a:lvl2pPr>
            <a:lvl3pPr>
              <a:defRPr sz="3300" b="1">
                <a:solidFill>
                  <a:srgbClr val="142F38"/>
                </a:solidFill>
                <a:latin typeface="Arial"/>
                <a:ea typeface="Arial"/>
                <a:cs typeface="Arial"/>
              </a:defRPr>
            </a:lvl3pPr>
            <a:lvl4pPr>
              <a:defRPr sz="3300" b="1">
                <a:solidFill>
                  <a:srgbClr val="142F38"/>
                </a:solidFill>
                <a:latin typeface="Arial"/>
                <a:ea typeface="Arial"/>
                <a:cs typeface="Arial"/>
              </a:defRPr>
            </a:lvl4pPr>
            <a:lvl5pPr>
              <a:defRPr sz="3300" b="1">
                <a:solidFill>
                  <a:srgbClr val="142F38"/>
                </a:solidFill>
                <a:latin typeface="Arial"/>
                <a:ea typeface="Arial"/>
                <a:cs typeface="Arial"/>
              </a:defRPr>
            </a:lvl5pPr>
            <a:lvl6pPr>
              <a:defRPr sz="3300" b="1">
                <a:solidFill>
                  <a:srgbClr val="142F38"/>
                </a:solidFill>
                <a:latin typeface="Arial"/>
                <a:ea typeface="Arial"/>
                <a:cs typeface="Arial"/>
              </a:defRPr>
            </a:lvl6pPr>
            <a:lvl7pPr>
              <a:defRPr sz="3300" b="1">
                <a:solidFill>
                  <a:srgbClr val="142F38"/>
                </a:solidFill>
                <a:latin typeface="Arial"/>
                <a:ea typeface="Arial"/>
                <a:cs typeface="Arial"/>
              </a:defRPr>
            </a:lvl7pPr>
            <a:lvl8pPr>
              <a:defRPr sz="3300" b="1">
                <a:solidFill>
                  <a:srgbClr val="142F38"/>
                </a:solidFill>
                <a:latin typeface="Arial"/>
                <a:ea typeface="Arial"/>
                <a:cs typeface="Arial"/>
              </a:defRPr>
            </a:lvl8pPr>
            <a:lvl9pPr>
              <a:defRPr sz="3300" b="1">
                <a:solidFill>
                  <a:srgbClr val="142F38"/>
                </a:solidFill>
                <a:latin typeface="Arial"/>
                <a:ea typeface="Arial"/>
                <a:cs typeface="Arial"/>
              </a:defRPr>
            </a:lvl9pPr>
          </a:lstStyle>
          <a:p xmlns:a="http://schemas.openxmlformats.org/drawingml/2006/main">
            <a:pPr>
              <a:defRPr sz="3300" b="1">
                <a:solidFill>
                  <a:srgbClr val="142F38"/>
                </a:solidFill>
                <a:latin typeface="Arial"/>
                <a:ea typeface="Arial"/>
                <a:cs typeface="Arial"/>
              </a:defRPr>
            </a:pPr>
            <a:r>
              <a:rPr sz="3300" b="1">
                <a:solidFill>
                  <a:srgbClr val="142F38"/>
                </a:solidFill>
                <a:latin typeface="Arial"/>
                <a:ea typeface="Arial"/>
                <a:cs typeface="Arial"/>
              </a:rPr>
              <a:t>Evaluation measures</a:t>
            </a:r>
          </a:p>
        </p:txBody>
      </p:sp>
      <p:sp>
        <p:nvSpPr>
          <p:cNvPr id="3" name="">
            <a:extLst xmlns:a="http://schemas.openxmlformats.org/drawingml/2006/main">
              <a:ext uri="{FF2B5EF4-FFF2-40B4-BE49-F238E27FC236}">
                <a16:creationId xmlns:a16="http://schemas.microsoft.com/office/drawing/2014/main" id="{7AEB43D3-002E-4161-9D86-2F7594DD8FA5}"/>
              </a:ext>
            </a:extLst>
          </p:cNvPr>
          <p:cNvSpPr>
            <a:spLocks xmlns:a="http://schemas.openxmlformats.org/drawingml/2006/main" noGrp="1"/>
          </p:cNvSpPr>
          <p:nvPr/>
        </p:nvSpPr>
        <p:spPr>
          <a:xfrm xmlns:a="http://schemas.openxmlformats.org/drawingml/2006/main">
            <a:off x="10001250" y="644842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56D"/>
                </a:solidFill>
                <a:latin typeface="Arial"/>
                <a:ea typeface="Arial"/>
                <a:cs typeface="Arial"/>
              </a:defRPr>
            </a:defPPr>
            <a:lvl1pPr>
              <a:defRPr sz="1200" b="0">
                <a:solidFill>
                  <a:srgbClr val="52656D"/>
                </a:solidFill>
                <a:latin typeface="Arial"/>
                <a:ea typeface="Arial"/>
                <a:cs typeface="Arial"/>
              </a:defRPr>
            </a:lvl1pPr>
            <a:lvl2pPr>
              <a:defRPr sz="1200" b="0">
                <a:solidFill>
                  <a:srgbClr val="52656D"/>
                </a:solidFill>
                <a:latin typeface="Arial"/>
                <a:ea typeface="Arial"/>
                <a:cs typeface="Arial"/>
              </a:defRPr>
            </a:lvl2pPr>
            <a:lvl3pPr>
              <a:defRPr sz="1200" b="0">
                <a:solidFill>
                  <a:srgbClr val="52656D"/>
                </a:solidFill>
                <a:latin typeface="Arial"/>
                <a:ea typeface="Arial"/>
                <a:cs typeface="Arial"/>
              </a:defRPr>
            </a:lvl3pPr>
            <a:lvl4pPr>
              <a:defRPr sz="1200" b="0">
                <a:solidFill>
                  <a:srgbClr val="52656D"/>
                </a:solidFill>
                <a:latin typeface="Arial"/>
                <a:ea typeface="Arial"/>
                <a:cs typeface="Arial"/>
              </a:defRPr>
            </a:lvl4pPr>
            <a:lvl5pPr>
              <a:defRPr sz="1200" b="0">
                <a:solidFill>
                  <a:srgbClr val="52656D"/>
                </a:solidFill>
                <a:latin typeface="Arial"/>
                <a:ea typeface="Arial"/>
                <a:cs typeface="Arial"/>
              </a:defRPr>
            </a:lvl5pPr>
            <a:lvl6pPr>
              <a:defRPr sz="1200" b="0">
                <a:solidFill>
                  <a:srgbClr val="52656D"/>
                </a:solidFill>
                <a:latin typeface="Arial"/>
                <a:ea typeface="Arial"/>
                <a:cs typeface="Arial"/>
              </a:defRPr>
            </a:lvl6pPr>
            <a:lvl7pPr>
              <a:defRPr sz="1200" b="0">
                <a:solidFill>
                  <a:srgbClr val="52656D"/>
                </a:solidFill>
                <a:latin typeface="Arial"/>
                <a:ea typeface="Arial"/>
                <a:cs typeface="Arial"/>
              </a:defRPr>
            </a:lvl7pPr>
            <a:lvl8pPr>
              <a:defRPr sz="1200" b="0">
                <a:solidFill>
                  <a:srgbClr val="52656D"/>
                </a:solidFill>
                <a:latin typeface="Arial"/>
                <a:ea typeface="Arial"/>
                <a:cs typeface="Arial"/>
              </a:defRPr>
            </a:lvl8pPr>
            <a:lvl9pPr>
              <a:defRPr sz="1200" b="0">
                <a:solidFill>
                  <a:srgbClr val="52656D"/>
                </a:solidFill>
                <a:latin typeface="Arial"/>
                <a:ea typeface="Arial"/>
                <a:cs typeface="Arial"/>
              </a:defRPr>
            </a:lvl9pPr>
          </a:lstStyle>
          <a:p xmlns:a="http://schemas.openxmlformats.org/drawingml/2006/main">
            <a:pPr>
              <a:defRPr sz="1200" b="0">
                <a:solidFill>
                  <a:srgbClr val="52656D"/>
                </a:solidFill>
                <a:latin typeface="Arial"/>
                <a:ea typeface="Arial"/>
                <a:cs typeface="Arial"/>
              </a:defRPr>
            </a:pPr>
            <a:r>
              <a:rPr sz="1200" b="0">
                <a:solidFill>
                  <a:srgbClr val="52656D"/>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84C1689C-0813-42B7-BCF6-B8581B8D3527}"/>
              </a:ext>
            </a:extLst>
          </p:cNvPr>
          <p:cNvSpPr>
            <a:spLocks xmlns:a="http://schemas.openxmlformats.org/drawingml/2006/main" noGrp="1"/>
          </p:cNvSpPr>
          <p:nvPr/>
        </p:nvSpPr>
        <p:spPr>
          <a:xfrm xmlns:a="http://schemas.openxmlformats.org/drawingml/2006/main">
            <a:off x="647700" y="164782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087F82"/>
                </a:solidFill>
                <a:latin typeface="Arial"/>
                <a:ea typeface="Arial"/>
                <a:cs typeface="Arial"/>
              </a:defRPr>
            </a:defPPr>
            <a:lvl1pPr>
              <a:defRPr sz="2250" b="1">
                <a:solidFill>
                  <a:srgbClr val="087F82"/>
                </a:solidFill>
                <a:latin typeface="Arial"/>
                <a:ea typeface="Arial"/>
                <a:cs typeface="Arial"/>
              </a:defRPr>
            </a:lvl1pPr>
            <a:lvl2pPr>
              <a:defRPr sz="2250" b="1">
                <a:solidFill>
                  <a:srgbClr val="087F82"/>
                </a:solidFill>
                <a:latin typeface="Arial"/>
                <a:ea typeface="Arial"/>
                <a:cs typeface="Arial"/>
              </a:defRPr>
            </a:lvl2pPr>
            <a:lvl3pPr>
              <a:defRPr sz="2250" b="1">
                <a:solidFill>
                  <a:srgbClr val="087F82"/>
                </a:solidFill>
                <a:latin typeface="Arial"/>
                <a:ea typeface="Arial"/>
                <a:cs typeface="Arial"/>
              </a:defRPr>
            </a:lvl3pPr>
            <a:lvl4pPr>
              <a:defRPr sz="2250" b="1">
                <a:solidFill>
                  <a:srgbClr val="087F82"/>
                </a:solidFill>
                <a:latin typeface="Arial"/>
                <a:ea typeface="Arial"/>
                <a:cs typeface="Arial"/>
              </a:defRPr>
            </a:lvl4pPr>
            <a:lvl5pPr>
              <a:defRPr sz="2250" b="1">
                <a:solidFill>
                  <a:srgbClr val="087F82"/>
                </a:solidFill>
                <a:latin typeface="Arial"/>
                <a:ea typeface="Arial"/>
                <a:cs typeface="Arial"/>
              </a:defRPr>
            </a:lvl5pPr>
            <a:lvl6pPr>
              <a:defRPr sz="2250" b="1">
                <a:solidFill>
                  <a:srgbClr val="087F82"/>
                </a:solidFill>
                <a:latin typeface="Arial"/>
                <a:ea typeface="Arial"/>
                <a:cs typeface="Arial"/>
              </a:defRPr>
            </a:lvl6pPr>
            <a:lvl7pPr>
              <a:defRPr sz="2250" b="1">
                <a:solidFill>
                  <a:srgbClr val="087F82"/>
                </a:solidFill>
                <a:latin typeface="Arial"/>
                <a:ea typeface="Arial"/>
                <a:cs typeface="Arial"/>
              </a:defRPr>
            </a:lvl7pPr>
            <a:lvl8pPr>
              <a:defRPr sz="2250" b="1">
                <a:solidFill>
                  <a:srgbClr val="087F82"/>
                </a:solidFill>
                <a:latin typeface="Arial"/>
                <a:ea typeface="Arial"/>
                <a:cs typeface="Arial"/>
              </a:defRPr>
            </a:lvl8pPr>
            <a:lvl9pPr>
              <a:defRPr sz="2250" b="1">
                <a:solidFill>
                  <a:srgbClr val="087F82"/>
                </a:solidFill>
                <a:latin typeface="Arial"/>
                <a:ea typeface="Arial"/>
                <a:cs typeface="Arial"/>
              </a:defRPr>
            </a:lvl9pPr>
          </a:lstStyle>
          <a:p xmlns:a="http://schemas.openxmlformats.org/drawingml/2006/main">
            <a:pPr>
              <a:defRPr sz="2250" b="1">
                <a:solidFill>
                  <a:srgbClr val="087F82"/>
                </a:solidFill>
                <a:latin typeface="Arial"/>
                <a:ea typeface="Arial"/>
                <a:cs typeface="Arial"/>
              </a:defRPr>
            </a:pPr>
            <a:r>
              <a:rPr sz="2250" b="1">
                <a:solidFill>
                  <a:srgbClr val="087F82"/>
                </a:solidFill>
                <a:latin typeface="Arial"/>
                <a:ea typeface="Arial"/>
                <a:cs typeface="Arial"/>
              </a:rPr>
              <a:t>Accuracy</a:t>
            </a:r>
          </a:p>
        </p:txBody>
      </p:sp>
      <p:sp>
        <p:nvSpPr>
          <p:cNvPr id="5" name="">
            <a:extLst xmlns:a="http://schemas.openxmlformats.org/drawingml/2006/main">
              <a:ext uri="{FF2B5EF4-FFF2-40B4-BE49-F238E27FC236}">
                <a16:creationId xmlns:a16="http://schemas.microsoft.com/office/drawing/2014/main" id="{17E08719-0037-4AD3-88C1-30112255E3FF}"/>
              </a:ext>
            </a:extLst>
          </p:cNvPr>
          <p:cNvSpPr>
            <a:spLocks xmlns:a="http://schemas.openxmlformats.org/drawingml/2006/main" noGrp="1"/>
          </p:cNvSpPr>
          <p:nvPr/>
        </p:nvSpPr>
        <p:spPr>
          <a:xfrm xmlns:a="http://schemas.openxmlformats.org/drawingml/2006/main">
            <a:off x="647700" y="2190750"/>
            <a:ext cx="4953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42F38"/>
                </a:solidFill>
                <a:latin typeface="Arial"/>
                <a:ea typeface="Arial"/>
                <a:cs typeface="Arial"/>
              </a:defRPr>
            </a:defPPr>
            <a:lvl1pPr>
              <a:defRPr sz="1950" b="0">
                <a:solidFill>
                  <a:srgbClr val="142F38"/>
                </a:solidFill>
                <a:latin typeface="Arial"/>
                <a:ea typeface="Arial"/>
                <a:cs typeface="Arial"/>
              </a:defRPr>
            </a:lvl1pPr>
            <a:lvl2pPr>
              <a:defRPr sz="1950" b="0">
                <a:solidFill>
                  <a:srgbClr val="142F38"/>
                </a:solidFill>
                <a:latin typeface="Arial"/>
                <a:ea typeface="Arial"/>
                <a:cs typeface="Arial"/>
              </a:defRPr>
            </a:lvl2pPr>
            <a:lvl3pPr>
              <a:defRPr sz="1950" b="0">
                <a:solidFill>
                  <a:srgbClr val="142F38"/>
                </a:solidFill>
                <a:latin typeface="Arial"/>
                <a:ea typeface="Arial"/>
                <a:cs typeface="Arial"/>
              </a:defRPr>
            </a:lvl3pPr>
            <a:lvl4pPr>
              <a:defRPr sz="1950" b="0">
                <a:solidFill>
                  <a:srgbClr val="142F38"/>
                </a:solidFill>
                <a:latin typeface="Arial"/>
                <a:ea typeface="Arial"/>
                <a:cs typeface="Arial"/>
              </a:defRPr>
            </a:lvl4pPr>
            <a:lvl5pPr>
              <a:defRPr sz="1950" b="0">
                <a:solidFill>
                  <a:srgbClr val="142F38"/>
                </a:solidFill>
                <a:latin typeface="Arial"/>
                <a:ea typeface="Arial"/>
                <a:cs typeface="Arial"/>
              </a:defRPr>
            </a:lvl5pPr>
            <a:lvl6pPr>
              <a:defRPr sz="1950" b="0">
                <a:solidFill>
                  <a:srgbClr val="142F38"/>
                </a:solidFill>
                <a:latin typeface="Arial"/>
                <a:ea typeface="Arial"/>
                <a:cs typeface="Arial"/>
              </a:defRPr>
            </a:lvl6pPr>
            <a:lvl7pPr>
              <a:defRPr sz="1950" b="0">
                <a:solidFill>
                  <a:srgbClr val="142F38"/>
                </a:solidFill>
                <a:latin typeface="Arial"/>
                <a:ea typeface="Arial"/>
                <a:cs typeface="Arial"/>
              </a:defRPr>
            </a:lvl7pPr>
            <a:lvl8pPr>
              <a:defRPr sz="1950" b="0">
                <a:solidFill>
                  <a:srgbClr val="142F38"/>
                </a:solidFill>
                <a:latin typeface="Arial"/>
                <a:ea typeface="Arial"/>
                <a:cs typeface="Arial"/>
              </a:defRPr>
            </a:lvl8pPr>
            <a:lvl9pPr>
              <a:defRPr sz="1950" b="0">
                <a:solidFill>
                  <a:srgbClr val="142F38"/>
                </a:solidFill>
                <a:latin typeface="Arial"/>
                <a:ea typeface="Arial"/>
                <a:cs typeface="Arial"/>
              </a:defRPr>
            </a:lvl9pPr>
          </a:lstStyle>
          <a:p xmlns:a="http://schemas.openxmlformats.org/drawingml/2006/main">
            <a:pPr>
              <a:defRPr sz="1950" b="0">
                <a:solidFill>
                  <a:srgbClr val="142F38"/>
                </a:solidFill>
                <a:latin typeface="Arial"/>
                <a:ea typeface="Arial"/>
                <a:cs typeface="Arial"/>
              </a:defRPr>
            </a:pPr>
            <a:r>
              <a:rPr sz="1950" b="0">
                <a:solidFill>
                  <a:srgbClr val="142F38"/>
                </a:solidFill>
                <a:latin typeface="Arial"/>
                <a:ea typeface="Arial"/>
                <a:cs typeface="Arial"/>
              </a:rPr>
              <a:t>Correct predictions / all images</a:t>
            </a:r>
          </a:p>
        </p:txBody>
      </p:sp>
      <p:sp>
        <p:nvSpPr>
          <p:cNvPr id="6" name="">
            <a:extLst xmlns:a="http://schemas.openxmlformats.org/drawingml/2006/main">
              <a:ext uri="{FF2B5EF4-FFF2-40B4-BE49-F238E27FC236}">
                <a16:creationId xmlns:a16="http://schemas.microsoft.com/office/drawing/2014/main" id="{914ED7DC-9DF6-494A-AFA5-E6CF32FA3466}"/>
              </a:ext>
            </a:extLst>
          </p:cNvPr>
          <p:cNvSpPr>
            <a:spLocks xmlns:a="http://schemas.openxmlformats.org/drawingml/2006/main" noGrp="1"/>
          </p:cNvSpPr>
          <p:nvPr/>
        </p:nvSpPr>
        <p:spPr>
          <a:xfrm xmlns:a="http://schemas.openxmlformats.org/drawingml/2006/main">
            <a:off x="6457950" y="164782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087F82"/>
                </a:solidFill>
                <a:latin typeface="Arial"/>
                <a:ea typeface="Arial"/>
                <a:cs typeface="Arial"/>
              </a:defRPr>
            </a:defPPr>
            <a:lvl1pPr>
              <a:defRPr sz="2250" b="1">
                <a:solidFill>
                  <a:srgbClr val="087F82"/>
                </a:solidFill>
                <a:latin typeface="Arial"/>
                <a:ea typeface="Arial"/>
                <a:cs typeface="Arial"/>
              </a:defRPr>
            </a:lvl1pPr>
            <a:lvl2pPr>
              <a:defRPr sz="2250" b="1">
                <a:solidFill>
                  <a:srgbClr val="087F82"/>
                </a:solidFill>
                <a:latin typeface="Arial"/>
                <a:ea typeface="Arial"/>
                <a:cs typeface="Arial"/>
              </a:defRPr>
            </a:lvl2pPr>
            <a:lvl3pPr>
              <a:defRPr sz="2250" b="1">
                <a:solidFill>
                  <a:srgbClr val="087F82"/>
                </a:solidFill>
                <a:latin typeface="Arial"/>
                <a:ea typeface="Arial"/>
                <a:cs typeface="Arial"/>
              </a:defRPr>
            </a:lvl3pPr>
            <a:lvl4pPr>
              <a:defRPr sz="2250" b="1">
                <a:solidFill>
                  <a:srgbClr val="087F82"/>
                </a:solidFill>
                <a:latin typeface="Arial"/>
                <a:ea typeface="Arial"/>
                <a:cs typeface="Arial"/>
              </a:defRPr>
            </a:lvl4pPr>
            <a:lvl5pPr>
              <a:defRPr sz="2250" b="1">
                <a:solidFill>
                  <a:srgbClr val="087F82"/>
                </a:solidFill>
                <a:latin typeface="Arial"/>
                <a:ea typeface="Arial"/>
                <a:cs typeface="Arial"/>
              </a:defRPr>
            </a:lvl5pPr>
            <a:lvl6pPr>
              <a:defRPr sz="2250" b="1">
                <a:solidFill>
                  <a:srgbClr val="087F82"/>
                </a:solidFill>
                <a:latin typeface="Arial"/>
                <a:ea typeface="Arial"/>
                <a:cs typeface="Arial"/>
              </a:defRPr>
            </a:lvl6pPr>
            <a:lvl7pPr>
              <a:defRPr sz="2250" b="1">
                <a:solidFill>
                  <a:srgbClr val="087F82"/>
                </a:solidFill>
                <a:latin typeface="Arial"/>
                <a:ea typeface="Arial"/>
                <a:cs typeface="Arial"/>
              </a:defRPr>
            </a:lvl7pPr>
            <a:lvl8pPr>
              <a:defRPr sz="2250" b="1">
                <a:solidFill>
                  <a:srgbClr val="087F82"/>
                </a:solidFill>
                <a:latin typeface="Arial"/>
                <a:ea typeface="Arial"/>
                <a:cs typeface="Arial"/>
              </a:defRPr>
            </a:lvl8pPr>
            <a:lvl9pPr>
              <a:defRPr sz="2250" b="1">
                <a:solidFill>
                  <a:srgbClr val="087F82"/>
                </a:solidFill>
                <a:latin typeface="Arial"/>
                <a:ea typeface="Arial"/>
                <a:cs typeface="Arial"/>
              </a:defRPr>
            </a:lvl9pPr>
          </a:lstStyle>
          <a:p xmlns:a="http://schemas.openxmlformats.org/drawingml/2006/main">
            <a:pPr>
              <a:defRPr sz="2250" b="1">
                <a:solidFill>
                  <a:srgbClr val="087F82"/>
                </a:solidFill>
                <a:latin typeface="Arial"/>
                <a:ea typeface="Arial"/>
                <a:cs typeface="Arial"/>
              </a:defRPr>
            </a:pPr>
            <a:r>
              <a:rPr sz="2250" b="1">
                <a:solidFill>
                  <a:srgbClr val="087F82"/>
                </a:solidFill>
                <a:latin typeface="Arial"/>
                <a:ea typeface="Arial"/>
                <a:cs typeface="Arial"/>
              </a:rPr>
              <a:t>Macro F1</a:t>
            </a:r>
          </a:p>
        </p:txBody>
      </p:sp>
      <p:sp>
        <p:nvSpPr>
          <p:cNvPr id="7" name="">
            <a:extLst xmlns:a="http://schemas.openxmlformats.org/drawingml/2006/main">
              <a:ext uri="{FF2B5EF4-FFF2-40B4-BE49-F238E27FC236}">
                <a16:creationId xmlns:a16="http://schemas.microsoft.com/office/drawing/2014/main" id="{4A85EDF5-9FA7-48C4-B18E-431642E955DB}"/>
              </a:ext>
            </a:extLst>
          </p:cNvPr>
          <p:cNvSpPr>
            <a:spLocks xmlns:a="http://schemas.openxmlformats.org/drawingml/2006/main" noGrp="1"/>
          </p:cNvSpPr>
          <p:nvPr/>
        </p:nvSpPr>
        <p:spPr>
          <a:xfrm xmlns:a="http://schemas.openxmlformats.org/drawingml/2006/main">
            <a:off x="6457950" y="2190750"/>
            <a:ext cx="4953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42F38"/>
                </a:solidFill>
                <a:latin typeface="Arial"/>
                <a:ea typeface="Arial"/>
                <a:cs typeface="Arial"/>
              </a:defRPr>
            </a:defPPr>
            <a:lvl1pPr>
              <a:defRPr sz="1950" b="0">
                <a:solidFill>
                  <a:srgbClr val="142F38"/>
                </a:solidFill>
                <a:latin typeface="Arial"/>
                <a:ea typeface="Arial"/>
                <a:cs typeface="Arial"/>
              </a:defRPr>
            </a:lvl1pPr>
            <a:lvl2pPr>
              <a:defRPr sz="1950" b="0">
                <a:solidFill>
                  <a:srgbClr val="142F38"/>
                </a:solidFill>
                <a:latin typeface="Arial"/>
                <a:ea typeface="Arial"/>
                <a:cs typeface="Arial"/>
              </a:defRPr>
            </a:lvl2pPr>
            <a:lvl3pPr>
              <a:defRPr sz="1950" b="0">
                <a:solidFill>
                  <a:srgbClr val="142F38"/>
                </a:solidFill>
                <a:latin typeface="Arial"/>
                <a:ea typeface="Arial"/>
                <a:cs typeface="Arial"/>
              </a:defRPr>
            </a:lvl3pPr>
            <a:lvl4pPr>
              <a:defRPr sz="1950" b="0">
                <a:solidFill>
                  <a:srgbClr val="142F38"/>
                </a:solidFill>
                <a:latin typeface="Arial"/>
                <a:ea typeface="Arial"/>
                <a:cs typeface="Arial"/>
              </a:defRPr>
            </a:lvl4pPr>
            <a:lvl5pPr>
              <a:defRPr sz="1950" b="0">
                <a:solidFill>
                  <a:srgbClr val="142F38"/>
                </a:solidFill>
                <a:latin typeface="Arial"/>
                <a:ea typeface="Arial"/>
                <a:cs typeface="Arial"/>
              </a:defRPr>
            </a:lvl5pPr>
            <a:lvl6pPr>
              <a:defRPr sz="1950" b="0">
                <a:solidFill>
                  <a:srgbClr val="142F38"/>
                </a:solidFill>
                <a:latin typeface="Arial"/>
                <a:ea typeface="Arial"/>
                <a:cs typeface="Arial"/>
              </a:defRPr>
            </a:lvl6pPr>
            <a:lvl7pPr>
              <a:defRPr sz="1950" b="0">
                <a:solidFill>
                  <a:srgbClr val="142F38"/>
                </a:solidFill>
                <a:latin typeface="Arial"/>
                <a:ea typeface="Arial"/>
                <a:cs typeface="Arial"/>
              </a:defRPr>
            </a:lvl7pPr>
            <a:lvl8pPr>
              <a:defRPr sz="1950" b="0">
                <a:solidFill>
                  <a:srgbClr val="142F38"/>
                </a:solidFill>
                <a:latin typeface="Arial"/>
                <a:ea typeface="Arial"/>
                <a:cs typeface="Arial"/>
              </a:defRPr>
            </a:lvl8pPr>
            <a:lvl9pPr>
              <a:defRPr sz="1950" b="0">
                <a:solidFill>
                  <a:srgbClr val="142F38"/>
                </a:solidFill>
                <a:latin typeface="Arial"/>
                <a:ea typeface="Arial"/>
                <a:cs typeface="Arial"/>
              </a:defRPr>
            </a:lvl9pPr>
          </a:lstStyle>
          <a:p xmlns:a="http://schemas.openxmlformats.org/drawingml/2006/main">
            <a:pPr>
              <a:defRPr sz="1950" b="0">
                <a:solidFill>
                  <a:srgbClr val="142F38"/>
                </a:solidFill>
                <a:latin typeface="Arial"/>
                <a:ea typeface="Arial"/>
                <a:cs typeface="Arial"/>
              </a:defRPr>
            </a:pPr>
            <a:r>
              <a:rPr sz="1950" b="0">
                <a:solidFill>
                  <a:srgbClr val="142F38"/>
                </a:solidFill>
                <a:latin typeface="Arial"/>
                <a:ea typeface="Arial"/>
                <a:cs typeface="Arial"/>
              </a:rPr>
              <a:t>Mean of the ten class F1 scores. Each category has equal weight.</a:t>
            </a:r>
          </a:p>
        </p:txBody>
      </p:sp>
      <p:sp>
        <p:nvSpPr>
          <p:cNvPr id="8" name="">
            <a:extLst xmlns:a="http://schemas.openxmlformats.org/drawingml/2006/main">
              <a:ext uri="{FF2B5EF4-FFF2-40B4-BE49-F238E27FC236}">
                <a16:creationId xmlns:a16="http://schemas.microsoft.com/office/drawing/2014/main" id="{6A565916-3871-4889-AAAD-6DDB1E6BBFAA}"/>
              </a:ext>
            </a:extLst>
          </p:cNvPr>
          <p:cNvSpPr>
            <a:spLocks xmlns:a="http://schemas.openxmlformats.org/drawingml/2006/main" noGrp="1"/>
          </p:cNvSpPr>
          <p:nvPr/>
        </p:nvSpPr>
        <p:spPr>
          <a:xfrm xmlns:a="http://schemas.openxmlformats.org/drawingml/2006/main">
            <a:off x="647700" y="397192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087F82"/>
                </a:solidFill>
                <a:latin typeface="Arial"/>
                <a:ea typeface="Arial"/>
                <a:cs typeface="Arial"/>
              </a:defRPr>
            </a:defPPr>
            <a:lvl1pPr>
              <a:defRPr sz="2250" b="1">
                <a:solidFill>
                  <a:srgbClr val="087F82"/>
                </a:solidFill>
                <a:latin typeface="Arial"/>
                <a:ea typeface="Arial"/>
                <a:cs typeface="Arial"/>
              </a:defRPr>
            </a:lvl1pPr>
            <a:lvl2pPr>
              <a:defRPr sz="2250" b="1">
                <a:solidFill>
                  <a:srgbClr val="087F82"/>
                </a:solidFill>
                <a:latin typeface="Arial"/>
                <a:ea typeface="Arial"/>
                <a:cs typeface="Arial"/>
              </a:defRPr>
            </a:lvl2pPr>
            <a:lvl3pPr>
              <a:defRPr sz="2250" b="1">
                <a:solidFill>
                  <a:srgbClr val="087F82"/>
                </a:solidFill>
                <a:latin typeface="Arial"/>
                <a:ea typeface="Arial"/>
                <a:cs typeface="Arial"/>
              </a:defRPr>
            </a:lvl3pPr>
            <a:lvl4pPr>
              <a:defRPr sz="2250" b="1">
                <a:solidFill>
                  <a:srgbClr val="087F82"/>
                </a:solidFill>
                <a:latin typeface="Arial"/>
                <a:ea typeface="Arial"/>
                <a:cs typeface="Arial"/>
              </a:defRPr>
            </a:lvl4pPr>
            <a:lvl5pPr>
              <a:defRPr sz="2250" b="1">
                <a:solidFill>
                  <a:srgbClr val="087F82"/>
                </a:solidFill>
                <a:latin typeface="Arial"/>
                <a:ea typeface="Arial"/>
                <a:cs typeface="Arial"/>
              </a:defRPr>
            </a:lvl5pPr>
            <a:lvl6pPr>
              <a:defRPr sz="2250" b="1">
                <a:solidFill>
                  <a:srgbClr val="087F82"/>
                </a:solidFill>
                <a:latin typeface="Arial"/>
                <a:ea typeface="Arial"/>
                <a:cs typeface="Arial"/>
              </a:defRPr>
            </a:lvl6pPr>
            <a:lvl7pPr>
              <a:defRPr sz="2250" b="1">
                <a:solidFill>
                  <a:srgbClr val="087F82"/>
                </a:solidFill>
                <a:latin typeface="Arial"/>
                <a:ea typeface="Arial"/>
                <a:cs typeface="Arial"/>
              </a:defRPr>
            </a:lvl7pPr>
            <a:lvl8pPr>
              <a:defRPr sz="2250" b="1">
                <a:solidFill>
                  <a:srgbClr val="087F82"/>
                </a:solidFill>
                <a:latin typeface="Arial"/>
                <a:ea typeface="Arial"/>
                <a:cs typeface="Arial"/>
              </a:defRPr>
            </a:lvl8pPr>
            <a:lvl9pPr>
              <a:defRPr sz="2250" b="1">
                <a:solidFill>
                  <a:srgbClr val="087F82"/>
                </a:solidFill>
                <a:latin typeface="Arial"/>
                <a:ea typeface="Arial"/>
                <a:cs typeface="Arial"/>
              </a:defRPr>
            </a:lvl9pPr>
          </a:lstStyle>
          <a:p xmlns:a="http://schemas.openxmlformats.org/drawingml/2006/main">
            <a:pPr>
              <a:defRPr sz="2250" b="1">
                <a:solidFill>
                  <a:srgbClr val="087F82"/>
                </a:solidFill>
                <a:latin typeface="Arial"/>
                <a:ea typeface="Arial"/>
                <a:cs typeface="Arial"/>
              </a:defRPr>
            </a:pPr>
            <a:r>
              <a:rPr sz="2250" b="1">
                <a:solidFill>
                  <a:srgbClr val="087F82"/>
                </a:solidFill>
                <a:latin typeface="Arial"/>
                <a:ea typeface="Arial"/>
                <a:cs typeface="Arial"/>
              </a:rPr>
              <a:t>Per-class recall</a:t>
            </a:r>
          </a:p>
        </p:txBody>
      </p:sp>
      <p:sp>
        <p:nvSpPr>
          <p:cNvPr id="9" name="">
            <a:extLst xmlns:a="http://schemas.openxmlformats.org/drawingml/2006/main">
              <a:ext uri="{FF2B5EF4-FFF2-40B4-BE49-F238E27FC236}">
                <a16:creationId xmlns:a16="http://schemas.microsoft.com/office/drawing/2014/main" id="{BE4F7D37-537C-40A8-82AD-8CB070F58E86}"/>
              </a:ext>
            </a:extLst>
          </p:cNvPr>
          <p:cNvSpPr>
            <a:spLocks xmlns:a="http://schemas.openxmlformats.org/drawingml/2006/main" noGrp="1"/>
          </p:cNvSpPr>
          <p:nvPr/>
        </p:nvSpPr>
        <p:spPr>
          <a:xfrm xmlns:a="http://schemas.openxmlformats.org/drawingml/2006/main">
            <a:off x="647700" y="4514850"/>
            <a:ext cx="4953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42F38"/>
                </a:solidFill>
                <a:latin typeface="Arial"/>
                <a:ea typeface="Arial"/>
                <a:cs typeface="Arial"/>
              </a:defRPr>
            </a:defPPr>
            <a:lvl1pPr>
              <a:defRPr sz="1950" b="0">
                <a:solidFill>
                  <a:srgbClr val="142F38"/>
                </a:solidFill>
                <a:latin typeface="Arial"/>
                <a:ea typeface="Arial"/>
                <a:cs typeface="Arial"/>
              </a:defRPr>
            </a:lvl1pPr>
            <a:lvl2pPr>
              <a:defRPr sz="1950" b="0">
                <a:solidFill>
                  <a:srgbClr val="142F38"/>
                </a:solidFill>
                <a:latin typeface="Arial"/>
                <a:ea typeface="Arial"/>
                <a:cs typeface="Arial"/>
              </a:defRPr>
            </a:lvl2pPr>
            <a:lvl3pPr>
              <a:defRPr sz="1950" b="0">
                <a:solidFill>
                  <a:srgbClr val="142F38"/>
                </a:solidFill>
                <a:latin typeface="Arial"/>
                <a:ea typeface="Arial"/>
                <a:cs typeface="Arial"/>
              </a:defRPr>
            </a:lvl3pPr>
            <a:lvl4pPr>
              <a:defRPr sz="1950" b="0">
                <a:solidFill>
                  <a:srgbClr val="142F38"/>
                </a:solidFill>
                <a:latin typeface="Arial"/>
                <a:ea typeface="Arial"/>
                <a:cs typeface="Arial"/>
              </a:defRPr>
            </a:lvl4pPr>
            <a:lvl5pPr>
              <a:defRPr sz="1950" b="0">
                <a:solidFill>
                  <a:srgbClr val="142F38"/>
                </a:solidFill>
                <a:latin typeface="Arial"/>
                <a:ea typeface="Arial"/>
                <a:cs typeface="Arial"/>
              </a:defRPr>
            </a:lvl5pPr>
            <a:lvl6pPr>
              <a:defRPr sz="1950" b="0">
                <a:solidFill>
                  <a:srgbClr val="142F38"/>
                </a:solidFill>
                <a:latin typeface="Arial"/>
                <a:ea typeface="Arial"/>
                <a:cs typeface="Arial"/>
              </a:defRPr>
            </a:lvl6pPr>
            <a:lvl7pPr>
              <a:defRPr sz="1950" b="0">
                <a:solidFill>
                  <a:srgbClr val="142F38"/>
                </a:solidFill>
                <a:latin typeface="Arial"/>
                <a:ea typeface="Arial"/>
                <a:cs typeface="Arial"/>
              </a:defRPr>
            </a:lvl7pPr>
            <a:lvl8pPr>
              <a:defRPr sz="1950" b="0">
                <a:solidFill>
                  <a:srgbClr val="142F38"/>
                </a:solidFill>
                <a:latin typeface="Arial"/>
                <a:ea typeface="Arial"/>
                <a:cs typeface="Arial"/>
              </a:defRPr>
            </a:lvl8pPr>
            <a:lvl9pPr>
              <a:defRPr sz="1950" b="0">
                <a:solidFill>
                  <a:srgbClr val="142F38"/>
                </a:solidFill>
                <a:latin typeface="Arial"/>
                <a:ea typeface="Arial"/>
                <a:cs typeface="Arial"/>
              </a:defRPr>
            </a:lvl9pPr>
          </a:lstStyle>
          <a:p xmlns:a="http://schemas.openxmlformats.org/drawingml/2006/main">
            <a:pPr>
              <a:defRPr sz="1950" b="0">
                <a:solidFill>
                  <a:srgbClr val="142F38"/>
                </a:solidFill>
                <a:latin typeface="Arial"/>
                <a:ea typeface="Arial"/>
                <a:cs typeface="Arial"/>
              </a:defRPr>
            </a:pPr>
            <a:r>
              <a:rPr sz="1950" b="0">
                <a:solidFill>
                  <a:srgbClr val="142F38"/>
                </a:solidFill>
                <a:latin typeface="Arial"/>
                <a:ea typeface="Arial"/>
                <a:cs typeface="Arial"/>
              </a:rPr>
              <a:t>Correctly identified members of a class / all true members of that class</a:t>
            </a:r>
          </a:p>
        </p:txBody>
      </p:sp>
      <p:sp>
        <p:nvSpPr>
          <p:cNvPr id="10" name="">
            <a:extLst xmlns:a="http://schemas.openxmlformats.org/drawingml/2006/main">
              <a:ext uri="{FF2B5EF4-FFF2-40B4-BE49-F238E27FC236}">
                <a16:creationId xmlns:a16="http://schemas.microsoft.com/office/drawing/2014/main" id="{28944EF5-9FDF-4E02-B816-DF7F6FA14039}"/>
              </a:ext>
            </a:extLst>
          </p:cNvPr>
          <p:cNvSpPr>
            <a:spLocks xmlns:a="http://schemas.openxmlformats.org/drawingml/2006/main" noGrp="1"/>
          </p:cNvSpPr>
          <p:nvPr/>
        </p:nvSpPr>
        <p:spPr>
          <a:xfrm xmlns:a="http://schemas.openxmlformats.org/drawingml/2006/main">
            <a:off x="6457950" y="397192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087F82"/>
                </a:solidFill>
                <a:latin typeface="Arial"/>
                <a:ea typeface="Arial"/>
                <a:cs typeface="Arial"/>
              </a:defRPr>
            </a:defPPr>
            <a:lvl1pPr>
              <a:defRPr sz="2250" b="1">
                <a:solidFill>
                  <a:srgbClr val="087F82"/>
                </a:solidFill>
                <a:latin typeface="Arial"/>
                <a:ea typeface="Arial"/>
                <a:cs typeface="Arial"/>
              </a:defRPr>
            </a:lvl1pPr>
            <a:lvl2pPr>
              <a:defRPr sz="2250" b="1">
                <a:solidFill>
                  <a:srgbClr val="087F82"/>
                </a:solidFill>
                <a:latin typeface="Arial"/>
                <a:ea typeface="Arial"/>
                <a:cs typeface="Arial"/>
              </a:defRPr>
            </a:lvl2pPr>
            <a:lvl3pPr>
              <a:defRPr sz="2250" b="1">
                <a:solidFill>
                  <a:srgbClr val="087F82"/>
                </a:solidFill>
                <a:latin typeface="Arial"/>
                <a:ea typeface="Arial"/>
                <a:cs typeface="Arial"/>
              </a:defRPr>
            </a:lvl3pPr>
            <a:lvl4pPr>
              <a:defRPr sz="2250" b="1">
                <a:solidFill>
                  <a:srgbClr val="087F82"/>
                </a:solidFill>
                <a:latin typeface="Arial"/>
                <a:ea typeface="Arial"/>
                <a:cs typeface="Arial"/>
              </a:defRPr>
            </a:lvl4pPr>
            <a:lvl5pPr>
              <a:defRPr sz="2250" b="1">
                <a:solidFill>
                  <a:srgbClr val="087F82"/>
                </a:solidFill>
                <a:latin typeface="Arial"/>
                <a:ea typeface="Arial"/>
                <a:cs typeface="Arial"/>
              </a:defRPr>
            </a:lvl5pPr>
            <a:lvl6pPr>
              <a:defRPr sz="2250" b="1">
                <a:solidFill>
                  <a:srgbClr val="087F82"/>
                </a:solidFill>
                <a:latin typeface="Arial"/>
                <a:ea typeface="Arial"/>
                <a:cs typeface="Arial"/>
              </a:defRPr>
            </a:lvl6pPr>
            <a:lvl7pPr>
              <a:defRPr sz="2250" b="1">
                <a:solidFill>
                  <a:srgbClr val="087F82"/>
                </a:solidFill>
                <a:latin typeface="Arial"/>
                <a:ea typeface="Arial"/>
                <a:cs typeface="Arial"/>
              </a:defRPr>
            </a:lvl7pPr>
            <a:lvl8pPr>
              <a:defRPr sz="2250" b="1">
                <a:solidFill>
                  <a:srgbClr val="087F82"/>
                </a:solidFill>
                <a:latin typeface="Arial"/>
                <a:ea typeface="Arial"/>
                <a:cs typeface="Arial"/>
              </a:defRPr>
            </a:lvl8pPr>
            <a:lvl9pPr>
              <a:defRPr sz="2250" b="1">
                <a:solidFill>
                  <a:srgbClr val="087F82"/>
                </a:solidFill>
                <a:latin typeface="Arial"/>
                <a:ea typeface="Arial"/>
                <a:cs typeface="Arial"/>
              </a:defRPr>
            </a:lvl9pPr>
          </a:lstStyle>
          <a:p xmlns:a="http://schemas.openxmlformats.org/drawingml/2006/main">
            <a:pPr>
              <a:defRPr sz="2250" b="1">
                <a:solidFill>
                  <a:srgbClr val="087F82"/>
                </a:solidFill>
                <a:latin typeface="Arial"/>
                <a:ea typeface="Arial"/>
                <a:cs typeface="Arial"/>
              </a:defRPr>
            </a:pPr>
            <a:r>
              <a:rPr sz="2250" b="1">
                <a:solidFill>
                  <a:srgbClr val="087F82"/>
                </a:solidFill>
                <a:latin typeface="Arial"/>
                <a:ea typeface="Arial"/>
                <a:cs typeface="Arial"/>
              </a:rPr>
              <a:t>Operational cost</a:t>
            </a:r>
          </a:p>
        </p:txBody>
      </p:sp>
      <p:sp>
        <p:nvSpPr>
          <p:cNvPr id="11" name="">
            <a:extLst xmlns:a="http://schemas.openxmlformats.org/drawingml/2006/main">
              <a:ext uri="{FF2B5EF4-FFF2-40B4-BE49-F238E27FC236}">
                <a16:creationId xmlns:a16="http://schemas.microsoft.com/office/drawing/2014/main" id="{8C0B4AC6-B2EB-4982-A361-E6DBF4CFA44F}"/>
              </a:ext>
            </a:extLst>
          </p:cNvPr>
          <p:cNvSpPr>
            <a:spLocks xmlns:a="http://schemas.openxmlformats.org/drawingml/2006/main" noGrp="1"/>
          </p:cNvSpPr>
          <p:nvPr/>
        </p:nvSpPr>
        <p:spPr>
          <a:xfrm xmlns:a="http://schemas.openxmlformats.org/drawingml/2006/main">
            <a:off x="6457950" y="4514850"/>
            <a:ext cx="4953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42F38"/>
                </a:solidFill>
                <a:latin typeface="Arial"/>
                <a:ea typeface="Arial"/>
                <a:cs typeface="Arial"/>
              </a:defRPr>
            </a:defPPr>
            <a:lvl1pPr>
              <a:defRPr sz="1950" b="0">
                <a:solidFill>
                  <a:srgbClr val="142F38"/>
                </a:solidFill>
                <a:latin typeface="Arial"/>
                <a:ea typeface="Arial"/>
                <a:cs typeface="Arial"/>
              </a:defRPr>
            </a:lvl1pPr>
            <a:lvl2pPr>
              <a:defRPr sz="1950" b="0">
                <a:solidFill>
                  <a:srgbClr val="142F38"/>
                </a:solidFill>
                <a:latin typeface="Arial"/>
                <a:ea typeface="Arial"/>
                <a:cs typeface="Arial"/>
              </a:defRPr>
            </a:lvl2pPr>
            <a:lvl3pPr>
              <a:defRPr sz="1950" b="0">
                <a:solidFill>
                  <a:srgbClr val="142F38"/>
                </a:solidFill>
                <a:latin typeface="Arial"/>
                <a:ea typeface="Arial"/>
                <a:cs typeface="Arial"/>
              </a:defRPr>
            </a:lvl3pPr>
            <a:lvl4pPr>
              <a:defRPr sz="1950" b="0">
                <a:solidFill>
                  <a:srgbClr val="142F38"/>
                </a:solidFill>
                <a:latin typeface="Arial"/>
                <a:ea typeface="Arial"/>
                <a:cs typeface="Arial"/>
              </a:defRPr>
            </a:lvl4pPr>
            <a:lvl5pPr>
              <a:defRPr sz="1950" b="0">
                <a:solidFill>
                  <a:srgbClr val="142F38"/>
                </a:solidFill>
                <a:latin typeface="Arial"/>
                <a:ea typeface="Arial"/>
                <a:cs typeface="Arial"/>
              </a:defRPr>
            </a:lvl5pPr>
            <a:lvl6pPr>
              <a:defRPr sz="1950" b="0">
                <a:solidFill>
                  <a:srgbClr val="142F38"/>
                </a:solidFill>
                <a:latin typeface="Arial"/>
                <a:ea typeface="Arial"/>
                <a:cs typeface="Arial"/>
              </a:defRPr>
            </a:lvl6pPr>
            <a:lvl7pPr>
              <a:defRPr sz="1950" b="0">
                <a:solidFill>
                  <a:srgbClr val="142F38"/>
                </a:solidFill>
                <a:latin typeface="Arial"/>
                <a:ea typeface="Arial"/>
                <a:cs typeface="Arial"/>
              </a:defRPr>
            </a:lvl7pPr>
            <a:lvl8pPr>
              <a:defRPr sz="1950" b="0">
                <a:solidFill>
                  <a:srgbClr val="142F38"/>
                </a:solidFill>
                <a:latin typeface="Arial"/>
                <a:ea typeface="Arial"/>
                <a:cs typeface="Arial"/>
              </a:defRPr>
            </a:lvl8pPr>
            <a:lvl9pPr>
              <a:defRPr sz="1950" b="0">
                <a:solidFill>
                  <a:srgbClr val="142F38"/>
                </a:solidFill>
                <a:latin typeface="Arial"/>
                <a:ea typeface="Arial"/>
                <a:cs typeface="Arial"/>
              </a:defRPr>
            </a:lvl9pPr>
          </a:lstStyle>
          <a:p xmlns:a="http://schemas.openxmlformats.org/drawingml/2006/main">
            <a:pPr>
              <a:defRPr sz="1950" b="0">
                <a:solidFill>
                  <a:srgbClr val="142F38"/>
                </a:solidFill>
                <a:latin typeface="Arial"/>
                <a:ea typeface="Arial"/>
                <a:cs typeface="Arial"/>
              </a:defRPr>
            </a:pPr>
            <a:r>
              <a:rPr sz="1950" b="0">
                <a:solidFill>
                  <a:srgbClr val="142F38"/>
                </a:solidFill>
                <a:latin typeface="Arial"/>
                <a:ea typeface="Arial"/>
                <a:cs typeface="Arial"/>
              </a:rPr>
              <a:t>Repeated inference measurements and model-specific storage quantities</a:t>
            </a:r>
          </a:p>
        </p:txBody>
      </p:sp>
    </p:spTree>
    <p:extLst>
      <p:ext uri="{BB962C8B-B14F-4D97-AF65-F5344CB8AC3E}">
        <p14:creationId xmlns:p14="http://schemas.microsoft.com/office/powerpoint/2010/main" val="646333777"/>
      </p:ext>
    </p:extLst>
  </p:cSld>
</p:sld>
</file>

<file path=ppt/slides/slide1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7ABA37C-B023-47DB-827A-29B0147C5D37}"/>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42F38"/>
                </a:solidFill>
                <a:latin typeface="Arial"/>
                <a:ea typeface="Arial"/>
                <a:cs typeface="Arial"/>
              </a:defRPr>
            </a:defPPr>
            <a:lvl1pPr>
              <a:defRPr sz="3300" b="1">
                <a:solidFill>
                  <a:srgbClr val="142F38"/>
                </a:solidFill>
                <a:latin typeface="Arial"/>
                <a:ea typeface="Arial"/>
                <a:cs typeface="Arial"/>
              </a:defRPr>
            </a:lvl1pPr>
            <a:lvl2pPr>
              <a:defRPr sz="3300" b="1">
                <a:solidFill>
                  <a:srgbClr val="142F38"/>
                </a:solidFill>
                <a:latin typeface="Arial"/>
                <a:ea typeface="Arial"/>
                <a:cs typeface="Arial"/>
              </a:defRPr>
            </a:lvl2pPr>
            <a:lvl3pPr>
              <a:defRPr sz="3300" b="1">
                <a:solidFill>
                  <a:srgbClr val="142F38"/>
                </a:solidFill>
                <a:latin typeface="Arial"/>
                <a:ea typeface="Arial"/>
                <a:cs typeface="Arial"/>
              </a:defRPr>
            </a:lvl3pPr>
            <a:lvl4pPr>
              <a:defRPr sz="3300" b="1">
                <a:solidFill>
                  <a:srgbClr val="142F38"/>
                </a:solidFill>
                <a:latin typeface="Arial"/>
                <a:ea typeface="Arial"/>
                <a:cs typeface="Arial"/>
              </a:defRPr>
            </a:lvl4pPr>
            <a:lvl5pPr>
              <a:defRPr sz="3300" b="1">
                <a:solidFill>
                  <a:srgbClr val="142F38"/>
                </a:solidFill>
                <a:latin typeface="Arial"/>
                <a:ea typeface="Arial"/>
                <a:cs typeface="Arial"/>
              </a:defRPr>
            </a:lvl5pPr>
            <a:lvl6pPr>
              <a:defRPr sz="3300" b="1">
                <a:solidFill>
                  <a:srgbClr val="142F38"/>
                </a:solidFill>
                <a:latin typeface="Arial"/>
                <a:ea typeface="Arial"/>
                <a:cs typeface="Arial"/>
              </a:defRPr>
            </a:lvl6pPr>
            <a:lvl7pPr>
              <a:defRPr sz="3300" b="1">
                <a:solidFill>
                  <a:srgbClr val="142F38"/>
                </a:solidFill>
                <a:latin typeface="Arial"/>
                <a:ea typeface="Arial"/>
                <a:cs typeface="Arial"/>
              </a:defRPr>
            </a:lvl7pPr>
            <a:lvl8pPr>
              <a:defRPr sz="3300" b="1">
                <a:solidFill>
                  <a:srgbClr val="142F38"/>
                </a:solidFill>
                <a:latin typeface="Arial"/>
                <a:ea typeface="Arial"/>
                <a:cs typeface="Arial"/>
              </a:defRPr>
            </a:lvl8pPr>
            <a:lvl9pPr>
              <a:defRPr sz="3300" b="1">
                <a:solidFill>
                  <a:srgbClr val="142F38"/>
                </a:solidFill>
                <a:latin typeface="Arial"/>
                <a:ea typeface="Arial"/>
                <a:cs typeface="Arial"/>
              </a:defRPr>
            </a:lvl9pPr>
          </a:lstStyle>
          <a:p xmlns:a="http://schemas.openxmlformats.org/drawingml/2006/main">
            <a:pPr>
              <a:defRPr sz="3300" b="1">
                <a:solidFill>
                  <a:srgbClr val="142F38"/>
                </a:solidFill>
                <a:latin typeface="Arial"/>
                <a:ea typeface="Arial"/>
                <a:cs typeface="Arial"/>
              </a:defRPr>
            </a:pPr>
            <a:r>
              <a:rPr sz="3300" b="1">
                <a:solidFill>
                  <a:srgbClr val="142F38"/>
                </a:solidFill>
                <a:latin typeface="Arial"/>
                <a:ea typeface="Arial"/>
                <a:cs typeface="Arial"/>
              </a:rPr>
              <a:t>HOG helps three classifier families</a:t>
            </a:r>
          </a:p>
        </p:txBody>
      </p:sp>
      <p:sp>
        <p:nvSpPr>
          <p:cNvPr id="3" name="">
            <a:extLst xmlns:a="http://schemas.openxmlformats.org/drawingml/2006/main">
              <a:ext uri="{FF2B5EF4-FFF2-40B4-BE49-F238E27FC236}">
                <a16:creationId xmlns:a16="http://schemas.microsoft.com/office/drawing/2014/main" id="{75B336D0-FA5C-47E5-9803-D1B18E88ABBE}"/>
              </a:ext>
            </a:extLst>
          </p:cNvPr>
          <p:cNvSpPr>
            <a:spLocks xmlns:a="http://schemas.openxmlformats.org/drawingml/2006/main" noGrp="1"/>
          </p:cNvSpPr>
          <p:nvPr/>
        </p:nvSpPr>
        <p:spPr>
          <a:xfrm xmlns:a="http://schemas.openxmlformats.org/drawingml/2006/main">
            <a:off x="10001250" y="644842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56D"/>
                </a:solidFill>
                <a:latin typeface="Arial"/>
                <a:ea typeface="Arial"/>
                <a:cs typeface="Arial"/>
              </a:defRPr>
            </a:defPPr>
            <a:lvl1pPr>
              <a:defRPr sz="1200" b="0">
                <a:solidFill>
                  <a:srgbClr val="52656D"/>
                </a:solidFill>
                <a:latin typeface="Arial"/>
                <a:ea typeface="Arial"/>
                <a:cs typeface="Arial"/>
              </a:defRPr>
            </a:lvl1pPr>
            <a:lvl2pPr>
              <a:defRPr sz="1200" b="0">
                <a:solidFill>
                  <a:srgbClr val="52656D"/>
                </a:solidFill>
                <a:latin typeface="Arial"/>
                <a:ea typeface="Arial"/>
                <a:cs typeface="Arial"/>
              </a:defRPr>
            </a:lvl2pPr>
            <a:lvl3pPr>
              <a:defRPr sz="1200" b="0">
                <a:solidFill>
                  <a:srgbClr val="52656D"/>
                </a:solidFill>
                <a:latin typeface="Arial"/>
                <a:ea typeface="Arial"/>
                <a:cs typeface="Arial"/>
              </a:defRPr>
            </a:lvl3pPr>
            <a:lvl4pPr>
              <a:defRPr sz="1200" b="0">
                <a:solidFill>
                  <a:srgbClr val="52656D"/>
                </a:solidFill>
                <a:latin typeface="Arial"/>
                <a:ea typeface="Arial"/>
                <a:cs typeface="Arial"/>
              </a:defRPr>
            </a:lvl4pPr>
            <a:lvl5pPr>
              <a:defRPr sz="1200" b="0">
                <a:solidFill>
                  <a:srgbClr val="52656D"/>
                </a:solidFill>
                <a:latin typeface="Arial"/>
                <a:ea typeface="Arial"/>
                <a:cs typeface="Arial"/>
              </a:defRPr>
            </a:lvl5pPr>
            <a:lvl6pPr>
              <a:defRPr sz="1200" b="0">
                <a:solidFill>
                  <a:srgbClr val="52656D"/>
                </a:solidFill>
                <a:latin typeface="Arial"/>
                <a:ea typeface="Arial"/>
                <a:cs typeface="Arial"/>
              </a:defRPr>
            </a:lvl6pPr>
            <a:lvl7pPr>
              <a:defRPr sz="1200" b="0">
                <a:solidFill>
                  <a:srgbClr val="52656D"/>
                </a:solidFill>
                <a:latin typeface="Arial"/>
                <a:ea typeface="Arial"/>
                <a:cs typeface="Arial"/>
              </a:defRPr>
            </a:lvl7pPr>
            <a:lvl8pPr>
              <a:defRPr sz="1200" b="0">
                <a:solidFill>
                  <a:srgbClr val="52656D"/>
                </a:solidFill>
                <a:latin typeface="Arial"/>
                <a:ea typeface="Arial"/>
                <a:cs typeface="Arial"/>
              </a:defRPr>
            </a:lvl8pPr>
            <a:lvl9pPr>
              <a:defRPr sz="1200" b="0">
                <a:solidFill>
                  <a:srgbClr val="52656D"/>
                </a:solidFill>
                <a:latin typeface="Arial"/>
                <a:ea typeface="Arial"/>
                <a:cs typeface="Arial"/>
              </a:defRPr>
            </a:lvl9pPr>
          </a:lstStyle>
          <a:p xmlns:a="http://schemas.openxmlformats.org/drawingml/2006/main">
            <a:pPr>
              <a:defRPr sz="1200" b="0">
                <a:solidFill>
                  <a:srgbClr val="52656D"/>
                </a:solidFill>
                <a:latin typeface="Arial"/>
                <a:ea typeface="Arial"/>
                <a:cs typeface="Arial"/>
              </a:defRPr>
            </a:pPr>
            <a:r>
              <a:rPr sz="1200" b="0">
                <a:solidFill>
                  <a:srgbClr val="52656D"/>
                </a:solidFill>
                <a:latin typeface="Arial"/>
                <a:ea typeface="Arial"/>
                <a:cs typeface="Arial"/>
              </a:rPr>
              <a:t>11</a:t>
            </a:r>
          </a:p>
        </p:txBody>
      </p:sp>
      <p:graphicFrame>
        <p:nvGraphicFramePr>
          <p:cNvPr id="4" name="Chart">
            <a:extLst xmlns:a="http://schemas.openxmlformats.org/drawingml/2006/main">
              <a:ext uri="{FF2B5EF4-FFF2-40B4-BE49-F238E27FC236}">
                <a16:creationId xmlns:a16="http://schemas.microsoft.com/office/drawing/2014/main" id="{AF653D14-6048-4A57-97F3-3977A331CEF9}"/>
              </a:ext>
            </a:extLst>
          </p:cNvPr>
          <p:cNvGraphicFramePr/>
          <p:nvPr/>
        </p:nvGraphicFramePr>
        <p:xfrm>
          <a:off xmlns:a="http://schemas.openxmlformats.org/drawingml/2006/main" x="647700" y="1466850"/>
          <a:ext xmlns:a="http://schemas.openxmlformats.org/drawingml/2006/main" cx="10896600" cy="4095750"/>
        </p:xfrm>
        <a:graphic xmlns:a="http://schemas.openxmlformats.org/drawingml/2006/main">
          <a:graphicData uri="http://schemas.openxmlformats.org/drawingml/2006/chart">
            <c:chart xmlns:r="http://schemas.openxmlformats.org/officeDocument/2006/relationships" xmlns:c="http://schemas.openxmlformats.org/drawingml/2006/chart" r:id="R432329bc865143ac"/>
          </a:graphicData>
        </a:graphic>
      </p:graphicFrame>
      <p:sp>
        <p:nvSpPr>
          <p:cNvPr id="5" name="">
            <a:extLst xmlns:a="http://schemas.openxmlformats.org/drawingml/2006/main">
              <a:ext uri="{FF2B5EF4-FFF2-40B4-BE49-F238E27FC236}">
                <a16:creationId xmlns:a16="http://schemas.microsoft.com/office/drawing/2014/main" id="{8660F0C6-4F74-436F-8521-56D7C65FF82D}"/>
              </a:ext>
            </a:extLst>
          </p:cNvPr>
          <p:cNvSpPr>
            <a:spLocks xmlns:a="http://schemas.openxmlformats.org/drawingml/2006/main" noGrp="1"/>
          </p:cNvSpPr>
          <p:nvPr/>
        </p:nvSpPr>
        <p:spPr>
          <a:xfrm xmlns:a="http://schemas.openxmlformats.org/drawingml/2006/main">
            <a:off x="647700" y="5772150"/>
            <a:ext cx="1089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087F82"/>
                </a:solidFill>
                <a:latin typeface="Arial"/>
                <a:ea typeface="Arial"/>
                <a:cs typeface="Arial"/>
              </a:defRPr>
            </a:defPPr>
            <a:lvl1pPr>
              <a:defRPr sz="2175" b="1">
                <a:solidFill>
                  <a:srgbClr val="087F82"/>
                </a:solidFill>
                <a:latin typeface="Arial"/>
                <a:ea typeface="Arial"/>
                <a:cs typeface="Arial"/>
              </a:defRPr>
            </a:lvl1pPr>
            <a:lvl2pPr>
              <a:defRPr sz="2175" b="1">
                <a:solidFill>
                  <a:srgbClr val="087F82"/>
                </a:solidFill>
                <a:latin typeface="Arial"/>
                <a:ea typeface="Arial"/>
                <a:cs typeface="Arial"/>
              </a:defRPr>
            </a:lvl2pPr>
            <a:lvl3pPr>
              <a:defRPr sz="2175" b="1">
                <a:solidFill>
                  <a:srgbClr val="087F82"/>
                </a:solidFill>
                <a:latin typeface="Arial"/>
                <a:ea typeface="Arial"/>
                <a:cs typeface="Arial"/>
              </a:defRPr>
            </a:lvl3pPr>
            <a:lvl4pPr>
              <a:defRPr sz="2175" b="1">
                <a:solidFill>
                  <a:srgbClr val="087F82"/>
                </a:solidFill>
                <a:latin typeface="Arial"/>
                <a:ea typeface="Arial"/>
                <a:cs typeface="Arial"/>
              </a:defRPr>
            </a:lvl4pPr>
            <a:lvl5pPr>
              <a:defRPr sz="2175" b="1">
                <a:solidFill>
                  <a:srgbClr val="087F82"/>
                </a:solidFill>
                <a:latin typeface="Arial"/>
                <a:ea typeface="Arial"/>
                <a:cs typeface="Arial"/>
              </a:defRPr>
            </a:lvl5pPr>
            <a:lvl6pPr>
              <a:defRPr sz="2175" b="1">
                <a:solidFill>
                  <a:srgbClr val="087F82"/>
                </a:solidFill>
                <a:latin typeface="Arial"/>
                <a:ea typeface="Arial"/>
                <a:cs typeface="Arial"/>
              </a:defRPr>
            </a:lvl6pPr>
            <a:lvl7pPr>
              <a:defRPr sz="2175" b="1">
                <a:solidFill>
                  <a:srgbClr val="087F82"/>
                </a:solidFill>
                <a:latin typeface="Arial"/>
                <a:ea typeface="Arial"/>
                <a:cs typeface="Arial"/>
              </a:defRPr>
            </a:lvl7pPr>
            <a:lvl8pPr>
              <a:defRPr sz="2175" b="1">
                <a:solidFill>
                  <a:srgbClr val="087F82"/>
                </a:solidFill>
                <a:latin typeface="Arial"/>
                <a:ea typeface="Arial"/>
                <a:cs typeface="Arial"/>
              </a:defRPr>
            </a:lvl8pPr>
            <a:lvl9pPr>
              <a:defRPr sz="2175" b="1">
                <a:solidFill>
                  <a:srgbClr val="087F82"/>
                </a:solidFill>
                <a:latin typeface="Arial"/>
                <a:ea typeface="Arial"/>
                <a:cs typeface="Arial"/>
              </a:defRPr>
            </a:lvl9pPr>
          </a:lstStyle>
          <a:p xmlns:a="http://schemas.openxmlformats.org/drawingml/2006/main">
            <a:pPr>
              <a:defRPr sz="2175" b="1">
                <a:solidFill>
                  <a:srgbClr val="087F82"/>
                </a:solidFill>
                <a:latin typeface="Arial"/>
                <a:ea typeface="Arial"/>
                <a:cs typeface="Arial"/>
              </a:defRPr>
            </a:pPr>
            <a:r>
              <a:rPr sz="2175" b="1">
                <a:solidFill>
                  <a:srgbClr val="087F82"/>
                </a:solidFill>
                <a:latin typeface="Arial"/>
                <a:ea typeface="Arial"/>
                <a:cs typeface="Arial"/>
              </a:rPr>
              <a:t>Selected HOG + RBF SVM: 90.91% accuracy, 0.9090 macro F1</a:t>
            </a:r>
          </a:p>
        </p:txBody>
      </p:sp>
    </p:spTree>
    <p:extLst>
      <p:ext uri="{BB962C8B-B14F-4D97-AF65-F5344CB8AC3E}">
        <p14:creationId xmlns:p14="http://schemas.microsoft.com/office/powerpoint/2010/main" val="1531795208"/>
      </p:ext>
    </p:extLst>
  </p:cSld>
</p:sld>
</file>

<file path=ppt/slides/slide1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FCB8AD2-5206-4005-A102-915716D64A2D}"/>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42F38"/>
                </a:solidFill>
                <a:latin typeface="Arial"/>
                <a:ea typeface="Arial"/>
                <a:cs typeface="Arial"/>
              </a:defRPr>
            </a:defPPr>
            <a:lvl1pPr>
              <a:defRPr sz="3300" b="1">
                <a:solidFill>
                  <a:srgbClr val="142F38"/>
                </a:solidFill>
                <a:latin typeface="Arial"/>
                <a:ea typeface="Arial"/>
                <a:cs typeface="Arial"/>
              </a:defRPr>
            </a:lvl1pPr>
            <a:lvl2pPr>
              <a:defRPr sz="3300" b="1">
                <a:solidFill>
                  <a:srgbClr val="142F38"/>
                </a:solidFill>
                <a:latin typeface="Arial"/>
                <a:ea typeface="Arial"/>
                <a:cs typeface="Arial"/>
              </a:defRPr>
            </a:lvl2pPr>
            <a:lvl3pPr>
              <a:defRPr sz="3300" b="1">
                <a:solidFill>
                  <a:srgbClr val="142F38"/>
                </a:solidFill>
                <a:latin typeface="Arial"/>
                <a:ea typeface="Arial"/>
                <a:cs typeface="Arial"/>
              </a:defRPr>
            </a:lvl3pPr>
            <a:lvl4pPr>
              <a:defRPr sz="3300" b="1">
                <a:solidFill>
                  <a:srgbClr val="142F38"/>
                </a:solidFill>
                <a:latin typeface="Arial"/>
                <a:ea typeface="Arial"/>
                <a:cs typeface="Arial"/>
              </a:defRPr>
            </a:lvl4pPr>
            <a:lvl5pPr>
              <a:defRPr sz="3300" b="1">
                <a:solidFill>
                  <a:srgbClr val="142F38"/>
                </a:solidFill>
                <a:latin typeface="Arial"/>
                <a:ea typeface="Arial"/>
                <a:cs typeface="Arial"/>
              </a:defRPr>
            </a:lvl5pPr>
            <a:lvl6pPr>
              <a:defRPr sz="3300" b="1">
                <a:solidFill>
                  <a:srgbClr val="142F38"/>
                </a:solidFill>
                <a:latin typeface="Arial"/>
                <a:ea typeface="Arial"/>
                <a:cs typeface="Arial"/>
              </a:defRPr>
            </a:lvl6pPr>
            <a:lvl7pPr>
              <a:defRPr sz="3300" b="1">
                <a:solidFill>
                  <a:srgbClr val="142F38"/>
                </a:solidFill>
                <a:latin typeface="Arial"/>
                <a:ea typeface="Arial"/>
                <a:cs typeface="Arial"/>
              </a:defRPr>
            </a:lvl7pPr>
            <a:lvl8pPr>
              <a:defRPr sz="3300" b="1">
                <a:solidFill>
                  <a:srgbClr val="142F38"/>
                </a:solidFill>
                <a:latin typeface="Arial"/>
                <a:ea typeface="Arial"/>
                <a:cs typeface="Arial"/>
              </a:defRPr>
            </a:lvl8pPr>
            <a:lvl9pPr>
              <a:defRPr sz="3300" b="1">
                <a:solidFill>
                  <a:srgbClr val="142F38"/>
                </a:solidFill>
                <a:latin typeface="Arial"/>
                <a:ea typeface="Arial"/>
                <a:cs typeface="Arial"/>
              </a:defRPr>
            </a:lvl9pPr>
          </a:lstStyle>
          <a:p xmlns:a="http://schemas.openxmlformats.org/drawingml/2006/main">
            <a:pPr>
              <a:defRPr sz="3300" b="1">
                <a:solidFill>
                  <a:srgbClr val="142F38"/>
                </a:solidFill>
                <a:latin typeface="Arial"/>
                <a:ea typeface="Arial"/>
                <a:cs typeface="Arial"/>
              </a:defRPr>
            </a:pPr>
            <a:r>
              <a:rPr sz="3300" b="1">
                <a:solidFill>
                  <a:srgbClr val="142F38"/>
                </a:solidFill>
                <a:latin typeface="Arial"/>
                <a:ea typeface="Arial"/>
                <a:cs typeface="Arial"/>
              </a:rPr>
              <a:t>Shirt recall remains the weakest</a:t>
            </a:r>
          </a:p>
        </p:txBody>
      </p:sp>
      <p:sp>
        <p:nvSpPr>
          <p:cNvPr id="3" name="">
            <a:extLst xmlns:a="http://schemas.openxmlformats.org/drawingml/2006/main">
              <a:ext uri="{FF2B5EF4-FFF2-40B4-BE49-F238E27FC236}">
                <a16:creationId xmlns:a16="http://schemas.microsoft.com/office/drawing/2014/main" id="{1835025E-E8D2-40AD-B426-912696DC035D}"/>
              </a:ext>
            </a:extLst>
          </p:cNvPr>
          <p:cNvSpPr>
            <a:spLocks xmlns:a="http://schemas.openxmlformats.org/drawingml/2006/main" noGrp="1"/>
          </p:cNvSpPr>
          <p:nvPr/>
        </p:nvSpPr>
        <p:spPr>
          <a:xfrm xmlns:a="http://schemas.openxmlformats.org/drawingml/2006/main">
            <a:off x="10001250" y="644842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56D"/>
                </a:solidFill>
                <a:latin typeface="Arial"/>
                <a:ea typeface="Arial"/>
                <a:cs typeface="Arial"/>
              </a:defRPr>
            </a:defPPr>
            <a:lvl1pPr>
              <a:defRPr sz="1200" b="0">
                <a:solidFill>
                  <a:srgbClr val="52656D"/>
                </a:solidFill>
                <a:latin typeface="Arial"/>
                <a:ea typeface="Arial"/>
                <a:cs typeface="Arial"/>
              </a:defRPr>
            </a:lvl1pPr>
            <a:lvl2pPr>
              <a:defRPr sz="1200" b="0">
                <a:solidFill>
                  <a:srgbClr val="52656D"/>
                </a:solidFill>
                <a:latin typeface="Arial"/>
                <a:ea typeface="Arial"/>
                <a:cs typeface="Arial"/>
              </a:defRPr>
            </a:lvl2pPr>
            <a:lvl3pPr>
              <a:defRPr sz="1200" b="0">
                <a:solidFill>
                  <a:srgbClr val="52656D"/>
                </a:solidFill>
                <a:latin typeface="Arial"/>
                <a:ea typeface="Arial"/>
                <a:cs typeface="Arial"/>
              </a:defRPr>
            </a:lvl3pPr>
            <a:lvl4pPr>
              <a:defRPr sz="1200" b="0">
                <a:solidFill>
                  <a:srgbClr val="52656D"/>
                </a:solidFill>
                <a:latin typeface="Arial"/>
                <a:ea typeface="Arial"/>
                <a:cs typeface="Arial"/>
              </a:defRPr>
            </a:lvl4pPr>
            <a:lvl5pPr>
              <a:defRPr sz="1200" b="0">
                <a:solidFill>
                  <a:srgbClr val="52656D"/>
                </a:solidFill>
                <a:latin typeface="Arial"/>
                <a:ea typeface="Arial"/>
                <a:cs typeface="Arial"/>
              </a:defRPr>
            </a:lvl5pPr>
            <a:lvl6pPr>
              <a:defRPr sz="1200" b="0">
                <a:solidFill>
                  <a:srgbClr val="52656D"/>
                </a:solidFill>
                <a:latin typeface="Arial"/>
                <a:ea typeface="Arial"/>
                <a:cs typeface="Arial"/>
              </a:defRPr>
            </a:lvl6pPr>
            <a:lvl7pPr>
              <a:defRPr sz="1200" b="0">
                <a:solidFill>
                  <a:srgbClr val="52656D"/>
                </a:solidFill>
                <a:latin typeface="Arial"/>
                <a:ea typeface="Arial"/>
                <a:cs typeface="Arial"/>
              </a:defRPr>
            </a:lvl7pPr>
            <a:lvl8pPr>
              <a:defRPr sz="1200" b="0">
                <a:solidFill>
                  <a:srgbClr val="52656D"/>
                </a:solidFill>
                <a:latin typeface="Arial"/>
                <a:ea typeface="Arial"/>
                <a:cs typeface="Arial"/>
              </a:defRPr>
            </a:lvl8pPr>
            <a:lvl9pPr>
              <a:defRPr sz="1200" b="0">
                <a:solidFill>
                  <a:srgbClr val="52656D"/>
                </a:solidFill>
                <a:latin typeface="Arial"/>
                <a:ea typeface="Arial"/>
                <a:cs typeface="Arial"/>
              </a:defRPr>
            </a:lvl9pPr>
          </a:lstStyle>
          <a:p xmlns:a="http://schemas.openxmlformats.org/drawingml/2006/main">
            <a:pPr>
              <a:defRPr sz="1200" b="0">
                <a:solidFill>
                  <a:srgbClr val="52656D"/>
                </a:solidFill>
                <a:latin typeface="Arial"/>
                <a:ea typeface="Arial"/>
                <a:cs typeface="Arial"/>
              </a:defRPr>
            </a:pPr>
            <a:r>
              <a:rPr sz="1200" b="0">
                <a:solidFill>
                  <a:srgbClr val="52656D"/>
                </a:solidFill>
                <a:latin typeface="Arial"/>
                <a:ea typeface="Arial"/>
                <a:cs typeface="Arial"/>
              </a:rPr>
              <a:t>12</a:t>
            </a:r>
          </a:p>
        </p:txBody>
      </p:sp>
      <p:graphicFrame>
        <p:nvGraphicFramePr>
          <p:cNvPr id="4" name="Chart">
            <a:extLst xmlns:a="http://schemas.openxmlformats.org/drawingml/2006/main">
              <a:ext uri="{FF2B5EF4-FFF2-40B4-BE49-F238E27FC236}">
                <a16:creationId xmlns:a16="http://schemas.microsoft.com/office/drawing/2014/main" id="{C98FEE96-24F5-46B8-B697-4278E519BD1A}"/>
              </a:ext>
            </a:extLst>
          </p:cNvPr>
          <p:cNvGraphicFramePr/>
          <p:nvPr/>
        </p:nvGraphicFramePr>
        <p:xfrm>
          <a:off xmlns:a="http://schemas.openxmlformats.org/drawingml/2006/main" x="571500" y="1371600"/>
          <a:ext xmlns:a="http://schemas.openxmlformats.org/drawingml/2006/main" cx="10953750" cy="4333875"/>
        </p:xfrm>
        <a:graphic xmlns:a="http://schemas.openxmlformats.org/drawingml/2006/main">
          <a:graphicData uri="http://schemas.openxmlformats.org/drawingml/2006/chart">
            <c:chart xmlns:r="http://schemas.openxmlformats.org/officeDocument/2006/relationships" xmlns:c="http://schemas.openxmlformats.org/drawingml/2006/chart" r:id="Rad0bbbd1049f4480"/>
          </a:graphicData>
        </a:graphic>
      </p:graphicFrame>
      <p:sp>
        <p:nvSpPr>
          <p:cNvPr id="5" name="">
            <a:extLst xmlns:a="http://schemas.openxmlformats.org/drawingml/2006/main">
              <a:ext uri="{FF2B5EF4-FFF2-40B4-BE49-F238E27FC236}">
                <a16:creationId xmlns:a16="http://schemas.microsoft.com/office/drawing/2014/main" id="{D4046746-C692-48E9-A897-923B91353B23}"/>
              </a:ext>
            </a:extLst>
          </p:cNvPr>
          <p:cNvSpPr>
            <a:spLocks xmlns:a="http://schemas.openxmlformats.org/drawingml/2006/main" noGrp="1"/>
          </p:cNvSpPr>
          <p:nvPr/>
        </p:nvSpPr>
        <p:spPr>
          <a:xfrm xmlns:a="http://schemas.openxmlformats.org/drawingml/2006/main">
            <a:off x="647700" y="5953125"/>
            <a:ext cx="1066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52656D"/>
                </a:solidFill>
                <a:latin typeface="Arial"/>
                <a:ea typeface="Arial"/>
                <a:cs typeface="Arial"/>
              </a:defRPr>
            </a:defPPr>
            <a:lvl1pPr>
              <a:defRPr sz="1725" b="0">
                <a:solidFill>
                  <a:srgbClr val="52656D"/>
                </a:solidFill>
                <a:latin typeface="Arial"/>
                <a:ea typeface="Arial"/>
                <a:cs typeface="Arial"/>
              </a:defRPr>
            </a:lvl1pPr>
            <a:lvl2pPr>
              <a:defRPr sz="1725" b="0">
                <a:solidFill>
                  <a:srgbClr val="52656D"/>
                </a:solidFill>
                <a:latin typeface="Arial"/>
                <a:ea typeface="Arial"/>
                <a:cs typeface="Arial"/>
              </a:defRPr>
            </a:lvl2pPr>
            <a:lvl3pPr>
              <a:defRPr sz="1725" b="0">
                <a:solidFill>
                  <a:srgbClr val="52656D"/>
                </a:solidFill>
                <a:latin typeface="Arial"/>
                <a:ea typeface="Arial"/>
                <a:cs typeface="Arial"/>
              </a:defRPr>
            </a:lvl3pPr>
            <a:lvl4pPr>
              <a:defRPr sz="1725" b="0">
                <a:solidFill>
                  <a:srgbClr val="52656D"/>
                </a:solidFill>
                <a:latin typeface="Arial"/>
                <a:ea typeface="Arial"/>
                <a:cs typeface="Arial"/>
              </a:defRPr>
            </a:lvl4pPr>
            <a:lvl5pPr>
              <a:defRPr sz="1725" b="0">
                <a:solidFill>
                  <a:srgbClr val="52656D"/>
                </a:solidFill>
                <a:latin typeface="Arial"/>
                <a:ea typeface="Arial"/>
                <a:cs typeface="Arial"/>
              </a:defRPr>
            </a:lvl5pPr>
            <a:lvl6pPr>
              <a:defRPr sz="1725" b="0">
                <a:solidFill>
                  <a:srgbClr val="52656D"/>
                </a:solidFill>
                <a:latin typeface="Arial"/>
                <a:ea typeface="Arial"/>
                <a:cs typeface="Arial"/>
              </a:defRPr>
            </a:lvl6pPr>
            <a:lvl7pPr>
              <a:defRPr sz="1725" b="0">
                <a:solidFill>
                  <a:srgbClr val="52656D"/>
                </a:solidFill>
                <a:latin typeface="Arial"/>
                <a:ea typeface="Arial"/>
                <a:cs typeface="Arial"/>
              </a:defRPr>
            </a:lvl7pPr>
            <a:lvl8pPr>
              <a:defRPr sz="1725" b="0">
                <a:solidFill>
                  <a:srgbClr val="52656D"/>
                </a:solidFill>
                <a:latin typeface="Arial"/>
                <a:ea typeface="Arial"/>
                <a:cs typeface="Arial"/>
              </a:defRPr>
            </a:lvl8pPr>
            <a:lvl9pPr>
              <a:defRPr sz="1725" b="0">
                <a:solidFill>
                  <a:srgbClr val="52656D"/>
                </a:solidFill>
                <a:latin typeface="Arial"/>
                <a:ea typeface="Arial"/>
                <a:cs typeface="Arial"/>
              </a:defRPr>
            </a:lvl9pPr>
          </a:lstStyle>
          <a:p xmlns:a="http://schemas.openxmlformats.org/drawingml/2006/main">
            <a:pPr>
              <a:defRPr sz="1725" b="0">
                <a:solidFill>
                  <a:srgbClr val="52656D"/>
                </a:solidFill>
                <a:latin typeface="Arial"/>
                <a:ea typeface="Arial"/>
                <a:cs typeface="Arial"/>
              </a:defRPr>
            </a:pPr>
            <a:r>
              <a:rPr sz="1725" b="0">
                <a:solidFill>
                  <a:srgbClr val="52656D"/>
                </a:solidFill>
                <a:latin typeface="Arial"/>
                <a:ea typeface="Arial"/>
                <a:cs typeface="Arial"/>
              </a:rPr>
              <a:t>Selected model. Official test: 1,000 images per category.</a:t>
            </a:r>
          </a:p>
        </p:txBody>
      </p:sp>
    </p:spTree>
    <p:extLst>
      <p:ext uri="{BB962C8B-B14F-4D97-AF65-F5344CB8AC3E}">
        <p14:creationId xmlns:p14="http://schemas.microsoft.com/office/powerpoint/2010/main" val="113147126"/>
      </p:ext>
    </p:extLst>
  </p:cSld>
</p:sld>
</file>

<file path=ppt/slides/slide1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BD0FE19-0D4B-4BA7-A036-3B68B2AE4AFD}"/>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42F38"/>
                </a:solidFill>
                <a:latin typeface="Arial"/>
                <a:ea typeface="Arial"/>
                <a:cs typeface="Arial"/>
              </a:defRPr>
            </a:defPPr>
            <a:lvl1pPr>
              <a:defRPr sz="3300" b="1">
                <a:solidFill>
                  <a:srgbClr val="142F38"/>
                </a:solidFill>
                <a:latin typeface="Arial"/>
                <a:ea typeface="Arial"/>
                <a:cs typeface="Arial"/>
              </a:defRPr>
            </a:lvl1pPr>
            <a:lvl2pPr>
              <a:defRPr sz="3300" b="1">
                <a:solidFill>
                  <a:srgbClr val="142F38"/>
                </a:solidFill>
                <a:latin typeface="Arial"/>
                <a:ea typeface="Arial"/>
                <a:cs typeface="Arial"/>
              </a:defRPr>
            </a:lvl2pPr>
            <a:lvl3pPr>
              <a:defRPr sz="3300" b="1">
                <a:solidFill>
                  <a:srgbClr val="142F38"/>
                </a:solidFill>
                <a:latin typeface="Arial"/>
                <a:ea typeface="Arial"/>
                <a:cs typeface="Arial"/>
              </a:defRPr>
            </a:lvl3pPr>
            <a:lvl4pPr>
              <a:defRPr sz="3300" b="1">
                <a:solidFill>
                  <a:srgbClr val="142F38"/>
                </a:solidFill>
                <a:latin typeface="Arial"/>
                <a:ea typeface="Arial"/>
                <a:cs typeface="Arial"/>
              </a:defRPr>
            </a:lvl4pPr>
            <a:lvl5pPr>
              <a:defRPr sz="3300" b="1">
                <a:solidFill>
                  <a:srgbClr val="142F38"/>
                </a:solidFill>
                <a:latin typeface="Arial"/>
                <a:ea typeface="Arial"/>
                <a:cs typeface="Arial"/>
              </a:defRPr>
            </a:lvl5pPr>
            <a:lvl6pPr>
              <a:defRPr sz="3300" b="1">
                <a:solidFill>
                  <a:srgbClr val="142F38"/>
                </a:solidFill>
                <a:latin typeface="Arial"/>
                <a:ea typeface="Arial"/>
                <a:cs typeface="Arial"/>
              </a:defRPr>
            </a:lvl6pPr>
            <a:lvl7pPr>
              <a:defRPr sz="3300" b="1">
                <a:solidFill>
                  <a:srgbClr val="142F38"/>
                </a:solidFill>
                <a:latin typeface="Arial"/>
                <a:ea typeface="Arial"/>
                <a:cs typeface="Arial"/>
              </a:defRPr>
            </a:lvl7pPr>
            <a:lvl8pPr>
              <a:defRPr sz="3300" b="1">
                <a:solidFill>
                  <a:srgbClr val="142F38"/>
                </a:solidFill>
                <a:latin typeface="Arial"/>
                <a:ea typeface="Arial"/>
                <a:cs typeface="Arial"/>
              </a:defRPr>
            </a:lvl8pPr>
            <a:lvl9pPr>
              <a:defRPr sz="3300" b="1">
                <a:solidFill>
                  <a:srgbClr val="142F38"/>
                </a:solidFill>
                <a:latin typeface="Arial"/>
                <a:ea typeface="Arial"/>
                <a:cs typeface="Arial"/>
              </a:defRPr>
            </a:lvl9pPr>
          </a:lstStyle>
          <a:p xmlns:a="http://schemas.openxmlformats.org/drawingml/2006/main">
            <a:pPr>
              <a:defRPr sz="3300" b="1">
                <a:solidFill>
                  <a:srgbClr val="142F38"/>
                </a:solidFill>
                <a:latin typeface="Arial"/>
                <a:ea typeface="Arial"/>
                <a:cs typeface="Arial"/>
              </a:defRPr>
            </a:pPr>
            <a:r>
              <a:rPr sz="3300" b="1">
                <a:solidFill>
                  <a:srgbClr val="142F38"/>
                </a:solidFill>
                <a:latin typeface="Arial"/>
                <a:ea typeface="Arial"/>
                <a:cs typeface="Arial"/>
              </a:rPr>
              <a:t>Confusion among upper-body categories</a:t>
            </a:r>
          </a:p>
        </p:txBody>
      </p:sp>
      <p:sp>
        <p:nvSpPr>
          <p:cNvPr id="3" name="">
            <a:extLst xmlns:a="http://schemas.openxmlformats.org/drawingml/2006/main">
              <a:ext uri="{FF2B5EF4-FFF2-40B4-BE49-F238E27FC236}">
                <a16:creationId xmlns:a16="http://schemas.microsoft.com/office/drawing/2014/main" id="{20FE93F0-CDF0-4C3C-B3FC-74DC455AFBE2}"/>
              </a:ext>
            </a:extLst>
          </p:cNvPr>
          <p:cNvSpPr>
            <a:spLocks xmlns:a="http://schemas.openxmlformats.org/drawingml/2006/main" noGrp="1"/>
          </p:cNvSpPr>
          <p:nvPr/>
        </p:nvSpPr>
        <p:spPr>
          <a:xfrm xmlns:a="http://schemas.openxmlformats.org/drawingml/2006/main">
            <a:off x="10001250" y="644842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56D"/>
                </a:solidFill>
                <a:latin typeface="Arial"/>
                <a:ea typeface="Arial"/>
                <a:cs typeface="Arial"/>
              </a:defRPr>
            </a:defPPr>
            <a:lvl1pPr>
              <a:defRPr sz="1200" b="0">
                <a:solidFill>
                  <a:srgbClr val="52656D"/>
                </a:solidFill>
                <a:latin typeface="Arial"/>
                <a:ea typeface="Arial"/>
                <a:cs typeface="Arial"/>
              </a:defRPr>
            </a:lvl1pPr>
            <a:lvl2pPr>
              <a:defRPr sz="1200" b="0">
                <a:solidFill>
                  <a:srgbClr val="52656D"/>
                </a:solidFill>
                <a:latin typeface="Arial"/>
                <a:ea typeface="Arial"/>
                <a:cs typeface="Arial"/>
              </a:defRPr>
            </a:lvl2pPr>
            <a:lvl3pPr>
              <a:defRPr sz="1200" b="0">
                <a:solidFill>
                  <a:srgbClr val="52656D"/>
                </a:solidFill>
                <a:latin typeface="Arial"/>
                <a:ea typeface="Arial"/>
                <a:cs typeface="Arial"/>
              </a:defRPr>
            </a:lvl3pPr>
            <a:lvl4pPr>
              <a:defRPr sz="1200" b="0">
                <a:solidFill>
                  <a:srgbClr val="52656D"/>
                </a:solidFill>
                <a:latin typeface="Arial"/>
                <a:ea typeface="Arial"/>
                <a:cs typeface="Arial"/>
              </a:defRPr>
            </a:lvl4pPr>
            <a:lvl5pPr>
              <a:defRPr sz="1200" b="0">
                <a:solidFill>
                  <a:srgbClr val="52656D"/>
                </a:solidFill>
                <a:latin typeface="Arial"/>
                <a:ea typeface="Arial"/>
                <a:cs typeface="Arial"/>
              </a:defRPr>
            </a:lvl5pPr>
            <a:lvl6pPr>
              <a:defRPr sz="1200" b="0">
                <a:solidFill>
                  <a:srgbClr val="52656D"/>
                </a:solidFill>
                <a:latin typeface="Arial"/>
                <a:ea typeface="Arial"/>
                <a:cs typeface="Arial"/>
              </a:defRPr>
            </a:lvl6pPr>
            <a:lvl7pPr>
              <a:defRPr sz="1200" b="0">
                <a:solidFill>
                  <a:srgbClr val="52656D"/>
                </a:solidFill>
                <a:latin typeface="Arial"/>
                <a:ea typeface="Arial"/>
                <a:cs typeface="Arial"/>
              </a:defRPr>
            </a:lvl7pPr>
            <a:lvl8pPr>
              <a:defRPr sz="1200" b="0">
                <a:solidFill>
                  <a:srgbClr val="52656D"/>
                </a:solidFill>
                <a:latin typeface="Arial"/>
                <a:ea typeface="Arial"/>
                <a:cs typeface="Arial"/>
              </a:defRPr>
            </a:lvl8pPr>
            <a:lvl9pPr>
              <a:defRPr sz="1200" b="0">
                <a:solidFill>
                  <a:srgbClr val="52656D"/>
                </a:solidFill>
                <a:latin typeface="Arial"/>
                <a:ea typeface="Arial"/>
                <a:cs typeface="Arial"/>
              </a:defRPr>
            </a:lvl9pPr>
          </a:lstStyle>
          <a:p xmlns:a="http://schemas.openxmlformats.org/drawingml/2006/main">
            <a:pPr>
              <a:defRPr sz="1200" b="0">
                <a:solidFill>
                  <a:srgbClr val="52656D"/>
                </a:solidFill>
                <a:latin typeface="Arial"/>
                <a:ea typeface="Arial"/>
                <a:cs typeface="Arial"/>
              </a:defRPr>
            </a:pPr>
            <a:r>
              <a:rPr sz="1200" b="0">
                <a:solidFill>
                  <a:srgbClr val="52656D"/>
                </a:solidFill>
                <a:latin typeface="Arial"/>
                <a:ea typeface="Arial"/>
                <a:cs typeface="Arial"/>
              </a:rPr>
              <a:t>13</a:t>
            </a:r>
          </a:p>
        </p:txBody>
      </p:sp>
      <p:graphicFrame>
        <p:nvGraphicFramePr>
          <p:cNvPr id="4" name="">
            <a:extLst xmlns:a="http://schemas.openxmlformats.org/drawingml/2006/main">
              <a:ext uri="{FF2B5EF4-FFF2-40B4-BE49-F238E27FC236}">
                <a16:creationId xmlns:a16="http://schemas.microsoft.com/office/drawing/2014/main" id="{3E71F099-7162-414F-87AD-EB3AA4AFFD72}"/>
              </a:ext>
            </a:extLst>
          </p:cNvPr>
          <p:cNvGraphicFramePr/>
          <p:nvPr/>
        </p:nvGraphicFramePr>
        <p:xfrm>
          <a:off xmlns:a="http://schemas.openxmlformats.org/drawingml/2006/main" x="647700" y="1571625"/>
          <a:ext xmlns:a="http://schemas.openxmlformats.org/drawingml/2006/main" cx="10896600" cy="3219450"/>
        </p:xfrm>
        <a:graphic xmlns:a="http://schemas.openxmlformats.org/drawingml/2006/main">
          <a:graphicData uri="http://schemas.openxmlformats.org/drawingml/2006/table">
            <a:tbl>
              <a:tblPr/>
              <a:tblGrid>
                <a:gridCol w="2857500"/>
                <a:gridCol w="1695450"/>
                <a:gridCol w="1581150"/>
                <a:gridCol w="1581150"/>
                <a:gridCol w="1581150"/>
                <a:gridCol w="1600200"/>
              </a:tblGrid>
              <a:tr h="643890">
                <a:tc>
                  <a:txBody>
                    <a:bodyPr/>
                    <a:lstStyle/>
                    <a:p>
                      <a:r>
                        <a:rPr sz="1950" b="1">
                          <a:solidFill>
                            <a:srgbClr val="FFFFFF"/>
                          </a:solidFill>
                          <a:latin typeface="Arial"/>
                          <a:ea typeface="Arial"/>
                          <a:cs typeface="Arial"/>
                        </a:rPr>
                        <a:t>Actual / predicted</a:t>
                      </a:r>
                    </a:p>
                  </a:txBody>
                  <a:tcPr marL="95250" marR="95250" marT="85725" marB="57150" anchor="ctr">
                    <a:lnL w="6668">
                      <a:solidFill>
                        <a:srgbClr val="D9DFDF"/>
                      </a:solidFill>
                      <a:prstDash val="solid"/>
                    </a:lnL>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c>
                  <a:txBody>
                    <a:bodyPr/>
                    <a:lstStyle/>
                    <a:p>
                      <a:r>
                        <a:rPr sz="1950" b="1">
                          <a:solidFill>
                            <a:srgbClr val="FFFFFF"/>
                          </a:solidFill>
                          <a:latin typeface="Arial"/>
                          <a:ea typeface="Arial"/>
                          <a:cs typeface="Arial"/>
                        </a:rPr>
                        <a:t>T-shirt/top</a:t>
                      </a:r>
                    </a:p>
                  </a:txBody>
                  <a:tcPr marL="95250" marR="95250" marT="85725" marB="57150" anchor="ctr">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c>
                  <a:txBody>
                    <a:bodyPr/>
                    <a:lstStyle/>
                    <a:p>
                      <a:r>
                        <a:rPr sz="1950" b="1">
                          <a:solidFill>
                            <a:srgbClr val="FFFFFF"/>
                          </a:solidFill>
                          <a:latin typeface="Arial"/>
                          <a:ea typeface="Arial"/>
                          <a:cs typeface="Arial"/>
                        </a:rPr>
                        <a:t>Pullover</a:t>
                      </a:r>
                    </a:p>
                  </a:txBody>
                  <a:tcPr marL="95250" marR="95250" marT="85725" marB="57150" anchor="ctr">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c>
                  <a:txBody>
                    <a:bodyPr/>
                    <a:lstStyle/>
                    <a:p>
                      <a:r>
                        <a:rPr sz="1950" b="1">
                          <a:solidFill>
                            <a:srgbClr val="FFFFFF"/>
                          </a:solidFill>
                          <a:latin typeface="Arial"/>
                          <a:ea typeface="Arial"/>
                          <a:cs typeface="Arial"/>
                        </a:rPr>
                        <a:t>Coat</a:t>
                      </a:r>
                    </a:p>
                  </a:txBody>
                  <a:tcPr marL="95250" marR="95250" marT="85725" marB="57150" anchor="ctr">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c>
                  <a:txBody>
                    <a:bodyPr/>
                    <a:lstStyle/>
                    <a:p>
                      <a:r>
                        <a:rPr sz="1950" b="1">
                          <a:solidFill>
                            <a:srgbClr val="FFFFFF"/>
                          </a:solidFill>
                          <a:latin typeface="Arial"/>
                          <a:ea typeface="Arial"/>
                          <a:cs typeface="Arial"/>
                        </a:rPr>
                        <a:t>Shirt</a:t>
                      </a:r>
                    </a:p>
                  </a:txBody>
                  <a:tcPr marL="95250" marR="95250" marT="85725" marB="57150" anchor="ctr">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c>
                  <a:txBody>
                    <a:bodyPr/>
                    <a:lstStyle/>
                    <a:p>
                      <a:r>
                        <a:rPr sz="1950" b="1">
                          <a:solidFill>
                            <a:srgbClr val="FFFFFF"/>
                          </a:solidFill>
                          <a:latin typeface="Arial"/>
                          <a:ea typeface="Arial"/>
                          <a:cs typeface="Arial"/>
                        </a:rPr>
                        <a:t>Other</a:t>
                      </a:r>
                    </a:p>
                  </a:txBody>
                  <a:tcPr marL="95250" marR="95250" marT="85725" marB="57150" anchor="ctr">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r>
              <a:tr h="643890">
                <a:tc>
                  <a:txBody>
                    <a:bodyPr/>
                    <a:lstStyle/>
                    <a:p>
                      <a:r>
                        <a:rPr sz="1950">
                          <a:solidFill>
                            <a:srgbClr val="142F38"/>
                          </a:solidFill>
                          <a:latin typeface="Arial"/>
                          <a:ea typeface="Arial"/>
                          <a:cs typeface="Arial"/>
                        </a:rPr>
                        <a:t>T-shirt/top</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950">
                          <a:solidFill>
                            <a:srgbClr val="142F38"/>
                          </a:solidFill>
                          <a:latin typeface="Arial"/>
                          <a:ea typeface="Arial"/>
                          <a:cs typeface="Arial"/>
                        </a:rPr>
                        <a:t>857</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950">
                          <a:solidFill>
                            <a:srgbClr val="142F38"/>
                          </a:solidFill>
                          <a:latin typeface="Arial"/>
                          <a:ea typeface="Arial"/>
                          <a:cs typeface="Arial"/>
                        </a:rPr>
                        <a:t>14</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950">
                          <a:solidFill>
                            <a:srgbClr val="142F38"/>
                          </a:solidFill>
                          <a:latin typeface="Arial"/>
                          <a:ea typeface="Arial"/>
                          <a:cs typeface="Arial"/>
                        </a:rPr>
                        <a:t>4</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950">
                          <a:solidFill>
                            <a:srgbClr val="142F38"/>
                          </a:solidFill>
                          <a:latin typeface="Arial"/>
                          <a:ea typeface="Arial"/>
                          <a:cs typeface="Arial"/>
                        </a:rPr>
                        <a:t>104</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950">
                          <a:solidFill>
                            <a:srgbClr val="142F38"/>
                          </a:solidFill>
                          <a:latin typeface="Arial"/>
                          <a:ea typeface="Arial"/>
                          <a:cs typeface="Arial"/>
                        </a:rPr>
                        <a:t>21</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643890">
                <a:tc>
                  <a:txBody>
                    <a:bodyPr/>
                    <a:lstStyle/>
                    <a:p>
                      <a:r>
                        <a:rPr sz="1950">
                          <a:solidFill>
                            <a:srgbClr val="142F38"/>
                          </a:solidFill>
                          <a:latin typeface="Arial"/>
                          <a:ea typeface="Arial"/>
                          <a:cs typeface="Arial"/>
                        </a:rPr>
                        <a:t>Pullover</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950">
                          <a:solidFill>
                            <a:srgbClr val="142F38"/>
                          </a:solidFill>
                          <a:latin typeface="Arial"/>
                          <a:ea typeface="Arial"/>
                          <a:cs typeface="Arial"/>
                        </a:rPr>
                        <a:t>12</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950">
                          <a:solidFill>
                            <a:srgbClr val="142F38"/>
                          </a:solidFill>
                          <a:latin typeface="Arial"/>
                          <a:ea typeface="Arial"/>
                          <a:cs typeface="Arial"/>
                        </a:rPr>
                        <a:t>862</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950">
                          <a:solidFill>
                            <a:srgbClr val="142F38"/>
                          </a:solidFill>
                          <a:latin typeface="Arial"/>
                          <a:ea typeface="Arial"/>
                          <a:cs typeface="Arial"/>
                        </a:rPr>
                        <a:t>57</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950">
                          <a:solidFill>
                            <a:srgbClr val="142F38"/>
                          </a:solidFill>
                          <a:latin typeface="Arial"/>
                          <a:ea typeface="Arial"/>
                          <a:cs typeface="Arial"/>
                        </a:rPr>
                        <a:t>59</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950">
                          <a:solidFill>
                            <a:srgbClr val="142F38"/>
                          </a:solidFill>
                          <a:latin typeface="Arial"/>
                          <a:ea typeface="Arial"/>
                          <a:cs typeface="Arial"/>
                        </a:rPr>
                        <a:t>10</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643890">
                <a:tc>
                  <a:txBody>
                    <a:bodyPr/>
                    <a:lstStyle/>
                    <a:p>
                      <a:r>
                        <a:rPr sz="1950">
                          <a:solidFill>
                            <a:srgbClr val="142F38"/>
                          </a:solidFill>
                          <a:latin typeface="Arial"/>
                          <a:ea typeface="Arial"/>
                          <a:cs typeface="Arial"/>
                        </a:rPr>
                        <a:t>Coat</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950">
                          <a:solidFill>
                            <a:srgbClr val="142F38"/>
                          </a:solidFill>
                          <a:latin typeface="Arial"/>
                          <a:ea typeface="Arial"/>
                          <a:cs typeface="Arial"/>
                        </a:rPr>
                        <a:t>3</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950">
                          <a:solidFill>
                            <a:srgbClr val="142F38"/>
                          </a:solidFill>
                          <a:latin typeface="Arial"/>
                          <a:ea typeface="Arial"/>
                          <a:cs typeface="Arial"/>
                        </a:rPr>
                        <a:t>51</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950">
                          <a:solidFill>
                            <a:srgbClr val="142F38"/>
                          </a:solidFill>
                          <a:latin typeface="Arial"/>
                          <a:ea typeface="Arial"/>
                          <a:cs typeface="Arial"/>
                        </a:rPr>
                        <a:t>864</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950">
                          <a:solidFill>
                            <a:srgbClr val="142F38"/>
                          </a:solidFill>
                          <a:latin typeface="Arial"/>
                          <a:ea typeface="Arial"/>
                          <a:cs typeface="Arial"/>
                        </a:rPr>
                        <a:t>42</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950">
                          <a:solidFill>
                            <a:srgbClr val="142F38"/>
                          </a:solidFill>
                          <a:latin typeface="Arial"/>
                          <a:ea typeface="Arial"/>
                          <a:cs typeface="Arial"/>
                        </a:rPr>
                        <a:t>40</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643890">
                <a:tc>
                  <a:txBody>
                    <a:bodyPr/>
                    <a:lstStyle/>
                    <a:p>
                      <a:r>
                        <a:rPr sz="1950">
                          <a:solidFill>
                            <a:srgbClr val="142F38"/>
                          </a:solidFill>
                          <a:latin typeface="Arial"/>
                          <a:ea typeface="Arial"/>
                          <a:cs typeface="Arial"/>
                        </a:rPr>
                        <a:t>Shirt</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950">
                          <a:solidFill>
                            <a:srgbClr val="142F38"/>
                          </a:solidFill>
                          <a:latin typeface="Arial"/>
                          <a:ea typeface="Arial"/>
                          <a:cs typeface="Arial"/>
                        </a:rPr>
                        <a:t>103</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950">
                          <a:solidFill>
                            <a:srgbClr val="142F38"/>
                          </a:solidFill>
                          <a:latin typeface="Arial"/>
                          <a:ea typeface="Arial"/>
                          <a:cs typeface="Arial"/>
                        </a:rPr>
                        <a:t>63</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950">
                          <a:solidFill>
                            <a:srgbClr val="142F38"/>
                          </a:solidFill>
                          <a:latin typeface="Arial"/>
                          <a:ea typeface="Arial"/>
                          <a:cs typeface="Arial"/>
                        </a:rPr>
                        <a:t>64</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950">
                          <a:solidFill>
                            <a:srgbClr val="142F38"/>
                          </a:solidFill>
                          <a:latin typeface="Arial"/>
                          <a:ea typeface="Arial"/>
                          <a:cs typeface="Arial"/>
                        </a:rPr>
                        <a:t>733</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950">
                          <a:solidFill>
                            <a:srgbClr val="142F38"/>
                          </a:solidFill>
                          <a:latin typeface="Arial"/>
                          <a:ea typeface="Arial"/>
                          <a:cs typeface="Arial"/>
                        </a:rPr>
                        <a:t>37</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bl>
          </a:graphicData>
        </a:graphic>
      </p:graphicFrame>
      <p:sp>
        <p:nvSpPr>
          <p:cNvPr id="5" name="">
            <a:extLst xmlns:a="http://schemas.openxmlformats.org/drawingml/2006/main">
              <a:ext uri="{FF2B5EF4-FFF2-40B4-BE49-F238E27FC236}">
                <a16:creationId xmlns:a16="http://schemas.microsoft.com/office/drawing/2014/main" id="{EF6E78C4-FF74-4B2C-B554-6A4B8FD5298F}"/>
              </a:ext>
            </a:extLst>
          </p:cNvPr>
          <p:cNvSpPr>
            <a:spLocks xmlns:a="http://schemas.openxmlformats.org/drawingml/2006/main" noGrp="1"/>
          </p:cNvSpPr>
          <p:nvPr/>
        </p:nvSpPr>
        <p:spPr>
          <a:xfrm xmlns:a="http://schemas.openxmlformats.org/drawingml/2006/main">
            <a:off x="647700" y="519112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1">
                <a:solidFill>
                  <a:srgbClr val="087F82"/>
                </a:solidFill>
                <a:latin typeface="Arial"/>
                <a:ea typeface="Arial"/>
                <a:cs typeface="Arial"/>
              </a:defRPr>
            </a:defPPr>
            <a:lvl1pPr>
              <a:defRPr sz="1950" b="1">
                <a:solidFill>
                  <a:srgbClr val="087F82"/>
                </a:solidFill>
                <a:latin typeface="Arial"/>
                <a:ea typeface="Arial"/>
                <a:cs typeface="Arial"/>
              </a:defRPr>
            </a:lvl1pPr>
            <a:lvl2pPr>
              <a:defRPr sz="1950" b="1">
                <a:solidFill>
                  <a:srgbClr val="087F82"/>
                </a:solidFill>
                <a:latin typeface="Arial"/>
                <a:ea typeface="Arial"/>
                <a:cs typeface="Arial"/>
              </a:defRPr>
            </a:lvl2pPr>
            <a:lvl3pPr>
              <a:defRPr sz="1950" b="1">
                <a:solidFill>
                  <a:srgbClr val="087F82"/>
                </a:solidFill>
                <a:latin typeface="Arial"/>
                <a:ea typeface="Arial"/>
                <a:cs typeface="Arial"/>
              </a:defRPr>
            </a:lvl3pPr>
            <a:lvl4pPr>
              <a:defRPr sz="1950" b="1">
                <a:solidFill>
                  <a:srgbClr val="087F82"/>
                </a:solidFill>
                <a:latin typeface="Arial"/>
                <a:ea typeface="Arial"/>
                <a:cs typeface="Arial"/>
              </a:defRPr>
            </a:lvl4pPr>
            <a:lvl5pPr>
              <a:defRPr sz="1950" b="1">
                <a:solidFill>
                  <a:srgbClr val="087F82"/>
                </a:solidFill>
                <a:latin typeface="Arial"/>
                <a:ea typeface="Arial"/>
                <a:cs typeface="Arial"/>
              </a:defRPr>
            </a:lvl5pPr>
            <a:lvl6pPr>
              <a:defRPr sz="1950" b="1">
                <a:solidFill>
                  <a:srgbClr val="087F82"/>
                </a:solidFill>
                <a:latin typeface="Arial"/>
                <a:ea typeface="Arial"/>
                <a:cs typeface="Arial"/>
              </a:defRPr>
            </a:lvl6pPr>
            <a:lvl7pPr>
              <a:defRPr sz="1950" b="1">
                <a:solidFill>
                  <a:srgbClr val="087F82"/>
                </a:solidFill>
                <a:latin typeface="Arial"/>
                <a:ea typeface="Arial"/>
                <a:cs typeface="Arial"/>
              </a:defRPr>
            </a:lvl7pPr>
            <a:lvl8pPr>
              <a:defRPr sz="1950" b="1">
                <a:solidFill>
                  <a:srgbClr val="087F82"/>
                </a:solidFill>
                <a:latin typeface="Arial"/>
                <a:ea typeface="Arial"/>
                <a:cs typeface="Arial"/>
              </a:defRPr>
            </a:lvl8pPr>
            <a:lvl9pPr>
              <a:defRPr sz="1950" b="1">
                <a:solidFill>
                  <a:srgbClr val="087F82"/>
                </a:solidFill>
                <a:latin typeface="Arial"/>
                <a:ea typeface="Arial"/>
                <a:cs typeface="Arial"/>
              </a:defRPr>
            </a:lvl9pPr>
          </a:lstStyle>
          <a:p xmlns:a="http://schemas.openxmlformats.org/drawingml/2006/main">
            <a:pPr>
              <a:defRPr sz="1950" b="1">
                <a:solidFill>
                  <a:srgbClr val="087F82"/>
                </a:solidFill>
                <a:latin typeface="Arial"/>
                <a:ea typeface="Arial"/>
                <a:cs typeface="Arial"/>
              </a:defRPr>
            </a:pPr>
            <a:r>
              <a:rPr sz="1950" b="1">
                <a:solidFill>
                  <a:srgbClr val="087F82"/>
                </a:solidFill>
                <a:latin typeface="Arial"/>
                <a:ea typeface="Arial"/>
                <a:cs typeface="Arial"/>
              </a:rPr>
              <a:t>Rows: true labels. Columns: predictions. Each row totals 1,000.</a:t>
            </a:r>
          </a:p>
        </p:txBody>
      </p:sp>
      <p:sp>
        <p:nvSpPr>
          <p:cNvPr id="6" name="">
            <a:extLst xmlns:a="http://schemas.openxmlformats.org/drawingml/2006/main">
              <a:ext uri="{FF2B5EF4-FFF2-40B4-BE49-F238E27FC236}">
                <a16:creationId xmlns:a16="http://schemas.microsoft.com/office/drawing/2014/main" id="{64ABE35D-BD21-4981-89A1-A5C7DD8C7C6B}"/>
              </a:ext>
            </a:extLst>
          </p:cNvPr>
          <p:cNvSpPr>
            <a:spLocks xmlns:a="http://schemas.openxmlformats.org/drawingml/2006/main" noGrp="1"/>
          </p:cNvSpPr>
          <p:nvPr/>
        </p:nvSpPr>
        <p:spPr>
          <a:xfrm xmlns:a="http://schemas.openxmlformats.org/drawingml/2006/main">
            <a:off x="647700" y="5743575"/>
            <a:ext cx="1081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56D"/>
                </a:solidFill>
                <a:latin typeface="Arial"/>
                <a:ea typeface="Arial"/>
                <a:cs typeface="Arial"/>
              </a:defRPr>
            </a:defPPr>
            <a:lvl1pPr>
              <a:defRPr sz="1800" b="0">
                <a:solidFill>
                  <a:srgbClr val="52656D"/>
                </a:solidFill>
                <a:latin typeface="Arial"/>
                <a:ea typeface="Arial"/>
                <a:cs typeface="Arial"/>
              </a:defRPr>
            </a:lvl1pPr>
            <a:lvl2pPr>
              <a:defRPr sz="1800" b="0">
                <a:solidFill>
                  <a:srgbClr val="52656D"/>
                </a:solidFill>
                <a:latin typeface="Arial"/>
                <a:ea typeface="Arial"/>
                <a:cs typeface="Arial"/>
              </a:defRPr>
            </a:lvl2pPr>
            <a:lvl3pPr>
              <a:defRPr sz="1800" b="0">
                <a:solidFill>
                  <a:srgbClr val="52656D"/>
                </a:solidFill>
                <a:latin typeface="Arial"/>
                <a:ea typeface="Arial"/>
                <a:cs typeface="Arial"/>
              </a:defRPr>
            </a:lvl3pPr>
            <a:lvl4pPr>
              <a:defRPr sz="1800" b="0">
                <a:solidFill>
                  <a:srgbClr val="52656D"/>
                </a:solidFill>
                <a:latin typeface="Arial"/>
                <a:ea typeface="Arial"/>
                <a:cs typeface="Arial"/>
              </a:defRPr>
            </a:lvl4pPr>
            <a:lvl5pPr>
              <a:defRPr sz="1800" b="0">
                <a:solidFill>
                  <a:srgbClr val="52656D"/>
                </a:solidFill>
                <a:latin typeface="Arial"/>
                <a:ea typeface="Arial"/>
                <a:cs typeface="Arial"/>
              </a:defRPr>
            </a:lvl5pPr>
            <a:lvl6pPr>
              <a:defRPr sz="1800" b="0">
                <a:solidFill>
                  <a:srgbClr val="52656D"/>
                </a:solidFill>
                <a:latin typeface="Arial"/>
                <a:ea typeface="Arial"/>
                <a:cs typeface="Arial"/>
              </a:defRPr>
            </a:lvl6pPr>
            <a:lvl7pPr>
              <a:defRPr sz="1800" b="0">
                <a:solidFill>
                  <a:srgbClr val="52656D"/>
                </a:solidFill>
                <a:latin typeface="Arial"/>
                <a:ea typeface="Arial"/>
                <a:cs typeface="Arial"/>
              </a:defRPr>
            </a:lvl7pPr>
            <a:lvl8pPr>
              <a:defRPr sz="1800" b="0">
                <a:solidFill>
                  <a:srgbClr val="52656D"/>
                </a:solidFill>
                <a:latin typeface="Arial"/>
                <a:ea typeface="Arial"/>
                <a:cs typeface="Arial"/>
              </a:defRPr>
            </a:lvl8pPr>
            <a:lvl9pPr>
              <a:defRPr sz="1800" b="0">
                <a:solidFill>
                  <a:srgbClr val="52656D"/>
                </a:solidFill>
                <a:latin typeface="Arial"/>
                <a:ea typeface="Arial"/>
                <a:cs typeface="Arial"/>
              </a:defRPr>
            </a:lvl9pPr>
          </a:lstStyle>
          <a:p xmlns:a="http://schemas.openxmlformats.org/drawingml/2006/main">
            <a:pPr>
              <a:defRPr sz="1800" b="0">
                <a:solidFill>
                  <a:srgbClr val="52656D"/>
                </a:solidFill>
                <a:latin typeface="Arial"/>
                <a:ea typeface="Arial"/>
                <a:cs typeface="Arial"/>
              </a:defRPr>
            </a:pPr>
            <a:r>
              <a:rPr sz="1800" b="0">
                <a:solidFill>
                  <a:srgbClr val="52656D"/>
                </a:solidFill>
                <a:latin typeface="Arial"/>
                <a:ea typeface="Arial"/>
                <a:cs typeface="Arial"/>
              </a:rPr>
              <a:t>Other combines the six remaining predicted categories.</a:t>
            </a:r>
          </a:p>
        </p:txBody>
      </p:sp>
    </p:spTree>
    <p:extLst>
      <p:ext uri="{BB962C8B-B14F-4D97-AF65-F5344CB8AC3E}">
        <p14:creationId xmlns:p14="http://schemas.microsoft.com/office/powerpoint/2010/main" val="1907076951"/>
      </p:ext>
    </p:extLst>
  </p:cSld>
</p:sld>
</file>

<file path=ppt/slides/slide1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F30130E-B30B-4395-94CA-DBED992C01B8}"/>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42F38"/>
                </a:solidFill>
                <a:latin typeface="Arial"/>
                <a:ea typeface="Arial"/>
                <a:cs typeface="Arial"/>
              </a:defRPr>
            </a:defPPr>
            <a:lvl1pPr>
              <a:defRPr sz="3300" b="1">
                <a:solidFill>
                  <a:srgbClr val="142F38"/>
                </a:solidFill>
                <a:latin typeface="Arial"/>
                <a:ea typeface="Arial"/>
                <a:cs typeface="Arial"/>
              </a:defRPr>
            </a:lvl1pPr>
            <a:lvl2pPr>
              <a:defRPr sz="3300" b="1">
                <a:solidFill>
                  <a:srgbClr val="142F38"/>
                </a:solidFill>
                <a:latin typeface="Arial"/>
                <a:ea typeface="Arial"/>
                <a:cs typeface="Arial"/>
              </a:defRPr>
            </a:lvl2pPr>
            <a:lvl3pPr>
              <a:defRPr sz="3300" b="1">
                <a:solidFill>
                  <a:srgbClr val="142F38"/>
                </a:solidFill>
                <a:latin typeface="Arial"/>
                <a:ea typeface="Arial"/>
                <a:cs typeface="Arial"/>
              </a:defRPr>
            </a:lvl3pPr>
            <a:lvl4pPr>
              <a:defRPr sz="3300" b="1">
                <a:solidFill>
                  <a:srgbClr val="142F38"/>
                </a:solidFill>
                <a:latin typeface="Arial"/>
                <a:ea typeface="Arial"/>
                <a:cs typeface="Arial"/>
              </a:defRPr>
            </a:lvl4pPr>
            <a:lvl5pPr>
              <a:defRPr sz="3300" b="1">
                <a:solidFill>
                  <a:srgbClr val="142F38"/>
                </a:solidFill>
                <a:latin typeface="Arial"/>
                <a:ea typeface="Arial"/>
                <a:cs typeface="Arial"/>
              </a:defRPr>
            </a:lvl5pPr>
            <a:lvl6pPr>
              <a:defRPr sz="3300" b="1">
                <a:solidFill>
                  <a:srgbClr val="142F38"/>
                </a:solidFill>
                <a:latin typeface="Arial"/>
                <a:ea typeface="Arial"/>
                <a:cs typeface="Arial"/>
              </a:defRPr>
            </a:lvl6pPr>
            <a:lvl7pPr>
              <a:defRPr sz="3300" b="1">
                <a:solidFill>
                  <a:srgbClr val="142F38"/>
                </a:solidFill>
                <a:latin typeface="Arial"/>
                <a:ea typeface="Arial"/>
                <a:cs typeface="Arial"/>
              </a:defRPr>
            </a:lvl7pPr>
            <a:lvl8pPr>
              <a:defRPr sz="3300" b="1">
                <a:solidFill>
                  <a:srgbClr val="142F38"/>
                </a:solidFill>
                <a:latin typeface="Arial"/>
                <a:ea typeface="Arial"/>
                <a:cs typeface="Arial"/>
              </a:defRPr>
            </a:lvl8pPr>
            <a:lvl9pPr>
              <a:defRPr sz="3300" b="1">
                <a:solidFill>
                  <a:srgbClr val="142F38"/>
                </a:solidFill>
                <a:latin typeface="Arial"/>
                <a:ea typeface="Arial"/>
                <a:cs typeface="Arial"/>
              </a:defRPr>
            </a:lvl9pPr>
          </a:lstStyle>
          <a:p xmlns:a="http://schemas.openxmlformats.org/drawingml/2006/main">
            <a:pPr>
              <a:defRPr sz="3300" b="1">
                <a:solidFill>
                  <a:srgbClr val="142F38"/>
                </a:solidFill>
                <a:latin typeface="Arial"/>
                <a:ea typeface="Arial"/>
                <a:cs typeface="Arial"/>
              </a:defRPr>
            </a:pPr>
            <a:r>
              <a:rPr sz="3300" b="1">
                <a:solidFill>
                  <a:srgbClr val="142F38"/>
                </a:solidFill>
                <a:latin typeface="Arial"/>
                <a:ea typeface="Arial"/>
                <a:cs typeface="Arial"/>
              </a:rPr>
              <a:t>Paired SVM prediction examples</a:t>
            </a:r>
          </a:p>
        </p:txBody>
      </p:sp>
      <p:sp>
        <p:nvSpPr>
          <p:cNvPr id="3" name="">
            <a:extLst xmlns:a="http://schemas.openxmlformats.org/drawingml/2006/main">
              <a:ext uri="{FF2B5EF4-FFF2-40B4-BE49-F238E27FC236}">
                <a16:creationId xmlns:a16="http://schemas.microsoft.com/office/drawing/2014/main" id="{24E05450-D8FB-4E1E-B388-4B197502ADD6}"/>
              </a:ext>
            </a:extLst>
          </p:cNvPr>
          <p:cNvSpPr>
            <a:spLocks xmlns:a="http://schemas.openxmlformats.org/drawingml/2006/main" noGrp="1"/>
          </p:cNvSpPr>
          <p:nvPr/>
        </p:nvSpPr>
        <p:spPr>
          <a:xfrm xmlns:a="http://schemas.openxmlformats.org/drawingml/2006/main">
            <a:off x="10001250" y="644842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56D"/>
                </a:solidFill>
                <a:latin typeface="Arial"/>
                <a:ea typeface="Arial"/>
                <a:cs typeface="Arial"/>
              </a:defRPr>
            </a:defPPr>
            <a:lvl1pPr>
              <a:defRPr sz="1200" b="0">
                <a:solidFill>
                  <a:srgbClr val="52656D"/>
                </a:solidFill>
                <a:latin typeface="Arial"/>
                <a:ea typeface="Arial"/>
                <a:cs typeface="Arial"/>
              </a:defRPr>
            </a:lvl1pPr>
            <a:lvl2pPr>
              <a:defRPr sz="1200" b="0">
                <a:solidFill>
                  <a:srgbClr val="52656D"/>
                </a:solidFill>
                <a:latin typeface="Arial"/>
                <a:ea typeface="Arial"/>
                <a:cs typeface="Arial"/>
              </a:defRPr>
            </a:lvl2pPr>
            <a:lvl3pPr>
              <a:defRPr sz="1200" b="0">
                <a:solidFill>
                  <a:srgbClr val="52656D"/>
                </a:solidFill>
                <a:latin typeface="Arial"/>
                <a:ea typeface="Arial"/>
                <a:cs typeface="Arial"/>
              </a:defRPr>
            </a:lvl3pPr>
            <a:lvl4pPr>
              <a:defRPr sz="1200" b="0">
                <a:solidFill>
                  <a:srgbClr val="52656D"/>
                </a:solidFill>
                <a:latin typeface="Arial"/>
                <a:ea typeface="Arial"/>
                <a:cs typeface="Arial"/>
              </a:defRPr>
            </a:lvl4pPr>
            <a:lvl5pPr>
              <a:defRPr sz="1200" b="0">
                <a:solidFill>
                  <a:srgbClr val="52656D"/>
                </a:solidFill>
                <a:latin typeface="Arial"/>
                <a:ea typeface="Arial"/>
                <a:cs typeface="Arial"/>
              </a:defRPr>
            </a:lvl5pPr>
            <a:lvl6pPr>
              <a:defRPr sz="1200" b="0">
                <a:solidFill>
                  <a:srgbClr val="52656D"/>
                </a:solidFill>
                <a:latin typeface="Arial"/>
                <a:ea typeface="Arial"/>
                <a:cs typeface="Arial"/>
              </a:defRPr>
            </a:lvl6pPr>
            <a:lvl7pPr>
              <a:defRPr sz="1200" b="0">
                <a:solidFill>
                  <a:srgbClr val="52656D"/>
                </a:solidFill>
                <a:latin typeface="Arial"/>
                <a:ea typeface="Arial"/>
                <a:cs typeface="Arial"/>
              </a:defRPr>
            </a:lvl7pPr>
            <a:lvl8pPr>
              <a:defRPr sz="1200" b="0">
                <a:solidFill>
                  <a:srgbClr val="52656D"/>
                </a:solidFill>
                <a:latin typeface="Arial"/>
                <a:ea typeface="Arial"/>
                <a:cs typeface="Arial"/>
              </a:defRPr>
            </a:lvl8pPr>
            <a:lvl9pPr>
              <a:defRPr sz="1200" b="0">
                <a:solidFill>
                  <a:srgbClr val="52656D"/>
                </a:solidFill>
                <a:latin typeface="Arial"/>
                <a:ea typeface="Arial"/>
                <a:cs typeface="Arial"/>
              </a:defRPr>
            </a:lvl9pPr>
          </a:lstStyle>
          <a:p xmlns:a="http://schemas.openxmlformats.org/drawingml/2006/main">
            <a:pPr>
              <a:defRPr sz="1200" b="0">
                <a:solidFill>
                  <a:srgbClr val="52656D"/>
                </a:solidFill>
                <a:latin typeface="Arial"/>
                <a:ea typeface="Arial"/>
                <a:cs typeface="Arial"/>
              </a:defRPr>
            </a:pPr>
            <a:r>
              <a:rPr sz="1200" b="0">
                <a:solidFill>
                  <a:srgbClr val="52656D"/>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57C173BF-F834-4068-A84C-65B8AC4BB67D}"/>
              </a:ext>
            </a:extLst>
          </p:cNvPr>
          <p:cNvSpPr>
            <a:spLocks xmlns:a="http://schemas.openxmlformats.org/drawingml/2006/main" noGrp="1"/>
          </p:cNvSpPr>
          <p:nvPr/>
        </p:nvSpPr>
        <p:spPr>
          <a:xfrm xmlns:a="http://schemas.openxmlformats.org/drawingml/2006/main">
            <a:off x="647700" y="1552575"/>
            <a:ext cx="2590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1">
                <a:solidFill>
                  <a:srgbClr val="087F82"/>
                </a:solidFill>
                <a:latin typeface="Arial"/>
                <a:ea typeface="Arial"/>
                <a:cs typeface="Arial"/>
              </a:defRPr>
            </a:defPPr>
            <a:lvl1pPr>
              <a:defRPr sz="1875" b="1">
                <a:solidFill>
                  <a:srgbClr val="087F82"/>
                </a:solidFill>
                <a:latin typeface="Arial"/>
                <a:ea typeface="Arial"/>
                <a:cs typeface="Arial"/>
              </a:defRPr>
            </a:lvl1pPr>
            <a:lvl2pPr>
              <a:defRPr sz="1875" b="1">
                <a:solidFill>
                  <a:srgbClr val="087F82"/>
                </a:solidFill>
                <a:latin typeface="Arial"/>
                <a:ea typeface="Arial"/>
                <a:cs typeface="Arial"/>
              </a:defRPr>
            </a:lvl2pPr>
            <a:lvl3pPr>
              <a:defRPr sz="1875" b="1">
                <a:solidFill>
                  <a:srgbClr val="087F82"/>
                </a:solidFill>
                <a:latin typeface="Arial"/>
                <a:ea typeface="Arial"/>
                <a:cs typeface="Arial"/>
              </a:defRPr>
            </a:lvl3pPr>
            <a:lvl4pPr>
              <a:defRPr sz="1875" b="1">
                <a:solidFill>
                  <a:srgbClr val="087F82"/>
                </a:solidFill>
                <a:latin typeface="Arial"/>
                <a:ea typeface="Arial"/>
                <a:cs typeface="Arial"/>
              </a:defRPr>
            </a:lvl4pPr>
            <a:lvl5pPr>
              <a:defRPr sz="1875" b="1">
                <a:solidFill>
                  <a:srgbClr val="087F82"/>
                </a:solidFill>
                <a:latin typeface="Arial"/>
                <a:ea typeface="Arial"/>
                <a:cs typeface="Arial"/>
              </a:defRPr>
            </a:lvl5pPr>
            <a:lvl6pPr>
              <a:defRPr sz="1875" b="1">
                <a:solidFill>
                  <a:srgbClr val="087F82"/>
                </a:solidFill>
                <a:latin typeface="Arial"/>
                <a:ea typeface="Arial"/>
                <a:cs typeface="Arial"/>
              </a:defRPr>
            </a:lvl6pPr>
            <a:lvl7pPr>
              <a:defRPr sz="1875" b="1">
                <a:solidFill>
                  <a:srgbClr val="087F82"/>
                </a:solidFill>
                <a:latin typeface="Arial"/>
                <a:ea typeface="Arial"/>
                <a:cs typeface="Arial"/>
              </a:defRPr>
            </a:lvl7pPr>
            <a:lvl8pPr>
              <a:defRPr sz="1875" b="1">
                <a:solidFill>
                  <a:srgbClr val="087F82"/>
                </a:solidFill>
                <a:latin typeface="Arial"/>
                <a:ea typeface="Arial"/>
                <a:cs typeface="Arial"/>
              </a:defRPr>
            </a:lvl8pPr>
            <a:lvl9pPr>
              <a:defRPr sz="1875" b="1">
                <a:solidFill>
                  <a:srgbClr val="087F82"/>
                </a:solidFill>
                <a:latin typeface="Arial"/>
                <a:ea typeface="Arial"/>
                <a:cs typeface="Arial"/>
              </a:defRPr>
            </a:lvl9pPr>
          </a:lstStyle>
          <a:p xmlns:a="http://schemas.openxmlformats.org/drawingml/2006/main">
            <a:pPr>
              <a:defRPr sz="1875" b="1">
                <a:solidFill>
                  <a:srgbClr val="087F82"/>
                </a:solidFill>
                <a:latin typeface="Arial"/>
                <a:ea typeface="Arial"/>
                <a:cs typeface="Arial"/>
              </a:defRPr>
            </a:pPr>
            <a:r>
              <a:rPr sz="1875" b="1">
                <a:solidFill>
                  <a:srgbClr val="087F82"/>
                </a:solidFill>
                <a:latin typeface="Arial"/>
                <a:ea typeface="Arial"/>
                <a:cs typeface="Arial"/>
              </a:rPr>
              <a:t>Only HOG correct</a:t>
            </a:r>
          </a:p>
          <a:p xmlns:a="http://schemas.openxmlformats.org/drawingml/2006/main">
            <a:pPr>
              <a:defRPr sz="1875" b="1">
                <a:solidFill>
                  <a:srgbClr val="087F82"/>
                </a:solidFill>
                <a:latin typeface="Arial"/>
                <a:ea typeface="Arial"/>
                <a:cs typeface="Arial"/>
              </a:defRPr>
            </a:pPr>
            <a:r>
              <a:rPr sz="1875" b="1">
                <a:solidFill>
                  <a:srgbClr val="087F82"/>
                </a:solidFill>
                <a:latin typeface="Arial"/>
                <a:ea typeface="Arial"/>
                <a:cs typeface="Arial"/>
              </a:rPr>
              <a:t>Test ID 17</a:t>
            </a:r>
          </a:p>
        </p:txBody>
      </p:sp>
      <p:pic>
        <p:nvPicPr>
          <p:cNvPr id="5" name="">
            <a:extLst xmlns:a="http://schemas.openxmlformats.org/drawingml/2006/main">
              <a:ext uri="{FF2B5EF4-FFF2-40B4-BE49-F238E27FC236}">
                <a16:creationId xmlns:a16="http://schemas.microsoft.com/office/drawing/2014/main" id="{49EE29DD-231F-4AC5-A943-953D34D077CB}"/>
              </a:ext>
            </a:extLst>
          </p:cNvPr>
          <p:cNvPicPr>
            <a:picLocks xmlns:a="http://schemas.openxmlformats.org/drawingml/2006/main" noChangeAspect="1"/>
          </p:cNvPicPr>
          <p:nvPr/>
        </p:nvPicPr>
        <p:blipFill>
          <a:blip xmlns:r="http://schemas.openxmlformats.org/officeDocument/2006/relationships" xmlns:a="http://schemas.openxmlformats.org/drawingml/2006/main" r:embed="R0cc7f8aa75c74742"/>
          <a:stretch xmlns:a="http://schemas.openxmlformats.org/drawingml/2006/main"/>
        </p:blipFill>
        <p:spPr>
          <a:xfrm xmlns:a="http://schemas.openxmlformats.org/drawingml/2006/main">
            <a:off x="647700" y="2514600"/>
            <a:ext cx="2095500" cy="2095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ECAEDEA-BC92-472B-91FB-9FCA0B554854}"/>
              </a:ext>
            </a:extLst>
          </p:cNvPr>
          <p:cNvSpPr>
            <a:spLocks xmlns:a="http://schemas.openxmlformats.org/drawingml/2006/main" noGrp="1"/>
          </p:cNvSpPr>
          <p:nvPr/>
        </p:nvSpPr>
        <p:spPr>
          <a:xfrm xmlns:a="http://schemas.openxmlformats.org/drawingml/2006/main">
            <a:off x="647700" y="4772025"/>
            <a:ext cx="26003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42F38"/>
                </a:solidFill>
                <a:latin typeface="Arial"/>
                <a:ea typeface="Arial"/>
                <a:cs typeface="Arial"/>
              </a:defRPr>
            </a:defPPr>
            <a:lvl1pPr>
              <a:defRPr sz="1725" b="0">
                <a:solidFill>
                  <a:srgbClr val="142F38"/>
                </a:solidFill>
                <a:latin typeface="Arial"/>
                <a:ea typeface="Arial"/>
                <a:cs typeface="Arial"/>
              </a:defRPr>
            </a:lvl1pPr>
            <a:lvl2pPr>
              <a:defRPr sz="1725" b="0">
                <a:solidFill>
                  <a:srgbClr val="142F38"/>
                </a:solidFill>
                <a:latin typeface="Arial"/>
                <a:ea typeface="Arial"/>
                <a:cs typeface="Arial"/>
              </a:defRPr>
            </a:lvl2pPr>
            <a:lvl3pPr>
              <a:defRPr sz="1725" b="0">
                <a:solidFill>
                  <a:srgbClr val="142F38"/>
                </a:solidFill>
                <a:latin typeface="Arial"/>
                <a:ea typeface="Arial"/>
                <a:cs typeface="Arial"/>
              </a:defRPr>
            </a:lvl3pPr>
            <a:lvl4pPr>
              <a:defRPr sz="1725" b="0">
                <a:solidFill>
                  <a:srgbClr val="142F38"/>
                </a:solidFill>
                <a:latin typeface="Arial"/>
                <a:ea typeface="Arial"/>
                <a:cs typeface="Arial"/>
              </a:defRPr>
            </a:lvl4pPr>
            <a:lvl5pPr>
              <a:defRPr sz="1725" b="0">
                <a:solidFill>
                  <a:srgbClr val="142F38"/>
                </a:solidFill>
                <a:latin typeface="Arial"/>
                <a:ea typeface="Arial"/>
                <a:cs typeface="Arial"/>
              </a:defRPr>
            </a:lvl5pPr>
            <a:lvl6pPr>
              <a:defRPr sz="1725" b="0">
                <a:solidFill>
                  <a:srgbClr val="142F38"/>
                </a:solidFill>
                <a:latin typeface="Arial"/>
                <a:ea typeface="Arial"/>
                <a:cs typeface="Arial"/>
              </a:defRPr>
            </a:lvl6pPr>
            <a:lvl7pPr>
              <a:defRPr sz="1725" b="0">
                <a:solidFill>
                  <a:srgbClr val="142F38"/>
                </a:solidFill>
                <a:latin typeface="Arial"/>
                <a:ea typeface="Arial"/>
                <a:cs typeface="Arial"/>
              </a:defRPr>
            </a:lvl7pPr>
            <a:lvl8pPr>
              <a:defRPr sz="1725" b="0">
                <a:solidFill>
                  <a:srgbClr val="142F38"/>
                </a:solidFill>
                <a:latin typeface="Arial"/>
                <a:ea typeface="Arial"/>
                <a:cs typeface="Arial"/>
              </a:defRPr>
            </a:lvl8pPr>
            <a:lvl9pPr>
              <a:defRPr sz="1725" b="0">
                <a:solidFill>
                  <a:srgbClr val="142F38"/>
                </a:solidFill>
                <a:latin typeface="Arial"/>
                <a:ea typeface="Arial"/>
                <a:cs typeface="Arial"/>
              </a:defRPr>
            </a:lvl9pPr>
          </a:lstStyle>
          <a:p xmlns:a="http://schemas.openxmlformats.org/drawingml/2006/main">
            <a:pPr>
              <a:defRPr sz="1725" b="0">
                <a:solidFill>
                  <a:srgbClr val="142F38"/>
                </a:solidFill>
                <a:latin typeface="Arial"/>
                <a:ea typeface="Arial"/>
                <a:cs typeface="Arial"/>
              </a:defRPr>
            </a:pPr>
            <a:r>
              <a:rPr sz="1725" b="0">
                <a:solidFill>
                  <a:srgbClr val="142F38"/>
                </a:solidFill>
                <a:latin typeface="Arial"/>
                <a:ea typeface="Arial"/>
                <a:cs typeface="Arial"/>
              </a:rPr>
              <a:t>True: Coat</a:t>
            </a:r>
          </a:p>
          <a:p xmlns:a="http://schemas.openxmlformats.org/drawingml/2006/main">
            <a:pPr>
              <a:defRPr sz="1725" b="0">
                <a:solidFill>
                  <a:srgbClr val="142F38"/>
                </a:solidFill>
                <a:latin typeface="Arial"/>
                <a:ea typeface="Arial"/>
                <a:cs typeface="Arial"/>
              </a:defRPr>
            </a:pPr>
            <a:r>
              <a:rPr sz="1725" b="0">
                <a:solidFill>
                  <a:srgbClr val="142F38"/>
                </a:solidFill>
                <a:latin typeface="Arial"/>
                <a:ea typeface="Arial"/>
                <a:cs typeface="Arial"/>
              </a:rPr>
              <a:t>Pixels: Pullover</a:t>
            </a:r>
          </a:p>
          <a:p xmlns:a="http://schemas.openxmlformats.org/drawingml/2006/main">
            <a:pPr>
              <a:defRPr sz="1725" b="0">
                <a:solidFill>
                  <a:srgbClr val="142F38"/>
                </a:solidFill>
                <a:latin typeface="Arial"/>
                <a:ea typeface="Arial"/>
                <a:cs typeface="Arial"/>
              </a:defRPr>
            </a:pPr>
            <a:r>
              <a:rPr sz="1725" b="0">
                <a:solidFill>
                  <a:srgbClr val="142F38"/>
                </a:solidFill>
                <a:latin typeface="Arial"/>
                <a:ea typeface="Arial"/>
                <a:cs typeface="Arial"/>
              </a:rPr>
              <a:t>HOG: Coat</a:t>
            </a:r>
          </a:p>
        </p:txBody>
      </p:sp>
      <p:sp>
        <p:nvSpPr>
          <p:cNvPr id="7" name="">
            <a:extLst xmlns:a="http://schemas.openxmlformats.org/drawingml/2006/main">
              <a:ext uri="{FF2B5EF4-FFF2-40B4-BE49-F238E27FC236}">
                <a16:creationId xmlns:a16="http://schemas.microsoft.com/office/drawing/2014/main" id="{938EF560-D7B6-4D15-AA53-B1BC7B0C0F65}"/>
              </a:ext>
            </a:extLst>
          </p:cNvPr>
          <p:cNvSpPr>
            <a:spLocks xmlns:a="http://schemas.openxmlformats.org/drawingml/2006/main" noGrp="1"/>
          </p:cNvSpPr>
          <p:nvPr/>
        </p:nvSpPr>
        <p:spPr>
          <a:xfrm xmlns:a="http://schemas.openxmlformats.org/drawingml/2006/main">
            <a:off x="3409950" y="1552575"/>
            <a:ext cx="2590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1">
                <a:solidFill>
                  <a:srgbClr val="087F82"/>
                </a:solidFill>
                <a:latin typeface="Arial"/>
                <a:ea typeface="Arial"/>
                <a:cs typeface="Arial"/>
              </a:defRPr>
            </a:defPPr>
            <a:lvl1pPr>
              <a:defRPr sz="1875" b="1">
                <a:solidFill>
                  <a:srgbClr val="087F82"/>
                </a:solidFill>
                <a:latin typeface="Arial"/>
                <a:ea typeface="Arial"/>
                <a:cs typeface="Arial"/>
              </a:defRPr>
            </a:lvl1pPr>
            <a:lvl2pPr>
              <a:defRPr sz="1875" b="1">
                <a:solidFill>
                  <a:srgbClr val="087F82"/>
                </a:solidFill>
                <a:latin typeface="Arial"/>
                <a:ea typeface="Arial"/>
                <a:cs typeface="Arial"/>
              </a:defRPr>
            </a:lvl2pPr>
            <a:lvl3pPr>
              <a:defRPr sz="1875" b="1">
                <a:solidFill>
                  <a:srgbClr val="087F82"/>
                </a:solidFill>
                <a:latin typeface="Arial"/>
                <a:ea typeface="Arial"/>
                <a:cs typeface="Arial"/>
              </a:defRPr>
            </a:lvl3pPr>
            <a:lvl4pPr>
              <a:defRPr sz="1875" b="1">
                <a:solidFill>
                  <a:srgbClr val="087F82"/>
                </a:solidFill>
                <a:latin typeface="Arial"/>
                <a:ea typeface="Arial"/>
                <a:cs typeface="Arial"/>
              </a:defRPr>
            </a:lvl4pPr>
            <a:lvl5pPr>
              <a:defRPr sz="1875" b="1">
                <a:solidFill>
                  <a:srgbClr val="087F82"/>
                </a:solidFill>
                <a:latin typeface="Arial"/>
                <a:ea typeface="Arial"/>
                <a:cs typeface="Arial"/>
              </a:defRPr>
            </a:lvl5pPr>
            <a:lvl6pPr>
              <a:defRPr sz="1875" b="1">
                <a:solidFill>
                  <a:srgbClr val="087F82"/>
                </a:solidFill>
                <a:latin typeface="Arial"/>
                <a:ea typeface="Arial"/>
                <a:cs typeface="Arial"/>
              </a:defRPr>
            </a:lvl6pPr>
            <a:lvl7pPr>
              <a:defRPr sz="1875" b="1">
                <a:solidFill>
                  <a:srgbClr val="087F82"/>
                </a:solidFill>
                <a:latin typeface="Arial"/>
                <a:ea typeface="Arial"/>
                <a:cs typeface="Arial"/>
              </a:defRPr>
            </a:lvl7pPr>
            <a:lvl8pPr>
              <a:defRPr sz="1875" b="1">
                <a:solidFill>
                  <a:srgbClr val="087F82"/>
                </a:solidFill>
                <a:latin typeface="Arial"/>
                <a:ea typeface="Arial"/>
                <a:cs typeface="Arial"/>
              </a:defRPr>
            </a:lvl8pPr>
            <a:lvl9pPr>
              <a:defRPr sz="1875" b="1">
                <a:solidFill>
                  <a:srgbClr val="087F82"/>
                </a:solidFill>
                <a:latin typeface="Arial"/>
                <a:ea typeface="Arial"/>
                <a:cs typeface="Arial"/>
              </a:defRPr>
            </a:lvl9pPr>
          </a:lstStyle>
          <a:p xmlns:a="http://schemas.openxmlformats.org/drawingml/2006/main">
            <a:pPr>
              <a:defRPr sz="1875" b="1">
                <a:solidFill>
                  <a:srgbClr val="087F82"/>
                </a:solidFill>
                <a:latin typeface="Arial"/>
                <a:ea typeface="Arial"/>
                <a:cs typeface="Arial"/>
              </a:defRPr>
            </a:pPr>
            <a:r>
              <a:rPr sz="1875" b="1">
                <a:solidFill>
                  <a:srgbClr val="087F82"/>
                </a:solidFill>
                <a:latin typeface="Arial"/>
                <a:ea typeface="Arial"/>
                <a:cs typeface="Arial"/>
              </a:rPr>
              <a:t>Only HOG correct</a:t>
            </a:r>
          </a:p>
          <a:p xmlns:a="http://schemas.openxmlformats.org/drawingml/2006/main">
            <a:pPr>
              <a:defRPr sz="1875" b="1">
                <a:solidFill>
                  <a:srgbClr val="087F82"/>
                </a:solidFill>
                <a:latin typeface="Arial"/>
                <a:ea typeface="Arial"/>
                <a:cs typeface="Arial"/>
              </a:defRPr>
            </a:pPr>
            <a:r>
              <a:rPr sz="1875" b="1">
                <a:solidFill>
                  <a:srgbClr val="087F82"/>
                </a:solidFill>
                <a:latin typeface="Arial"/>
                <a:ea typeface="Arial"/>
                <a:cs typeface="Arial"/>
              </a:rPr>
              <a:t>Test ID 49</a:t>
            </a:r>
          </a:p>
        </p:txBody>
      </p:sp>
      <p:pic>
        <p:nvPicPr>
          <p:cNvPr id="8" name="">
            <a:extLst xmlns:a="http://schemas.openxmlformats.org/drawingml/2006/main">
              <a:ext uri="{FF2B5EF4-FFF2-40B4-BE49-F238E27FC236}">
                <a16:creationId xmlns:a16="http://schemas.microsoft.com/office/drawing/2014/main" id="{29E6ECEA-DF9B-4644-8AF5-DC03ED139E4E}"/>
              </a:ext>
            </a:extLst>
          </p:cNvPr>
          <p:cNvPicPr>
            <a:picLocks xmlns:a="http://schemas.openxmlformats.org/drawingml/2006/main" noChangeAspect="1"/>
          </p:cNvPicPr>
          <p:nvPr/>
        </p:nvPicPr>
        <p:blipFill>
          <a:blip xmlns:r="http://schemas.openxmlformats.org/officeDocument/2006/relationships" xmlns:a="http://schemas.openxmlformats.org/drawingml/2006/main" r:embed="Rc8578d03097249f4"/>
          <a:stretch xmlns:a="http://schemas.openxmlformats.org/drawingml/2006/main"/>
        </p:blipFill>
        <p:spPr>
          <a:xfrm xmlns:a="http://schemas.openxmlformats.org/drawingml/2006/main">
            <a:off x="3409950" y="2514600"/>
            <a:ext cx="2095500" cy="20955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96F48A50-33DB-4D11-9E26-FB9CB95EA5CC}"/>
              </a:ext>
            </a:extLst>
          </p:cNvPr>
          <p:cNvSpPr>
            <a:spLocks xmlns:a="http://schemas.openxmlformats.org/drawingml/2006/main" noGrp="1"/>
          </p:cNvSpPr>
          <p:nvPr/>
        </p:nvSpPr>
        <p:spPr>
          <a:xfrm xmlns:a="http://schemas.openxmlformats.org/drawingml/2006/main">
            <a:off x="3409950" y="4772025"/>
            <a:ext cx="26003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42F38"/>
                </a:solidFill>
                <a:latin typeface="Arial"/>
                <a:ea typeface="Arial"/>
                <a:cs typeface="Arial"/>
              </a:defRPr>
            </a:defPPr>
            <a:lvl1pPr>
              <a:defRPr sz="1725" b="0">
                <a:solidFill>
                  <a:srgbClr val="142F38"/>
                </a:solidFill>
                <a:latin typeface="Arial"/>
                <a:ea typeface="Arial"/>
                <a:cs typeface="Arial"/>
              </a:defRPr>
            </a:lvl1pPr>
            <a:lvl2pPr>
              <a:defRPr sz="1725" b="0">
                <a:solidFill>
                  <a:srgbClr val="142F38"/>
                </a:solidFill>
                <a:latin typeface="Arial"/>
                <a:ea typeface="Arial"/>
                <a:cs typeface="Arial"/>
              </a:defRPr>
            </a:lvl2pPr>
            <a:lvl3pPr>
              <a:defRPr sz="1725" b="0">
                <a:solidFill>
                  <a:srgbClr val="142F38"/>
                </a:solidFill>
                <a:latin typeface="Arial"/>
                <a:ea typeface="Arial"/>
                <a:cs typeface="Arial"/>
              </a:defRPr>
            </a:lvl3pPr>
            <a:lvl4pPr>
              <a:defRPr sz="1725" b="0">
                <a:solidFill>
                  <a:srgbClr val="142F38"/>
                </a:solidFill>
                <a:latin typeface="Arial"/>
                <a:ea typeface="Arial"/>
                <a:cs typeface="Arial"/>
              </a:defRPr>
            </a:lvl4pPr>
            <a:lvl5pPr>
              <a:defRPr sz="1725" b="0">
                <a:solidFill>
                  <a:srgbClr val="142F38"/>
                </a:solidFill>
                <a:latin typeface="Arial"/>
                <a:ea typeface="Arial"/>
                <a:cs typeface="Arial"/>
              </a:defRPr>
            </a:lvl5pPr>
            <a:lvl6pPr>
              <a:defRPr sz="1725" b="0">
                <a:solidFill>
                  <a:srgbClr val="142F38"/>
                </a:solidFill>
                <a:latin typeface="Arial"/>
                <a:ea typeface="Arial"/>
                <a:cs typeface="Arial"/>
              </a:defRPr>
            </a:lvl6pPr>
            <a:lvl7pPr>
              <a:defRPr sz="1725" b="0">
                <a:solidFill>
                  <a:srgbClr val="142F38"/>
                </a:solidFill>
                <a:latin typeface="Arial"/>
                <a:ea typeface="Arial"/>
                <a:cs typeface="Arial"/>
              </a:defRPr>
            </a:lvl7pPr>
            <a:lvl8pPr>
              <a:defRPr sz="1725" b="0">
                <a:solidFill>
                  <a:srgbClr val="142F38"/>
                </a:solidFill>
                <a:latin typeface="Arial"/>
                <a:ea typeface="Arial"/>
                <a:cs typeface="Arial"/>
              </a:defRPr>
            </a:lvl8pPr>
            <a:lvl9pPr>
              <a:defRPr sz="1725" b="0">
                <a:solidFill>
                  <a:srgbClr val="142F38"/>
                </a:solidFill>
                <a:latin typeface="Arial"/>
                <a:ea typeface="Arial"/>
                <a:cs typeface="Arial"/>
              </a:defRPr>
            </a:lvl9pPr>
          </a:lstStyle>
          <a:p xmlns:a="http://schemas.openxmlformats.org/drawingml/2006/main">
            <a:pPr>
              <a:defRPr sz="1725" b="0">
                <a:solidFill>
                  <a:srgbClr val="142F38"/>
                </a:solidFill>
                <a:latin typeface="Arial"/>
                <a:ea typeface="Arial"/>
                <a:cs typeface="Arial"/>
              </a:defRPr>
            </a:pPr>
            <a:r>
              <a:rPr sz="1725" b="0">
                <a:solidFill>
                  <a:srgbClr val="142F38"/>
                </a:solidFill>
                <a:latin typeface="Arial"/>
                <a:ea typeface="Arial"/>
                <a:cs typeface="Arial"/>
              </a:rPr>
              <a:t>True: Pullover</a:t>
            </a:r>
          </a:p>
          <a:p xmlns:a="http://schemas.openxmlformats.org/drawingml/2006/main">
            <a:pPr>
              <a:defRPr sz="1725" b="0">
                <a:solidFill>
                  <a:srgbClr val="142F38"/>
                </a:solidFill>
                <a:latin typeface="Arial"/>
                <a:ea typeface="Arial"/>
                <a:cs typeface="Arial"/>
              </a:defRPr>
            </a:pPr>
            <a:r>
              <a:rPr sz="1725" b="0">
                <a:solidFill>
                  <a:srgbClr val="142F38"/>
                </a:solidFill>
                <a:latin typeface="Arial"/>
                <a:ea typeface="Arial"/>
                <a:cs typeface="Arial"/>
              </a:rPr>
              <a:t>Pixels: Shirt</a:t>
            </a:r>
          </a:p>
          <a:p xmlns:a="http://schemas.openxmlformats.org/drawingml/2006/main">
            <a:pPr>
              <a:defRPr sz="1725" b="0">
                <a:solidFill>
                  <a:srgbClr val="142F38"/>
                </a:solidFill>
                <a:latin typeface="Arial"/>
                <a:ea typeface="Arial"/>
                <a:cs typeface="Arial"/>
              </a:defRPr>
            </a:pPr>
            <a:r>
              <a:rPr sz="1725" b="0">
                <a:solidFill>
                  <a:srgbClr val="142F38"/>
                </a:solidFill>
                <a:latin typeface="Arial"/>
                <a:ea typeface="Arial"/>
                <a:cs typeface="Arial"/>
              </a:rPr>
              <a:t>HOG: Pullover</a:t>
            </a:r>
          </a:p>
        </p:txBody>
      </p:sp>
      <p:sp>
        <p:nvSpPr>
          <p:cNvPr id="10" name="">
            <a:extLst xmlns:a="http://schemas.openxmlformats.org/drawingml/2006/main">
              <a:ext uri="{FF2B5EF4-FFF2-40B4-BE49-F238E27FC236}">
                <a16:creationId xmlns:a16="http://schemas.microsoft.com/office/drawing/2014/main" id="{822BB151-168A-4493-90E8-BF2BFFA7C33E}"/>
              </a:ext>
            </a:extLst>
          </p:cNvPr>
          <p:cNvSpPr>
            <a:spLocks xmlns:a="http://schemas.openxmlformats.org/drawingml/2006/main" noGrp="1"/>
          </p:cNvSpPr>
          <p:nvPr/>
        </p:nvSpPr>
        <p:spPr>
          <a:xfrm xmlns:a="http://schemas.openxmlformats.org/drawingml/2006/main">
            <a:off x="6172200" y="1552575"/>
            <a:ext cx="2590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1">
                <a:solidFill>
                  <a:srgbClr val="087F82"/>
                </a:solidFill>
                <a:latin typeface="Arial"/>
                <a:ea typeface="Arial"/>
                <a:cs typeface="Arial"/>
              </a:defRPr>
            </a:defPPr>
            <a:lvl1pPr>
              <a:defRPr sz="1875" b="1">
                <a:solidFill>
                  <a:srgbClr val="087F82"/>
                </a:solidFill>
                <a:latin typeface="Arial"/>
                <a:ea typeface="Arial"/>
                <a:cs typeface="Arial"/>
              </a:defRPr>
            </a:lvl1pPr>
            <a:lvl2pPr>
              <a:defRPr sz="1875" b="1">
                <a:solidFill>
                  <a:srgbClr val="087F82"/>
                </a:solidFill>
                <a:latin typeface="Arial"/>
                <a:ea typeface="Arial"/>
                <a:cs typeface="Arial"/>
              </a:defRPr>
            </a:lvl2pPr>
            <a:lvl3pPr>
              <a:defRPr sz="1875" b="1">
                <a:solidFill>
                  <a:srgbClr val="087F82"/>
                </a:solidFill>
                <a:latin typeface="Arial"/>
                <a:ea typeface="Arial"/>
                <a:cs typeface="Arial"/>
              </a:defRPr>
            </a:lvl3pPr>
            <a:lvl4pPr>
              <a:defRPr sz="1875" b="1">
                <a:solidFill>
                  <a:srgbClr val="087F82"/>
                </a:solidFill>
                <a:latin typeface="Arial"/>
                <a:ea typeface="Arial"/>
                <a:cs typeface="Arial"/>
              </a:defRPr>
            </a:lvl4pPr>
            <a:lvl5pPr>
              <a:defRPr sz="1875" b="1">
                <a:solidFill>
                  <a:srgbClr val="087F82"/>
                </a:solidFill>
                <a:latin typeface="Arial"/>
                <a:ea typeface="Arial"/>
                <a:cs typeface="Arial"/>
              </a:defRPr>
            </a:lvl5pPr>
            <a:lvl6pPr>
              <a:defRPr sz="1875" b="1">
                <a:solidFill>
                  <a:srgbClr val="087F82"/>
                </a:solidFill>
                <a:latin typeface="Arial"/>
                <a:ea typeface="Arial"/>
                <a:cs typeface="Arial"/>
              </a:defRPr>
            </a:lvl6pPr>
            <a:lvl7pPr>
              <a:defRPr sz="1875" b="1">
                <a:solidFill>
                  <a:srgbClr val="087F82"/>
                </a:solidFill>
                <a:latin typeface="Arial"/>
                <a:ea typeface="Arial"/>
                <a:cs typeface="Arial"/>
              </a:defRPr>
            </a:lvl7pPr>
            <a:lvl8pPr>
              <a:defRPr sz="1875" b="1">
                <a:solidFill>
                  <a:srgbClr val="087F82"/>
                </a:solidFill>
                <a:latin typeface="Arial"/>
                <a:ea typeface="Arial"/>
                <a:cs typeface="Arial"/>
              </a:defRPr>
            </a:lvl8pPr>
            <a:lvl9pPr>
              <a:defRPr sz="1875" b="1">
                <a:solidFill>
                  <a:srgbClr val="087F82"/>
                </a:solidFill>
                <a:latin typeface="Arial"/>
                <a:ea typeface="Arial"/>
                <a:cs typeface="Arial"/>
              </a:defRPr>
            </a:lvl9pPr>
          </a:lstStyle>
          <a:p xmlns:a="http://schemas.openxmlformats.org/drawingml/2006/main">
            <a:pPr>
              <a:defRPr sz="1875" b="1">
                <a:solidFill>
                  <a:srgbClr val="087F82"/>
                </a:solidFill>
                <a:latin typeface="Arial"/>
                <a:ea typeface="Arial"/>
                <a:cs typeface="Arial"/>
              </a:defRPr>
            </a:pPr>
            <a:r>
              <a:rPr sz="1875" b="1">
                <a:solidFill>
                  <a:srgbClr val="087F82"/>
                </a:solidFill>
                <a:latin typeface="Arial"/>
                <a:ea typeface="Arial"/>
                <a:cs typeface="Arial"/>
              </a:rPr>
              <a:t>Both wrong</a:t>
            </a:r>
          </a:p>
          <a:p xmlns:a="http://schemas.openxmlformats.org/drawingml/2006/main">
            <a:pPr>
              <a:defRPr sz="1875" b="1">
                <a:solidFill>
                  <a:srgbClr val="087F82"/>
                </a:solidFill>
                <a:latin typeface="Arial"/>
                <a:ea typeface="Arial"/>
                <a:cs typeface="Arial"/>
              </a:defRPr>
            </a:pPr>
            <a:r>
              <a:rPr sz="1875" b="1">
                <a:solidFill>
                  <a:srgbClr val="087F82"/>
                </a:solidFill>
                <a:latin typeface="Arial"/>
                <a:ea typeface="Arial"/>
                <a:cs typeface="Arial"/>
              </a:rPr>
              <a:t>Test ID 12</a:t>
            </a:r>
          </a:p>
        </p:txBody>
      </p:sp>
      <p:pic>
        <p:nvPicPr>
          <p:cNvPr id="11" name="">
            <a:extLst xmlns:a="http://schemas.openxmlformats.org/drawingml/2006/main">
              <a:ext uri="{FF2B5EF4-FFF2-40B4-BE49-F238E27FC236}">
                <a16:creationId xmlns:a16="http://schemas.microsoft.com/office/drawing/2014/main" id="{CBC172DD-8231-491F-B1F4-B985BEA761C4}"/>
              </a:ext>
            </a:extLst>
          </p:cNvPr>
          <p:cNvPicPr>
            <a:picLocks xmlns:a="http://schemas.openxmlformats.org/drawingml/2006/main" noChangeAspect="1"/>
          </p:cNvPicPr>
          <p:nvPr/>
        </p:nvPicPr>
        <p:blipFill>
          <a:blip xmlns:r="http://schemas.openxmlformats.org/officeDocument/2006/relationships" xmlns:a="http://schemas.openxmlformats.org/drawingml/2006/main" r:embed="R6ed8637ef3464559"/>
          <a:stretch xmlns:a="http://schemas.openxmlformats.org/drawingml/2006/main"/>
        </p:blipFill>
        <p:spPr>
          <a:xfrm xmlns:a="http://schemas.openxmlformats.org/drawingml/2006/main">
            <a:off x="6172200" y="2514600"/>
            <a:ext cx="2095500" cy="20955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9D2A85F5-D12B-4EBC-A3C8-DEF3AEA6002E}"/>
              </a:ext>
            </a:extLst>
          </p:cNvPr>
          <p:cNvSpPr>
            <a:spLocks xmlns:a="http://schemas.openxmlformats.org/drawingml/2006/main" noGrp="1"/>
          </p:cNvSpPr>
          <p:nvPr/>
        </p:nvSpPr>
        <p:spPr>
          <a:xfrm xmlns:a="http://schemas.openxmlformats.org/drawingml/2006/main">
            <a:off x="6172200" y="4772025"/>
            <a:ext cx="26003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42F38"/>
                </a:solidFill>
                <a:latin typeface="Arial"/>
                <a:ea typeface="Arial"/>
                <a:cs typeface="Arial"/>
              </a:defRPr>
            </a:defPPr>
            <a:lvl1pPr>
              <a:defRPr sz="1725" b="0">
                <a:solidFill>
                  <a:srgbClr val="142F38"/>
                </a:solidFill>
                <a:latin typeface="Arial"/>
                <a:ea typeface="Arial"/>
                <a:cs typeface="Arial"/>
              </a:defRPr>
            </a:lvl1pPr>
            <a:lvl2pPr>
              <a:defRPr sz="1725" b="0">
                <a:solidFill>
                  <a:srgbClr val="142F38"/>
                </a:solidFill>
                <a:latin typeface="Arial"/>
                <a:ea typeface="Arial"/>
                <a:cs typeface="Arial"/>
              </a:defRPr>
            </a:lvl2pPr>
            <a:lvl3pPr>
              <a:defRPr sz="1725" b="0">
                <a:solidFill>
                  <a:srgbClr val="142F38"/>
                </a:solidFill>
                <a:latin typeface="Arial"/>
                <a:ea typeface="Arial"/>
                <a:cs typeface="Arial"/>
              </a:defRPr>
            </a:lvl3pPr>
            <a:lvl4pPr>
              <a:defRPr sz="1725" b="0">
                <a:solidFill>
                  <a:srgbClr val="142F38"/>
                </a:solidFill>
                <a:latin typeface="Arial"/>
                <a:ea typeface="Arial"/>
                <a:cs typeface="Arial"/>
              </a:defRPr>
            </a:lvl4pPr>
            <a:lvl5pPr>
              <a:defRPr sz="1725" b="0">
                <a:solidFill>
                  <a:srgbClr val="142F38"/>
                </a:solidFill>
                <a:latin typeface="Arial"/>
                <a:ea typeface="Arial"/>
                <a:cs typeface="Arial"/>
              </a:defRPr>
            </a:lvl5pPr>
            <a:lvl6pPr>
              <a:defRPr sz="1725" b="0">
                <a:solidFill>
                  <a:srgbClr val="142F38"/>
                </a:solidFill>
                <a:latin typeface="Arial"/>
                <a:ea typeface="Arial"/>
                <a:cs typeface="Arial"/>
              </a:defRPr>
            </a:lvl6pPr>
            <a:lvl7pPr>
              <a:defRPr sz="1725" b="0">
                <a:solidFill>
                  <a:srgbClr val="142F38"/>
                </a:solidFill>
                <a:latin typeface="Arial"/>
                <a:ea typeface="Arial"/>
                <a:cs typeface="Arial"/>
              </a:defRPr>
            </a:lvl7pPr>
            <a:lvl8pPr>
              <a:defRPr sz="1725" b="0">
                <a:solidFill>
                  <a:srgbClr val="142F38"/>
                </a:solidFill>
                <a:latin typeface="Arial"/>
                <a:ea typeface="Arial"/>
                <a:cs typeface="Arial"/>
              </a:defRPr>
            </a:lvl8pPr>
            <a:lvl9pPr>
              <a:defRPr sz="1725" b="0">
                <a:solidFill>
                  <a:srgbClr val="142F38"/>
                </a:solidFill>
                <a:latin typeface="Arial"/>
                <a:ea typeface="Arial"/>
                <a:cs typeface="Arial"/>
              </a:defRPr>
            </a:lvl9pPr>
          </a:lstStyle>
          <a:p xmlns:a="http://schemas.openxmlformats.org/drawingml/2006/main">
            <a:pPr>
              <a:defRPr sz="1725" b="0">
                <a:solidFill>
                  <a:srgbClr val="142F38"/>
                </a:solidFill>
                <a:latin typeface="Arial"/>
                <a:ea typeface="Arial"/>
                <a:cs typeface="Arial"/>
              </a:defRPr>
            </a:pPr>
            <a:r>
              <a:rPr sz="1725" b="0">
                <a:solidFill>
                  <a:srgbClr val="142F38"/>
                </a:solidFill>
                <a:latin typeface="Arial"/>
                <a:ea typeface="Arial"/>
                <a:cs typeface="Arial"/>
              </a:rPr>
              <a:t>True: Sneaker</a:t>
            </a:r>
          </a:p>
          <a:p xmlns:a="http://schemas.openxmlformats.org/drawingml/2006/main">
            <a:pPr>
              <a:defRPr sz="1725" b="0">
                <a:solidFill>
                  <a:srgbClr val="142F38"/>
                </a:solidFill>
                <a:latin typeface="Arial"/>
                <a:ea typeface="Arial"/>
                <a:cs typeface="Arial"/>
              </a:defRPr>
            </a:pPr>
            <a:r>
              <a:rPr sz="1725" b="0">
                <a:solidFill>
                  <a:srgbClr val="142F38"/>
                </a:solidFill>
                <a:latin typeface="Arial"/>
                <a:ea typeface="Arial"/>
                <a:cs typeface="Arial"/>
              </a:rPr>
              <a:t>Pixels: Sandal</a:t>
            </a:r>
          </a:p>
          <a:p xmlns:a="http://schemas.openxmlformats.org/drawingml/2006/main">
            <a:pPr>
              <a:defRPr sz="1725" b="0">
                <a:solidFill>
                  <a:srgbClr val="142F38"/>
                </a:solidFill>
                <a:latin typeface="Arial"/>
                <a:ea typeface="Arial"/>
                <a:cs typeface="Arial"/>
              </a:defRPr>
            </a:pPr>
            <a:r>
              <a:rPr sz="1725" b="0">
                <a:solidFill>
                  <a:srgbClr val="142F38"/>
                </a:solidFill>
                <a:latin typeface="Arial"/>
                <a:ea typeface="Arial"/>
                <a:cs typeface="Arial"/>
              </a:rPr>
              <a:t>HOG: Sandal</a:t>
            </a:r>
          </a:p>
        </p:txBody>
      </p:sp>
      <p:sp>
        <p:nvSpPr>
          <p:cNvPr id="13" name="">
            <a:extLst xmlns:a="http://schemas.openxmlformats.org/drawingml/2006/main">
              <a:ext uri="{FF2B5EF4-FFF2-40B4-BE49-F238E27FC236}">
                <a16:creationId xmlns:a16="http://schemas.microsoft.com/office/drawing/2014/main" id="{9EEC56EB-6636-489C-BCF2-969F644E178B}"/>
              </a:ext>
            </a:extLst>
          </p:cNvPr>
          <p:cNvSpPr>
            <a:spLocks xmlns:a="http://schemas.openxmlformats.org/drawingml/2006/main" noGrp="1"/>
          </p:cNvSpPr>
          <p:nvPr/>
        </p:nvSpPr>
        <p:spPr>
          <a:xfrm xmlns:a="http://schemas.openxmlformats.org/drawingml/2006/main">
            <a:off x="8934450" y="1552575"/>
            <a:ext cx="2590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1">
                <a:solidFill>
                  <a:srgbClr val="087F82"/>
                </a:solidFill>
                <a:latin typeface="Arial"/>
                <a:ea typeface="Arial"/>
                <a:cs typeface="Arial"/>
              </a:defRPr>
            </a:defPPr>
            <a:lvl1pPr>
              <a:defRPr sz="1875" b="1">
                <a:solidFill>
                  <a:srgbClr val="087F82"/>
                </a:solidFill>
                <a:latin typeface="Arial"/>
                <a:ea typeface="Arial"/>
                <a:cs typeface="Arial"/>
              </a:defRPr>
            </a:lvl1pPr>
            <a:lvl2pPr>
              <a:defRPr sz="1875" b="1">
                <a:solidFill>
                  <a:srgbClr val="087F82"/>
                </a:solidFill>
                <a:latin typeface="Arial"/>
                <a:ea typeface="Arial"/>
                <a:cs typeface="Arial"/>
              </a:defRPr>
            </a:lvl2pPr>
            <a:lvl3pPr>
              <a:defRPr sz="1875" b="1">
                <a:solidFill>
                  <a:srgbClr val="087F82"/>
                </a:solidFill>
                <a:latin typeface="Arial"/>
                <a:ea typeface="Arial"/>
                <a:cs typeface="Arial"/>
              </a:defRPr>
            </a:lvl3pPr>
            <a:lvl4pPr>
              <a:defRPr sz="1875" b="1">
                <a:solidFill>
                  <a:srgbClr val="087F82"/>
                </a:solidFill>
                <a:latin typeface="Arial"/>
                <a:ea typeface="Arial"/>
                <a:cs typeface="Arial"/>
              </a:defRPr>
            </a:lvl4pPr>
            <a:lvl5pPr>
              <a:defRPr sz="1875" b="1">
                <a:solidFill>
                  <a:srgbClr val="087F82"/>
                </a:solidFill>
                <a:latin typeface="Arial"/>
                <a:ea typeface="Arial"/>
                <a:cs typeface="Arial"/>
              </a:defRPr>
            </a:lvl5pPr>
            <a:lvl6pPr>
              <a:defRPr sz="1875" b="1">
                <a:solidFill>
                  <a:srgbClr val="087F82"/>
                </a:solidFill>
                <a:latin typeface="Arial"/>
                <a:ea typeface="Arial"/>
                <a:cs typeface="Arial"/>
              </a:defRPr>
            </a:lvl6pPr>
            <a:lvl7pPr>
              <a:defRPr sz="1875" b="1">
                <a:solidFill>
                  <a:srgbClr val="087F82"/>
                </a:solidFill>
                <a:latin typeface="Arial"/>
                <a:ea typeface="Arial"/>
                <a:cs typeface="Arial"/>
              </a:defRPr>
            </a:lvl7pPr>
            <a:lvl8pPr>
              <a:defRPr sz="1875" b="1">
                <a:solidFill>
                  <a:srgbClr val="087F82"/>
                </a:solidFill>
                <a:latin typeface="Arial"/>
                <a:ea typeface="Arial"/>
                <a:cs typeface="Arial"/>
              </a:defRPr>
            </a:lvl8pPr>
            <a:lvl9pPr>
              <a:defRPr sz="1875" b="1">
                <a:solidFill>
                  <a:srgbClr val="087F82"/>
                </a:solidFill>
                <a:latin typeface="Arial"/>
                <a:ea typeface="Arial"/>
                <a:cs typeface="Arial"/>
              </a:defRPr>
            </a:lvl9pPr>
          </a:lstStyle>
          <a:p xmlns:a="http://schemas.openxmlformats.org/drawingml/2006/main">
            <a:pPr>
              <a:defRPr sz="1875" b="1">
                <a:solidFill>
                  <a:srgbClr val="087F82"/>
                </a:solidFill>
                <a:latin typeface="Arial"/>
                <a:ea typeface="Arial"/>
                <a:cs typeface="Arial"/>
              </a:defRPr>
            </a:pPr>
            <a:r>
              <a:rPr sz="1875" b="1">
                <a:solidFill>
                  <a:srgbClr val="087F82"/>
                </a:solidFill>
                <a:latin typeface="Arial"/>
                <a:ea typeface="Arial"/>
                <a:cs typeface="Arial"/>
              </a:rPr>
              <a:t>Both wrong</a:t>
            </a:r>
          </a:p>
          <a:p xmlns:a="http://schemas.openxmlformats.org/drawingml/2006/main">
            <a:pPr>
              <a:defRPr sz="1875" b="1">
                <a:solidFill>
                  <a:srgbClr val="087F82"/>
                </a:solidFill>
                <a:latin typeface="Arial"/>
                <a:ea typeface="Arial"/>
                <a:cs typeface="Arial"/>
              </a:defRPr>
            </a:pPr>
            <a:r>
              <a:rPr sz="1875" b="1">
                <a:solidFill>
                  <a:srgbClr val="087F82"/>
                </a:solidFill>
                <a:latin typeface="Arial"/>
                <a:ea typeface="Arial"/>
                <a:cs typeface="Arial"/>
              </a:rPr>
              <a:t>Test ID 23</a:t>
            </a:r>
          </a:p>
        </p:txBody>
      </p:sp>
      <p:pic>
        <p:nvPicPr>
          <p:cNvPr id="14" name="">
            <a:extLst xmlns:a="http://schemas.openxmlformats.org/drawingml/2006/main">
              <a:ext uri="{FF2B5EF4-FFF2-40B4-BE49-F238E27FC236}">
                <a16:creationId xmlns:a16="http://schemas.microsoft.com/office/drawing/2014/main" id="{389C360C-0469-417B-94B2-F8D983215D48}"/>
              </a:ext>
            </a:extLst>
          </p:cNvPr>
          <p:cNvPicPr>
            <a:picLocks xmlns:a="http://schemas.openxmlformats.org/drawingml/2006/main" noChangeAspect="1"/>
          </p:cNvPicPr>
          <p:nvPr/>
        </p:nvPicPr>
        <p:blipFill>
          <a:blip xmlns:r="http://schemas.openxmlformats.org/officeDocument/2006/relationships" xmlns:a="http://schemas.openxmlformats.org/drawingml/2006/main" r:embed="Rbcce0140e97245fe"/>
          <a:stretch xmlns:a="http://schemas.openxmlformats.org/drawingml/2006/main"/>
        </p:blipFill>
        <p:spPr>
          <a:xfrm xmlns:a="http://schemas.openxmlformats.org/drawingml/2006/main">
            <a:off x="8934450" y="2514600"/>
            <a:ext cx="2095500" cy="20955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DCE0C76B-7084-46BB-A810-369150A91DE0}"/>
              </a:ext>
            </a:extLst>
          </p:cNvPr>
          <p:cNvSpPr>
            <a:spLocks xmlns:a="http://schemas.openxmlformats.org/drawingml/2006/main" noGrp="1"/>
          </p:cNvSpPr>
          <p:nvPr/>
        </p:nvSpPr>
        <p:spPr>
          <a:xfrm xmlns:a="http://schemas.openxmlformats.org/drawingml/2006/main">
            <a:off x="8934450" y="4772025"/>
            <a:ext cx="26003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42F38"/>
                </a:solidFill>
                <a:latin typeface="Arial"/>
                <a:ea typeface="Arial"/>
                <a:cs typeface="Arial"/>
              </a:defRPr>
            </a:defPPr>
            <a:lvl1pPr>
              <a:defRPr sz="1725" b="0">
                <a:solidFill>
                  <a:srgbClr val="142F38"/>
                </a:solidFill>
                <a:latin typeface="Arial"/>
                <a:ea typeface="Arial"/>
                <a:cs typeface="Arial"/>
              </a:defRPr>
            </a:lvl1pPr>
            <a:lvl2pPr>
              <a:defRPr sz="1725" b="0">
                <a:solidFill>
                  <a:srgbClr val="142F38"/>
                </a:solidFill>
                <a:latin typeface="Arial"/>
                <a:ea typeface="Arial"/>
                <a:cs typeface="Arial"/>
              </a:defRPr>
            </a:lvl2pPr>
            <a:lvl3pPr>
              <a:defRPr sz="1725" b="0">
                <a:solidFill>
                  <a:srgbClr val="142F38"/>
                </a:solidFill>
                <a:latin typeface="Arial"/>
                <a:ea typeface="Arial"/>
                <a:cs typeface="Arial"/>
              </a:defRPr>
            </a:lvl3pPr>
            <a:lvl4pPr>
              <a:defRPr sz="1725" b="0">
                <a:solidFill>
                  <a:srgbClr val="142F38"/>
                </a:solidFill>
                <a:latin typeface="Arial"/>
                <a:ea typeface="Arial"/>
                <a:cs typeface="Arial"/>
              </a:defRPr>
            </a:lvl4pPr>
            <a:lvl5pPr>
              <a:defRPr sz="1725" b="0">
                <a:solidFill>
                  <a:srgbClr val="142F38"/>
                </a:solidFill>
                <a:latin typeface="Arial"/>
                <a:ea typeface="Arial"/>
                <a:cs typeface="Arial"/>
              </a:defRPr>
            </a:lvl5pPr>
            <a:lvl6pPr>
              <a:defRPr sz="1725" b="0">
                <a:solidFill>
                  <a:srgbClr val="142F38"/>
                </a:solidFill>
                <a:latin typeface="Arial"/>
                <a:ea typeface="Arial"/>
                <a:cs typeface="Arial"/>
              </a:defRPr>
            </a:lvl6pPr>
            <a:lvl7pPr>
              <a:defRPr sz="1725" b="0">
                <a:solidFill>
                  <a:srgbClr val="142F38"/>
                </a:solidFill>
                <a:latin typeface="Arial"/>
                <a:ea typeface="Arial"/>
                <a:cs typeface="Arial"/>
              </a:defRPr>
            </a:lvl7pPr>
            <a:lvl8pPr>
              <a:defRPr sz="1725" b="0">
                <a:solidFill>
                  <a:srgbClr val="142F38"/>
                </a:solidFill>
                <a:latin typeface="Arial"/>
                <a:ea typeface="Arial"/>
                <a:cs typeface="Arial"/>
              </a:defRPr>
            </a:lvl8pPr>
            <a:lvl9pPr>
              <a:defRPr sz="1725" b="0">
                <a:solidFill>
                  <a:srgbClr val="142F38"/>
                </a:solidFill>
                <a:latin typeface="Arial"/>
                <a:ea typeface="Arial"/>
                <a:cs typeface="Arial"/>
              </a:defRPr>
            </a:lvl9pPr>
          </a:lstStyle>
          <a:p xmlns:a="http://schemas.openxmlformats.org/drawingml/2006/main">
            <a:pPr>
              <a:defRPr sz="1725" b="0">
                <a:solidFill>
                  <a:srgbClr val="142F38"/>
                </a:solidFill>
                <a:latin typeface="Arial"/>
                <a:ea typeface="Arial"/>
                <a:cs typeface="Arial"/>
              </a:defRPr>
            </a:pPr>
            <a:r>
              <a:rPr sz="1725" b="0">
                <a:solidFill>
                  <a:srgbClr val="142F38"/>
                </a:solidFill>
                <a:latin typeface="Arial"/>
                <a:ea typeface="Arial"/>
                <a:cs typeface="Arial"/>
              </a:rPr>
              <a:t>True: Ankle boot</a:t>
            </a:r>
          </a:p>
          <a:p xmlns:a="http://schemas.openxmlformats.org/drawingml/2006/main">
            <a:pPr>
              <a:defRPr sz="1725" b="0">
                <a:solidFill>
                  <a:srgbClr val="142F38"/>
                </a:solidFill>
                <a:latin typeface="Arial"/>
                <a:ea typeface="Arial"/>
                <a:cs typeface="Arial"/>
              </a:defRPr>
            </a:pPr>
            <a:r>
              <a:rPr sz="1725" b="0">
                <a:solidFill>
                  <a:srgbClr val="142F38"/>
                </a:solidFill>
                <a:latin typeface="Arial"/>
                <a:ea typeface="Arial"/>
                <a:cs typeface="Arial"/>
              </a:rPr>
              <a:t>Pixels: Sandal</a:t>
            </a:r>
          </a:p>
          <a:p xmlns:a="http://schemas.openxmlformats.org/drawingml/2006/main">
            <a:pPr>
              <a:defRPr sz="1725" b="0">
                <a:solidFill>
                  <a:srgbClr val="142F38"/>
                </a:solidFill>
                <a:latin typeface="Arial"/>
                <a:ea typeface="Arial"/>
                <a:cs typeface="Arial"/>
              </a:defRPr>
            </a:pPr>
            <a:r>
              <a:rPr sz="1725" b="0">
                <a:solidFill>
                  <a:srgbClr val="142F38"/>
                </a:solidFill>
                <a:latin typeface="Arial"/>
                <a:ea typeface="Arial"/>
                <a:cs typeface="Arial"/>
              </a:rPr>
              <a:t>HOG: Sandal</a:t>
            </a:r>
          </a:p>
        </p:txBody>
      </p:sp>
      <p:sp>
        <p:nvSpPr>
          <p:cNvPr id="16" name="">
            <a:extLst xmlns:a="http://schemas.openxmlformats.org/drawingml/2006/main">
              <a:ext uri="{FF2B5EF4-FFF2-40B4-BE49-F238E27FC236}">
                <a16:creationId xmlns:a16="http://schemas.microsoft.com/office/drawing/2014/main" id="{C3792598-8AD5-43B7-B44F-123BAABB575A}"/>
              </a:ext>
            </a:extLst>
          </p:cNvPr>
          <p:cNvSpPr>
            <a:spLocks xmlns:a="http://schemas.openxmlformats.org/drawingml/2006/main" noGrp="1"/>
          </p:cNvSpPr>
          <p:nvPr/>
        </p:nvSpPr>
        <p:spPr>
          <a:xfrm xmlns:a="http://schemas.openxmlformats.org/drawingml/2006/main">
            <a:off x="647700" y="6048375"/>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52656D"/>
                </a:solidFill>
                <a:latin typeface="Arial"/>
                <a:ea typeface="Arial"/>
                <a:cs typeface="Arial"/>
              </a:defRPr>
            </a:defPPr>
            <a:lvl1pPr>
              <a:defRPr sz="1725" b="0">
                <a:solidFill>
                  <a:srgbClr val="52656D"/>
                </a:solidFill>
                <a:latin typeface="Arial"/>
                <a:ea typeface="Arial"/>
                <a:cs typeface="Arial"/>
              </a:defRPr>
            </a:lvl1pPr>
            <a:lvl2pPr>
              <a:defRPr sz="1725" b="0">
                <a:solidFill>
                  <a:srgbClr val="52656D"/>
                </a:solidFill>
                <a:latin typeface="Arial"/>
                <a:ea typeface="Arial"/>
                <a:cs typeface="Arial"/>
              </a:defRPr>
            </a:lvl2pPr>
            <a:lvl3pPr>
              <a:defRPr sz="1725" b="0">
                <a:solidFill>
                  <a:srgbClr val="52656D"/>
                </a:solidFill>
                <a:latin typeface="Arial"/>
                <a:ea typeface="Arial"/>
                <a:cs typeface="Arial"/>
              </a:defRPr>
            </a:lvl3pPr>
            <a:lvl4pPr>
              <a:defRPr sz="1725" b="0">
                <a:solidFill>
                  <a:srgbClr val="52656D"/>
                </a:solidFill>
                <a:latin typeface="Arial"/>
                <a:ea typeface="Arial"/>
                <a:cs typeface="Arial"/>
              </a:defRPr>
            </a:lvl4pPr>
            <a:lvl5pPr>
              <a:defRPr sz="1725" b="0">
                <a:solidFill>
                  <a:srgbClr val="52656D"/>
                </a:solidFill>
                <a:latin typeface="Arial"/>
                <a:ea typeface="Arial"/>
                <a:cs typeface="Arial"/>
              </a:defRPr>
            </a:lvl5pPr>
            <a:lvl6pPr>
              <a:defRPr sz="1725" b="0">
                <a:solidFill>
                  <a:srgbClr val="52656D"/>
                </a:solidFill>
                <a:latin typeface="Arial"/>
                <a:ea typeface="Arial"/>
                <a:cs typeface="Arial"/>
              </a:defRPr>
            </a:lvl6pPr>
            <a:lvl7pPr>
              <a:defRPr sz="1725" b="0">
                <a:solidFill>
                  <a:srgbClr val="52656D"/>
                </a:solidFill>
                <a:latin typeface="Arial"/>
                <a:ea typeface="Arial"/>
                <a:cs typeface="Arial"/>
              </a:defRPr>
            </a:lvl7pPr>
            <a:lvl8pPr>
              <a:defRPr sz="1725" b="0">
                <a:solidFill>
                  <a:srgbClr val="52656D"/>
                </a:solidFill>
                <a:latin typeface="Arial"/>
                <a:ea typeface="Arial"/>
                <a:cs typeface="Arial"/>
              </a:defRPr>
            </a:lvl8pPr>
            <a:lvl9pPr>
              <a:defRPr sz="1725" b="0">
                <a:solidFill>
                  <a:srgbClr val="52656D"/>
                </a:solidFill>
                <a:latin typeface="Arial"/>
                <a:ea typeface="Arial"/>
                <a:cs typeface="Arial"/>
              </a:defRPr>
            </a:lvl9pPr>
          </a:lstStyle>
          <a:p xmlns:a="http://schemas.openxmlformats.org/drawingml/2006/main">
            <a:pPr>
              <a:defRPr sz="1725" b="0">
                <a:solidFill>
                  <a:srgbClr val="52656D"/>
                </a:solidFill>
                <a:latin typeface="Arial"/>
                <a:ea typeface="Arial"/>
                <a:cs typeface="Arial"/>
              </a:defRPr>
            </a:pPr>
            <a:r>
              <a:rPr sz="1725" b="0">
                <a:solidFill>
                  <a:srgbClr val="52656D"/>
                </a:solidFill>
                <a:latin typeface="Arial"/>
                <a:ea typeface="Arial"/>
                <a:cs typeface="Arial"/>
              </a:rPr>
              <a:t>First sample IDs per outcome group. Examples illustrate errors, not prevalence.</a:t>
            </a:r>
          </a:p>
        </p:txBody>
      </p:sp>
    </p:spTree>
    <p:extLst>
      <p:ext uri="{BB962C8B-B14F-4D97-AF65-F5344CB8AC3E}">
        <p14:creationId xmlns:p14="http://schemas.microsoft.com/office/powerpoint/2010/main" val="125315552"/>
      </p:ext>
    </p:extLst>
  </p:cSld>
</p:sld>
</file>

<file path=ppt/slides/slide1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8B06EA3-7107-40F4-B15A-73EE257392F8}"/>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42F38"/>
                </a:solidFill>
                <a:latin typeface="Arial"/>
                <a:ea typeface="Arial"/>
                <a:cs typeface="Arial"/>
              </a:defRPr>
            </a:defPPr>
            <a:lvl1pPr>
              <a:defRPr sz="3300" b="1">
                <a:solidFill>
                  <a:srgbClr val="142F38"/>
                </a:solidFill>
                <a:latin typeface="Arial"/>
                <a:ea typeface="Arial"/>
                <a:cs typeface="Arial"/>
              </a:defRPr>
            </a:lvl1pPr>
            <a:lvl2pPr>
              <a:defRPr sz="3300" b="1">
                <a:solidFill>
                  <a:srgbClr val="142F38"/>
                </a:solidFill>
                <a:latin typeface="Arial"/>
                <a:ea typeface="Arial"/>
                <a:cs typeface="Arial"/>
              </a:defRPr>
            </a:lvl2pPr>
            <a:lvl3pPr>
              <a:defRPr sz="3300" b="1">
                <a:solidFill>
                  <a:srgbClr val="142F38"/>
                </a:solidFill>
                <a:latin typeface="Arial"/>
                <a:ea typeface="Arial"/>
                <a:cs typeface="Arial"/>
              </a:defRPr>
            </a:lvl3pPr>
            <a:lvl4pPr>
              <a:defRPr sz="3300" b="1">
                <a:solidFill>
                  <a:srgbClr val="142F38"/>
                </a:solidFill>
                <a:latin typeface="Arial"/>
                <a:ea typeface="Arial"/>
                <a:cs typeface="Arial"/>
              </a:defRPr>
            </a:lvl4pPr>
            <a:lvl5pPr>
              <a:defRPr sz="3300" b="1">
                <a:solidFill>
                  <a:srgbClr val="142F38"/>
                </a:solidFill>
                <a:latin typeface="Arial"/>
                <a:ea typeface="Arial"/>
                <a:cs typeface="Arial"/>
              </a:defRPr>
            </a:lvl5pPr>
            <a:lvl6pPr>
              <a:defRPr sz="3300" b="1">
                <a:solidFill>
                  <a:srgbClr val="142F38"/>
                </a:solidFill>
                <a:latin typeface="Arial"/>
                <a:ea typeface="Arial"/>
                <a:cs typeface="Arial"/>
              </a:defRPr>
            </a:lvl6pPr>
            <a:lvl7pPr>
              <a:defRPr sz="3300" b="1">
                <a:solidFill>
                  <a:srgbClr val="142F38"/>
                </a:solidFill>
                <a:latin typeface="Arial"/>
                <a:ea typeface="Arial"/>
                <a:cs typeface="Arial"/>
              </a:defRPr>
            </a:lvl7pPr>
            <a:lvl8pPr>
              <a:defRPr sz="3300" b="1">
                <a:solidFill>
                  <a:srgbClr val="142F38"/>
                </a:solidFill>
                <a:latin typeface="Arial"/>
                <a:ea typeface="Arial"/>
                <a:cs typeface="Arial"/>
              </a:defRPr>
            </a:lvl8pPr>
            <a:lvl9pPr>
              <a:defRPr sz="3300" b="1">
                <a:solidFill>
                  <a:srgbClr val="142F38"/>
                </a:solidFill>
                <a:latin typeface="Arial"/>
                <a:ea typeface="Arial"/>
                <a:cs typeface="Arial"/>
              </a:defRPr>
            </a:lvl9pPr>
          </a:lstStyle>
          <a:p xmlns:a="http://schemas.openxmlformats.org/drawingml/2006/main">
            <a:pPr>
              <a:defRPr sz="3300" b="1">
                <a:solidFill>
                  <a:srgbClr val="142F38"/>
                </a:solidFill>
                <a:latin typeface="Arial"/>
                <a:ea typeface="Arial"/>
                <a:cs typeface="Arial"/>
              </a:defRPr>
            </a:pPr>
            <a:r>
              <a:rPr sz="3300" b="1">
                <a:solidFill>
                  <a:srgbClr val="142F38"/>
                </a:solidFill>
                <a:latin typeface="Arial"/>
                <a:ea typeface="Arial"/>
                <a:cs typeface="Arial"/>
              </a:rPr>
              <a:t>Inference cost changes the trade-off</a:t>
            </a:r>
          </a:p>
        </p:txBody>
      </p:sp>
      <p:sp>
        <p:nvSpPr>
          <p:cNvPr id="3" name="">
            <a:extLst xmlns:a="http://schemas.openxmlformats.org/drawingml/2006/main">
              <a:ext uri="{FF2B5EF4-FFF2-40B4-BE49-F238E27FC236}">
                <a16:creationId xmlns:a16="http://schemas.microsoft.com/office/drawing/2014/main" id="{97930F6E-ACFC-4248-AF2F-9B974774104B}"/>
              </a:ext>
            </a:extLst>
          </p:cNvPr>
          <p:cNvSpPr>
            <a:spLocks xmlns:a="http://schemas.openxmlformats.org/drawingml/2006/main" noGrp="1"/>
          </p:cNvSpPr>
          <p:nvPr/>
        </p:nvSpPr>
        <p:spPr>
          <a:xfrm xmlns:a="http://schemas.openxmlformats.org/drawingml/2006/main">
            <a:off x="10001250" y="644842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56D"/>
                </a:solidFill>
                <a:latin typeface="Arial"/>
                <a:ea typeface="Arial"/>
                <a:cs typeface="Arial"/>
              </a:defRPr>
            </a:defPPr>
            <a:lvl1pPr>
              <a:defRPr sz="1200" b="0">
                <a:solidFill>
                  <a:srgbClr val="52656D"/>
                </a:solidFill>
                <a:latin typeface="Arial"/>
                <a:ea typeface="Arial"/>
                <a:cs typeface="Arial"/>
              </a:defRPr>
            </a:lvl1pPr>
            <a:lvl2pPr>
              <a:defRPr sz="1200" b="0">
                <a:solidFill>
                  <a:srgbClr val="52656D"/>
                </a:solidFill>
                <a:latin typeface="Arial"/>
                <a:ea typeface="Arial"/>
                <a:cs typeface="Arial"/>
              </a:defRPr>
            </a:lvl2pPr>
            <a:lvl3pPr>
              <a:defRPr sz="1200" b="0">
                <a:solidFill>
                  <a:srgbClr val="52656D"/>
                </a:solidFill>
                <a:latin typeface="Arial"/>
                <a:ea typeface="Arial"/>
                <a:cs typeface="Arial"/>
              </a:defRPr>
            </a:lvl3pPr>
            <a:lvl4pPr>
              <a:defRPr sz="1200" b="0">
                <a:solidFill>
                  <a:srgbClr val="52656D"/>
                </a:solidFill>
                <a:latin typeface="Arial"/>
                <a:ea typeface="Arial"/>
                <a:cs typeface="Arial"/>
              </a:defRPr>
            </a:lvl4pPr>
            <a:lvl5pPr>
              <a:defRPr sz="1200" b="0">
                <a:solidFill>
                  <a:srgbClr val="52656D"/>
                </a:solidFill>
                <a:latin typeface="Arial"/>
                <a:ea typeface="Arial"/>
                <a:cs typeface="Arial"/>
              </a:defRPr>
            </a:lvl5pPr>
            <a:lvl6pPr>
              <a:defRPr sz="1200" b="0">
                <a:solidFill>
                  <a:srgbClr val="52656D"/>
                </a:solidFill>
                <a:latin typeface="Arial"/>
                <a:ea typeface="Arial"/>
                <a:cs typeface="Arial"/>
              </a:defRPr>
            </a:lvl6pPr>
            <a:lvl7pPr>
              <a:defRPr sz="1200" b="0">
                <a:solidFill>
                  <a:srgbClr val="52656D"/>
                </a:solidFill>
                <a:latin typeface="Arial"/>
                <a:ea typeface="Arial"/>
                <a:cs typeface="Arial"/>
              </a:defRPr>
            </a:lvl7pPr>
            <a:lvl8pPr>
              <a:defRPr sz="1200" b="0">
                <a:solidFill>
                  <a:srgbClr val="52656D"/>
                </a:solidFill>
                <a:latin typeface="Arial"/>
                <a:ea typeface="Arial"/>
                <a:cs typeface="Arial"/>
              </a:defRPr>
            </a:lvl8pPr>
            <a:lvl9pPr>
              <a:defRPr sz="1200" b="0">
                <a:solidFill>
                  <a:srgbClr val="52656D"/>
                </a:solidFill>
                <a:latin typeface="Arial"/>
                <a:ea typeface="Arial"/>
                <a:cs typeface="Arial"/>
              </a:defRPr>
            </a:lvl9pPr>
          </a:lstStyle>
          <a:p xmlns:a="http://schemas.openxmlformats.org/drawingml/2006/main">
            <a:pPr>
              <a:defRPr sz="1200" b="0">
                <a:solidFill>
                  <a:srgbClr val="52656D"/>
                </a:solidFill>
                <a:latin typeface="Arial"/>
                <a:ea typeface="Arial"/>
                <a:cs typeface="Arial"/>
              </a:defRPr>
            </a:pPr>
            <a:r>
              <a:rPr sz="1200" b="0">
                <a:solidFill>
                  <a:srgbClr val="52656D"/>
                </a:solidFill>
                <a:latin typeface="Arial"/>
                <a:ea typeface="Arial"/>
                <a:cs typeface="Arial"/>
              </a:rPr>
              <a:t>15</a:t>
            </a:r>
          </a:p>
        </p:txBody>
      </p:sp>
      <p:graphicFrame>
        <p:nvGraphicFramePr>
          <p:cNvPr id="4" name="">
            <a:extLst xmlns:a="http://schemas.openxmlformats.org/drawingml/2006/main">
              <a:ext uri="{FF2B5EF4-FFF2-40B4-BE49-F238E27FC236}">
                <a16:creationId xmlns:a16="http://schemas.microsoft.com/office/drawing/2014/main" id="{94C02043-7D5F-40AB-8E69-4DBD1FFC7F61}"/>
              </a:ext>
            </a:extLst>
          </p:cNvPr>
          <p:cNvGraphicFramePr/>
          <p:nvPr/>
        </p:nvGraphicFramePr>
        <p:xfrm>
          <a:off xmlns:a="http://schemas.openxmlformats.org/drawingml/2006/main" x="647700" y="1600200"/>
          <a:ext xmlns:a="http://schemas.openxmlformats.org/drawingml/2006/main" cx="10896600" cy="3086100"/>
        </p:xfrm>
        <a:graphic xmlns:a="http://schemas.openxmlformats.org/drawingml/2006/main">
          <a:graphicData uri="http://schemas.openxmlformats.org/drawingml/2006/table">
            <a:tbl>
              <a:tblPr/>
              <a:tblGrid>
                <a:gridCol w="4572000"/>
                <a:gridCol w="3162300"/>
                <a:gridCol w="3162300"/>
              </a:tblGrid>
              <a:tr h="617220">
                <a:tc>
                  <a:txBody>
                    <a:bodyPr/>
                    <a:lstStyle/>
                    <a:p>
                      <a:r>
                        <a:rPr sz="2100" b="1">
                          <a:solidFill>
                            <a:srgbClr val="FFFFFF"/>
                          </a:solidFill>
                          <a:latin typeface="Arial"/>
                          <a:ea typeface="Arial"/>
                          <a:cs typeface="Arial"/>
                        </a:rPr>
                        <a:t>Classifier</a:t>
                      </a:r>
                    </a:p>
                  </a:txBody>
                  <a:tcPr marL="95250" marR="95250" marT="85725" marB="57150" anchor="ctr">
                    <a:lnL w="6668">
                      <a:solidFill>
                        <a:srgbClr val="D9DFDF"/>
                      </a:solidFill>
                      <a:prstDash val="solid"/>
                    </a:lnL>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c>
                  <a:txBody>
                    <a:bodyPr/>
                    <a:lstStyle/>
                    <a:p>
                      <a:r>
                        <a:rPr sz="2100" b="1">
                          <a:solidFill>
                            <a:srgbClr val="FFFFFF"/>
                          </a:solidFill>
                          <a:latin typeface="Arial"/>
                          <a:ea typeface="Arial"/>
                          <a:cs typeface="Arial"/>
                        </a:rPr>
                        <a:t>Pixels (ms/image)</a:t>
                      </a:r>
                    </a:p>
                  </a:txBody>
                  <a:tcPr marL="95250" marR="95250" marT="85725" marB="57150" anchor="ctr">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c>
                  <a:txBody>
                    <a:bodyPr/>
                    <a:lstStyle/>
                    <a:p>
                      <a:r>
                        <a:rPr sz="2100" b="1">
                          <a:solidFill>
                            <a:srgbClr val="FFFFFF"/>
                          </a:solidFill>
                          <a:latin typeface="Arial"/>
                          <a:ea typeface="Arial"/>
                          <a:cs typeface="Arial"/>
                        </a:rPr>
                        <a:t>HOG (ms/image)</a:t>
                      </a:r>
                    </a:p>
                  </a:txBody>
                  <a:tcPr marL="95250" marR="95250" marT="85725" marB="57150" anchor="ctr">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r>
              <a:tr h="617220">
                <a:tc>
                  <a:txBody>
                    <a:bodyPr/>
                    <a:lstStyle/>
                    <a:p>
                      <a:r>
                        <a:rPr sz="2100">
                          <a:solidFill>
                            <a:srgbClr val="142F38"/>
                          </a:solidFill>
                          <a:latin typeface="Arial"/>
                          <a:ea typeface="Arial"/>
                          <a:cs typeface="Arial"/>
                        </a:rPr>
                        <a:t>Logistic Regression</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2100">
                          <a:solidFill>
                            <a:srgbClr val="142F38"/>
                          </a:solidFill>
                          <a:latin typeface="Arial"/>
                          <a:ea typeface="Arial"/>
                          <a:cs typeface="Arial"/>
                        </a:rPr>
                        <a:t>0.0014</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2100">
                          <a:solidFill>
                            <a:srgbClr val="142F38"/>
                          </a:solidFill>
                          <a:latin typeface="Arial"/>
                          <a:ea typeface="Arial"/>
                          <a:cs typeface="Arial"/>
                        </a:rPr>
                        <a:t>0.1473</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617220">
                <a:tc>
                  <a:txBody>
                    <a:bodyPr/>
                    <a:lstStyle/>
                    <a:p>
                      <a:r>
                        <a:rPr sz="2100">
                          <a:solidFill>
                            <a:srgbClr val="142F38"/>
                          </a:solidFill>
                          <a:latin typeface="Arial"/>
                          <a:ea typeface="Arial"/>
                          <a:cs typeface="Arial"/>
                        </a:rPr>
                        <a:t>kNN</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2100">
                          <a:solidFill>
                            <a:srgbClr val="142F38"/>
                          </a:solidFill>
                          <a:latin typeface="Arial"/>
                          <a:ea typeface="Arial"/>
                          <a:cs typeface="Arial"/>
                        </a:rPr>
                        <a:t>0.3298</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2100">
                          <a:solidFill>
                            <a:srgbClr val="142F38"/>
                          </a:solidFill>
                          <a:latin typeface="Arial"/>
                          <a:ea typeface="Arial"/>
                          <a:cs typeface="Arial"/>
                        </a:rPr>
                        <a:t>0.9880</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617220">
                <a:tc>
                  <a:txBody>
                    <a:bodyPr/>
                    <a:lstStyle/>
                    <a:p>
                      <a:r>
                        <a:rPr sz="2100">
                          <a:solidFill>
                            <a:srgbClr val="142F38"/>
                          </a:solidFill>
                          <a:latin typeface="Arial"/>
                          <a:ea typeface="Arial"/>
                          <a:cs typeface="Arial"/>
                        </a:rPr>
                        <a:t>Random Forest</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2100">
                          <a:solidFill>
                            <a:srgbClr val="142F38"/>
                          </a:solidFill>
                          <a:latin typeface="Arial"/>
                          <a:ea typeface="Arial"/>
                          <a:cs typeface="Arial"/>
                        </a:rPr>
                        <a:t>0.0609</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2100">
                          <a:solidFill>
                            <a:srgbClr val="142F38"/>
                          </a:solidFill>
                          <a:latin typeface="Arial"/>
                          <a:ea typeface="Arial"/>
                          <a:cs typeface="Arial"/>
                        </a:rPr>
                        <a:t>0.2061</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617220">
                <a:tc>
                  <a:txBody>
                    <a:bodyPr/>
                    <a:lstStyle/>
                    <a:p>
                      <a:r>
                        <a:rPr sz="2100">
                          <a:solidFill>
                            <a:srgbClr val="142F38"/>
                          </a:solidFill>
                          <a:latin typeface="Arial"/>
                          <a:ea typeface="Arial"/>
                          <a:cs typeface="Arial"/>
                        </a:rPr>
                        <a:t>RBF SVM</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2100">
                          <a:solidFill>
                            <a:srgbClr val="142F38"/>
                          </a:solidFill>
                          <a:latin typeface="Arial"/>
                          <a:ea typeface="Arial"/>
                          <a:cs typeface="Arial"/>
                        </a:rPr>
                        <a:t>3.2468</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2100">
                          <a:solidFill>
                            <a:srgbClr val="142F38"/>
                          </a:solidFill>
                          <a:latin typeface="Arial"/>
                          <a:ea typeface="Arial"/>
                          <a:cs typeface="Arial"/>
                        </a:rPr>
                        <a:t>21.7090</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bl>
          </a:graphicData>
        </a:graphic>
      </p:graphicFrame>
      <p:sp>
        <p:nvSpPr>
          <p:cNvPr id="5" name="">
            <a:extLst xmlns:a="http://schemas.openxmlformats.org/drawingml/2006/main">
              <a:ext uri="{FF2B5EF4-FFF2-40B4-BE49-F238E27FC236}">
                <a16:creationId xmlns:a16="http://schemas.microsoft.com/office/drawing/2014/main" id="{CCBDC9F5-9C06-428F-9D64-09DEC2E26C30}"/>
              </a:ext>
            </a:extLst>
          </p:cNvPr>
          <p:cNvSpPr>
            <a:spLocks xmlns:a="http://schemas.openxmlformats.org/drawingml/2006/main" noGrp="1"/>
          </p:cNvSpPr>
          <p:nvPr/>
        </p:nvSpPr>
        <p:spPr>
          <a:xfrm xmlns:a="http://schemas.openxmlformats.org/drawingml/2006/main">
            <a:off x="647700" y="5076825"/>
            <a:ext cx="1089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087F82"/>
                </a:solidFill>
                <a:latin typeface="Arial"/>
                <a:ea typeface="Arial"/>
                <a:cs typeface="Arial"/>
              </a:defRPr>
            </a:defPPr>
            <a:lvl1pPr>
              <a:defRPr sz="2100" b="1">
                <a:solidFill>
                  <a:srgbClr val="087F82"/>
                </a:solidFill>
                <a:latin typeface="Arial"/>
                <a:ea typeface="Arial"/>
                <a:cs typeface="Arial"/>
              </a:defRPr>
            </a:lvl1pPr>
            <a:lvl2pPr>
              <a:defRPr sz="2100" b="1">
                <a:solidFill>
                  <a:srgbClr val="087F82"/>
                </a:solidFill>
                <a:latin typeface="Arial"/>
                <a:ea typeface="Arial"/>
                <a:cs typeface="Arial"/>
              </a:defRPr>
            </a:lvl2pPr>
            <a:lvl3pPr>
              <a:defRPr sz="2100" b="1">
                <a:solidFill>
                  <a:srgbClr val="087F82"/>
                </a:solidFill>
                <a:latin typeface="Arial"/>
                <a:ea typeface="Arial"/>
                <a:cs typeface="Arial"/>
              </a:defRPr>
            </a:lvl3pPr>
            <a:lvl4pPr>
              <a:defRPr sz="2100" b="1">
                <a:solidFill>
                  <a:srgbClr val="087F82"/>
                </a:solidFill>
                <a:latin typeface="Arial"/>
                <a:ea typeface="Arial"/>
                <a:cs typeface="Arial"/>
              </a:defRPr>
            </a:lvl4pPr>
            <a:lvl5pPr>
              <a:defRPr sz="2100" b="1">
                <a:solidFill>
                  <a:srgbClr val="087F82"/>
                </a:solidFill>
                <a:latin typeface="Arial"/>
                <a:ea typeface="Arial"/>
                <a:cs typeface="Arial"/>
              </a:defRPr>
            </a:lvl5pPr>
            <a:lvl6pPr>
              <a:defRPr sz="2100" b="1">
                <a:solidFill>
                  <a:srgbClr val="087F82"/>
                </a:solidFill>
                <a:latin typeface="Arial"/>
                <a:ea typeface="Arial"/>
                <a:cs typeface="Arial"/>
              </a:defRPr>
            </a:lvl6pPr>
            <a:lvl7pPr>
              <a:defRPr sz="2100" b="1">
                <a:solidFill>
                  <a:srgbClr val="087F82"/>
                </a:solidFill>
                <a:latin typeface="Arial"/>
                <a:ea typeface="Arial"/>
                <a:cs typeface="Arial"/>
              </a:defRPr>
            </a:lvl7pPr>
            <a:lvl8pPr>
              <a:defRPr sz="2100" b="1">
                <a:solidFill>
                  <a:srgbClr val="087F82"/>
                </a:solidFill>
                <a:latin typeface="Arial"/>
                <a:ea typeface="Arial"/>
                <a:cs typeface="Arial"/>
              </a:defRPr>
            </a:lvl8pPr>
            <a:lvl9pPr>
              <a:defRPr sz="2100" b="1">
                <a:solidFill>
                  <a:srgbClr val="087F82"/>
                </a:solidFill>
                <a:latin typeface="Arial"/>
                <a:ea typeface="Arial"/>
                <a:cs typeface="Arial"/>
              </a:defRPr>
            </a:lvl9pPr>
          </a:lstStyle>
          <a:p xmlns:a="http://schemas.openxmlformats.org/drawingml/2006/main">
            <a:pPr>
              <a:defRPr sz="2100" b="1">
                <a:solidFill>
                  <a:srgbClr val="087F82"/>
                </a:solidFill>
                <a:latin typeface="Arial"/>
                <a:ea typeface="Arial"/>
                <a:cs typeface="Arial"/>
              </a:defRPr>
            </a:pPr>
            <a:r>
              <a:rPr sz="2100" b="1">
                <a:solidFill>
                  <a:srgbClr val="087F82"/>
                </a:solidFill>
                <a:latin typeface="Arial"/>
                <a:ea typeface="Arial"/>
                <a:cs typeface="Arial"/>
              </a:rPr>
              <a:t>Median end-to-end cost, batch 128, 5 repeats, 1 native thread</a:t>
            </a:r>
          </a:p>
        </p:txBody>
      </p:sp>
      <p:sp>
        <p:nvSpPr>
          <p:cNvPr id="6" name="">
            <a:extLst xmlns:a="http://schemas.openxmlformats.org/drawingml/2006/main">
              <a:ext uri="{FF2B5EF4-FFF2-40B4-BE49-F238E27FC236}">
                <a16:creationId xmlns:a16="http://schemas.microsoft.com/office/drawing/2014/main" id="{F452CC0D-B164-49BB-AC9B-1D02E5F24C48}"/>
              </a:ext>
            </a:extLst>
          </p:cNvPr>
          <p:cNvSpPr>
            <a:spLocks xmlns:a="http://schemas.openxmlformats.org/drawingml/2006/main" noGrp="1"/>
          </p:cNvSpPr>
          <p:nvPr/>
        </p:nvSpPr>
        <p:spPr>
          <a:xfrm xmlns:a="http://schemas.openxmlformats.org/drawingml/2006/main">
            <a:off x="647700" y="5715000"/>
            <a:ext cx="1089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52656D"/>
                </a:solidFill>
                <a:latin typeface="Arial"/>
                <a:ea typeface="Arial"/>
                <a:cs typeface="Arial"/>
              </a:defRPr>
            </a:defPPr>
            <a:lvl1pPr>
              <a:defRPr sz="1725" b="0">
                <a:solidFill>
                  <a:srgbClr val="52656D"/>
                </a:solidFill>
                <a:latin typeface="Arial"/>
                <a:ea typeface="Arial"/>
                <a:cs typeface="Arial"/>
              </a:defRPr>
            </a:lvl1pPr>
            <a:lvl2pPr>
              <a:defRPr sz="1725" b="0">
                <a:solidFill>
                  <a:srgbClr val="52656D"/>
                </a:solidFill>
                <a:latin typeface="Arial"/>
                <a:ea typeface="Arial"/>
                <a:cs typeface="Arial"/>
              </a:defRPr>
            </a:lvl2pPr>
            <a:lvl3pPr>
              <a:defRPr sz="1725" b="0">
                <a:solidFill>
                  <a:srgbClr val="52656D"/>
                </a:solidFill>
                <a:latin typeface="Arial"/>
                <a:ea typeface="Arial"/>
                <a:cs typeface="Arial"/>
              </a:defRPr>
            </a:lvl3pPr>
            <a:lvl4pPr>
              <a:defRPr sz="1725" b="0">
                <a:solidFill>
                  <a:srgbClr val="52656D"/>
                </a:solidFill>
                <a:latin typeface="Arial"/>
                <a:ea typeface="Arial"/>
                <a:cs typeface="Arial"/>
              </a:defRPr>
            </a:lvl4pPr>
            <a:lvl5pPr>
              <a:defRPr sz="1725" b="0">
                <a:solidFill>
                  <a:srgbClr val="52656D"/>
                </a:solidFill>
                <a:latin typeface="Arial"/>
                <a:ea typeface="Arial"/>
                <a:cs typeface="Arial"/>
              </a:defRPr>
            </a:lvl5pPr>
            <a:lvl6pPr>
              <a:defRPr sz="1725" b="0">
                <a:solidFill>
                  <a:srgbClr val="52656D"/>
                </a:solidFill>
                <a:latin typeface="Arial"/>
                <a:ea typeface="Arial"/>
                <a:cs typeface="Arial"/>
              </a:defRPr>
            </a:lvl6pPr>
            <a:lvl7pPr>
              <a:defRPr sz="1725" b="0">
                <a:solidFill>
                  <a:srgbClr val="52656D"/>
                </a:solidFill>
                <a:latin typeface="Arial"/>
                <a:ea typeface="Arial"/>
                <a:cs typeface="Arial"/>
              </a:defRPr>
            </a:lvl7pPr>
            <a:lvl8pPr>
              <a:defRPr sz="1725" b="0">
                <a:solidFill>
                  <a:srgbClr val="52656D"/>
                </a:solidFill>
                <a:latin typeface="Arial"/>
                <a:ea typeface="Arial"/>
                <a:cs typeface="Arial"/>
              </a:defRPr>
            </a:lvl8pPr>
            <a:lvl9pPr>
              <a:defRPr sz="1725" b="0">
                <a:solidFill>
                  <a:srgbClr val="52656D"/>
                </a:solidFill>
                <a:latin typeface="Arial"/>
                <a:ea typeface="Arial"/>
                <a:cs typeface="Arial"/>
              </a:defRPr>
            </a:lvl9pPr>
          </a:lstStyle>
          <a:p xmlns:a="http://schemas.openxmlformats.org/drawingml/2006/main">
            <a:pPr>
              <a:defRPr sz="1725" b="0">
                <a:solidFill>
                  <a:srgbClr val="52656D"/>
                </a:solidFill>
                <a:latin typeface="Arial"/>
                <a:ea typeface="Arial"/>
                <a:cs typeface="Arial"/>
              </a:defRPr>
            </a:pPr>
            <a:r>
              <a:rPr sz="1725" b="0">
                <a:solidFill>
                  <a:srgbClr val="52656D"/>
                </a:solidFill>
                <a:latin typeface="Arial"/>
                <a:ea typeface="Arial"/>
                <a:cs typeface="Arial"/>
              </a:rPr>
              <a:t>Includes feature extraction. Excludes loading. One machine and 1,024 fixed images.</a:t>
            </a:r>
          </a:p>
        </p:txBody>
      </p:sp>
    </p:spTree>
    <p:extLst>
      <p:ext uri="{BB962C8B-B14F-4D97-AF65-F5344CB8AC3E}">
        <p14:creationId xmlns:p14="http://schemas.microsoft.com/office/powerpoint/2010/main" val="1314809712"/>
      </p:ext>
    </p:extLst>
  </p:cSld>
</p:sld>
</file>

<file path=ppt/slides/slide1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86199C2-5217-4984-AA96-CC504C750B9C}"/>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42F38"/>
                </a:solidFill>
                <a:latin typeface="Arial"/>
                <a:ea typeface="Arial"/>
                <a:cs typeface="Arial"/>
              </a:defRPr>
            </a:defPPr>
            <a:lvl1pPr>
              <a:defRPr sz="3300" b="1">
                <a:solidFill>
                  <a:srgbClr val="142F38"/>
                </a:solidFill>
                <a:latin typeface="Arial"/>
                <a:ea typeface="Arial"/>
                <a:cs typeface="Arial"/>
              </a:defRPr>
            </a:lvl1pPr>
            <a:lvl2pPr>
              <a:defRPr sz="3300" b="1">
                <a:solidFill>
                  <a:srgbClr val="142F38"/>
                </a:solidFill>
                <a:latin typeface="Arial"/>
                <a:ea typeface="Arial"/>
                <a:cs typeface="Arial"/>
              </a:defRPr>
            </a:lvl2pPr>
            <a:lvl3pPr>
              <a:defRPr sz="3300" b="1">
                <a:solidFill>
                  <a:srgbClr val="142F38"/>
                </a:solidFill>
                <a:latin typeface="Arial"/>
                <a:ea typeface="Arial"/>
                <a:cs typeface="Arial"/>
              </a:defRPr>
            </a:lvl3pPr>
            <a:lvl4pPr>
              <a:defRPr sz="3300" b="1">
                <a:solidFill>
                  <a:srgbClr val="142F38"/>
                </a:solidFill>
                <a:latin typeface="Arial"/>
                <a:ea typeface="Arial"/>
                <a:cs typeface="Arial"/>
              </a:defRPr>
            </a:lvl4pPr>
            <a:lvl5pPr>
              <a:defRPr sz="3300" b="1">
                <a:solidFill>
                  <a:srgbClr val="142F38"/>
                </a:solidFill>
                <a:latin typeface="Arial"/>
                <a:ea typeface="Arial"/>
                <a:cs typeface="Arial"/>
              </a:defRPr>
            </a:lvl5pPr>
            <a:lvl6pPr>
              <a:defRPr sz="3300" b="1">
                <a:solidFill>
                  <a:srgbClr val="142F38"/>
                </a:solidFill>
                <a:latin typeface="Arial"/>
                <a:ea typeface="Arial"/>
                <a:cs typeface="Arial"/>
              </a:defRPr>
            </a:lvl6pPr>
            <a:lvl7pPr>
              <a:defRPr sz="3300" b="1">
                <a:solidFill>
                  <a:srgbClr val="142F38"/>
                </a:solidFill>
                <a:latin typeface="Arial"/>
                <a:ea typeface="Arial"/>
                <a:cs typeface="Arial"/>
              </a:defRPr>
            </a:lvl7pPr>
            <a:lvl8pPr>
              <a:defRPr sz="3300" b="1">
                <a:solidFill>
                  <a:srgbClr val="142F38"/>
                </a:solidFill>
                <a:latin typeface="Arial"/>
                <a:ea typeface="Arial"/>
                <a:cs typeface="Arial"/>
              </a:defRPr>
            </a:lvl8pPr>
            <a:lvl9pPr>
              <a:defRPr sz="3300" b="1">
                <a:solidFill>
                  <a:srgbClr val="142F38"/>
                </a:solidFill>
                <a:latin typeface="Arial"/>
                <a:ea typeface="Arial"/>
                <a:cs typeface="Arial"/>
              </a:defRPr>
            </a:lvl9pPr>
          </a:lstStyle>
          <a:p xmlns:a="http://schemas.openxmlformats.org/drawingml/2006/main">
            <a:pPr>
              <a:defRPr sz="3300" b="1">
                <a:solidFill>
                  <a:srgbClr val="142F38"/>
                </a:solidFill>
                <a:latin typeface="Arial"/>
                <a:ea typeface="Arial"/>
                <a:cs typeface="Arial"/>
              </a:defRPr>
            </a:pPr>
            <a:r>
              <a:rPr sz="3300" b="1">
                <a:solidFill>
                  <a:srgbClr val="142F38"/>
                </a:solidFill>
                <a:latin typeface="Arial"/>
                <a:ea typeface="Arial"/>
                <a:cs typeface="Arial"/>
              </a:rPr>
              <a:t>Reproducible Phase 1 evidence</a:t>
            </a:r>
          </a:p>
        </p:txBody>
      </p:sp>
      <p:sp>
        <p:nvSpPr>
          <p:cNvPr id="3" name="">
            <a:extLst xmlns:a="http://schemas.openxmlformats.org/drawingml/2006/main">
              <a:ext uri="{FF2B5EF4-FFF2-40B4-BE49-F238E27FC236}">
                <a16:creationId xmlns:a16="http://schemas.microsoft.com/office/drawing/2014/main" id="{0F46AE32-81D5-4359-9255-5E6A307C0C53}"/>
              </a:ext>
            </a:extLst>
          </p:cNvPr>
          <p:cNvSpPr>
            <a:spLocks xmlns:a="http://schemas.openxmlformats.org/drawingml/2006/main" noGrp="1"/>
          </p:cNvSpPr>
          <p:nvPr/>
        </p:nvSpPr>
        <p:spPr>
          <a:xfrm xmlns:a="http://schemas.openxmlformats.org/drawingml/2006/main">
            <a:off x="10001250" y="644842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56D"/>
                </a:solidFill>
                <a:latin typeface="Arial"/>
                <a:ea typeface="Arial"/>
                <a:cs typeface="Arial"/>
              </a:defRPr>
            </a:defPPr>
            <a:lvl1pPr>
              <a:defRPr sz="1200" b="0">
                <a:solidFill>
                  <a:srgbClr val="52656D"/>
                </a:solidFill>
                <a:latin typeface="Arial"/>
                <a:ea typeface="Arial"/>
                <a:cs typeface="Arial"/>
              </a:defRPr>
            </a:lvl1pPr>
            <a:lvl2pPr>
              <a:defRPr sz="1200" b="0">
                <a:solidFill>
                  <a:srgbClr val="52656D"/>
                </a:solidFill>
                <a:latin typeface="Arial"/>
                <a:ea typeface="Arial"/>
                <a:cs typeface="Arial"/>
              </a:defRPr>
            </a:lvl2pPr>
            <a:lvl3pPr>
              <a:defRPr sz="1200" b="0">
                <a:solidFill>
                  <a:srgbClr val="52656D"/>
                </a:solidFill>
                <a:latin typeface="Arial"/>
                <a:ea typeface="Arial"/>
                <a:cs typeface="Arial"/>
              </a:defRPr>
            </a:lvl3pPr>
            <a:lvl4pPr>
              <a:defRPr sz="1200" b="0">
                <a:solidFill>
                  <a:srgbClr val="52656D"/>
                </a:solidFill>
                <a:latin typeface="Arial"/>
                <a:ea typeface="Arial"/>
                <a:cs typeface="Arial"/>
              </a:defRPr>
            </a:lvl4pPr>
            <a:lvl5pPr>
              <a:defRPr sz="1200" b="0">
                <a:solidFill>
                  <a:srgbClr val="52656D"/>
                </a:solidFill>
                <a:latin typeface="Arial"/>
                <a:ea typeface="Arial"/>
                <a:cs typeface="Arial"/>
              </a:defRPr>
            </a:lvl5pPr>
            <a:lvl6pPr>
              <a:defRPr sz="1200" b="0">
                <a:solidFill>
                  <a:srgbClr val="52656D"/>
                </a:solidFill>
                <a:latin typeface="Arial"/>
                <a:ea typeface="Arial"/>
                <a:cs typeface="Arial"/>
              </a:defRPr>
            </a:lvl6pPr>
            <a:lvl7pPr>
              <a:defRPr sz="1200" b="0">
                <a:solidFill>
                  <a:srgbClr val="52656D"/>
                </a:solidFill>
                <a:latin typeface="Arial"/>
                <a:ea typeface="Arial"/>
                <a:cs typeface="Arial"/>
              </a:defRPr>
            </a:lvl7pPr>
            <a:lvl8pPr>
              <a:defRPr sz="1200" b="0">
                <a:solidFill>
                  <a:srgbClr val="52656D"/>
                </a:solidFill>
                <a:latin typeface="Arial"/>
                <a:ea typeface="Arial"/>
                <a:cs typeface="Arial"/>
              </a:defRPr>
            </a:lvl8pPr>
            <a:lvl9pPr>
              <a:defRPr sz="1200" b="0">
                <a:solidFill>
                  <a:srgbClr val="52656D"/>
                </a:solidFill>
                <a:latin typeface="Arial"/>
                <a:ea typeface="Arial"/>
                <a:cs typeface="Arial"/>
              </a:defRPr>
            </a:lvl9pPr>
          </a:lstStyle>
          <a:p xmlns:a="http://schemas.openxmlformats.org/drawingml/2006/main">
            <a:pPr>
              <a:defRPr sz="1200" b="0">
                <a:solidFill>
                  <a:srgbClr val="52656D"/>
                </a:solidFill>
                <a:latin typeface="Arial"/>
                <a:ea typeface="Arial"/>
                <a:cs typeface="Arial"/>
              </a:defRPr>
            </a:pPr>
            <a:r>
              <a:rPr sz="1200" b="0">
                <a:solidFill>
                  <a:srgbClr val="52656D"/>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0AF01729-41A8-4212-86CF-9AB9A9570B1A}"/>
              </a:ext>
            </a:extLst>
          </p:cNvPr>
          <p:cNvSpPr>
            <a:spLocks xmlns:a="http://schemas.openxmlformats.org/drawingml/2006/main" noGrp="1"/>
          </p:cNvSpPr>
          <p:nvPr/>
        </p:nvSpPr>
        <p:spPr>
          <a:xfrm xmlns:a="http://schemas.openxmlformats.org/drawingml/2006/main">
            <a:off x="647700" y="157162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087F82"/>
                </a:solidFill>
                <a:latin typeface="Arial"/>
                <a:ea typeface="Arial"/>
                <a:cs typeface="Arial"/>
              </a:defRPr>
            </a:defPPr>
            <a:lvl1pPr>
              <a:defRPr sz="2250" b="1">
                <a:solidFill>
                  <a:srgbClr val="087F82"/>
                </a:solidFill>
                <a:latin typeface="Arial"/>
                <a:ea typeface="Arial"/>
                <a:cs typeface="Arial"/>
              </a:defRPr>
            </a:lvl1pPr>
            <a:lvl2pPr>
              <a:defRPr sz="2250" b="1">
                <a:solidFill>
                  <a:srgbClr val="087F82"/>
                </a:solidFill>
                <a:latin typeface="Arial"/>
                <a:ea typeface="Arial"/>
                <a:cs typeface="Arial"/>
              </a:defRPr>
            </a:lvl2pPr>
            <a:lvl3pPr>
              <a:defRPr sz="2250" b="1">
                <a:solidFill>
                  <a:srgbClr val="087F82"/>
                </a:solidFill>
                <a:latin typeface="Arial"/>
                <a:ea typeface="Arial"/>
                <a:cs typeface="Arial"/>
              </a:defRPr>
            </a:lvl3pPr>
            <a:lvl4pPr>
              <a:defRPr sz="2250" b="1">
                <a:solidFill>
                  <a:srgbClr val="087F82"/>
                </a:solidFill>
                <a:latin typeface="Arial"/>
                <a:ea typeface="Arial"/>
                <a:cs typeface="Arial"/>
              </a:defRPr>
            </a:lvl4pPr>
            <a:lvl5pPr>
              <a:defRPr sz="2250" b="1">
                <a:solidFill>
                  <a:srgbClr val="087F82"/>
                </a:solidFill>
                <a:latin typeface="Arial"/>
                <a:ea typeface="Arial"/>
                <a:cs typeface="Arial"/>
              </a:defRPr>
            </a:lvl5pPr>
            <a:lvl6pPr>
              <a:defRPr sz="2250" b="1">
                <a:solidFill>
                  <a:srgbClr val="087F82"/>
                </a:solidFill>
                <a:latin typeface="Arial"/>
                <a:ea typeface="Arial"/>
                <a:cs typeface="Arial"/>
              </a:defRPr>
            </a:lvl6pPr>
            <a:lvl7pPr>
              <a:defRPr sz="2250" b="1">
                <a:solidFill>
                  <a:srgbClr val="087F82"/>
                </a:solidFill>
                <a:latin typeface="Arial"/>
                <a:ea typeface="Arial"/>
                <a:cs typeface="Arial"/>
              </a:defRPr>
            </a:lvl7pPr>
            <a:lvl8pPr>
              <a:defRPr sz="2250" b="1">
                <a:solidFill>
                  <a:srgbClr val="087F82"/>
                </a:solidFill>
                <a:latin typeface="Arial"/>
                <a:ea typeface="Arial"/>
                <a:cs typeface="Arial"/>
              </a:defRPr>
            </a:lvl8pPr>
            <a:lvl9pPr>
              <a:defRPr sz="2250" b="1">
                <a:solidFill>
                  <a:srgbClr val="087F82"/>
                </a:solidFill>
                <a:latin typeface="Arial"/>
                <a:ea typeface="Arial"/>
                <a:cs typeface="Arial"/>
              </a:defRPr>
            </a:lvl9pPr>
          </a:lstStyle>
          <a:p xmlns:a="http://schemas.openxmlformats.org/drawingml/2006/main">
            <a:pPr>
              <a:defRPr sz="2250" b="1">
                <a:solidFill>
                  <a:srgbClr val="087F82"/>
                </a:solidFill>
                <a:latin typeface="Arial"/>
                <a:ea typeface="Arial"/>
                <a:cs typeface="Arial"/>
              </a:defRPr>
            </a:pPr>
            <a:r>
              <a:rPr sz="2250" b="1">
                <a:solidFill>
                  <a:srgbClr val="087F82"/>
                </a:solidFill>
                <a:latin typeface="Arial"/>
                <a:ea typeface="Arial"/>
                <a:cs typeface="Arial"/>
              </a:rPr>
              <a:t>Trace each result</a:t>
            </a:r>
          </a:p>
        </p:txBody>
      </p:sp>
      <p:sp>
        <p:nvSpPr>
          <p:cNvPr id="5" name="">
            <a:extLst xmlns:a="http://schemas.openxmlformats.org/drawingml/2006/main">
              <a:ext uri="{FF2B5EF4-FFF2-40B4-BE49-F238E27FC236}">
                <a16:creationId xmlns:a16="http://schemas.microsoft.com/office/drawing/2014/main" id="{494F2284-4486-4A80-BCBD-8B91AEA14522}"/>
              </a:ext>
            </a:extLst>
          </p:cNvPr>
          <p:cNvSpPr>
            <a:spLocks xmlns:a="http://schemas.openxmlformats.org/drawingml/2006/main" noGrp="1"/>
          </p:cNvSpPr>
          <p:nvPr/>
        </p:nvSpPr>
        <p:spPr>
          <a:xfrm xmlns:a="http://schemas.openxmlformats.org/drawingml/2006/main">
            <a:off x="647700" y="2114550"/>
            <a:ext cx="4953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42F38"/>
                </a:solidFill>
                <a:latin typeface="Arial"/>
                <a:ea typeface="Arial"/>
                <a:cs typeface="Arial"/>
              </a:defRPr>
            </a:defPPr>
            <a:lvl1pPr>
              <a:defRPr sz="1950" b="0">
                <a:solidFill>
                  <a:srgbClr val="142F38"/>
                </a:solidFill>
                <a:latin typeface="Arial"/>
                <a:ea typeface="Arial"/>
                <a:cs typeface="Arial"/>
              </a:defRPr>
            </a:lvl1pPr>
            <a:lvl2pPr>
              <a:defRPr sz="1950" b="0">
                <a:solidFill>
                  <a:srgbClr val="142F38"/>
                </a:solidFill>
                <a:latin typeface="Arial"/>
                <a:ea typeface="Arial"/>
                <a:cs typeface="Arial"/>
              </a:defRPr>
            </a:lvl2pPr>
            <a:lvl3pPr>
              <a:defRPr sz="1950" b="0">
                <a:solidFill>
                  <a:srgbClr val="142F38"/>
                </a:solidFill>
                <a:latin typeface="Arial"/>
                <a:ea typeface="Arial"/>
                <a:cs typeface="Arial"/>
              </a:defRPr>
            </a:lvl3pPr>
            <a:lvl4pPr>
              <a:defRPr sz="1950" b="0">
                <a:solidFill>
                  <a:srgbClr val="142F38"/>
                </a:solidFill>
                <a:latin typeface="Arial"/>
                <a:ea typeface="Arial"/>
                <a:cs typeface="Arial"/>
              </a:defRPr>
            </a:lvl4pPr>
            <a:lvl5pPr>
              <a:defRPr sz="1950" b="0">
                <a:solidFill>
                  <a:srgbClr val="142F38"/>
                </a:solidFill>
                <a:latin typeface="Arial"/>
                <a:ea typeface="Arial"/>
                <a:cs typeface="Arial"/>
              </a:defRPr>
            </a:lvl5pPr>
            <a:lvl6pPr>
              <a:defRPr sz="1950" b="0">
                <a:solidFill>
                  <a:srgbClr val="142F38"/>
                </a:solidFill>
                <a:latin typeface="Arial"/>
                <a:ea typeface="Arial"/>
                <a:cs typeface="Arial"/>
              </a:defRPr>
            </a:lvl6pPr>
            <a:lvl7pPr>
              <a:defRPr sz="1950" b="0">
                <a:solidFill>
                  <a:srgbClr val="142F38"/>
                </a:solidFill>
                <a:latin typeface="Arial"/>
                <a:ea typeface="Arial"/>
                <a:cs typeface="Arial"/>
              </a:defRPr>
            </a:lvl7pPr>
            <a:lvl8pPr>
              <a:defRPr sz="1950" b="0">
                <a:solidFill>
                  <a:srgbClr val="142F38"/>
                </a:solidFill>
                <a:latin typeface="Arial"/>
                <a:ea typeface="Arial"/>
                <a:cs typeface="Arial"/>
              </a:defRPr>
            </a:lvl8pPr>
            <a:lvl9pPr>
              <a:defRPr sz="1950" b="0">
                <a:solidFill>
                  <a:srgbClr val="142F38"/>
                </a:solidFill>
                <a:latin typeface="Arial"/>
                <a:ea typeface="Arial"/>
                <a:cs typeface="Arial"/>
              </a:defRPr>
            </a:lvl9pPr>
          </a:lstStyle>
          <a:p xmlns:a="http://schemas.openxmlformats.org/drawingml/2006/main">
            <a:pPr>
              <a:defRPr sz="1950" b="0">
                <a:solidFill>
                  <a:srgbClr val="142F38"/>
                </a:solidFill>
                <a:latin typeface="Arial"/>
                <a:ea typeface="Arial"/>
                <a:cs typeface="Arial"/>
              </a:defRPr>
            </a:pPr>
            <a:r>
              <a:rPr sz="1950" b="0">
                <a:solidFill>
                  <a:srgbClr val="142F38"/>
                </a:solidFill>
                <a:latin typeface="Arial"/>
                <a:ea typeface="Arial"/>
                <a:cs typeface="Arial"/>
              </a:rPr>
              <a:t>Saved IDs, candidate logs, prediction files and a hashed freeze manifest</a:t>
            </a:r>
          </a:p>
        </p:txBody>
      </p:sp>
      <p:sp>
        <p:nvSpPr>
          <p:cNvPr id="6" name="">
            <a:extLst xmlns:a="http://schemas.openxmlformats.org/drawingml/2006/main">
              <a:ext uri="{FF2B5EF4-FFF2-40B4-BE49-F238E27FC236}">
                <a16:creationId xmlns:a16="http://schemas.microsoft.com/office/drawing/2014/main" id="{AD5D5E5E-7EBB-46CA-83AC-52B7F757F32A}"/>
              </a:ext>
            </a:extLst>
          </p:cNvPr>
          <p:cNvSpPr>
            <a:spLocks xmlns:a="http://schemas.openxmlformats.org/drawingml/2006/main" noGrp="1"/>
          </p:cNvSpPr>
          <p:nvPr/>
        </p:nvSpPr>
        <p:spPr>
          <a:xfrm xmlns:a="http://schemas.openxmlformats.org/drawingml/2006/main">
            <a:off x="6457950" y="157162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087F82"/>
                </a:solidFill>
                <a:latin typeface="Arial"/>
                <a:ea typeface="Arial"/>
                <a:cs typeface="Arial"/>
              </a:defRPr>
            </a:defPPr>
            <a:lvl1pPr>
              <a:defRPr sz="2250" b="1">
                <a:solidFill>
                  <a:srgbClr val="087F82"/>
                </a:solidFill>
                <a:latin typeface="Arial"/>
                <a:ea typeface="Arial"/>
                <a:cs typeface="Arial"/>
              </a:defRPr>
            </a:lvl1pPr>
            <a:lvl2pPr>
              <a:defRPr sz="2250" b="1">
                <a:solidFill>
                  <a:srgbClr val="087F82"/>
                </a:solidFill>
                <a:latin typeface="Arial"/>
                <a:ea typeface="Arial"/>
                <a:cs typeface="Arial"/>
              </a:defRPr>
            </a:lvl2pPr>
            <a:lvl3pPr>
              <a:defRPr sz="2250" b="1">
                <a:solidFill>
                  <a:srgbClr val="087F82"/>
                </a:solidFill>
                <a:latin typeface="Arial"/>
                <a:ea typeface="Arial"/>
                <a:cs typeface="Arial"/>
              </a:defRPr>
            </a:lvl3pPr>
            <a:lvl4pPr>
              <a:defRPr sz="2250" b="1">
                <a:solidFill>
                  <a:srgbClr val="087F82"/>
                </a:solidFill>
                <a:latin typeface="Arial"/>
                <a:ea typeface="Arial"/>
                <a:cs typeface="Arial"/>
              </a:defRPr>
            </a:lvl4pPr>
            <a:lvl5pPr>
              <a:defRPr sz="2250" b="1">
                <a:solidFill>
                  <a:srgbClr val="087F82"/>
                </a:solidFill>
                <a:latin typeface="Arial"/>
                <a:ea typeface="Arial"/>
                <a:cs typeface="Arial"/>
              </a:defRPr>
            </a:lvl5pPr>
            <a:lvl6pPr>
              <a:defRPr sz="2250" b="1">
                <a:solidFill>
                  <a:srgbClr val="087F82"/>
                </a:solidFill>
                <a:latin typeface="Arial"/>
                <a:ea typeface="Arial"/>
                <a:cs typeface="Arial"/>
              </a:defRPr>
            </a:lvl6pPr>
            <a:lvl7pPr>
              <a:defRPr sz="2250" b="1">
                <a:solidFill>
                  <a:srgbClr val="087F82"/>
                </a:solidFill>
                <a:latin typeface="Arial"/>
                <a:ea typeface="Arial"/>
                <a:cs typeface="Arial"/>
              </a:defRPr>
            </a:lvl7pPr>
            <a:lvl8pPr>
              <a:defRPr sz="2250" b="1">
                <a:solidFill>
                  <a:srgbClr val="087F82"/>
                </a:solidFill>
                <a:latin typeface="Arial"/>
                <a:ea typeface="Arial"/>
                <a:cs typeface="Arial"/>
              </a:defRPr>
            </a:lvl8pPr>
            <a:lvl9pPr>
              <a:defRPr sz="2250" b="1">
                <a:solidFill>
                  <a:srgbClr val="087F82"/>
                </a:solidFill>
                <a:latin typeface="Arial"/>
                <a:ea typeface="Arial"/>
                <a:cs typeface="Arial"/>
              </a:defRPr>
            </a:lvl9pPr>
          </a:lstStyle>
          <a:p xmlns:a="http://schemas.openxmlformats.org/drawingml/2006/main">
            <a:pPr>
              <a:defRPr sz="2250" b="1">
                <a:solidFill>
                  <a:srgbClr val="087F82"/>
                </a:solidFill>
                <a:latin typeface="Arial"/>
                <a:ea typeface="Arial"/>
                <a:cs typeface="Arial"/>
              </a:defRPr>
            </a:pPr>
            <a:r>
              <a:rPr sz="2250" b="1">
                <a:solidFill>
                  <a:srgbClr val="087F82"/>
                </a:solidFill>
                <a:latin typeface="Arial"/>
                <a:ea typeface="Arial"/>
                <a:cs typeface="Arial"/>
              </a:rPr>
              <a:t>Check the calculations</a:t>
            </a:r>
          </a:p>
        </p:txBody>
      </p:sp>
      <p:sp>
        <p:nvSpPr>
          <p:cNvPr id="7" name="">
            <a:extLst xmlns:a="http://schemas.openxmlformats.org/drawingml/2006/main">
              <a:ext uri="{FF2B5EF4-FFF2-40B4-BE49-F238E27FC236}">
                <a16:creationId xmlns:a16="http://schemas.microsoft.com/office/drawing/2014/main" id="{3D9F9D23-62B7-496D-A806-186CE0CFDAF1}"/>
              </a:ext>
            </a:extLst>
          </p:cNvPr>
          <p:cNvSpPr>
            <a:spLocks xmlns:a="http://schemas.openxmlformats.org/drawingml/2006/main" noGrp="1"/>
          </p:cNvSpPr>
          <p:nvPr/>
        </p:nvSpPr>
        <p:spPr>
          <a:xfrm xmlns:a="http://schemas.openxmlformats.org/drawingml/2006/main">
            <a:off x="6457950" y="2114550"/>
            <a:ext cx="4953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42F38"/>
                </a:solidFill>
                <a:latin typeface="Arial"/>
                <a:ea typeface="Arial"/>
                <a:cs typeface="Arial"/>
              </a:defRPr>
            </a:defPPr>
            <a:lvl1pPr>
              <a:defRPr sz="1950" b="0">
                <a:solidFill>
                  <a:srgbClr val="142F38"/>
                </a:solidFill>
                <a:latin typeface="Arial"/>
                <a:ea typeface="Arial"/>
                <a:cs typeface="Arial"/>
              </a:defRPr>
            </a:lvl1pPr>
            <a:lvl2pPr>
              <a:defRPr sz="1950" b="0">
                <a:solidFill>
                  <a:srgbClr val="142F38"/>
                </a:solidFill>
                <a:latin typeface="Arial"/>
                <a:ea typeface="Arial"/>
                <a:cs typeface="Arial"/>
              </a:defRPr>
            </a:lvl2pPr>
            <a:lvl3pPr>
              <a:defRPr sz="1950" b="0">
                <a:solidFill>
                  <a:srgbClr val="142F38"/>
                </a:solidFill>
                <a:latin typeface="Arial"/>
                <a:ea typeface="Arial"/>
                <a:cs typeface="Arial"/>
              </a:defRPr>
            </a:lvl3pPr>
            <a:lvl4pPr>
              <a:defRPr sz="1950" b="0">
                <a:solidFill>
                  <a:srgbClr val="142F38"/>
                </a:solidFill>
                <a:latin typeface="Arial"/>
                <a:ea typeface="Arial"/>
                <a:cs typeface="Arial"/>
              </a:defRPr>
            </a:lvl4pPr>
            <a:lvl5pPr>
              <a:defRPr sz="1950" b="0">
                <a:solidFill>
                  <a:srgbClr val="142F38"/>
                </a:solidFill>
                <a:latin typeface="Arial"/>
                <a:ea typeface="Arial"/>
                <a:cs typeface="Arial"/>
              </a:defRPr>
            </a:lvl5pPr>
            <a:lvl6pPr>
              <a:defRPr sz="1950" b="0">
                <a:solidFill>
                  <a:srgbClr val="142F38"/>
                </a:solidFill>
                <a:latin typeface="Arial"/>
                <a:ea typeface="Arial"/>
                <a:cs typeface="Arial"/>
              </a:defRPr>
            </a:lvl6pPr>
            <a:lvl7pPr>
              <a:defRPr sz="1950" b="0">
                <a:solidFill>
                  <a:srgbClr val="142F38"/>
                </a:solidFill>
                <a:latin typeface="Arial"/>
                <a:ea typeface="Arial"/>
                <a:cs typeface="Arial"/>
              </a:defRPr>
            </a:lvl7pPr>
            <a:lvl8pPr>
              <a:defRPr sz="1950" b="0">
                <a:solidFill>
                  <a:srgbClr val="142F38"/>
                </a:solidFill>
                <a:latin typeface="Arial"/>
                <a:ea typeface="Arial"/>
                <a:cs typeface="Arial"/>
              </a:defRPr>
            </a:lvl8pPr>
            <a:lvl9pPr>
              <a:defRPr sz="1950" b="0">
                <a:solidFill>
                  <a:srgbClr val="142F38"/>
                </a:solidFill>
                <a:latin typeface="Arial"/>
                <a:ea typeface="Arial"/>
                <a:cs typeface="Arial"/>
              </a:defRPr>
            </a:lvl9pPr>
          </a:lstStyle>
          <a:p xmlns:a="http://schemas.openxmlformats.org/drawingml/2006/main">
            <a:pPr>
              <a:defRPr sz="1950" b="0">
                <a:solidFill>
                  <a:srgbClr val="142F38"/>
                </a:solidFill>
                <a:latin typeface="Arial"/>
                <a:ea typeface="Arial"/>
                <a:cs typeface="Arial"/>
              </a:defRPr>
            </a:pPr>
            <a:r>
              <a:rPr sz="1950" b="0">
                <a:solidFill>
                  <a:srgbClr val="142F38"/>
                </a:solidFill>
                <a:latin typeface="Arial"/>
                <a:ea typeface="Arial"/>
                <a:cs typeface="Arial"/>
              </a:rPr>
              <a:t>Executed notebook, independent metric audit and eight integrity tests</a:t>
            </a:r>
          </a:p>
        </p:txBody>
      </p:sp>
      <p:sp>
        <p:nvSpPr>
          <p:cNvPr id="8" name="">
            <a:extLst xmlns:a="http://schemas.openxmlformats.org/drawingml/2006/main">
              <a:ext uri="{FF2B5EF4-FFF2-40B4-BE49-F238E27FC236}">
                <a16:creationId xmlns:a16="http://schemas.microsoft.com/office/drawing/2014/main" id="{B2B64758-3963-467F-A695-92146DD692FD}"/>
              </a:ext>
            </a:extLst>
          </p:cNvPr>
          <p:cNvSpPr>
            <a:spLocks xmlns:a="http://schemas.openxmlformats.org/drawingml/2006/main" noGrp="1"/>
          </p:cNvSpPr>
          <p:nvPr/>
        </p:nvSpPr>
        <p:spPr>
          <a:xfrm xmlns:a="http://schemas.openxmlformats.org/drawingml/2006/main">
            <a:off x="647700" y="4391025"/>
            <a:ext cx="1085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625" b="1">
                <a:solidFill>
                  <a:srgbClr val="087F82"/>
                </a:solidFill>
                <a:latin typeface="Arial"/>
                <a:ea typeface="Arial"/>
                <a:cs typeface="Arial"/>
              </a:defRPr>
            </a:defPPr>
            <a:lvl1pPr>
              <a:defRPr sz="2625" b="1">
                <a:solidFill>
                  <a:srgbClr val="087F82"/>
                </a:solidFill>
                <a:latin typeface="Arial"/>
                <a:ea typeface="Arial"/>
                <a:cs typeface="Arial"/>
              </a:defRPr>
            </a:lvl1pPr>
            <a:lvl2pPr>
              <a:defRPr sz="2625" b="1">
                <a:solidFill>
                  <a:srgbClr val="087F82"/>
                </a:solidFill>
                <a:latin typeface="Arial"/>
                <a:ea typeface="Arial"/>
                <a:cs typeface="Arial"/>
              </a:defRPr>
            </a:lvl2pPr>
            <a:lvl3pPr>
              <a:defRPr sz="2625" b="1">
                <a:solidFill>
                  <a:srgbClr val="087F82"/>
                </a:solidFill>
                <a:latin typeface="Arial"/>
                <a:ea typeface="Arial"/>
                <a:cs typeface="Arial"/>
              </a:defRPr>
            </a:lvl3pPr>
            <a:lvl4pPr>
              <a:defRPr sz="2625" b="1">
                <a:solidFill>
                  <a:srgbClr val="087F82"/>
                </a:solidFill>
                <a:latin typeface="Arial"/>
                <a:ea typeface="Arial"/>
                <a:cs typeface="Arial"/>
              </a:defRPr>
            </a:lvl4pPr>
            <a:lvl5pPr>
              <a:defRPr sz="2625" b="1">
                <a:solidFill>
                  <a:srgbClr val="087F82"/>
                </a:solidFill>
                <a:latin typeface="Arial"/>
                <a:ea typeface="Arial"/>
                <a:cs typeface="Arial"/>
              </a:defRPr>
            </a:lvl5pPr>
            <a:lvl6pPr>
              <a:defRPr sz="2625" b="1">
                <a:solidFill>
                  <a:srgbClr val="087F82"/>
                </a:solidFill>
                <a:latin typeface="Arial"/>
                <a:ea typeface="Arial"/>
                <a:cs typeface="Arial"/>
              </a:defRPr>
            </a:lvl6pPr>
            <a:lvl7pPr>
              <a:defRPr sz="2625" b="1">
                <a:solidFill>
                  <a:srgbClr val="087F82"/>
                </a:solidFill>
                <a:latin typeface="Arial"/>
                <a:ea typeface="Arial"/>
                <a:cs typeface="Arial"/>
              </a:defRPr>
            </a:lvl7pPr>
            <a:lvl8pPr>
              <a:defRPr sz="2625" b="1">
                <a:solidFill>
                  <a:srgbClr val="087F82"/>
                </a:solidFill>
                <a:latin typeface="Arial"/>
                <a:ea typeface="Arial"/>
                <a:cs typeface="Arial"/>
              </a:defRPr>
            </a:lvl8pPr>
            <a:lvl9pPr>
              <a:defRPr sz="2625" b="1">
                <a:solidFill>
                  <a:srgbClr val="087F82"/>
                </a:solidFill>
                <a:latin typeface="Arial"/>
                <a:ea typeface="Arial"/>
                <a:cs typeface="Arial"/>
              </a:defRPr>
            </a:lvl9pPr>
          </a:lstStyle>
          <a:p xmlns:a="http://schemas.openxmlformats.org/drawingml/2006/main">
            <a:pPr>
              <a:defRPr sz="2625" b="1">
                <a:solidFill>
                  <a:srgbClr val="087F82"/>
                </a:solidFill>
                <a:latin typeface="Arial"/>
                <a:ea typeface="Arial"/>
                <a:cs typeface="Arial"/>
              </a:defRPr>
            </a:pPr>
            <a:r>
              <a:rPr sz="2625" b="1">
                <a:solidFill>
                  <a:srgbClr val="087F82"/>
                </a:solidFill>
                <a:latin typeface="Arial"/>
                <a:ea typeface="Arial"/>
                <a:cs typeface="Arial"/>
              </a:rPr>
              <a:t>github.com/Nakul-Jaglan/aml-dl-t089</a:t>
            </a:r>
          </a:p>
        </p:txBody>
      </p:sp>
      <p:sp>
        <p:nvSpPr>
          <p:cNvPr id="9" name="">
            <a:extLst xmlns:a="http://schemas.openxmlformats.org/drawingml/2006/main">
              <a:ext uri="{FF2B5EF4-FFF2-40B4-BE49-F238E27FC236}">
                <a16:creationId xmlns:a16="http://schemas.microsoft.com/office/drawing/2014/main" id="{69115C8F-D0CF-45E6-9CBD-38291663B0F5}"/>
              </a:ext>
            </a:extLst>
          </p:cNvPr>
          <p:cNvSpPr>
            <a:spLocks xmlns:a="http://schemas.openxmlformats.org/drawingml/2006/main" noGrp="1"/>
          </p:cNvSpPr>
          <p:nvPr/>
        </p:nvSpPr>
        <p:spPr>
          <a:xfrm xmlns:a="http://schemas.openxmlformats.org/drawingml/2006/main">
            <a:off x="647700" y="522922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42F38"/>
                </a:solidFill>
                <a:latin typeface="Arial"/>
                <a:ea typeface="Arial"/>
                <a:cs typeface="Arial"/>
              </a:defRPr>
            </a:defPPr>
            <a:lvl1pPr>
              <a:defRPr sz="2100" b="0">
                <a:solidFill>
                  <a:srgbClr val="142F38"/>
                </a:solidFill>
                <a:latin typeface="Arial"/>
                <a:ea typeface="Arial"/>
                <a:cs typeface="Arial"/>
              </a:defRPr>
            </a:lvl1pPr>
            <a:lvl2pPr>
              <a:defRPr sz="2100" b="0">
                <a:solidFill>
                  <a:srgbClr val="142F38"/>
                </a:solidFill>
                <a:latin typeface="Arial"/>
                <a:ea typeface="Arial"/>
                <a:cs typeface="Arial"/>
              </a:defRPr>
            </a:lvl2pPr>
            <a:lvl3pPr>
              <a:defRPr sz="2100" b="0">
                <a:solidFill>
                  <a:srgbClr val="142F38"/>
                </a:solidFill>
                <a:latin typeface="Arial"/>
                <a:ea typeface="Arial"/>
                <a:cs typeface="Arial"/>
              </a:defRPr>
            </a:lvl3pPr>
            <a:lvl4pPr>
              <a:defRPr sz="2100" b="0">
                <a:solidFill>
                  <a:srgbClr val="142F38"/>
                </a:solidFill>
                <a:latin typeface="Arial"/>
                <a:ea typeface="Arial"/>
                <a:cs typeface="Arial"/>
              </a:defRPr>
            </a:lvl4pPr>
            <a:lvl5pPr>
              <a:defRPr sz="2100" b="0">
                <a:solidFill>
                  <a:srgbClr val="142F38"/>
                </a:solidFill>
                <a:latin typeface="Arial"/>
                <a:ea typeface="Arial"/>
                <a:cs typeface="Arial"/>
              </a:defRPr>
            </a:lvl5pPr>
            <a:lvl6pPr>
              <a:defRPr sz="2100" b="0">
                <a:solidFill>
                  <a:srgbClr val="142F38"/>
                </a:solidFill>
                <a:latin typeface="Arial"/>
                <a:ea typeface="Arial"/>
                <a:cs typeface="Arial"/>
              </a:defRPr>
            </a:lvl6pPr>
            <a:lvl7pPr>
              <a:defRPr sz="2100" b="0">
                <a:solidFill>
                  <a:srgbClr val="142F38"/>
                </a:solidFill>
                <a:latin typeface="Arial"/>
                <a:ea typeface="Arial"/>
                <a:cs typeface="Arial"/>
              </a:defRPr>
            </a:lvl7pPr>
            <a:lvl8pPr>
              <a:defRPr sz="2100" b="0">
                <a:solidFill>
                  <a:srgbClr val="142F38"/>
                </a:solidFill>
                <a:latin typeface="Arial"/>
                <a:ea typeface="Arial"/>
                <a:cs typeface="Arial"/>
              </a:defRPr>
            </a:lvl8pPr>
            <a:lvl9pPr>
              <a:defRPr sz="2100" b="0">
                <a:solidFill>
                  <a:srgbClr val="142F38"/>
                </a:solidFill>
                <a:latin typeface="Arial"/>
                <a:ea typeface="Arial"/>
                <a:cs typeface="Arial"/>
              </a:defRPr>
            </a:lvl9pPr>
          </a:lstStyle>
          <a:p xmlns:a="http://schemas.openxmlformats.org/drawingml/2006/main">
            <a:pPr>
              <a:defRPr sz="2100" b="0">
                <a:solidFill>
                  <a:srgbClr val="142F38"/>
                </a:solidFill>
                <a:latin typeface="Arial"/>
                <a:ea typeface="Arial"/>
                <a:cs typeface="Arial"/>
              </a:defRPr>
            </a:pPr>
            <a:r>
              <a:rPr sz="2100" b="0">
                <a:solidFill>
                  <a:srgbClr val="142F38"/>
                </a:solidFill>
                <a:latin typeface="Arial"/>
                <a:ea typeface="Arial"/>
                <a:cs typeface="Arial"/>
              </a:rPr>
              <a:t>Source, results, figures and report share the same frozen experiment evidence.</a:t>
            </a:r>
          </a:p>
        </p:txBody>
      </p:sp>
    </p:spTree>
    <p:extLst>
      <p:ext uri="{BB962C8B-B14F-4D97-AF65-F5344CB8AC3E}">
        <p14:creationId xmlns:p14="http://schemas.microsoft.com/office/powerpoint/2010/main" val="644217310"/>
      </p:ext>
    </p:extLst>
  </p:cSld>
</p:sld>
</file>

<file path=ppt/slides/slide1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97805C6-8CC8-447D-A8DE-6483D22276D3}"/>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42F38"/>
                </a:solidFill>
                <a:latin typeface="Arial"/>
                <a:ea typeface="Arial"/>
                <a:cs typeface="Arial"/>
              </a:defRPr>
            </a:defPPr>
            <a:lvl1pPr>
              <a:defRPr sz="3300" b="1">
                <a:solidFill>
                  <a:srgbClr val="142F38"/>
                </a:solidFill>
                <a:latin typeface="Arial"/>
                <a:ea typeface="Arial"/>
                <a:cs typeface="Arial"/>
              </a:defRPr>
            </a:lvl1pPr>
            <a:lvl2pPr>
              <a:defRPr sz="3300" b="1">
                <a:solidFill>
                  <a:srgbClr val="142F38"/>
                </a:solidFill>
                <a:latin typeface="Arial"/>
                <a:ea typeface="Arial"/>
                <a:cs typeface="Arial"/>
              </a:defRPr>
            </a:lvl2pPr>
            <a:lvl3pPr>
              <a:defRPr sz="3300" b="1">
                <a:solidFill>
                  <a:srgbClr val="142F38"/>
                </a:solidFill>
                <a:latin typeface="Arial"/>
                <a:ea typeface="Arial"/>
                <a:cs typeface="Arial"/>
              </a:defRPr>
            </a:lvl3pPr>
            <a:lvl4pPr>
              <a:defRPr sz="3300" b="1">
                <a:solidFill>
                  <a:srgbClr val="142F38"/>
                </a:solidFill>
                <a:latin typeface="Arial"/>
                <a:ea typeface="Arial"/>
                <a:cs typeface="Arial"/>
              </a:defRPr>
            </a:lvl4pPr>
            <a:lvl5pPr>
              <a:defRPr sz="3300" b="1">
                <a:solidFill>
                  <a:srgbClr val="142F38"/>
                </a:solidFill>
                <a:latin typeface="Arial"/>
                <a:ea typeface="Arial"/>
                <a:cs typeface="Arial"/>
              </a:defRPr>
            </a:lvl5pPr>
            <a:lvl6pPr>
              <a:defRPr sz="3300" b="1">
                <a:solidFill>
                  <a:srgbClr val="142F38"/>
                </a:solidFill>
                <a:latin typeface="Arial"/>
                <a:ea typeface="Arial"/>
                <a:cs typeface="Arial"/>
              </a:defRPr>
            </a:lvl6pPr>
            <a:lvl7pPr>
              <a:defRPr sz="3300" b="1">
                <a:solidFill>
                  <a:srgbClr val="142F38"/>
                </a:solidFill>
                <a:latin typeface="Arial"/>
                <a:ea typeface="Arial"/>
                <a:cs typeface="Arial"/>
              </a:defRPr>
            </a:lvl7pPr>
            <a:lvl8pPr>
              <a:defRPr sz="3300" b="1">
                <a:solidFill>
                  <a:srgbClr val="142F38"/>
                </a:solidFill>
                <a:latin typeface="Arial"/>
                <a:ea typeface="Arial"/>
                <a:cs typeface="Arial"/>
              </a:defRPr>
            </a:lvl8pPr>
            <a:lvl9pPr>
              <a:defRPr sz="3300" b="1">
                <a:solidFill>
                  <a:srgbClr val="142F38"/>
                </a:solidFill>
                <a:latin typeface="Arial"/>
                <a:ea typeface="Arial"/>
                <a:cs typeface="Arial"/>
              </a:defRPr>
            </a:lvl9pPr>
          </a:lstStyle>
          <a:p xmlns:a="http://schemas.openxmlformats.org/drawingml/2006/main">
            <a:pPr>
              <a:defRPr sz="3300" b="1">
                <a:solidFill>
                  <a:srgbClr val="142F38"/>
                </a:solidFill>
                <a:latin typeface="Arial"/>
                <a:ea typeface="Arial"/>
                <a:cs typeface="Arial"/>
              </a:defRPr>
            </a:pPr>
            <a:r>
              <a:rPr sz="3300" b="1">
                <a:solidFill>
                  <a:srgbClr val="142F38"/>
                </a:solidFill>
                <a:latin typeface="Arial"/>
                <a:ea typeface="Arial"/>
                <a:cs typeface="Arial"/>
              </a:rPr>
              <a:t>Conclusions and Phase 2 proposal</a:t>
            </a:r>
          </a:p>
        </p:txBody>
      </p:sp>
      <p:sp>
        <p:nvSpPr>
          <p:cNvPr id="3" name="">
            <a:extLst xmlns:a="http://schemas.openxmlformats.org/drawingml/2006/main">
              <a:ext uri="{FF2B5EF4-FFF2-40B4-BE49-F238E27FC236}">
                <a16:creationId xmlns:a16="http://schemas.microsoft.com/office/drawing/2014/main" id="{97F2DABC-58B1-4B4C-9794-83FCF9BE99F5}"/>
              </a:ext>
            </a:extLst>
          </p:cNvPr>
          <p:cNvSpPr>
            <a:spLocks xmlns:a="http://schemas.openxmlformats.org/drawingml/2006/main" noGrp="1"/>
          </p:cNvSpPr>
          <p:nvPr/>
        </p:nvSpPr>
        <p:spPr>
          <a:xfrm xmlns:a="http://schemas.openxmlformats.org/drawingml/2006/main">
            <a:off x="10001250" y="644842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56D"/>
                </a:solidFill>
                <a:latin typeface="Arial"/>
                <a:ea typeface="Arial"/>
                <a:cs typeface="Arial"/>
              </a:defRPr>
            </a:defPPr>
            <a:lvl1pPr>
              <a:defRPr sz="1200" b="0">
                <a:solidFill>
                  <a:srgbClr val="52656D"/>
                </a:solidFill>
                <a:latin typeface="Arial"/>
                <a:ea typeface="Arial"/>
                <a:cs typeface="Arial"/>
              </a:defRPr>
            </a:lvl1pPr>
            <a:lvl2pPr>
              <a:defRPr sz="1200" b="0">
                <a:solidFill>
                  <a:srgbClr val="52656D"/>
                </a:solidFill>
                <a:latin typeface="Arial"/>
                <a:ea typeface="Arial"/>
                <a:cs typeface="Arial"/>
              </a:defRPr>
            </a:lvl2pPr>
            <a:lvl3pPr>
              <a:defRPr sz="1200" b="0">
                <a:solidFill>
                  <a:srgbClr val="52656D"/>
                </a:solidFill>
                <a:latin typeface="Arial"/>
                <a:ea typeface="Arial"/>
                <a:cs typeface="Arial"/>
              </a:defRPr>
            </a:lvl3pPr>
            <a:lvl4pPr>
              <a:defRPr sz="1200" b="0">
                <a:solidFill>
                  <a:srgbClr val="52656D"/>
                </a:solidFill>
                <a:latin typeface="Arial"/>
                <a:ea typeface="Arial"/>
                <a:cs typeface="Arial"/>
              </a:defRPr>
            </a:lvl4pPr>
            <a:lvl5pPr>
              <a:defRPr sz="1200" b="0">
                <a:solidFill>
                  <a:srgbClr val="52656D"/>
                </a:solidFill>
                <a:latin typeface="Arial"/>
                <a:ea typeface="Arial"/>
                <a:cs typeface="Arial"/>
              </a:defRPr>
            </a:lvl5pPr>
            <a:lvl6pPr>
              <a:defRPr sz="1200" b="0">
                <a:solidFill>
                  <a:srgbClr val="52656D"/>
                </a:solidFill>
                <a:latin typeface="Arial"/>
                <a:ea typeface="Arial"/>
                <a:cs typeface="Arial"/>
              </a:defRPr>
            </a:lvl6pPr>
            <a:lvl7pPr>
              <a:defRPr sz="1200" b="0">
                <a:solidFill>
                  <a:srgbClr val="52656D"/>
                </a:solidFill>
                <a:latin typeface="Arial"/>
                <a:ea typeface="Arial"/>
                <a:cs typeface="Arial"/>
              </a:defRPr>
            </a:lvl7pPr>
            <a:lvl8pPr>
              <a:defRPr sz="1200" b="0">
                <a:solidFill>
                  <a:srgbClr val="52656D"/>
                </a:solidFill>
                <a:latin typeface="Arial"/>
                <a:ea typeface="Arial"/>
                <a:cs typeface="Arial"/>
              </a:defRPr>
            </a:lvl8pPr>
            <a:lvl9pPr>
              <a:defRPr sz="1200" b="0">
                <a:solidFill>
                  <a:srgbClr val="52656D"/>
                </a:solidFill>
                <a:latin typeface="Arial"/>
                <a:ea typeface="Arial"/>
                <a:cs typeface="Arial"/>
              </a:defRPr>
            </a:lvl9pPr>
          </a:lstStyle>
          <a:p xmlns:a="http://schemas.openxmlformats.org/drawingml/2006/main">
            <a:pPr>
              <a:defRPr sz="1200" b="0">
                <a:solidFill>
                  <a:srgbClr val="52656D"/>
                </a:solidFill>
                <a:latin typeface="Arial"/>
                <a:ea typeface="Arial"/>
                <a:cs typeface="Arial"/>
              </a:defRPr>
            </a:pPr>
            <a:r>
              <a:rPr sz="1200" b="0">
                <a:solidFill>
                  <a:srgbClr val="52656D"/>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17009413-074D-4A80-83BF-02BF93617FFD}"/>
              </a:ext>
            </a:extLst>
          </p:cNvPr>
          <p:cNvSpPr>
            <a:spLocks xmlns:a="http://schemas.openxmlformats.org/drawingml/2006/main" noGrp="1"/>
          </p:cNvSpPr>
          <p:nvPr/>
        </p:nvSpPr>
        <p:spPr>
          <a:xfrm xmlns:a="http://schemas.openxmlformats.org/drawingml/2006/main">
            <a:off x="647700" y="1524000"/>
            <a:ext cx="5334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6375" b="1">
                <a:solidFill>
                  <a:srgbClr val="087F82"/>
                </a:solidFill>
                <a:latin typeface="Arial"/>
                <a:ea typeface="Arial"/>
                <a:cs typeface="Arial"/>
              </a:defRPr>
            </a:defPPr>
            <a:lvl1pPr>
              <a:defRPr sz="6375" b="1">
                <a:solidFill>
                  <a:srgbClr val="087F82"/>
                </a:solidFill>
                <a:latin typeface="Arial"/>
                <a:ea typeface="Arial"/>
                <a:cs typeface="Arial"/>
              </a:defRPr>
            </a:lvl1pPr>
            <a:lvl2pPr>
              <a:defRPr sz="6375" b="1">
                <a:solidFill>
                  <a:srgbClr val="087F82"/>
                </a:solidFill>
                <a:latin typeface="Arial"/>
                <a:ea typeface="Arial"/>
                <a:cs typeface="Arial"/>
              </a:defRPr>
            </a:lvl2pPr>
            <a:lvl3pPr>
              <a:defRPr sz="6375" b="1">
                <a:solidFill>
                  <a:srgbClr val="087F82"/>
                </a:solidFill>
                <a:latin typeface="Arial"/>
                <a:ea typeface="Arial"/>
                <a:cs typeface="Arial"/>
              </a:defRPr>
            </a:lvl3pPr>
            <a:lvl4pPr>
              <a:defRPr sz="6375" b="1">
                <a:solidFill>
                  <a:srgbClr val="087F82"/>
                </a:solidFill>
                <a:latin typeface="Arial"/>
                <a:ea typeface="Arial"/>
                <a:cs typeface="Arial"/>
              </a:defRPr>
            </a:lvl4pPr>
            <a:lvl5pPr>
              <a:defRPr sz="6375" b="1">
                <a:solidFill>
                  <a:srgbClr val="087F82"/>
                </a:solidFill>
                <a:latin typeface="Arial"/>
                <a:ea typeface="Arial"/>
                <a:cs typeface="Arial"/>
              </a:defRPr>
            </a:lvl5pPr>
            <a:lvl6pPr>
              <a:defRPr sz="6375" b="1">
                <a:solidFill>
                  <a:srgbClr val="087F82"/>
                </a:solidFill>
                <a:latin typeface="Arial"/>
                <a:ea typeface="Arial"/>
                <a:cs typeface="Arial"/>
              </a:defRPr>
            </a:lvl6pPr>
            <a:lvl7pPr>
              <a:defRPr sz="6375" b="1">
                <a:solidFill>
                  <a:srgbClr val="087F82"/>
                </a:solidFill>
                <a:latin typeface="Arial"/>
                <a:ea typeface="Arial"/>
                <a:cs typeface="Arial"/>
              </a:defRPr>
            </a:lvl7pPr>
            <a:lvl8pPr>
              <a:defRPr sz="6375" b="1">
                <a:solidFill>
                  <a:srgbClr val="087F82"/>
                </a:solidFill>
                <a:latin typeface="Arial"/>
                <a:ea typeface="Arial"/>
                <a:cs typeface="Arial"/>
              </a:defRPr>
            </a:lvl8pPr>
            <a:lvl9pPr>
              <a:defRPr sz="6375" b="1">
                <a:solidFill>
                  <a:srgbClr val="087F82"/>
                </a:solidFill>
                <a:latin typeface="Arial"/>
                <a:ea typeface="Arial"/>
                <a:cs typeface="Arial"/>
              </a:defRPr>
            </a:lvl9pPr>
          </a:lstStyle>
          <a:p xmlns:a="http://schemas.openxmlformats.org/drawingml/2006/main">
            <a:pPr>
              <a:defRPr sz="6375" b="1">
                <a:solidFill>
                  <a:srgbClr val="087F82"/>
                </a:solidFill>
                <a:latin typeface="Arial"/>
                <a:ea typeface="Arial"/>
                <a:cs typeface="Arial"/>
              </a:defRPr>
            </a:pPr>
            <a:r>
              <a:rPr sz="6375" b="1">
                <a:solidFill>
                  <a:srgbClr val="087F82"/>
                </a:solidFill>
                <a:latin typeface="Arial"/>
                <a:ea typeface="Arial"/>
                <a:cs typeface="Arial"/>
              </a:rPr>
              <a:t>90.91%</a:t>
            </a:r>
          </a:p>
        </p:txBody>
      </p:sp>
      <p:sp>
        <p:nvSpPr>
          <p:cNvPr id="5" name="">
            <a:extLst xmlns:a="http://schemas.openxmlformats.org/drawingml/2006/main">
              <a:ext uri="{FF2B5EF4-FFF2-40B4-BE49-F238E27FC236}">
                <a16:creationId xmlns:a16="http://schemas.microsoft.com/office/drawing/2014/main" id="{29F03123-28DA-473D-B25F-8334C5BB4166}"/>
              </a:ext>
            </a:extLst>
          </p:cNvPr>
          <p:cNvSpPr>
            <a:spLocks xmlns:a="http://schemas.openxmlformats.org/drawingml/2006/main" noGrp="1"/>
          </p:cNvSpPr>
          <p:nvPr/>
        </p:nvSpPr>
        <p:spPr>
          <a:xfrm xmlns:a="http://schemas.openxmlformats.org/drawingml/2006/main">
            <a:off x="647700" y="2714625"/>
            <a:ext cx="10896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1">
                <a:solidFill>
                  <a:srgbClr val="142F38"/>
                </a:solidFill>
                <a:latin typeface="Arial"/>
                <a:ea typeface="Arial"/>
                <a:cs typeface="Arial"/>
              </a:defRPr>
            </a:defPPr>
            <a:lvl1pPr>
              <a:defRPr sz="2400" b="1">
                <a:solidFill>
                  <a:srgbClr val="142F38"/>
                </a:solidFill>
                <a:latin typeface="Arial"/>
                <a:ea typeface="Arial"/>
                <a:cs typeface="Arial"/>
              </a:defRPr>
            </a:lvl1pPr>
            <a:lvl2pPr>
              <a:defRPr sz="2400" b="1">
                <a:solidFill>
                  <a:srgbClr val="142F38"/>
                </a:solidFill>
                <a:latin typeface="Arial"/>
                <a:ea typeface="Arial"/>
                <a:cs typeface="Arial"/>
              </a:defRPr>
            </a:lvl2pPr>
            <a:lvl3pPr>
              <a:defRPr sz="2400" b="1">
                <a:solidFill>
                  <a:srgbClr val="142F38"/>
                </a:solidFill>
                <a:latin typeface="Arial"/>
                <a:ea typeface="Arial"/>
                <a:cs typeface="Arial"/>
              </a:defRPr>
            </a:lvl3pPr>
            <a:lvl4pPr>
              <a:defRPr sz="2400" b="1">
                <a:solidFill>
                  <a:srgbClr val="142F38"/>
                </a:solidFill>
                <a:latin typeface="Arial"/>
                <a:ea typeface="Arial"/>
                <a:cs typeface="Arial"/>
              </a:defRPr>
            </a:lvl4pPr>
            <a:lvl5pPr>
              <a:defRPr sz="2400" b="1">
                <a:solidFill>
                  <a:srgbClr val="142F38"/>
                </a:solidFill>
                <a:latin typeface="Arial"/>
                <a:ea typeface="Arial"/>
                <a:cs typeface="Arial"/>
              </a:defRPr>
            </a:lvl5pPr>
            <a:lvl6pPr>
              <a:defRPr sz="2400" b="1">
                <a:solidFill>
                  <a:srgbClr val="142F38"/>
                </a:solidFill>
                <a:latin typeface="Arial"/>
                <a:ea typeface="Arial"/>
                <a:cs typeface="Arial"/>
              </a:defRPr>
            </a:lvl6pPr>
            <a:lvl7pPr>
              <a:defRPr sz="2400" b="1">
                <a:solidFill>
                  <a:srgbClr val="142F38"/>
                </a:solidFill>
                <a:latin typeface="Arial"/>
                <a:ea typeface="Arial"/>
                <a:cs typeface="Arial"/>
              </a:defRPr>
            </a:lvl7pPr>
            <a:lvl8pPr>
              <a:defRPr sz="2400" b="1">
                <a:solidFill>
                  <a:srgbClr val="142F38"/>
                </a:solidFill>
                <a:latin typeface="Arial"/>
                <a:ea typeface="Arial"/>
                <a:cs typeface="Arial"/>
              </a:defRPr>
            </a:lvl8pPr>
            <a:lvl9pPr>
              <a:defRPr sz="2400" b="1">
                <a:solidFill>
                  <a:srgbClr val="142F38"/>
                </a:solidFill>
                <a:latin typeface="Arial"/>
                <a:ea typeface="Arial"/>
                <a:cs typeface="Arial"/>
              </a:defRPr>
            </a:lvl9pPr>
          </a:lstStyle>
          <a:p xmlns:a="http://schemas.openxmlformats.org/drawingml/2006/main">
            <a:pPr>
              <a:defRPr sz="2400" b="1">
                <a:solidFill>
                  <a:srgbClr val="142F38"/>
                </a:solidFill>
                <a:latin typeface="Arial"/>
                <a:ea typeface="Arial"/>
                <a:cs typeface="Arial"/>
              </a:defRPr>
            </a:pPr>
            <a:r>
              <a:rPr sz="2400" b="1">
                <a:solidFill>
                  <a:srgbClr val="142F38"/>
                </a:solidFill>
                <a:latin typeface="Arial"/>
                <a:ea typeface="Arial"/>
                <a:cs typeface="Arial"/>
              </a:rPr>
              <a:t>Test accuracy of HOG + RBF SVM</a:t>
            </a:r>
          </a:p>
        </p:txBody>
      </p:sp>
      <p:sp>
        <p:nvSpPr>
          <p:cNvPr id="6" name="">
            <a:extLst xmlns:a="http://schemas.openxmlformats.org/drawingml/2006/main">
              <a:ext uri="{FF2B5EF4-FFF2-40B4-BE49-F238E27FC236}">
                <a16:creationId xmlns:a16="http://schemas.microsoft.com/office/drawing/2014/main" id="{5C3DE93D-F95A-4939-96F4-8B6CB6E1CDE2}"/>
              </a:ext>
            </a:extLst>
          </p:cNvPr>
          <p:cNvSpPr>
            <a:spLocks xmlns:a="http://schemas.openxmlformats.org/drawingml/2006/main" noGrp="1"/>
          </p:cNvSpPr>
          <p:nvPr/>
        </p:nvSpPr>
        <p:spPr>
          <a:xfrm xmlns:a="http://schemas.openxmlformats.org/drawingml/2006/main">
            <a:off x="647700" y="3524250"/>
            <a:ext cx="10763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0">
                <a:solidFill>
                  <a:srgbClr val="142F38"/>
                </a:solidFill>
                <a:latin typeface="Arial"/>
                <a:ea typeface="Arial"/>
                <a:cs typeface="Arial"/>
              </a:defRPr>
            </a:defPPr>
            <a:lvl1pPr>
              <a:defRPr sz="2175" b="0">
                <a:solidFill>
                  <a:srgbClr val="142F38"/>
                </a:solidFill>
                <a:latin typeface="Arial"/>
                <a:ea typeface="Arial"/>
                <a:cs typeface="Arial"/>
              </a:defRPr>
            </a:lvl1pPr>
            <a:lvl2pPr>
              <a:defRPr sz="2175" b="0">
                <a:solidFill>
                  <a:srgbClr val="142F38"/>
                </a:solidFill>
                <a:latin typeface="Arial"/>
                <a:ea typeface="Arial"/>
                <a:cs typeface="Arial"/>
              </a:defRPr>
            </a:lvl2pPr>
            <a:lvl3pPr>
              <a:defRPr sz="2175" b="0">
                <a:solidFill>
                  <a:srgbClr val="142F38"/>
                </a:solidFill>
                <a:latin typeface="Arial"/>
                <a:ea typeface="Arial"/>
                <a:cs typeface="Arial"/>
              </a:defRPr>
            </a:lvl3pPr>
            <a:lvl4pPr>
              <a:defRPr sz="2175" b="0">
                <a:solidFill>
                  <a:srgbClr val="142F38"/>
                </a:solidFill>
                <a:latin typeface="Arial"/>
                <a:ea typeface="Arial"/>
                <a:cs typeface="Arial"/>
              </a:defRPr>
            </a:lvl4pPr>
            <a:lvl5pPr>
              <a:defRPr sz="2175" b="0">
                <a:solidFill>
                  <a:srgbClr val="142F38"/>
                </a:solidFill>
                <a:latin typeface="Arial"/>
                <a:ea typeface="Arial"/>
                <a:cs typeface="Arial"/>
              </a:defRPr>
            </a:lvl5pPr>
            <a:lvl6pPr>
              <a:defRPr sz="2175" b="0">
                <a:solidFill>
                  <a:srgbClr val="142F38"/>
                </a:solidFill>
                <a:latin typeface="Arial"/>
                <a:ea typeface="Arial"/>
                <a:cs typeface="Arial"/>
              </a:defRPr>
            </a:lvl6pPr>
            <a:lvl7pPr>
              <a:defRPr sz="2175" b="0">
                <a:solidFill>
                  <a:srgbClr val="142F38"/>
                </a:solidFill>
                <a:latin typeface="Arial"/>
                <a:ea typeface="Arial"/>
                <a:cs typeface="Arial"/>
              </a:defRPr>
            </a:lvl7pPr>
            <a:lvl8pPr>
              <a:defRPr sz="2175" b="0">
                <a:solidFill>
                  <a:srgbClr val="142F38"/>
                </a:solidFill>
                <a:latin typeface="Arial"/>
                <a:ea typeface="Arial"/>
                <a:cs typeface="Arial"/>
              </a:defRPr>
            </a:lvl8pPr>
            <a:lvl9pPr>
              <a:defRPr sz="2175" b="0">
                <a:solidFill>
                  <a:srgbClr val="142F38"/>
                </a:solidFill>
                <a:latin typeface="Arial"/>
                <a:ea typeface="Arial"/>
                <a:cs typeface="Arial"/>
              </a:defRPr>
            </a:lvl9pPr>
          </a:lstStyle>
          <a:p xmlns:a="http://schemas.openxmlformats.org/drawingml/2006/main">
            <a:pPr>
              <a:defRPr sz="2175" b="0">
                <a:solidFill>
                  <a:srgbClr val="142F38"/>
                </a:solidFill>
                <a:latin typeface="Arial"/>
                <a:ea typeface="Arial"/>
                <a:cs typeface="Arial"/>
              </a:defRPr>
            </a:pPr>
            <a:r>
              <a:rPr sz="2175" b="0">
                <a:solidFill>
                  <a:srgbClr val="142F38"/>
                </a:solidFill>
                <a:latin typeface="Arial"/>
                <a:ea typeface="Arial"/>
                <a:cs typeface="Arial"/>
              </a:rPr>
              <a:t>Shirt recall: 73.3%. Higher accuracy carries a larger inference cost.</a:t>
            </a:r>
          </a:p>
        </p:txBody>
      </p:sp>
      <p:sp>
        <p:nvSpPr>
          <p:cNvPr id="7" name="">
            <a:extLst xmlns:a="http://schemas.openxmlformats.org/drawingml/2006/main">
              <a:ext uri="{FF2B5EF4-FFF2-40B4-BE49-F238E27FC236}">
                <a16:creationId xmlns:a16="http://schemas.microsoft.com/office/drawing/2014/main" id="{5B63B6EB-86C4-4A3A-B364-7E9E8780D107}"/>
              </a:ext>
            </a:extLst>
          </p:cNvPr>
          <p:cNvSpPr>
            <a:spLocks xmlns:a="http://schemas.openxmlformats.org/drawingml/2006/main" noGrp="1"/>
          </p:cNvSpPr>
          <p:nvPr/>
        </p:nvSpPr>
        <p:spPr>
          <a:xfrm xmlns:a="http://schemas.openxmlformats.org/drawingml/2006/main">
            <a:off x="647700" y="43053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52656D"/>
                </a:solidFill>
                <a:latin typeface="Arial"/>
                <a:ea typeface="Arial"/>
                <a:cs typeface="Arial"/>
              </a:defRPr>
            </a:defPPr>
            <a:lvl1pPr>
              <a:defRPr sz="1800" b="0">
                <a:solidFill>
                  <a:srgbClr val="52656D"/>
                </a:solidFill>
                <a:latin typeface="Arial"/>
                <a:ea typeface="Arial"/>
                <a:cs typeface="Arial"/>
              </a:defRPr>
            </a:lvl1pPr>
            <a:lvl2pPr>
              <a:defRPr sz="1800" b="0">
                <a:solidFill>
                  <a:srgbClr val="52656D"/>
                </a:solidFill>
                <a:latin typeface="Arial"/>
                <a:ea typeface="Arial"/>
                <a:cs typeface="Arial"/>
              </a:defRPr>
            </a:lvl2pPr>
            <a:lvl3pPr>
              <a:defRPr sz="1800" b="0">
                <a:solidFill>
                  <a:srgbClr val="52656D"/>
                </a:solidFill>
                <a:latin typeface="Arial"/>
                <a:ea typeface="Arial"/>
                <a:cs typeface="Arial"/>
              </a:defRPr>
            </a:lvl3pPr>
            <a:lvl4pPr>
              <a:defRPr sz="1800" b="0">
                <a:solidFill>
                  <a:srgbClr val="52656D"/>
                </a:solidFill>
                <a:latin typeface="Arial"/>
                <a:ea typeface="Arial"/>
                <a:cs typeface="Arial"/>
              </a:defRPr>
            </a:lvl4pPr>
            <a:lvl5pPr>
              <a:defRPr sz="1800" b="0">
                <a:solidFill>
                  <a:srgbClr val="52656D"/>
                </a:solidFill>
                <a:latin typeface="Arial"/>
                <a:ea typeface="Arial"/>
                <a:cs typeface="Arial"/>
              </a:defRPr>
            </a:lvl5pPr>
            <a:lvl6pPr>
              <a:defRPr sz="1800" b="0">
                <a:solidFill>
                  <a:srgbClr val="52656D"/>
                </a:solidFill>
                <a:latin typeface="Arial"/>
                <a:ea typeface="Arial"/>
                <a:cs typeface="Arial"/>
              </a:defRPr>
            </a:lvl6pPr>
            <a:lvl7pPr>
              <a:defRPr sz="1800" b="0">
                <a:solidFill>
                  <a:srgbClr val="52656D"/>
                </a:solidFill>
                <a:latin typeface="Arial"/>
                <a:ea typeface="Arial"/>
                <a:cs typeface="Arial"/>
              </a:defRPr>
            </a:lvl7pPr>
            <a:lvl8pPr>
              <a:defRPr sz="1800" b="0">
                <a:solidFill>
                  <a:srgbClr val="52656D"/>
                </a:solidFill>
                <a:latin typeface="Arial"/>
                <a:ea typeface="Arial"/>
                <a:cs typeface="Arial"/>
              </a:defRPr>
            </a:lvl8pPr>
            <a:lvl9pPr>
              <a:defRPr sz="1800" b="0">
                <a:solidFill>
                  <a:srgbClr val="52656D"/>
                </a:solidFill>
                <a:latin typeface="Arial"/>
                <a:ea typeface="Arial"/>
                <a:cs typeface="Arial"/>
              </a:defRPr>
            </a:lvl9pPr>
          </a:lstStyle>
          <a:p xmlns:a="http://schemas.openxmlformats.org/drawingml/2006/main">
            <a:pPr>
              <a:defRPr sz="1800" b="0">
                <a:solidFill>
                  <a:srgbClr val="52656D"/>
                </a:solidFill>
                <a:latin typeface="Arial"/>
                <a:ea typeface="Arial"/>
                <a:cs typeface="Arial"/>
              </a:defRPr>
            </a:pPr>
            <a:r>
              <a:rPr sz="1800" b="0">
                <a:solidFill>
                  <a:srgbClr val="52656D"/>
                </a:solidFill>
                <a:latin typeface="Arial"/>
                <a:ea typeface="Arial"/>
                <a:cs typeface="Arial"/>
              </a:rPr>
              <a:t>Limits: one split, compact search, fixed preprocessing and 28 × 28 images.</a:t>
            </a:r>
          </a:p>
        </p:txBody>
      </p:sp>
      <p:sp>
        <p:nvSpPr>
          <p:cNvPr id="8" name="">
            <a:extLst xmlns:a="http://schemas.openxmlformats.org/drawingml/2006/main">
              <a:ext uri="{FF2B5EF4-FFF2-40B4-BE49-F238E27FC236}">
                <a16:creationId xmlns:a16="http://schemas.microsoft.com/office/drawing/2014/main" id="{488AED5F-C80F-48AB-A9EC-206047C6842F}"/>
              </a:ext>
            </a:extLst>
          </p:cNvPr>
          <p:cNvSpPr>
            <a:spLocks xmlns:a="http://schemas.openxmlformats.org/drawingml/2006/main" noGrp="1"/>
          </p:cNvSpPr>
          <p:nvPr/>
        </p:nvSpPr>
        <p:spPr>
          <a:xfrm xmlns:a="http://schemas.openxmlformats.org/drawingml/2006/main">
            <a:off x="647700" y="4876800"/>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1">
                <a:solidFill>
                  <a:srgbClr val="142F38"/>
                </a:solidFill>
                <a:latin typeface="Arial"/>
                <a:ea typeface="Arial"/>
                <a:cs typeface="Arial"/>
              </a:defRPr>
            </a:defPPr>
            <a:lvl1pPr>
              <a:defRPr sz="2400" b="1">
                <a:solidFill>
                  <a:srgbClr val="142F38"/>
                </a:solidFill>
                <a:latin typeface="Arial"/>
                <a:ea typeface="Arial"/>
                <a:cs typeface="Arial"/>
              </a:defRPr>
            </a:lvl1pPr>
            <a:lvl2pPr>
              <a:defRPr sz="2400" b="1">
                <a:solidFill>
                  <a:srgbClr val="142F38"/>
                </a:solidFill>
                <a:latin typeface="Arial"/>
                <a:ea typeface="Arial"/>
                <a:cs typeface="Arial"/>
              </a:defRPr>
            </a:lvl2pPr>
            <a:lvl3pPr>
              <a:defRPr sz="2400" b="1">
                <a:solidFill>
                  <a:srgbClr val="142F38"/>
                </a:solidFill>
                <a:latin typeface="Arial"/>
                <a:ea typeface="Arial"/>
                <a:cs typeface="Arial"/>
              </a:defRPr>
            </a:lvl3pPr>
            <a:lvl4pPr>
              <a:defRPr sz="2400" b="1">
                <a:solidFill>
                  <a:srgbClr val="142F38"/>
                </a:solidFill>
                <a:latin typeface="Arial"/>
                <a:ea typeface="Arial"/>
                <a:cs typeface="Arial"/>
              </a:defRPr>
            </a:lvl4pPr>
            <a:lvl5pPr>
              <a:defRPr sz="2400" b="1">
                <a:solidFill>
                  <a:srgbClr val="142F38"/>
                </a:solidFill>
                <a:latin typeface="Arial"/>
                <a:ea typeface="Arial"/>
                <a:cs typeface="Arial"/>
              </a:defRPr>
            </a:lvl5pPr>
            <a:lvl6pPr>
              <a:defRPr sz="2400" b="1">
                <a:solidFill>
                  <a:srgbClr val="142F38"/>
                </a:solidFill>
                <a:latin typeface="Arial"/>
                <a:ea typeface="Arial"/>
                <a:cs typeface="Arial"/>
              </a:defRPr>
            </a:lvl6pPr>
            <a:lvl7pPr>
              <a:defRPr sz="2400" b="1">
                <a:solidFill>
                  <a:srgbClr val="142F38"/>
                </a:solidFill>
                <a:latin typeface="Arial"/>
                <a:ea typeface="Arial"/>
                <a:cs typeface="Arial"/>
              </a:defRPr>
            </a:lvl7pPr>
            <a:lvl8pPr>
              <a:defRPr sz="2400" b="1">
                <a:solidFill>
                  <a:srgbClr val="142F38"/>
                </a:solidFill>
                <a:latin typeface="Arial"/>
                <a:ea typeface="Arial"/>
                <a:cs typeface="Arial"/>
              </a:defRPr>
            </a:lvl8pPr>
            <a:lvl9pPr>
              <a:defRPr sz="2400" b="1">
                <a:solidFill>
                  <a:srgbClr val="142F38"/>
                </a:solidFill>
                <a:latin typeface="Arial"/>
                <a:ea typeface="Arial"/>
                <a:cs typeface="Arial"/>
              </a:defRPr>
            </a:lvl9pPr>
          </a:lstStyle>
          <a:p xmlns:a="http://schemas.openxmlformats.org/drawingml/2006/main">
            <a:pPr>
              <a:defRPr sz="2400" b="1">
                <a:solidFill>
                  <a:srgbClr val="142F38"/>
                </a:solidFill>
                <a:latin typeface="Arial"/>
                <a:ea typeface="Arial"/>
                <a:cs typeface="Arial"/>
              </a:defRPr>
            </a:pPr>
            <a:r>
              <a:rPr sz="2400" b="1">
                <a:solidFill>
                  <a:srgbClr val="142F38"/>
                </a:solidFill>
                <a:latin typeface="Arial"/>
                <a:ea typeface="Arial"/>
                <a:cs typeface="Arial"/>
              </a:rPr>
              <a:t>Phase 2: test a small CNN on the same saved partitions.</a:t>
            </a:r>
          </a:p>
          <a:p xmlns:a="http://schemas.openxmlformats.org/drawingml/2006/main">
            <a:pPr>
              <a:defRPr sz="2400" b="1">
                <a:solidFill>
                  <a:srgbClr val="142F38"/>
                </a:solidFill>
                <a:latin typeface="Arial"/>
                <a:ea typeface="Arial"/>
                <a:cs typeface="Arial"/>
              </a:defRPr>
            </a:pPr>
            <a:r>
              <a:rPr sz="2400" b="1">
                <a:solidFill>
                  <a:srgbClr val="142F38"/>
                </a:solidFill>
                <a:latin typeface="Arial"/>
                <a:ea typeface="Arial"/>
                <a:cs typeface="Arial"/>
              </a:rPr>
              <a:t>CNN performance is unmeasured.</a:t>
            </a:r>
          </a:p>
        </p:txBody>
      </p:sp>
    </p:spTree>
    <p:extLst>
      <p:ext uri="{BB962C8B-B14F-4D97-AF65-F5344CB8AC3E}">
        <p14:creationId xmlns:p14="http://schemas.microsoft.com/office/powerpoint/2010/main" val="2012047556"/>
      </p:ext>
    </p:extLst>
  </p:cSld>
</p:sld>
</file>

<file path=ppt/slides/slide1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3F1C85D-A6A5-4DDD-B8C8-987A4948A261}"/>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42F38"/>
                </a:solidFill>
                <a:latin typeface="Arial"/>
                <a:ea typeface="Arial"/>
                <a:cs typeface="Arial"/>
              </a:defRPr>
            </a:defPPr>
            <a:lvl1pPr>
              <a:defRPr sz="3300" b="1">
                <a:solidFill>
                  <a:srgbClr val="142F38"/>
                </a:solidFill>
                <a:latin typeface="Arial"/>
                <a:ea typeface="Arial"/>
                <a:cs typeface="Arial"/>
              </a:defRPr>
            </a:lvl1pPr>
            <a:lvl2pPr>
              <a:defRPr sz="3300" b="1">
                <a:solidFill>
                  <a:srgbClr val="142F38"/>
                </a:solidFill>
                <a:latin typeface="Arial"/>
                <a:ea typeface="Arial"/>
                <a:cs typeface="Arial"/>
              </a:defRPr>
            </a:lvl2pPr>
            <a:lvl3pPr>
              <a:defRPr sz="3300" b="1">
                <a:solidFill>
                  <a:srgbClr val="142F38"/>
                </a:solidFill>
                <a:latin typeface="Arial"/>
                <a:ea typeface="Arial"/>
                <a:cs typeface="Arial"/>
              </a:defRPr>
            </a:lvl3pPr>
            <a:lvl4pPr>
              <a:defRPr sz="3300" b="1">
                <a:solidFill>
                  <a:srgbClr val="142F38"/>
                </a:solidFill>
                <a:latin typeface="Arial"/>
                <a:ea typeface="Arial"/>
                <a:cs typeface="Arial"/>
              </a:defRPr>
            </a:lvl4pPr>
            <a:lvl5pPr>
              <a:defRPr sz="3300" b="1">
                <a:solidFill>
                  <a:srgbClr val="142F38"/>
                </a:solidFill>
                <a:latin typeface="Arial"/>
                <a:ea typeface="Arial"/>
                <a:cs typeface="Arial"/>
              </a:defRPr>
            </a:lvl5pPr>
            <a:lvl6pPr>
              <a:defRPr sz="3300" b="1">
                <a:solidFill>
                  <a:srgbClr val="142F38"/>
                </a:solidFill>
                <a:latin typeface="Arial"/>
                <a:ea typeface="Arial"/>
                <a:cs typeface="Arial"/>
              </a:defRPr>
            </a:lvl6pPr>
            <a:lvl7pPr>
              <a:defRPr sz="3300" b="1">
                <a:solidFill>
                  <a:srgbClr val="142F38"/>
                </a:solidFill>
                <a:latin typeface="Arial"/>
                <a:ea typeface="Arial"/>
                <a:cs typeface="Arial"/>
              </a:defRPr>
            </a:lvl7pPr>
            <a:lvl8pPr>
              <a:defRPr sz="3300" b="1">
                <a:solidFill>
                  <a:srgbClr val="142F38"/>
                </a:solidFill>
                <a:latin typeface="Arial"/>
                <a:ea typeface="Arial"/>
                <a:cs typeface="Arial"/>
              </a:defRPr>
            </a:lvl8pPr>
            <a:lvl9pPr>
              <a:defRPr sz="3300" b="1">
                <a:solidFill>
                  <a:srgbClr val="142F38"/>
                </a:solidFill>
                <a:latin typeface="Arial"/>
                <a:ea typeface="Arial"/>
                <a:cs typeface="Arial"/>
              </a:defRPr>
            </a:lvl9pPr>
          </a:lstStyle>
          <a:p xmlns:a="http://schemas.openxmlformats.org/drawingml/2006/main">
            <a:pPr>
              <a:defRPr sz="3300" b="1">
                <a:solidFill>
                  <a:srgbClr val="142F38"/>
                </a:solidFill>
                <a:latin typeface="Arial"/>
                <a:ea typeface="Arial"/>
                <a:cs typeface="Arial"/>
              </a:defRPr>
            </a:pPr>
            <a:r>
              <a:rPr sz="3300" b="1">
                <a:solidFill>
                  <a:srgbClr val="142F38"/>
                </a:solidFill>
                <a:latin typeface="Arial"/>
                <a:ea typeface="Arial"/>
                <a:cs typeface="Arial"/>
              </a:rPr>
              <a:t>Selected references</a:t>
            </a:r>
          </a:p>
        </p:txBody>
      </p:sp>
      <p:sp>
        <p:nvSpPr>
          <p:cNvPr id="3" name="">
            <a:extLst xmlns:a="http://schemas.openxmlformats.org/drawingml/2006/main">
              <a:ext uri="{FF2B5EF4-FFF2-40B4-BE49-F238E27FC236}">
                <a16:creationId xmlns:a16="http://schemas.microsoft.com/office/drawing/2014/main" id="{6065790F-01DD-4699-8AC0-F01DE811732D}"/>
              </a:ext>
            </a:extLst>
          </p:cNvPr>
          <p:cNvSpPr>
            <a:spLocks xmlns:a="http://schemas.openxmlformats.org/drawingml/2006/main" noGrp="1"/>
          </p:cNvSpPr>
          <p:nvPr/>
        </p:nvSpPr>
        <p:spPr>
          <a:xfrm xmlns:a="http://schemas.openxmlformats.org/drawingml/2006/main">
            <a:off x="10001250" y="644842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56D"/>
                </a:solidFill>
                <a:latin typeface="Arial"/>
                <a:ea typeface="Arial"/>
                <a:cs typeface="Arial"/>
              </a:defRPr>
            </a:defPPr>
            <a:lvl1pPr>
              <a:defRPr sz="1200" b="0">
                <a:solidFill>
                  <a:srgbClr val="52656D"/>
                </a:solidFill>
                <a:latin typeface="Arial"/>
                <a:ea typeface="Arial"/>
                <a:cs typeface="Arial"/>
              </a:defRPr>
            </a:lvl1pPr>
            <a:lvl2pPr>
              <a:defRPr sz="1200" b="0">
                <a:solidFill>
                  <a:srgbClr val="52656D"/>
                </a:solidFill>
                <a:latin typeface="Arial"/>
                <a:ea typeface="Arial"/>
                <a:cs typeface="Arial"/>
              </a:defRPr>
            </a:lvl2pPr>
            <a:lvl3pPr>
              <a:defRPr sz="1200" b="0">
                <a:solidFill>
                  <a:srgbClr val="52656D"/>
                </a:solidFill>
                <a:latin typeface="Arial"/>
                <a:ea typeface="Arial"/>
                <a:cs typeface="Arial"/>
              </a:defRPr>
            </a:lvl3pPr>
            <a:lvl4pPr>
              <a:defRPr sz="1200" b="0">
                <a:solidFill>
                  <a:srgbClr val="52656D"/>
                </a:solidFill>
                <a:latin typeface="Arial"/>
                <a:ea typeface="Arial"/>
                <a:cs typeface="Arial"/>
              </a:defRPr>
            </a:lvl4pPr>
            <a:lvl5pPr>
              <a:defRPr sz="1200" b="0">
                <a:solidFill>
                  <a:srgbClr val="52656D"/>
                </a:solidFill>
                <a:latin typeface="Arial"/>
                <a:ea typeface="Arial"/>
                <a:cs typeface="Arial"/>
              </a:defRPr>
            </a:lvl5pPr>
            <a:lvl6pPr>
              <a:defRPr sz="1200" b="0">
                <a:solidFill>
                  <a:srgbClr val="52656D"/>
                </a:solidFill>
                <a:latin typeface="Arial"/>
                <a:ea typeface="Arial"/>
                <a:cs typeface="Arial"/>
              </a:defRPr>
            </a:lvl6pPr>
            <a:lvl7pPr>
              <a:defRPr sz="1200" b="0">
                <a:solidFill>
                  <a:srgbClr val="52656D"/>
                </a:solidFill>
                <a:latin typeface="Arial"/>
                <a:ea typeface="Arial"/>
                <a:cs typeface="Arial"/>
              </a:defRPr>
            </a:lvl7pPr>
            <a:lvl8pPr>
              <a:defRPr sz="1200" b="0">
                <a:solidFill>
                  <a:srgbClr val="52656D"/>
                </a:solidFill>
                <a:latin typeface="Arial"/>
                <a:ea typeface="Arial"/>
                <a:cs typeface="Arial"/>
              </a:defRPr>
            </a:lvl8pPr>
            <a:lvl9pPr>
              <a:defRPr sz="1200" b="0">
                <a:solidFill>
                  <a:srgbClr val="52656D"/>
                </a:solidFill>
                <a:latin typeface="Arial"/>
                <a:ea typeface="Arial"/>
                <a:cs typeface="Arial"/>
              </a:defRPr>
            </a:lvl9pPr>
          </a:lstStyle>
          <a:p xmlns:a="http://schemas.openxmlformats.org/drawingml/2006/main">
            <a:pPr>
              <a:defRPr sz="1200" b="0">
                <a:solidFill>
                  <a:srgbClr val="52656D"/>
                </a:solidFill>
                <a:latin typeface="Arial"/>
                <a:ea typeface="Arial"/>
                <a:cs typeface="Arial"/>
              </a:defRPr>
            </a:pPr>
            <a:r>
              <a:rPr sz="1200" b="0">
                <a:solidFill>
                  <a:srgbClr val="52656D"/>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91093F17-0C55-42AF-806E-0F4F4F146839}"/>
              </a:ext>
            </a:extLst>
          </p:cNvPr>
          <p:cNvSpPr>
            <a:spLocks xmlns:a="http://schemas.openxmlformats.org/drawingml/2006/main" noGrp="1"/>
          </p:cNvSpPr>
          <p:nvPr/>
        </p:nvSpPr>
        <p:spPr>
          <a:xfrm xmlns:a="http://schemas.openxmlformats.org/drawingml/2006/main">
            <a:off x="647700" y="1495425"/>
            <a:ext cx="10810875"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42F38"/>
                </a:solidFill>
                <a:latin typeface="Arial"/>
                <a:ea typeface="Arial"/>
                <a:cs typeface="Arial"/>
              </a:defRPr>
            </a:defPPr>
            <a:lvl1pPr>
              <a:defRPr sz="1950" b="0">
                <a:solidFill>
                  <a:srgbClr val="142F38"/>
                </a:solidFill>
                <a:latin typeface="Arial"/>
                <a:ea typeface="Arial"/>
                <a:cs typeface="Arial"/>
              </a:defRPr>
            </a:lvl1pPr>
            <a:lvl2pPr>
              <a:defRPr sz="1950" b="0">
                <a:solidFill>
                  <a:srgbClr val="142F38"/>
                </a:solidFill>
                <a:latin typeface="Arial"/>
                <a:ea typeface="Arial"/>
                <a:cs typeface="Arial"/>
              </a:defRPr>
            </a:lvl2pPr>
            <a:lvl3pPr>
              <a:defRPr sz="1950" b="0">
                <a:solidFill>
                  <a:srgbClr val="142F38"/>
                </a:solidFill>
                <a:latin typeface="Arial"/>
                <a:ea typeface="Arial"/>
                <a:cs typeface="Arial"/>
              </a:defRPr>
            </a:lvl3pPr>
            <a:lvl4pPr>
              <a:defRPr sz="1950" b="0">
                <a:solidFill>
                  <a:srgbClr val="142F38"/>
                </a:solidFill>
                <a:latin typeface="Arial"/>
                <a:ea typeface="Arial"/>
                <a:cs typeface="Arial"/>
              </a:defRPr>
            </a:lvl4pPr>
            <a:lvl5pPr>
              <a:defRPr sz="1950" b="0">
                <a:solidFill>
                  <a:srgbClr val="142F38"/>
                </a:solidFill>
                <a:latin typeface="Arial"/>
                <a:ea typeface="Arial"/>
                <a:cs typeface="Arial"/>
              </a:defRPr>
            </a:lvl5pPr>
            <a:lvl6pPr>
              <a:defRPr sz="1950" b="0">
                <a:solidFill>
                  <a:srgbClr val="142F38"/>
                </a:solidFill>
                <a:latin typeface="Arial"/>
                <a:ea typeface="Arial"/>
                <a:cs typeface="Arial"/>
              </a:defRPr>
            </a:lvl6pPr>
            <a:lvl7pPr>
              <a:defRPr sz="1950" b="0">
                <a:solidFill>
                  <a:srgbClr val="142F38"/>
                </a:solidFill>
                <a:latin typeface="Arial"/>
                <a:ea typeface="Arial"/>
                <a:cs typeface="Arial"/>
              </a:defRPr>
            </a:lvl7pPr>
            <a:lvl8pPr>
              <a:defRPr sz="1950" b="0">
                <a:solidFill>
                  <a:srgbClr val="142F38"/>
                </a:solidFill>
                <a:latin typeface="Arial"/>
                <a:ea typeface="Arial"/>
                <a:cs typeface="Arial"/>
              </a:defRPr>
            </a:lvl8pPr>
            <a:lvl9pPr>
              <a:defRPr sz="1950" b="0">
                <a:solidFill>
                  <a:srgbClr val="142F38"/>
                </a:solidFill>
                <a:latin typeface="Arial"/>
                <a:ea typeface="Arial"/>
                <a:cs typeface="Arial"/>
              </a:defRPr>
            </a:lvl9pPr>
          </a:lstStyle>
          <a:p xmlns:a="http://schemas.openxmlformats.org/drawingml/2006/main">
            <a:pPr>
              <a:defRPr sz="1950" b="0">
                <a:solidFill>
                  <a:srgbClr val="142F38"/>
                </a:solidFill>
                <a:latin typeface="Arial"/>
                <a:ea typeface="Arial"/>
                <a:cs typeface="Arial"/>
              </a:defRPr>
            </a:pPr>
            <a:r>
              <a:rPr sz="1950" b="0">
                <a:solidFill>
                  <a:srgbClr val="142F38"/>
                </a:solidFill>
                <a:latin typeface="Arial"/>
                <a:ea typeface="Arial"/>
                <a:cs typeface="Arial"/>
              </a:rPr>
              <a:t>Xiao et al. (2017)  Fashion-MNIST</a:t>
            </a:r>
          </a:p>
          <a:p xmlns:a="http://schemas.openxmlformats.org/drawingml/2006/main">
            <a:pPr>
              <a:defRPr sz="1950" b="0">
                <a:solidFill>
                  <a:srgbClr val="142F38"/>
                </a:solidFill>
                <a:latin typeface="Arial"/>
                <a:ea typeface="Arial"/>
                <a:cs typeface="Arial"/>
              </a:defRPr>
            </a:pPr>
            <a:r>
              <a:rPr sz="1950" b="0">
                <a:solidFill>
                  <a:srgbClr val="142F38"/>
                </a:solidFill>
                <a:latin typeface="Arial"/>
                <a:ea typeface="Arial"/>
                <a:cs typeface="Arial"/>
              </a:rPr>
              <a:t>arxiv.org/abs/1708.07747</a:t>
            </a:r>
          </a:p>
          <a:p xmlns:a="http://schemas.openxmlformats.org/drawingml/2006/main">
            <a:r>
              <a:t/>
            </a:r>
          </a:p>
          <a:p xmlns:a="http://schemas.openxmlformats.org/drawingml/2006/main">
            <a:pPr>
              <a:defRPr sz="1950" b="0">
                <a:solidFill>
                  <a:srgbClr val="142F38"/>
                </a:solidFill>
                <a:latin typeface="Arial"/>
                <a:ea typeface="Arial"/>
                <a:cs typeface="Arial"/>
              </a:defRPr>
            </a:pPr>
            <a:r>
              <a:rPr sz="1950" b="0">
                <a:solidFill>
                  <a:srgbClr val="142F38"/>
                </a:solidFill>
                <a:latin typeface="Arial"/>
                <a:ea typeface="Arial"/>
                <a:cs typeface="Arial"/>
              </a:rPr>
              <a:t>Dalal &amp; Triggs (2005)  Histograms of Oriented Gradients</a:t>
            </a:r>
          </a:p>
          <a:p xmlns:a="http://schemas.openxmlformats.org/drawingml/2006/main">
            <a:pPr>
              <a:defRPr sz="1950" b="0">
                <a:solidFill>
                  <a:srgbClr val="142F38"/>
                </a:solidFill>
                <a:latin typeface="Arial"/>
                <a:ea typeface="Arial"/>
                <a:cs typeface="Arial"/>
              </a:defRPr>
            </a:pPr>
            <a:r>
              <a:rPr sz="1950" b="0">
                <a:solidFill>
                  <a:srgbClr val="142F38"/>
                </a:solidFill>
                <a:latin typeface="Arial"/>
                <a:ea typeface="Arial"/>
                <a:cs typeface="Arial"/>
              </a:rPr>
              <a:t>doi.org/10.1109/CVPR.2005.177</a:t>
            </a:r>
          </a:p>
          <a:p xmlns:a="http://schemas.openxmlformats.org/drawingml/2006/main">
            <a:r>
              <a:t/>
            </a:r>
          </a:p>
          <a:p xmlns:a="http://schemas.openxmlformats.org/drawingml/2006/main">
            <a:pPr>
              <a:defRPr sz="1950" b="0">
                <a:solidFill>
                  <a:srgbClr val="142F38"/>
                </a:solidFill>
                <a:latin typeface="Arial"/>
                <a:ea typeface="Arial"/>
                <a:cs typeface="Arial"/>
              </a:defRPr>
            </a:pPr>
            <a:r>
              <a:rPr sz="1950" b="0">
                <a:solidFill>
                  <a:srgbClr val="142F38"/>
                </a:solidFill>
                <a:latin typeface="Arial"/>
                <a:ea typeface="Arial"/>
                <a:cs typeface="Arial"/>
              </a:rPr>
              <a:t>Breiman (2001)  Random Forests</a:t>
            </a:r>
          </a:p>
          <a:p xmlns:a="http://schemas.openxmlformats.org/drawingml/2006/main">
            <a:pPr>
              <a:defRPr sz="1950" b="0">
                <a:solidFill>
                  <a:srgbClr val="142F38"/>
                </a:solidFill>
                <a:latin typeface="Arial"/>
                <a:ea typeface="Arial"/>
                <a:cs typeface="Arial"/>
              </a:defRPr>
            </a:pPr>
            <a:r>
              <a:rPr sz="1950" b="0">
                <a:solidFill>
                  <a:srgbClr val="142F38"/>
                </a:solidFill>
                <a:latin typeface="Arial"/>
                <a:ea typeface="Arial"/>
                <a:cs typeface="Arial"/>
              </a:rPr>
              <a:t>doi.org/10.1023/A:1010933404324</a:t>
            </a:r>
          </a:p>
        </p:txBody>
      </p:sp>
      <p:sp>
        <p:nvSpPr>
          <p:cNvPr id="5" name="">
            <a:extLst xmlns:a="http://schemas.openxmlformats.org/drawingml/2006/main">
              <a:ext uri="{FF2B5EF4-FFF2-40B4-BE49-F238E27FC236}">
                <a16:creationId xmlns:a16="http://schemas.microsoft.com/office/drawing/2014/main" id="{66A8C3D2-8F56-472A-8ABC-A14DE8B4563E}"/>
              </a:ext>
            </a:extLst>
          </p:cNvPr>
          <p:cNvSpPr>
            <a:spLocks xmlns:a="http://schemas.openxmlformats.org/drawingml/2006/main" noGrp="1"/>
          </p:cNvSpPr>
          <p:nvPr/>
        </p:nvSpPr>
        <p:spPr>
          <a:xfrm xmlns:a="http://schemas.openxmlformats.org/drawingml/2006/main">
            <a:off x="647700" y="5286375"/>
            <a:ext cx="108108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52656D"/>
                </a:solidFill>
                <a:latin typeface="Arial"/>
                <a:ea typeface="Arial"/>
                <a:cs typeface="Arial"/>
              </a:defRPr>
            </a:defPPr>
            <a:lvl1pPr>
              <a:defRPr sz="1725" b="0">
                <a:solidFill>
                  <a:srgbClr val="52656D"/>
                </a:solidFill>
                <a:latin typeface="Arial"/>
                <a:ea typeface="Arial"/>
                <a:cs typeface="Arial"/>
              </a:defRPr>
            </a:lvl1pPr>
            <a:lvl2pPr>
              <a:defRPr sz="1725" b="0">
                <a:solidFill>
                  <a:srgbClr val="52656D"/>
                </a:solidFill>
                <a:latin typeface="Arial"/>
                <a:ea typeface="Arial"/>
                <a:cs typeface="Arial"/>
              </a:defRPr>
            </a:lvl2pPr>
            <a:lvl3pPr>
              <a:defRPr sz="1725" b="0">
                <a:solidFill>
                  <a:srgbClr val="52656D"/>
                </a:solidFill>
                <a:latin typeface="Arial"/>
                <a:ea typeface="Arial"/>
                <a:cs typeface="Arial"/>
              </a:defRPr>
            </a:lvl3pPr>
            <a:lvl4pPr>
              <a:defRPr sz="1725" b="0">
                <a:solidFill>
                  <a:srgbClr val="52656D"/>
                </a:solidFill>
                <a:latin typeface="Arial"/>
                <a:ea typeface="Arial"/>
                <a:cs typeface="Arial"/>
              </a:defRPr>
            </a:lvl4pPr>
            <a:lvl5pPr>
              <a:defRPr sz="1725" b="0">
                <a:solidFill>
                  <a:srgbClr val="52656D"/>
                </a:solidFill>
                <a:latin typeface="Arial"/>
                <a:ea typeface="Arial"/>
                <a:cs typeface="Arial"/>
              </a:defRPr>
            </a:lvl5pPr>
            <a:lvl6pPr>
              <a:defRPr sz="1725" b="0">
                <a:solidFill>
                  <a:srgbClr val="52656D"/>
                </a:solidFill>
                <a:latin typeface="Arial"/>
                <a:ea typeface="Arial"/>
                <a:cs typeface="Arial"/>
              </a:defRPr>
            </a:lvl6pPr>
            <a:lvl7pPr>
              <a:defRPr sz="1725" b="0">
                <a:solidFill>
                  <a:srgbClr val="52656D"/>
                </a:solidFill>
                <a:latin typeface="Arial"/>
                <a:ea typeface="Arial"/>
                <a:cs typeface="Arial"/>
              </a:defRPr>
            </a:lvl7pPr>
            <a:lvl8pPr>
              <a:defRPr sz="1725" b="0">
                <a:solidFill>
                  <a:srgbClr val="52656D"/>
                </a:solidFill>
                <a:latin typeface="Arial"/>
                <a:ea typeface="Arial"/>
                <a:cs typeface="Arial"/>
              </a:defRPr>
            </a:lvl8pPr>
            <a:lvl9pPr>
              <a:defRPr sz="1725" b="0">
                <a:solidFill>
                  <a:srgbClr val="52656D"/>
                </a:solidFill>
                <a:latin typeface="Arial"/>
                <a:ea typeface="Arial"/>
                <a:cs typeface="Arial"/>
              </a:defRPr>
            </a:lvl9pPr>
          </a:lstStyle>
          <a:p xmlns:a="http://schemas.openxmlformats.org/drawingml/2006/main">
            <a:pPr>
              <a:defRPr sz="1725" b="0">
                <a:solidFill>
                  <a:srgbClr val="52656D"/>
                </a:solidFill>
                <a:latin typeface="Arial"/>
                <a:ea typeface="Arial"/>
                <a:cs typeface="Arial"/>
              </a:defRPr>
            </a:pPr>
            <a:r>
              <a:rPr sz="1725" b="0">
                <a:solidFill>
                  <a:srgbClr val="52656D"/>
                </a:solidFill>
                <a:latin typeface="Arial"/>
                <a:ea typeface="Arial"/>
                <a:cs typeface="Arial"/>
              </a:rPr>
              <a:t>Cortes &amp; Vapnik (1995), Support-vector networks</a:t>
            </a:r>
          </a:p>
          <a:p xmlns:a="http://schemas.openxmlformats.org/drawingml/2006/main">
            <a:pPr>
              <a:defRPr sz="1725" b="0">
                <a:solidFill>
                  <a:srgbClr val="52656D"/>
                </a:solidFill>
                <a:latin typeface="Arial"/>
                <a:ea typeface="Arial"/>
                <a:cs typeface="Arial"/>
              </a:defRPr>
            </a:pPr>
            <a:r>
              <a:rPr sz="1725" b="0">
                <a:solidFill>
                  <a:srgbClr val="52656D"/>
                </a:solidFill>
                <a:latin typeface="Arial"/>
                <a:ea typeface="Arial"/>
                <a:cs typeface="Arial"/>
              </a:rPr>
              <a:t>Pedregosa et al. (2011), Scikit-learn: Machine Learning in Python</a:t>
            </a:r>
          </a:p>
          <a:p xmlns:a="http://schemas.openxmlformats.org/drawingml/2006/main">
            <a:pPr>
              <a:defRPr sz="1725" b="0">
                <a:solidFill>
                  <a:srgbClr val="52656D"/>
                </a:solidFill>
                <a:latin typeface="Arial"/>
                <a:ea typeface="Arial"/>
                <a:cs typeface="Arial"/>
              </a:defRPr>
            </a:pPr>
            <a:r>
              <a:rPr sz="1725" b="0">
                <a:solidFill>
                  <a:srgbClr val="52656D"/>
                </a:solidFill>
                <a:latin typeface="Arial"/>
                <a:ea typeface="Arial"/>
                <a:cs typeface="Arial"/>
              </a:rPr>
              <a:t>LeCun et al. (1998), Gradient-Based Learning Applied to Document Recognition</a:t>
            </a:r>
          </a:p>
        </p:txBody>
      </p:sp>
    </p:spTree>
    <p:extLst>
      <p:ext uri="{BB962C8B-B14F-4D97-AF65-F5344CB8AC3E}">
        <p14:creationId xmlns:p14="http://schemas.microsoft.com/office/powerpoint/2010/main" val="1769454033"/>
      </p:ext>
    </p:extLst>
  </p:cSld>
</p:sld>
</file>

<file path=ppt/slides/slide1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F897A4C-3A90-4D53-91ED-260B91BE7AB8}"/>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42F38"/>
                </a:solidFill>
                <a:latin typeface="Arial"/>
                <a:ea typeface="Arial"/>
                <a:cs typeface="Arial"/>
              </a:defRPr>
            </a:defPPr>
            <a:lvl1pPr>
              <a:defRPr sz="3300" b="1">
                <a:solidFill>
                  <a:srgbClr val="142F38"/>
                </a:solidFill>
                <a:latin typeface="Arial"/>
                <a:ea typeface="Arial"/>
                <a:cs typeface="Arial"/>
              </a:defRPr>
            </a:lvl1pPr>
            <a:lvl2pPr>
              <a:defRPr sz="3300" b="1">
                <a:solidFill>
                  <a:srgbClr val="142F38"/>
                </a:solidFill>
                <a:latin typeface="Arial"/>
                <a:ea typeface="Arial"/>
                <a:cs typeface="Arial"/>
              </a:defRPr>
            </a:lvl2pPr>
            <a:lvl3pPr>
              <a:defRPr sz="3300" b="1">
                <a:solidFill>
                  <a:srgbClr val="142F38"/>
                </a:solidFill>
                <a:latin typeface="Arial"/>
                <a:ea typeface="Arial"/>
                <a:cs typeface="Arial"/>
              </a:defRPr>
            </a:lvl3pPr>
            <a:lvl4pPr>
              <a:defRPr sz="3300" b="1">
                <a:solidFill>
                  <a:srgbClr val="142F38"/>
                </a:solidFill>
                <a:latin typeface="Arial"/>
                <a:ea typeface="Arial"/>
                <a:cs typeface="Arial"/>
              </a:defRPr>
            </a:lvl4pPr>
            <a:lvl5pPr>
              <a:defRPr sz="3300" b="1">
                <a:solidFill>
                  <a:srgbClr val="142F38"/>
                </a:solidFill>
                <a:latin typeface="Arial"/>
                <a:ea typeface="Arial"/>
                <a:cs typeface="Arial"/>
              </a:defRPr>
            </a:lvl5pPr>
            <a:lvl6pPr>
              <a:defRPr sz="3300" b="1">
                <a:solidFill>
                  <a:srgbClr val="142F38"/>
                </a:solidFill>
                <a:latin typeface="Arial"/>
                <a:ea typeface="Arial"/>
                <a:cs typeface="Arial"/>
              </a:defRPr>
            </a:lvl6pPr>
            <a:lvl7pPr>
              <a:defRPr sz="3300" b="1">
                <a:solidFill>
                  <a:srgbClr val="142F38"/>
                </a:solidFill>
                <a:latin typeface="Arial"/>
                <a:ea typeface="Arial"/>
                <a:cs typeface="Arial"/>
              </a:defRPr>
            </a:lvl7pPr>
            <a:lvl8pPr>
              <a:defRPr sz="3300" b="1">
                <a:solidFill>
                  <a:srgbClr val="142F38"/>
                </a:solidFill>
                <a:latin typeface="Arial"/>
                <a:ea typeface="Arial"/>
                <a:cs typeface="Arial"/>
              </a:defRPr>
            </a:lvl8pPr>
            <a:lvl9pPr>
              <a:defRPr sz="3300" b="1">
                <a:solidFill>
                  <a:srgbClr val="142F38"/>
                </a:solidFill>
                <a:latin typeface="Arial"/>
                <a:ea typeface="Arial"/>
                <a:cs typeface="Arial"/>
              </a:defRPr>
            </a:lvl9pPr>
          </a:lstStyle>
          <a:p xmlns:a="http://schemas.openxmlformats.org/drawingml/2006/main">
            <a:pPr>
              <a:defRPr sz="3300" b="1">
                <a:solidFill>
                  <a:srgbClr val="142F38"/>
                </a:solidFill>
                <a:latin typeface="Arial"/>
                <a:ea typeface="Arial"/>
                <a:cs typeface="Arial"/>
              </a:defRPr>
            </a:pPr>
            <a:r>
              <a:rPr sz="3300" b="1">
                <a:solidFill>
                  <a:srgbClr val="142F38"/>
                </a:solidFill>
                <a:latin typeface="Arial"/>
                <a:ea typeface="Arial"/>
                <a:cs typeface="Arial"/>
              </a:rPr>
              <a:t>All eight finalists</a:t>
            </a:r>
          </a:p>
        </p:txBody>
      </p:sp>
      <p:sp>
        <p:nvSpPr>
          <p:cNvPr id="3" name="">
            <a:extLst xmlns:a="http://schemas.openxmlformats.org/drawingml/2006/main">
              <a:ext uri="{FF2B5EF4-FFF2-40B4-BE49-F238E27FC236}">
                <a16:creationId xmlns:a16="http://schemas.microsoft.com/office/drawing/2014/main" id="{6629AF57-5302-4FE0-B6B0-6BD83FDD457F}"/>
              </a:ext>
            </a:extLst>
          </p:cNvPr>
          <p:cNvSpPr>
            <a:spLocks xmlns:a="http://schemas.openxmlformats.org/drawingml/2006/main" noGrp="1"/>
          </p:cNvSpPr>
          <p:nvPr/>
        </p:nvSpPr>
        <p:spPr>
          <a:xfrm xmlns:a="http://schemas.openxmlformats.org/drawingml/2006/main">
            <a:off x="10001250" y="644842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56D"/>
                </a:solidFill>
                <a:latin typeface="Arial"/>
                <a:ea typeface="Arial"/>
                <a:cs typeface="Arial"/>
              </a:defRPr>
            </a:defPPr>
            <a:lvl1pPr>
              <a:defRPr sz="1200" b="0">
                <a:solidFill>
                  <a:srgbClr val="52656D"/>
                </a:solidFill>
                <a:latin typeface="Arial"/>
                <a:ea typeface="Arial"/>
                <a:cs typeface="Arial"/>
              </a:defRPr>
            </a:lvl1pPr>
            <a:lvl2pPr>
              <a:defRPr sz="1200" b="0">
                <a:solidFill>
                  <a:srgbClr val="52656D"/>
                </a:solidFill>
                <a:latin typeface="Arial"/>
                <a:ea typeface="Arial"/>
                <a:cs typeface="Arial"/>
              </a:defRPr>
            </a:lvl2pPr>
            <a:lvl3pPr>
              <a:defRPr sz="1200" b="0">
                <a:solidFill>
                  <a:srgbClr val="52656D"/>
                </a:solidFill>
                <a:latin typeface="Arial"/>
                <a:ea typeface="Arial"/>
                <a:cs typeface="Arial"/>
              </a:defRPr>
            </a:lvl3pPr>
            <a:lvl4pPr>
              <a:defRPr sz="1200" b="0">
                <a:solidFill>
                  <a:srgbClr val="52656D"/>
                </a:solidFill>
                <a:latin typeface="Arial"/>
                <a:ea typeface="Arial"/>
                <a:cs typeface="Arial"/>
              </a:defRPr>
            </a:lvl4pPr>
            <a:lvl5pPr>
              <a:defRPr sz="1200" b="0">
                <a:solidFill>
                  <a:srgbClr val="52656D"/>
                </a:solidFill>
                <a:latin typeface="Arial"/>
                <a:ea typeface="Arial"/>
                <a:cs typeface="Arial"/>
              </a:defRPr>
            </a:lvl5pPr>
            <a:lvl6pPr>
              <a:defRPr sz="1200" b="0">
                <a:solidFill>
                  <a:srgbClr val="52656D"/>
                </a:solidFill>
                <a:latin typeface="Arial"/>
                <a:ea typeface="Arial"/>
                <a:cs typeface="Arial"/>
              </a:defRPr>
            </a:lvl6pPr>
            <a:lvl7pPr>
              <a:defRPr sz="1200" b="0">
                <a:solidFill>
                  <a:srgbClr val="52656D"/>
                </a:solidFill>
                <a:latin typeface="Arial"/>
                <a:ea typeface="Arial"/>
                <a:cs typeface="Arial"/>
              </a:defRPr>
            </a:lvl7pPr>
            <a:lvl8pPr>
              <a:defRPr sz="1200" b="0">
                <a:solidFill>
                  <a:srgbClr val="52656D"/>
                </a:solidFill>
                <a:latin typeface="Arial"/>
                <a:ea typeface="Arial"/>
                <a:cs typeface="Arial"/>
              </a:defRPr>
            </a:lvl8pPr>
            <a:lvl9pPr>
              <a:defRPr sz="1200" b="0">
                <a:solidFill>
                  <a:srgbClr val="52656D"/>
                </a:solidFill>
                <a:latin typeface="Arial"/>
                <a:ea typeface="Arial"/>
                <a:cs typeface="Arial"/>
              </a:defRPr>
            </a:lvl9pPr>
          </a:lstStyle>
          <a:p xmlns:a="http://schemas.openxmlformats.org/drawingml/2006/main">
            <a:pPr>
              <a:defRPr sz="1200" b="0">
                <a:solidFill>
                  <a:srgbClr val="52656D"/>
                </a:solidFill>
                <a:latin typeface="Arial"/>
                <a:ea typeface="Arial"/>
                <a:cs typeface="Arial"/>
              </a:defRPr>
            </a:pPr>
            <a:r>
              <a:rPr sz="1200" b="0">
                <a:solidFill>
                  <a:srgbClr val="52656D"/>
                </a:solidFill>
                <a:latin typeface="Arial"/>
                <a:ea typeface="Arial"/>
                <a:cs typeface="Arial"/>
              </a:rPr>
              <a:t>Backup  /  19</a:t>
            </a:r>
          </a:p>
        </p:txBody>
      </p:sp>
      <p:graphicFrame>
        <p:nvGraphicFramePr>
          <p:cNvPr id="4" name="">
            <a:extLst xmlns:a="http://schemas.openxmlformats.org/drawingml/2006/main">
              <a:ext uri="{FF2B5EF4-FFF2-40B4-BE49-F238E27FC236}">
                <a16:creationId xmlns:a16="http://schemas.microsoft.com/office/drawing/2014/main" id="{82264CB1-06CB-47B0-9323-D8DB0B3192C4}"/>
              </a:ext>
            </a:extLst>
          </p:cNvPr>
          <p:cNvGraphicFramePr/>
          <p:nvPr/>
        </p:nvGraphicFramePr>
        <p:xfrm>
          <a:off xmlns:a="http://schemas.openxmlformats.org/drawingml/2006/main" x="647700" y="1419225"/>
          <a:ext xmlns:a="http://schemas.openxmlformats.org/drawingml/2006/main" cx="10896600" cy="4457700"/>
        </p:xfrm>
        <a:graphic xmlns:a="http://schemas.openxmlformats.org/drawingml/2006/main">
          <a:graphicData uri="http://schemas.openxmlformats.org/drawingml/2006/table">
            <a:tbl>
              <a:tblPr/>
              <a:tblGrid>
                <a:gridCol w="4905375"/>
                <a:gridCol w="1952625"/>
                <a:gridCol w="2047875"/>
                <a:gridCol w="1990725"/>
              </a:tblGrid>
              <a:tr h="495300">
                <a:tc>
                  <a:txBody>
                    <a:bodyPr/>
                    <a:lstStyle/>
                    <a:p>
                      <a:r>
                        <a:rPr sz="1800" b="1">
                          <a:solidFill>
                            <a:srgbClr val="FFFFFF"/>
                          </a:solidFill>
                          <a:latin typeface="Arial"/>
                          <a:ea typeface="Arial"/>
                          <a:cs typeface="Arial"/>
                        </a:rPr>
                        <a:t>Pipeline</a:t>
                      </a:r>
                    </a:p>
                  </a:txBody>
                  <a:tcPr marL="95250" marR="95250" marT="85725" marB="57150" anchor="ctr">
                    <a:lnL w="6668">
                      <a:solidFill>
                        <a:srgbClr val="D9DFDF"/>
                      </a:solidFill>
                      <a:prstDash val="solid"/>
                    </a:lnL>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c>
                  <a:txBody>
                    <a:bodyPr/>
                    <a:lstStyle/>
                    <a:p>
                      <a:r>
                        <a:rPr sz="1800" b="1">
                          <a:solidFill>
                            <a:srgbClr val="FFFFFF"/>
                          </a:solidFill>
                          <a:latin typeface="Arial"/>
                          <a:ea typeface="Arial"/>
                          <a:cs typeface="Arial"/>
                        </a:rPr>
                        <a:t>Val. F1</a:t>
                      </a:r>
                    </a:p>
                  </a:txBody>
                  <a:tcPr marL="95250" marR="95250" marT="85725" marB="57150" anchor="ctr">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c>
                  <a:txBody>
                    <a:bodyPr/>
                    <a:lstStyle/>
                    <a:p>
                      <a:r>
                        <a:rPr sz="1800" b="1">
                          <a:solidFill>
                            <a:srgbClr val="FFFFFF"/>
                          </a:solidFill>
                          <a:latin typeface="Arial"/>
                          <a:ea typeface="Arial"/>
                          <a:cs typeface="Arial"/>
                        </a:rPr>
                        <a:t>Test acc.</a:t>
                      </a:r>
                    </a:p>
                  </a:txBody>
                  <a:tcPr marL="95250" marR="95250" marT="85725" marB="57150" anchor="ctr">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c>
                  <a:txBody>
                    <a:bodyPr/>
                    <a:lstStyle/>
                    <a:p>
                      <a:r>
                        <a:rPr sz="1800" b="1">
                          <a:solidFill>
                            <a:srgbClr val="FFFFFF"/>
                          </a:solidFill>
                          <a:latin typeface="Arial"/>
                          <a:ea typeface="Arial"/>
                          <a:cs typeface="Arial"/>
                        </a:rPr>
                        <a:t>Test F1</a:t>
                      </a:r>
                    </a:p>
                  </a:txBody>
                  <a:tcPr marL="95250" marR="95250" marT="85725" marB="57150" anchor="ctr">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r>
              <a:tr h="495300">
                <a:tc>
                  <a:txBody>
                    <a:bodyPr/>
                    <a:lstStyle/>
                    <a:p>
                      <a:r>
                        <a:rPr sz="1800">
                          <a:solidFill>
                            <a:srgbClr val="142F38"/>
                          </a:solidFill>
                          <a:latin typeface="Arial"/>
                          <a:ea typeface="Arial"/>
                          <a:cs typeface="Arial"/>
                        </a:rPr>
                        <a:t>Pixels + Logistic Regression</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0.8590</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84.01%</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0.8394</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495300">
                <a:tc>
                  <a:txBody>
                    <a:bodyPr/>
                    <a:lstStyle/>
                    <a:p>
                      <a:r>
                        <a:rPr sz="1800">
                          <a:solidFill>
                            <a:srgbClr val="142F38"/>
                          </a:solidFill>
                          <a:latin typeface="Arial"/>
                          <a:ea typeface="Arial"/>
                          <a:cs typeface="Arial"/>
                        </a:rPr>
                        <a:t>Pixels + kNN</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0.8585</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85.04%</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0.8505</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495300">
                <a:tc>
                  <a:txBody>
                    <a:bodyPr/>
                    <a:lstStyle/>
                    <a:p>
                      <a:r>
                        <a:rPr sz="1800">
                          <a:solidFill>
                            <a:srgbClr val="142F38"/>
                          </a:solidFill>
                          <a:latin typeface="Arial"/>
                          <a:ea typeface="Arial"/>
                          <a:cs typeface="Arial"/>
                        </a:rPr>
                        <a:t>Pixels + Random Forest</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0.8828</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87.67%</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0.8753</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495300">
                <a:tc>
                  <a:txBody>
                    <a:bodyPr/>
                    <a:lstStyle/>
                    <a:p>
                      <a:r>
                        <a:rPr sz="1800">
                          <a:solidFill>
                            <a:srgbClr val="142F38"/>
                          </a:solidFill>
                          <a:latin typeface="Arial"/>
                          <a:ea typeface="Arial"/>
                          <a:cs typeface="Arial"/>
                        </a:rPr>
                        <a:t>Pixels + RBF SVM</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0.9068</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89.28%</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0.8924</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495300">
                <a:tc>
                  <a:txBody>
                    <a:bodyPr/>
                    <a:lstStyle/>
                    <a:p>
                      <a:r>
                        <a:rPr sz="1800">
                          <a:solidFill>
                            <a:srgbClr val="142F38"/>
                          </a:solidFill>
                          <a:latin typeface="Arial"/>
                          <a:ea typeface="Arial"/>
                          <a:cs typeface="Arial"/>
                        </a:rPr>
                        <a:t>HOG + Logistic Regression</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0.8834</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87.60%</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0.8757</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495300">
                <a:tc>
                  <a:txBody>
                    <a:bodyPr/>
                    <a:lstStyle/>
                    <a:p>
                      <a:r>
                        <a:rPr sz="1800">
                          <a:solidFill>
                            <a:srgbClr val="142F38"/>
                          </a:solidFill>
                          <a:latin typeface="Arial"/>
                          <a:ea typeface="Arial"/>
                          <a:cs typeface="Arial"/>
                        </a:rPr>
                        <a:t>HOG + kNN</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0.8749</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87.34%</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0.8730</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495300">
                <a:tc>
                  <a:txBody>
                    <a:bodyPr/>
                    <a:lstStyle/>
                    <a:p>
                      <a:r>
                        <a:rPr sz="1800">
                          <a:solidFill>
                            <a:srgbClr val="142F38"/>
                          </a:solidFill>
                          <a:latin typeface="Arial"/>
                          <a:ea typeface="Arial"/>
                          <a:cs typeface="Arial"/>
                        </a:rPr>
                        <a:t>HOG + Random Forest</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0.8752</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87.29%</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0.8718</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495300">
                <a:tc>
                  <a:txBody>
                    <a:bodyPr/>
                    <a:lstStyle/>
                    <a:p>
                      <a:r>
                        <a:rPr sz="1800">
                          <a:solidFill>
                            <a:srgbClr val="142F38"/>
                          </a:solidFill>
                          <a:latin typeface="Arial"/>
                          <a:ea typeface="Arial"/>
                          <a:cs typeface="Arial"/>
                        </a:rPr>
                        <a:t>HOG + RBF SVM</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0.9114</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90.91%</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0.9090</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bl>
          </a:graphicData>
        </a:graphic>
      </p:graphicFrame>
      <p:sp>
        <p:nvSpPr>
          <p:cNvPr id="5" name="">
            <a:extLst xmlns:a="http://schemas.openxmlformats.org/drawingml/2006/main">
              <a:ext uri="{FF2B5EF4-FFF2-40B4-BE49-F238E27FC236}">
                <a16:creationId xmlns:a16="http://schemas.microsoft.com/office/drawing/2014/main" id="{97AF94C6-B4D4-441A-820A-B91B09FA21A3}"/>
              </a:ext>
            </a:extLst>
          </p:cNvPr>
          <p:cNvSpPr>
            <a:spLocks xmlns:a="http://schemas.openxmlformats.org/drawingml/2006/main" noGrp="1"/>
          </p:cNvSpPr>
          <p:nvPr/>
        </p:nvSpPr>
        <p:spPr>
          <a:xfrm xmlns:a="http://schemas.openxmlformats.org/drawingml/2006/main">
            <a:off x="647700" y="6067425"/>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52656D"/>
                </a:solidFill>
                <a:latin typeface="Arial"/>
                <a:ea typeface="Arial"/>
                <a:cs typeface="Arial"/>
              </a:defRPr>
            </a:defPPr>
            <a:lvl1pPr>
              <a:defRPr sz="1650" b="0">
                <a:solidFill>
                  <a:srgbClr val="52656D"/>
                </a:solidFill>
                <a:latin typeface="Arial"/>
                <a:ea typeface="Arial"/>
                <a:cs typeface="Arial"/>
              </a:defRPr>
            </a:lvl1pPr>
            <a:lvl2pPr>
              <a:defRPr sz="1650" b="0">
                <a:solidFill>
                  <a:srgbClr val="52656D"/>
                </a:solidFill>
                <a:latin typeface="Arial"/>
                <a:ea typeface="Arial"/>
                <a:cs typeface="Arial"/>
              </a:defRPr>
            </a:lvl2pPr>
            <a:lvl3pPr>
              <a:defRPr sz="1650" b="0">
                <a:solidFill>
                  <a:srgbClr val="52656D"/>
                </a:solidFill>
                <a:latin typeface="Arial"/>
                <a:ea typeface="Arial"/>
                <a:cs typeface="Arial"/>
              </a:defRPr>
            </a:lvl3pPr>
            <a:lvl4pPr>
              <a:defRPr sz="1650" b="0">
                <a:solidFill>
                  <a:srgbClr val="52656D"/>
                </a:solidFill>
                <a:latin typeface="Arial"/>
                <a:ea typeface="Arial"/>
                <a:cs typeface="Arial"/>
              </a:defRPr>
            </a:lvl4pPr>
            <a:lvl5pPr>
              <a:defRPr sz="1650" b="0">
                <a:solidFill>
                  <a:srgbClr val="52656D"/>
                </a:solidFill>
                <a:latin typeface="Arial"/>
                <a:ea typeface="Arial"/>
                <a:cs typeface="Arial"/>
              </a:defRPr>
            </a:lvl5pPr>
            <a:lvl6pPr>
              <a:defRPr sz="1650" b="0">
                <a:solidFill>
                  <a:srgbClr val="52656D"/>
                </a:solidFill>
                <a:latin typeface="Arial"/>
                <a:ea typeface="Arial"/>
                <a:cs typeface="Arial"/>
              </a:defRPr>
            </a:lvl6pPr>
            <a:lvl7pPr>
              <a:defRPr sz="1650" b="0">
                <a:solidFill>
                  <a:srgbClr val="52656D"/>
                </a:solidFill>
                <a:latin typeface="Arial"/>
                <a:ea typeface="Arial"/>
                <a:cs typeface="Arial"/>
              </a:defRPr>
            </a:lvl7pPr>
            <a:lvl8pPr>
              <a:defRPr sz="1650" b="0">
                <a:solidFill>
                  <a:srgbClr val="52656D"/>
                </a:solidFill>
                <a:latin typeface="Arial"/>
                <a:ea typeface="Arial"/>
                <a:cs typeface="Arial"/>
              </a:defRPr>
            </a:lvl8pPr>
            <a:lvl9pPr>
              <a:defRPr sz="1650" b="0">
                <a:solidFill>
                  <a:srgbClr val="52656D"/>
                </a:solidFill>
                <a:latin typeface="Arial"/>
                <a:ea typeface="Arial"/>
                <a:cs typeface="Arial"/>
              </a:defRPr>
            </a:lvl9pPr>
          </a:lstStyle>
          <a:p xmlns:a="http://schemas.openxmlformats.org/drawingml/2006/main">
            <a:pPr>
              <a:defRPr sz="1650" b="0">
                <a:solidFill>
                  <a:srgbClr val="52656D"/>
                </a:solidFill>
                <a:latin typeface="Arial"/>
                <a:ea typeface="Arial"/>
                <a:cs typeface="Arial"/>
              </a:defRPr>
            </a:pPr>
            <a:r>
              <a:rPr sz="1650" b="0">
                <a:solidFill>
                  <a:srgbClr val="52656D"/>
                </a:solidFill>
                <a:latin typeface="Arial"/>
                <a:ea typeface="Arial"/>
                <a:cs typeface="Arial"/>
              </a:rPr>
              <a:t>Selection used validation F1. The official test did not choose the winner.</a:t>
            </a:r>
          </a:p>
        </p:txBody>
      </p:sp>
    </p:spTree>
    <p:extLst>
      <p:ext uri="{BB962C8B-B14F-4D97-AF65-F5344CB8AC3E}">
        <p14:creationId xmlns:p14="http://schemas.microsoft.com/office/powerpoint/2010/main" val="38946361"/>
      </p:ext>
    </p:extLst>
  </p:cSld>
</p:sld>
</file>

<file path=ppt/slides/slide2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BD03BE9-C244-4EFE-8BB5-05A0C15A1B87}"/>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42F38"/>
                </a:solidFill>
                <a:latin typeface="Arial"/>
                <a:ea typeface="Arial"/>
                <a:cs typeface="Arial"/>
              </a:defRPr>
            </a:defPPr>
            <a:lvl1pPr>
              <a:defRPr sz="3300" b="1">
                <a:solidFill>
                  <a:srgbClr val="142F38"/>
                </a:solidFill>
                <a:latin typeface="Arial"/>
                <a:ea typeface="Arial"/>
                <a:cs typeface="Arial"/>
              </a:defRPr>
            </a:lvl1pPr>
            <a:lvl2pPr>
              <a:defRPr sz="3300" b="1">
                <a:solidFill>
                  <a:srgbClr val="142F38"/>
                </a:solidFill>
                <a:latin typeface="Arial"/>
                <a:ea typeface="Arial"/>
                <a:cs typeface="Arial"/>
              </a:defRPr>
            </a:lvl2pPr>
            <a:lvl3pPr>
              <a:defRPr sz="3300" b="1">
                <a:solidFill>
                  <a:srgbClr val="142F38"/>
                </a:solidFill>
                <a:latin typeface="Arial"/>
                <a:ea typeface="Arial"/>
                <a:cs typeface="Arial"/>
              </a:defRPr>
            </a:lvl3pPr>
            <a:lvl4pPr>
              <a:defRPr sz="3300" b="1">
                <a:solidFill>
                  <a:srgbClr val="142F38"/>
                </a:solidFill>
                <a:latin typeface="Arial"/>
                <a:ea typeface="Arial"/>
                <a:cs typeface="Arial"/>
              </a:defRPr>
            </a:lvl4pPr>
            <a:lvl5pPr>
              <a:defRPr sz="3300" b="1">
                <a:solidFill>
                  <a:srgbClr val="142F38"/>
                </a:solidFill>
                <a:latin typeface="Arial"/>
                <a:ea typeface="Arial"/>
                <a:cs typeface="Arial"/>
              </a:defRPr>
            </a:lvl5pPr>
            <a:lvl6pPr>
              <a:defRPr sz="3300" b="1">
                <a:solidFill>
                  <a:srgbClr val="142F38"/>
                </a:solidFill>
                <a:latin typeface="Arial"/>
                <a:ea typeface="Arial"/>
                <a:cs typeface="Arial"/>
              </a:defRPr>
            </a:lvl6pPr>
            <a:lvl7pPr>
              <a:defRPr sz="3300" b="1">
                <a:solidFill>
                  <a:srgbClr val="142F38"/>
                </a:solidFill>
                <a:latin typeface="Arial"/>
                <a:ea typeface="Arial"/>
                <a:cs typeface="Arial"/>
              </a:defRPr>
            </a:lvl7pPr>
            <a:lvl8pPr>
              <a:defRPr sz="3300" b="1">
                <a:solidFill>
                  <a:srgbClr val="142F38"/>
                </a:solidFill>
                <a:latin typeface="Arial"/>
                <a:ea typeface="Arial"/>
                <a:cs typeface="Arial"/>
              </a:defRPr>
            </a:lvl8pPr>
            <a:lvl9pPr>
              <a:defRPr sz="3300" b="1">
                <a:solidFill>
                  <a:srgbClr val="142F38"/>
                </a:solidFill>
                <a:latin typeface="Arial"/>
                <a:ea typeface="Arial"/>
                <a:cs typeface="Arial"/>
              </a:defRPr>
            </a:lvl9pPr>
          </a:lstStyle>
          <a:p xmlns:a="http://schemas.openxmlformats.org/drawingml/2006/main">
            <a:pPr>
              <a:defRPr sz="3300" b="1">
                <a:solidFill>
                  <a:srgbClr val="142F38"/>
                </a:solidFill>
                <a:latin typeface="Arial"/>
                <a:ea typeface="Arial"/>
                <a:cs typeface="Arial"/>
              </a:defRPr>
            </a:pPr>
            <a:r>
              <a:rPr sz="3300" b="1">
                <a:solidFill>
                  <a:srgbClr val="142F38"/>
                </a:solidFill>
                <a:latin typeface="Arial"/>
                <a:ea typeface="Arial"/>
                <a:cs typeface="Arial"/>
              </a:rPr>
              <a:t>Selected settings and search scope</a:t>
            </a:r>
          </a:p>
        </p:txBody>
      </p:sp>
      <p:sp>
        <p:nvSpPr>
          <p:cNvPr id="3" name="">
            <a:extLst xmlns:a="http://schemas.openxmlformats.org/drawingml/2006/main">
              <a:ext uri="{FF2B5EF4-FFF2-40B4-BE49-F238E27FC236}">
                <a16:creationId xmlns:a16="http://schemas.microsoft.com/office/drawing/2014/main" id="{26B29883-5EDA-434A-9AC0-6BC5235FEC09}"/>
              </a:ext>
            </a:extLst>
          </p:cNvPr>
          <p:cNvSpPr>
            <a:spLocks xmlns:a="http://schemas.openxmlformats.org/drawingml/2006/main" noGrp="1"/>
          </p:cNvSpPr>
          <p:nvPr/>
        </p:nvSpPr>
        <p:spPr>
          <a:xfrm xmlns:a="http://schemas.openxmlformats.org/drawingml/2006/main">
            <a:off x="10001250" y="644842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56D"/>
                </a:solidFill>
                <a:latin typeface="Arial"/>
                <a:ea typeface="Arial"/>
                <a:cs typeface="Arial"/>
              </a:defRPr>
            </a:defPPr>
            <a:lvl1pPr>
              <a:defRPr sz="1200" b="0">
                <a:solidFill>
                  <a:srgbClr val="52656D"/>
                </a:solidFill>
                <a:latin typeface="Arial"/>
                <a:ea typeface="Arial"/>
                <a:cs typeface="Arial"/>
              </a:defRPr>
            </a:lvl1pPr>
            <a:lvl2pPr>
              <a:defRPr sz="1200" b="0">
                <a:solidFill>
                  <a:srgbClr val="52656D"/>
                </a:solidFill>
                <a:latin typeface="Arial"/>
                <a:ea typeface="Arial"/>
                <a:cs typeface="Arial"/>
              </a:defRPr>
            </a:lvl2pPr>
            <a:lvl3pPr>
              <a:defRPr sz="1200" b="0">
                <a:solidFill>
                  <a:srgbClr val="52656D"/>
                </a:solidFill>
                <a:latin typeface="Arial"/>
                <a:ea typeface="Arial"/>
                <a:cs typeface="Arial"/>
              </a:defRPr>
            </a:lvl3pPr>
            <a:lvl4pPr>
              <a:defRPr sz="1200" b="0">
                <a:solidFill>
                  <a:srgbClr val="52656D"/>
                </a:solidFill>
                <a:latin typeface="Arial"/>
                <a:ea typeface="Arial"/>
                <a:cs typeface="Arial"/>
              </a:defRPr>
            </a:lvl4pPr>
            <a:lvl5pPr>
              <a:defRPr sz="1200" b="0">
                <a:solidFill>
                  <a:srgbClr val="52656D"/>
                </a:solidFill>
                <a:latin typeface="Arial"/>
                <a:ea typeface="Arial"/>
                <a:cs typeface="Arial"/>
              </a:defRPr>
            </a:lvl5pPr>
            <a:lvl6pPr>
              <a:defRPr sz="1200" b="0">
                <a:solidFill>
                  <a:srgbClr val="52656D"/>
                </a:solidFill>
                <a:latin typeface="Arial"/>
                <a:ea typeface="Arial"/>
                <a:cs typeface="Arial"/>
              </a:defRPr>
            </a:lvl6pPr>
            <a:lvl7pPr>
              <a:defRPr sz="1200" b="0">
                <a:solidFill>
                  <a:srgbClr val="52656D"/>
                </a:solidFill>
                <a:latin typeface="Arial"/>
                <a:ea typeface="Arial"/>
                <a:cs typeface="Arial"/>
              </a:defRPr>
            </a:lvl7pPr>
            <a:lvl8pPr>
              <a:defRPr sz="1200" b="0">
                <a:solidFill>
                  <a:srgbClr val="52656D"/>
                </a:solidFill>
                <a:latin typeface="Arial"/>
                <a:ea typeface="Arial"/>
                <a:cs typeface="Arial"/>
              </a:defRPr>
            </a:lvl8pPr>
            <a:lvl9pPr>
              <a:defRPr sz="1200" b="0">
                <a:solidFill>
                  <a:srgbClr val="52656D"/>
                </a:solidFill>
                <a:latin typeface="Arial"/>
                <a:ea typeface="Arial"/>
                <a:cs typeface="Arial"/>
              </a:defRPr>
            </a:lvl9pPr>
          </a:lstStyle>
          <a:p xmlns:a="http://schemas.openxmlformats.org/drawingml/2006/main">
            <a:pPr>
              <a:defRPr sz="1200" b="0">
                <a:solidFill>
                  <a:srgbClr val="52656D"/>
                </a:solidFill>
                <a:latin typeface="Arial"/>
                <a:ea typeface="Arial"/>
                <a:cs typeface="Arial"/>
              </a:defRPr>
            </a:pPr>
            <a:r>
              <a:rPr sz="1200" b="0">
                <a:solidFill>
                  <a:srgbClr val="52656D"/>
                </a:solidFill>
                <a:latin typeface="Arial"/>
                <a:ea typeface="Arial"/>
                <a:cs typeface="Arial"/>
              </a:rPr>
              <a:t>Backup  /  20</a:t>
            </a:r>
          </a:p>
        </p:txBody>
      </p:sp>
      <p:graphicFrame>
        <p:nvGraphicFramePr>
          <p:cNvPr id="4" name="">
            <a:extLst xmlns:a="http://schemas.openxmlformats.org/drawingml/2006/main">
              <a:ext uri="{FF2B5EF4-FFF2-40B4-BE49-F238E27FC236}">
                <a16:creationId xmlns:a16="http://schemas.microsoft.com/office/drawing/2014/main" id="{D4DEBEB8-9DDA-4B50-8EF2-2C8156C5F654}"/>
              </a:ext>
            </a:extLst>
          </p:cNvPr>
          <p:cNvGraphicFramePr/>
          <p:nvPr/>
        </p:nvGraphicFramePr>
        <p:xfrm>
          <a:off xmlns:a="http://schemas.openxmlformats.org/drawingml/2006/main" x="647700" y="1419225"/>
          <a:ext xmlns:a="http://schemas.openxmlformats.org/drawingml/2006/main" cx="10896600" cy="4457700"/>
        </p:xfrm>
        <a:graphic xmlns:a="http://schemas.openxmlformats.org/drawingml/2006/main">
          <a:graphicData uri="http://schemas.openxmlformats.org/drawingml/2006/table">
            <a:tbl>
              <a:tblPr/>
              <a:tblGrid>
                <a:gridCol w="4572000"/>
                <a:gridCol w="2857500"/>
                <a:gridCol w="3467100"/>
              </a:tblGrid>
              <a:tr h="495300">
                <a:tc>
                  <a:txBody>
                    <a:bodyPr/>
                    <a:lstStyle/>
                    <a:p>
                      <a:r>
                        <a:rPr sz="1800" b="1">
                          <a:solidFill>
                            <a:srgbClr val="FFFFFF"/>
                          </a:solidFill>
                          <a:latin typeface="Arial"/>
                          <a:ea typeface="Arial"/>
                          <a:cs typeface="Arial"/>
                        </a:rPr>
                        <a:t>Pipeline</a:t>
                      </a:r>
                    </a:p>
                  </a:txBody>
                  <a:tcPr marL="95250" marR="95250" marT="85725" marB="57150" anchor="ctr">
                    <a:lnL w="6668">
                      <a:solidFill>
                        <a:srgbClr val="D9DFDF"/>
                      </a:solidFill>
                      <a:prstDash val="solid"/>
                    </a:lnL>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c>
                  <a:txBody>
                    <a:bodyPr/>
                    <a:lstStyle/>
                    <a:p>
                      <a:r>
                        <a:rPr sz="1800" b="1">
                          <a:solidFill>
                            <a:srgbClr val="FFFFFF"/>
                          </a:solidFill>
                          <a:latin typeface="Arial"/>
                          <a:ea typeface="Arial"/>
                          <a:cs typeface="Arial"/>
                        </a:rPr>
                        <a:t>Selected setting</a:t>
                      </a:r>
                    </a:p>
                  </a:txBody>
                  <a:tcPr marL="95250" marR="95250" marT="85725" marB="57150" anchor="ctr">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c>
                  <a:txBody>
                    <a:bodyPr/>
                    <a:lstStyle/>
                    <a:p>
                      <a:r>
                        <a:rPr sz="1800" b="1">
                          <a:solidFill>
                            <a:srgbClr val="FFFFFF"/>
                          </a:solidFill>
                          <a:latin typeface="Arial"/>
                          <a:ea typeface="Arial"/>
                          <a:cs typeface="Arial"/>
                        </a:rPr>
                        <a:t>Scaling</a:t>
                      </a:r>
                    </a:p>
                  </a:txBody>
                  <a:tcPr marL="95250" marR="95250" marT="85725" marB="57150" anchor="ctr">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r>
              <a:tr h="495300">
                <a:tc>
                  <a:txBody>
                    <a:bodyPr/>
                    <a:lstStyle/>
                    <a:p>
                      <a:r>
                        <a:rPr sz="1800">
                          <a:solidFill>
                            <a:srgbClr val="142F38"/>
                          </a:solidFill>
                          <a:latin typeface="Arial"/>
                          <a:ea typeface="Arial"/>
                          <a:cs typeface="Arial"/>
                        </a:rPr>
                        <a:t>Pixels + Logistic Regression</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C = 0.1</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StandardScaler</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495300">
                <a:tc>
                  <a:txBody>
                    <a:bodyPr/>
                    <a:lstStyle/>
                    <a:p>
                      <a:r>
                        <a:rPr sz="1800">
                          <a:solidFill>
                            <a:srgbClr val="142F38"/>
                          </a:solidFill>
                          <a:latin typeface="Arial"/>
                          <a:ea typeface="Arial"/>
                          <a:cs typeface="Arial"/>
                        </a:rPr>
                        <a:t>Pixels + kNN</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k = 5</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None</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495300">
                <a:tc>
                  <a:txBody>
                    <a:bodyPr/>
                    <a:lstStyle/>
                    <a:p>
                      <a:r>
                        <a:rPr sz="1800">
                          <a:solidFill>
                            <a:srgbClr val="142F38"/>
                          </a:solidFill>
                          <a:latin typeface="Arial"/>
                          <a:ea typeface="Arial"/>
                          <a:cs typeface="Arial"/>
                        </a:rPr>
                        <a:t>Pixels + Random Forest</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depth = None</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None</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495300">
                <a:tc>
                  <a:txBody>
                    <a:bodyPr/>
                    <a:lstStyle/>
                    <a:p>
                      <a:r>
                        <a:rPr sz="1800">
                          <a:solidFill>
                            <a:srgbClr val="142F38"/>
                          </a:solidFill>
                          <a:latin typeface="Arial"/>
                          <a:ea typeface="Arial"/>
                          <a:cs typeface="Arial"/>
                        </a:rPr>
                        <a:t>Pixels + RBF SVM</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C = 10</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StandardScaler</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495300">
                <a:tc>
                  <a:txBody>
                    <a:bodyPr/>
                    <a:lstStyle/>
                    <a:p>
                      <a:r>
                        <a:rPr sz="1800">
                          <a:solidFill>
                            <a:srgbClr val="142F38"/>
                          </a:solidFill>
                          <a:latin typeface="Arial"/>
                          <a:ea typeface="Arial"/>
                          <a:cs typeface="Arial"/>
                        </a:rPr>
                        <a:t>HOG + Logistic Regression</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C = 0.1</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StandardScaler</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495300">
                <a:tc>
                  <a:txBody>
                    <a:bodyPr/>
                    <a:lstStyle/>
                    <a:p>
                      <a:r>
                        <a:rPr sz="1800">
                          <a:solidFill>
                            <a:srgbClr val="142F38"/>
                          </a:solidFill>
                          <a:latin typeface="Arial"/>
                          <a:ea typeface="Arial"/>
                          <a:cs typeface="Arial"/>
                        </a:rPr>
                        <a:t>HOG + kNN</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k = 5</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StandardScaler</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495300">
                <a:tc>
                  <a:txBody>
                    <a:bodyPr/>
                    <a:lstStyle/>
                    <a:p>
                      <a:r>
                        <a:rPr sz="1800">
                          <a:solidFill>
                            <a:srgbClr val="142F38"/>
                          </a:solidFill>
                          <a:latin typeface="Arial"/>
                          <a:ea typeface="Arial"/>
                          <a:cs typeface="Arial"/>
                        </a:rPr>
                        <a:t>HOG + Random Forest</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depth = None</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None</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495300">
                <a:tc>
                  <a:txBody>
                    <a:bodyPr/>
                    <a:lstStyle/>
                    <a:p>
                      <a:r>
                        <a:rPr sz="1800">
                          <a:solidFill>
                            <a:srgbClr val="142F38"/>
                          </a:solidFill>
                          <a:latin typeface="Arial"/>
                          <a:ea typeface="Arial"/>
                          <a:cs typeface="Arial"/>
                        </a:rPr>
                        <a:t>HOG + RBF SVM</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C = 10</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800">
                          <a:solidFill>
                            <a:srgbClr val="142F38"/>
                          </a:solidFill>
                          <a:latin typeface="Arial"/>
                          <a:ea typeface="Arial"/>
                          <a:cs typeface="Arial"/>
                        </a:rPr>
                        <a:t>StandardScaler</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bl>
          </a:graphicData>
        </a:graphic>
      </p:graphicFrame>
      <p:sp>
        <p:nvSpPr>
          <p:cNvPr id="5" name="">
            <a:extLst xmlns:a="http://schemas.openxmlformats.org/drawingml/2006/main">
              <a:ext uri="{FF2B5EF4-FFF2-40B4-BE49-F238E27FC236}">
                <a16:creationId xmlns:a16="http://schemas.microsoft.com/office/drawing/2014/main" id="{A6A3B5B1-96D4-4944-BCA6-91DC7CC5552F}"/>
              </a:ext>
            </a:extLst>
          </p:cNvPr>
          <p:cNvSpPr>
            <a:spLocks xmlns:a="http://schemas.openxmlformats.org/drawingml/2006/main" noGrp="1"/>
          </p:cNvSpPr>
          <p:nvPr/>
        </p:nvSpPr>
        <p:spPr>
          <a:xfrm xmlns:a="http://schemas.openxmlformats.org/drawingml/2006/main">
            <a:off x="647700" y="6048375"/>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52656D"/>
                </a:solidFill>
                <a:latin typeface="Arial"/>
                <a:ea typeface="Arial"/>
                <a:cs typeface="Arial"/>
              </a:defRPr>
            </a:defPPr>
            <a:lvl1pPr>
              <a:defRPr sz="1650" b="0">
                <a:solidFill>
                  <a:srgbClr val="52656D"/>
                </a:solidFill>
                <a:latin typeface="Arial"/>
                <a:ea typeface="Arial"/>
                <a:cs typeface="Arial"/>
              </a:defRPr>
            </a:lvl1pPr>
            <a:lvl2pPr>
              <a:defRPr sz="1650" b="0">
                <a:solidFill>
                  <a:srgbClr val="52656D"/>
                </a:solidFill>
                <a:latin typeface="Arial"/>
                <a:ea typeface="Arial"/>
                <a:cs typeface="Arial"/>
              </a:defRPr>
            </a:lvl2pPr>
            <a:lvl3pPr>
              <a:defRPr sz="1650" b="0">
                <a:solidFill>
                  <a:srgbClr val="52656D"/>
                </a:solidFill>
                <a:latin typeface="Arial"/>
                <a:ea typeface="Arial"/>
                <a:cs typeface="Arial"/>
              </a:defRPr>
            </a:lvl3pPr>
            <a:lvl4pPr>
              <a:defRPr sz="1650" b="0">
                <a:solidFill>
                  <a:srgbClr val="52656D"/>
                </a:solidFill>
                <a:latin typeface="Arial"/>
                <a:ea typeface="Arial"/>
                <a:cs typeface="Arial"/>
              </a:defRPr>
            </a:lvl4pPr>
            <a:lvl5pPr>
              <a:defRPr sz="1650" b="0">
                <a:solidFill>
                  <a:srgbClr val="52656D"/>
                </a:solidFill>
                <a:latin typeface="Arial"/>
                <a:ea typeface="Arial"/>
                <a:cs typeface="Arial"/>
              </a:defRPr>
            </a:lvl5pPr>
            <a:lvl6pPr>
              <a:defRPr sz="1650" b="0">
                <a:solidFill>
                  <a:srgbClr val="52656D"/>
                </a:solidFill>
                <a:latin typeface="Arial"/>
                <a:ea typeface="Arial"/>
                <a:cs typeface="Arial"/>
              </a:defRPr>
            </a:lvl6pPr>
            <a:lvl7pPr>
              <a:defRPr sz="1650" b="0">
                <a:solidFill>
                  <a:srgbClr val="52656D"/>
                </a:solidFill>
                <a:latin typeface="Arial"/>
                <a:ea typeface="Arial"/>
                <a:cs typeface="Arial"/>
              </a:defRPr>
            </a:lvl7pPr>
            <a:lvl8pPr>
              <a:defRPr sz="1650" b="0">
                <a:solidFill>
                  <a:srgbClr val="52656D"/>
                </a:solidFill>
                <a:latin typeface="Arial"/>
                <a:ea typeface="Arial"/>
                <a:cs typeface="Arial"/>
              </a:defRPr>
            </a:lvl8pPr>
            <a:lvl9pPr>
              <a:defRPr sz="1650" b="0">
                <a:solidFill>
                  <a:srgbClr val="52656D"/>
                </a:solidFill>
                <a:latin typeface="Arial"/>
                <a:ea typeface="Arial"/>
                <a:cs typeface="Arial"/>
              </a:defRPr>
            </a:lvl9pPr>
          </a:lstStyle>
          <a:p xmlns:a="http://schemas.openxmlformats.org/drawingml/2006/main">
            <a:pPr>
              <a:defRPr sz="1650" b="0">
                <a:solidFill>
                  <a:srgbClr val="52656D"/>
                </a:solidFill>
                <a:latin typeface="Arial"/>
                <a:ea typeface="Arial"/>
                <a:cs typeface="Arial"/>
              </a:defRPr>
            </a:pPr>
            <a:r>
              <a:rPr sz="1650" b="0">
                <a:solidFill>
                  <a:srgbClr val="52656D"/>
                </a:solidFill>
                <a:latin typeface="Arial"/>
                <a:ea typeface="Arial"/>
                <a:cs typeface="Arial"/>
              </a:rPr>
              <a:t>Two candidates per feature/model pair. Fixed RF: 200 trees. Fixed SVM: RBF.</a:t>
            </a:r>
          </a:p>
        </p:txBody>
      </p:sp>
    </p:spTree>
    <p:extLst>
      <p:ext uri="{BB962C8B-B14F-4D97-AF65-F5344CB8AC3E}">
        <p14:creationId xmlns:p14="http://schemas.microsoft.com/office/powerpoint/2010/main" val="462509281"/>
      </p:ext>
    </p:extLst>
  </p:cSld>
</p:sld>
</file>

<file path=ppt/slides/slide2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CFB3773-CDEF-47FB-AA03-3AEC2F8398E2}"/>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42F38"/>
                </a:solidFill>
                <a:latin typeface="Arial"/>
                <a:ea typeface="Arial"/>
                <a:cs typeface="Arial"/>
              </a:defRPr>
            </a:defPPr>
            <a:lvl1pPr>
              <a:defRPr sz="3300" b="1">
                <a:solidFill>
                  <a:srgbClr val="142F38"/>
                </a:solidFill>
                <a:latin typeface="Arial"/>
                <a:ea typeface="Arial"/>
                <a:cs typeface="Arial"/>
              </a:defRPr>
            </a:lvl1pPr>
            <a:lvl2pPr>
              <a:defRPr sz="3300" b="1">
                <a:solidFill>
                  <a:srgbClr val="142F38"/>
                </a:solidFill>
                <a:latin typeface="Arial"/>
                <a:ea typeface="Arial"/>
                <a:cs typeface="Arial"/>
              </a:defRPr>
            </a:lvl2pPr>
            <a:lvl3pPr>
              <a:defRPr sz="3300" b="1">
                <a:solidFill>
                  <a:srgbClr val="142F38"/>
                </a:solidFill>
                <a:latin typeface="Arial"/>
                <a:ea typeface="Arial"/>
                <a:cs typeface="Arial"/>
              </a:defRPr>
            </a:lvl3pPr>
            <a:lvl4pPr>
              <a:defRPr sz="3300" b="1">
                <a:solidFill>
                  <a:srgbClr val="142F38"/>
                </a:solidFill>
                <a:latin typeface="Arial"/>
                <a:ea typeface="Arial"/>
                <a:cs typeface="Arial"/>
              </a:defRPr>
            </a:lvl4pPr>
            <a:lvl5pPr>
              <a:defRPr sz="3300" b="1">
                <a:solidFill>
                  <a:srgbClr val="142F38"/>
                </a:solidFill>
                <a:latin typeface="Arial"/>
                <a:ea typeface="Arial"/>
                <a:cs typeface="Arial"/>
              </a:defRPr>
            </a:lvl5pPr>
            <a:lvl6pPr>
              <a:defRPr sz="3300" b="1">
                <a:solidFill>
                  <a:srgbClr val="142F38"/>
                </a:solidFill>
                <a:latin typeface="Arial"/>
                <a:ea typeface="Arial"/>
                <a:cs typeface="Arial"/>
              </a:defRPr>
            </a:lvl6pPr>
            <a:lvl7pPr>
              <a:defRPr sz="3300" b="1">
                <a:solidFill>
                  <a:srgbClr val="142F38"/>
                </a:solidFill>
                <a:latin typeface="Arial"/>
                <a:ea typeface="Arial"/>
                <a:cs typeface="Arial"/>
              </a:defRPr>
            </a:lvl7pPr>
            <a:lvl8pPr>
              <a:defRPr sz="3300" b="1">
                <a:solidFill>
                  <a:srgbClr val="142F38"/>
                </a:solidFill>
                <a:latin typeface="Arial"/>
                <a:ea typeface="Arial"/>
                <a:cs typeface="Arial"/>
              </a:defRPr>
            </a:lvl8pPr>
            <a:lvl9pPr>
              <a:defRPr sz="3300" b="1">
                <a:solidFill>
                  <a:srgbClr val="142F38"/>
                </a:solidFill>
                <a:latin typeface="Arial"/>
                <a:ea typeface="Arial"/>
                <a:cs typeface="Arial"/>
              </a:defRPr>
            </a:lvl9pPr>
          </a:lstStyle>
          <a:p xmlns:a="http://schemas.openxmlformats.org/drawingml/2006/main">
            <a:pPr>
              <a:defRPr sz="3300" b="1">
                <a:solidFill>
                  <a:srgbClr val="142F38"/>
                </a:solidFill>
                <a:latin typeface="Arial"/>
                <a:ea typeface="Arial"/>
                <a:cs typeface="Arial"/>
              </a:defRPr>
            </a:pPr>
            <a:r>
              <a:rPr sz="3300" b="1">
                <a:solidFill>
                  <a:srgbClr val="142F38"/>
                </a:solidFill>
                <a:latin typeface="Arial"/>
                <a:ea typeface="Arial"/>
                <a:cs typeface="Arial"/>
              </a:rPr>
              <a:t>Model size and complexity</a:t>
            </a:r>
          </a:p>
        </p:txBody>
      </p:sp>
      <p:sp>
        <p:nvSpPr>
          <p:cNvPr id="3" name="">
            <a:extLst xmlns:a="http://schemas.openxmlformats.org/drawingml/2006/main">
              <a:ext uri="{FF2B5EF4-FFF2-40B4-BE49-F238E27FC236}">
                <a16:creationId xmlns:a16="http://schemas.microsoft.com/office/drawing/2014/main" id="{7DA46AF5-45D6-4627-909C-213353C1A905}"/>
              </a:ext>
            </a:extLst>
          </p:cNvPr>
          <p:cNvSpPr>
            <a:spLocks xmlns:a="http://schemas.openxmlformats.org/drawingml/2006/main" noGrp="1"/>
          </p:cNvSpPr>
          <p:nvPr/>
        </p:nvSpPr>
        <p:spPr>
          <a:xfrm xmlns:a="http://schemas.openxmlformats.org/drawingml/2006/main">
            <a:off x="10001250" y="644842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56D"/>
                </a:solidFill>
                <a:latin typeface="Arial"/>
                <a:ea typeface="Arial"/>
                <a:cs typeface="Arial"/>
              </a:defRPr>
            </a:defPPr>
            <a:lvl1pPr>
              <a:defRPr sz="1200" b="0">
                <a:solidFill>
                  <a:srgbClr val="52656D"/>
                </a:solidFill>
                <a:latin typeface="Arial"/>
                <a:ea typeface="Arial"/>
                <a:cs typeface="Arial"/>
              </a:defRPr>
            </a:lvl1pPr>
            <a:lvl2pPr>
              <a:defRPr sz="1200" b="0">
                <a:solidFill>
                  <a:srgbClr val="52656D"/>
                </a:solidFill>
                <a:latin typeface="Arial"/>
                <a:ea typeface="Arial"/>
                <a:cs typeface="Arial"/>
              </a:defRPr>
            </a:lvl2pPr>
            <a:lvl3pPr>
              <a:defRPr sz="1200" b="0">
                <a:solidFill>
                  <a:srgbClr val="52656D"/>
                </a:solidFill>
                <a:latin typeface="Arial"/>
                <a:ea typeface="Arial"/>
                <a:cs typeface="Arial"/>
              </a:defRPr>
            </a:lvl3pPr>
            <a:lvl4pPr>
              <a:defRPr sz="1200" b="0">
                <a:solidFill>
                  <a:srgbClr val="52656D"/>
                </a:solidFill>
                <a:latin typeface="Arial"/>
                <a:ea typeface="Arial"/>
                <a:cs typeface="Arial"/>
              </a:defRPr>
            </a:lvl4pPr>
            <a:lvl5pPr>
              <a:defRPr sz="1200" b="0">
                <a:solidFill>
                  <a:srgbClr val="52656D"/>
                </a:solidFill>
                <a:latin typeface="Arial"/>
                <a:ea typeface="Arial"/>
                <a:cs typeface="Arial"/>
              </a:defRPr>
            </a:lvl5pPr>
            <a:lvl6pPr>
              <a:defRPr sz="1200" b="0">
                <a:solidFill>
                  <a:srgbClr val="52656D"/>
                </a:solidFill>
                <a:latin typeface="Arial"/>
                <a:ea typeface="Arial"/>
                <a:cs typeface="Arial"/>
              </a:defRPr>
            </a:lvl6pPr>
            <a:lvl7pPr>
              <a:defRPr sz="1200" b="0">
                <a:solidFill>
                  <a:srgbClr val="52656D"/>
                </a:solidFill>
                <a:latin typeface="Arial"/>
                <a:ea typeface="Arial"/>
                <a:cs typeface="Arial"/>
              </a:defRPr>
            </a:lvl7pPr>
            <a:lvl8pPr>
              <a:defRPr sz="1200" b="0">
                <a:solidFill>
                  <a:srgbClr val="52656D"/>
                </a:solidFill>
                <a:latin typeface="Arial"/>
                <a:ea typeface="Arial"/>
                <a:cs typeface="Arial"/>
              </a:defRPr>
            </a:lvl8pPr>
            <a:lvl9pPr>
              <a:defRPr sz="1200" b="0">
                <a:solidFill>
                  <a:srgbClr val="52656D"/>
                </a:solidFill>
                <a:latin typeface="Arial"/>
                <a:ea typeface="Arial"/>
                <a:cs typeface="Arial"/>
              </a:defRPr>
            </a:lvl9pPr>
          </a:lstStyle>
          <a:p xmlns:a="http://schemas.openxmlformats.org/drawingml/2006/main">
            <a:pPr>
              <a:defRPr sz="1200" b="0">
                <a:solidFill>
                  <a:srgbClr val="52656D"/>
                </a:solidFill>
                <a:latin typeface="Arial"/>
                <a:ea typeface="Arial"/>
                <a:cs typeface="Arial"/>
              </a:defRPr>
            </a:pPr>
            <a:r>
              <a:rPr sz="1200" b="0">
                <a:solidFill>
                  <a:srgbClr val="52656D"/>
                </a:solidFill>
                <a:latin typeface="Arial"/>
                <a:ea typeface="Arial"/>
                <a:cs typeface="Arial"/>
              </a:rPr>
              <a:t>Backup  /  21</a:t>
            </a:r>
          </a:p>
        </p:txBody>
      </p:sp>
      <p:graphicFrame>
        <p:nvGraphicFramePr>
          <p:cNvPr id="4" name="">
            <a:extLst xmlns:a="http://schemas.openxmlformats.org/drawingml/2006/main">
              <a:ext uri="{FF2B5EF4-FFF2-40B4-BE49-F238E27FC236}">
                <a16:creationId xmlns:a16="http://schemas.microsoft.com/office/drawing/2014/main" id="{B71B1D94-6D9A-45C8-969A-B8BD7CF1B0F2}"/>
              </a:ext>
            </a:extLst>
          </p:cNvPr>
          <p:cNvGraphicFramePr/>
          <p:nvPr/>
        </p:nvGraphicFramePr>
        <p:xfrm>
          <a:off xmlns:a="http://schemas.openxmlformats.org/drawingml/2006/main" x="476250" y="1419225"/>
          <a:ext xmlns:a="http://schemas.openxmlformats.org/drawingml/2006/main" cx="11239500" cy="4457700"/>
        </p:xfrm>
        <a:graphic xmlns:a="http://schemas.openxmlformats.org/drawingml/2006/main">
          <a:graphicData uri="http://schemas.openxmlformats.org/drawingml/2006/table">
            <a:tbl>
              <a:tblPr/>
              <a:tblGrid>
                <a:gridCol w="3810000"/>
                <a:gridCol w="6191250"/>
                <a:gridCol w="1238250"/>
              </a:tblGrid>
              <a:tr h="495300">
                <a:tc>
                  <a:txBody>
                    <a:bodyPr/>
                    <a:lstStyle/>
                    <a:p>
                      <a:r>
                        <a:rPr sz="1650" b="1">
                          <a:solidFill>
                            <a:srgbClr val="FFFFFF"/>
                          </a:solidFill>
                          <a:latin typeface="Arial"/>
                          <a:ea typeface="Arial"/>
                          <a:cs typeface="Arial"/>
                        </a:rPr>
                        <a:t>Pipeline</a:t>
                      </a:r>
                    </a:p>
                  </a:txBody>
                  <a:tcPr marL="95250" marR="95250" marT="85725" marB="57150" anchor="ctr">
                    <a:lnL w="6668">
                      <a:solidFill>
                        <a:srgbClr val="D9DFDF"/>
                      </a:solidFill>
                      <a:prstDash val="solid"/>
                    </a:lnL>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c>
                  <a:txBody>
                    <a:bodyPr/>
                    <a:lstStyle/>
                    <a:p>
                      <a:r>
                        <a:rPr sz="1650" b="1">
                          <a:solidFill>
                            <a:srgbClr val="FFFFFF"/>
                          </a:solidFill>
                          <a:latin typeface="Arial"/>
                          <a:ea typeface="Arial"/>
                          <a:cs typeface="Arial"/>
                        </a:rPr>
                        <a:t>Model-specific quantity</a:t>
                      </a:r>
                    </a:p>
                  </a:txBody>
                  <a:tcPr marL="95250" marR="95250" marT="85725" marB="57150" anchor="ctr">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c>
                  <a:txBody>
                    <a:bodyPr/>
                    <a:lstStyle/>
                    <a:p>
                      <a:r>
                        <a:rPr sz="1650" b="1">
                          <a:solidFill>
                            <a:srgbClr val="FFFFFF"/>
                          </a:solidFill>
                          <a:latin typeface="Arial"/>
                          <a:ea typeface="Arial"/>
                          <a:cs typeface="Arial"/>
                        </a:rPr>
                        <a:t>MiB</a:t>
                      </a:r>
                    </a:p>
                  </a:txBody>
                  <a:tcPr marL="95250" marR="95250" marT="85725" marB="57150" anchor="ctr">
                    <a:lnR w="6668">
                      <a:solidFill>
                        <a:srgbClr val="D9DFDF"/>
                      </a:solidFill>
                      <a:prstDash val="solid"/>
                    </a:lnR>
                    <a:lnT w="6668">
                      <a:solidFill>
                        <a:srgbClr val="D9DFDF"/>
                      </a:solidFill>
                      <a:prstDash val="solid"/>
                    </a:lnT>
                    <a:lnB w="6668">
                      <a:solidFill>
                        <a:srgbClr val="D9DFDF"/>
                      </a:solidFill>
                      <a:prstDash val="solid"/>
                    </a:lnB>
                    <a:solidFill>
                      <a:srgbClr val="142F38"/>
                    </a:solidFill>
                  </a:tcPr>
                </a:tc>
              </a:tr>
              <a:tr h="495300">
                <a:tc>
                  <a:txBody>
                    <a:bodyPr/>
                    <a:lstStyle/>
                    <a:p>
                      <a:r>
                        <a:rPr sz="1650">
                          <a:solidFill>
                            <a:srgbClr val="142F38"/>
                          </a:solidFill>
                          <a:latin typeface="Arial"/>
                          <a:ea typeface="Arial"/>
                          <a:cs typeface="Arial"/>
                        </a:rPr>
                        <a:t>Pixels + Logistic Regression</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650">
                          <a:solidFill>
                            <a:srgbClr val="142F38"/>
                          </a:solidFill>
                          <a:latin typeface="Arial"/>
                          <a:ea typeface="Arial"/>
                          <a:cs typeface="Arial"/>
                        </a:rPr>
                        <a:t>7,850 weights + bias</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650">
                          <a:solidFill>
                            <a:srgbClr val="142F38"/>
                          </a:solidFill>
                          <a:latin typeface="Arial"/>
                          <a:ea typeface="Arial"/>
                          <a:cs typeface="Arial"/>
                        </a:rPr>
                        <a:t>0.05</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495300">
                <a:tc>
                  <a:txBody>
                    <a:bodyPr/>
                    <a:lstStyle/>
                    <a:p>
                      <a:r>
                        <a:rPr sz="1650">
                          <a:solidFill>
                            <a:srgbClr val="142F38"/>
                          </a:solidFill>
                          <a:latin typeface="Arial"/>
                          <a:ea typeface="Arial"/>
                          <a:cs typeface="Arial"/>
                        </a:rPr>
                        <a:t>Pixels + kNN</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650">
                          <a:solidFill>
                            <a:srgbClr val="142F38"/>
                          </a:solidFill>
                          <a:latin typeface="Arial"/>
                          <a:ea typeface="Arial"/>
                          <a:cs typeface="Arial"/>
                        </a:rPr>
                        <a:t>37,632,000 stored feature scalars</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650">
                          <a:solidFill>
                            <a:srgbClr val="142F38"/>
                          </a:solidFill>
                          <a:latin typeface="Arial"/>
                          <a:ea typeface="Arial"/>
                          <a:cs typeface="Arial"/>
                        </a:rPr>
                        <a:t>31.10</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495300">
                <a:tc>
                  <a:txBody>
                    <a:bodyPr/>
                    <a:lstStyle/>
                    <a:p>
                      <a:r>
                        <a:rPr sz="1650">
                          <a:solidFill>
                            <a:srgbClr val="142F38"/>
                          </a:solidFill>
                          <a:latin typeface="Arial"/>
                          <a:ea typeface="Arial"/>
                          <a:cs typeface="Arial"/>
                        </a:rPr>
                        <a:t>Pixels + Random Forest</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650">
                          <a:solidFill>
                            <a:srgbClr val="142F38"/>
                          </a:solidFill>
                          <a:latin typeface="Arial"/>
                          <a:ea typeface="Arial"/>
                          <a:cs typeface="Arial"/>
                        </a:rPr>
                        <a:t>1,633,648 tree nodes</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650">
                          <a:solidFill>
                            <a:srgbClr val="142F38"/>
                          </a:solidFill>
                          <a:latin typeface="Arial"/>
                          <a:ea typeface="Arial"/>
                          <a:cs typeface="Arial"/>
                        </a:rPr>
                        <a:t>35.01</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495300">
                <a:tc>
                  <a:txBody>
                    <a:bodyPr/>
                    <a:lstStyle/>
                    <a:p>
                      <a:r>
                        <a:rPr sz="1650">
                          <a:solidFill>
                            <a:srgbClr val="142F38"/>
                          </a:solidFill>
                          <a:latin typeface="Arial"/>
                          <a:ea typeface="Arial"/>
                          <a:cs typeface="Arial"/>
                        </a:rPr>
                        <a:t>Pixels + RBF SVM</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650">
                          <a:solidFill>
                            <a:srgbClr val="142F38"/>
                          </a:solidFill>
                          <a:latin typeface="Arial"/>
                          <a:ea typeface="Arial"/>
                          <a:cs typeface="Arial"/>
                        </a:rPr>
                        <a:t>13,725,289 decision-array scalars</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650">
                          <a:solidFill>
                            <a:srgbClr val="142F38"/>
                          </a:solidFill>
                          <a:latin typeface="Arial"/>
                          <a:ea typeface="Arial"/>
                          <a:cs typeface="Arial"/>
                        </a:rPr>
                        <a:t>39.34</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495300">
                <a:tc>
                  <a:txBody>
                    <a:bodyPr/>
                    <a:lstStyle/>
                    <a:p>
                      <a:r>
                        <a:rPr sz="1650">
                          <a:solidFill>
                            <a:srgbClr val="142F38"/>
                          </a:solidFill>
                          <a:latin typeface="Arial"/>
                          <a:ea typeface="Arial"/>
                          <a:cs typeface="Arial"/>
                        </a:rPr>
                        <a:t>HOG + Logistic Regression</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650">
                          <a:solidFill>
                            <a:srgbClr val="142F38"/>
                          </a:solidFill>
                          <a:latin typeface="Arial"/>
                          <a:ea typeface="Arial"/>
                          <a:cs typeface="Arial"/>
                        </a:rPr>
                        <a:t>12,970 weights + bias</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650">
                          <a:solidFill>
                            <a:srgbClr val="142F38"/>
                          </a:solidFill>
                          <a:latin typeface="Arial"/>
                          <a:ea typeface="Arial"/>
                          <a:cs typeface="Arial"/>
                        </a:rPr>
                        <a:t>0.08</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495300">
                <a:tc>
                  <a:txBody>
                    <a:bodyPr/>
                    <a:lstStyle/>
                    <a:p>
                      <a:r>
                        <a:rPr sz="1650">
                          <a:solidFill>
                            <a:srgbClr val="142F38"/>
                          </a:solidFill>
                          <a:latin typeface="Arial"/>
                          <a:ea typeface="Arial"/>
                          <a:cs typeface="Arial"/>
                        </a:rPr>
                        <a:t>HOG + kNN</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650">
                          <a:solidFill>
                            <a:srgbClr val="142F38"/>
                          </a:solidFill>
                          <a:latin typeface="Arial"/>
                          <a:ea typeface="Arial"/>
                          <a:cs typeface="Arial"/>
                        </a:rPr>
                        <a:t>62,208,000 stored feature scalars</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650">
                          <a:solidFill>
                            <a:srgbClr val="142F38"/>
                          </a:solidFill>
                          <a:latin typeface="Arial"/>
                          <a:ea typeface="Arial"/>
                          <a:cs typeface="Arial"/>
                        </a:rPr>
                        <a:t>147.27</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495300">
                <a:tc>
                  <a:txBody>
                    <a:bodyPr/>
                    <a:lstStyle/>
                    <a:p>
                      <a:r>
                        <a:rPr sz="1650">
                          <a:solidFill>
                            <a:srgbClr val="142F38"/>
                          </a:solidFill>
                          <a:latin typeface="Arial"/>
                          <a:ea typeface="Arial"/>
                          <a:cs typeface="Arial"/>
                        </a:rPr>
                        <a:t>HOG + Random Forest</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650">
                          <a:solidFill>
                            <a:srgbClr val="142F38"/>
                          </a:solidFill>
                          <a:latin typeface="Arial"/>
                          <a:ea typeface="Arial"/>
                          <a:cs typeface="Arial"/>
                        </a:rPr>
                        <a:t>1,828,070 tree nodes</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650">
                          <a:solidFill>
                            <a:srgbClr val="142F38"/>
                          </a:solidFill>
                          <a:latin typeface="Arial"/>
                          <a:ea typeface="Arial"/>
                          <a:cs typeface="Arial"/>
                        </a:rPr>
                        <a:t>40.24</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r h="495300">
                <a:tc>
                  <a:txBody>
                    <a:bodyPr/>
                    <a:lstStyle/>
                    <a:p>
                      <a:r>
                        <a:rPr sz="1650">
                          <a:solidFill>
                            <a:srgbClr val="142F38"/>
                          </a:solidFill>
                          <a:latin typeface="Arial"/>
                          <a:ea typeface="Arial"/>
                          <a:cs typeface="Arial"/>
                        </a:rPr>
                        <a:t>HOG + RBF SVM</a:t>
                      </a:r>
                    </a:p>
                  </a:txBody>
                  <a:tcPr marL="95250" marR="95250" marT="85725" marB="57150" anchor="ctr">
                    <a:lnL w="6668">
                      <a:solidFill>
                        <a:srgbClr val="D9DFDF"/>
                      </a:solidFill>
                      <a:prstDash val="solid"/>
                    </a:lnL>
                    <a:lnR w="6668">
                      <a:solidFill>
                        <a:srgbClr val="D9DFDF"/>
                      </a:solidFill>
                      <a:prstDash val="solid"/>
                    </a:lnR>
                    <a:lnB w="6668">
                      <a:solidFill>
                        <a:srgbClr val="D9DFDF"/>
                      </a:solidFill>
                      <a:prstDash val="solid"/>
                    </a:lnB>
                    <a:solidFill>
                      <a:srgbClr val="F7F6F2"/>
                    </a:solidFill>
                  </a:tcPr>
                </a:tc>
                <a:tc>
                  <a:txBody>
                    <a:bodyPr/>
                    <a:lstStyle/>
                    <a:p>
                      <a:r>
                        <a:rPr sz="1650">
                          <a:solidFill>
                            <a:srgbClr val="142F38"/>
                          </a:solidFill>
                          <a:latin typeface="Arial"/>
                          <a:ea typeface="Arial"/>
                          <a:cs typeface="Arial"/>
                        </a:rPr>
                        <a:t>27,295,425 decision-array scalars</a:t>
                      </a:r>
                    </a:p>
                  </a:txBody>
                  <a:tcPr marL="95250" marR="95250" marT="85725" marB="57150" anchor="ctr">
                    <a:lnR w="6668">
                      <a:solidFill>
                        <a:srgbClr val="D9DFDF"/>
                      </a:solidFill>
                      <a:prstDash val="solid"/>
                    </a:lnR>
                    <a:lnB w="6668">
                      <a:solidFill>
                        <a:srgbClr val="D9DFDF"/>
                      </a:solidFill>
                      <a:prstDash val="solid"/>
                    </a:lnB>
                    <a:solidFill>
                      <a:srgbClr val="F7F6F2"/>
                    </a:solidFill>
                  </a:tcPr>
                </a:tc>
                <a:tc>
                  <a:txBody>
                    <a:bodyPr/>
                    <a:lstStyle/>
                    <a:p>
                      <a:r>
                        <a:rPr sz="1650">
                          <a:solidFill>
                            <a:srgbClr val="142F38"/>
                          </a:solidFill>
                          <a:latin typeface="Arial"/>
                          <a:ea typeface="Arial"/>
                          <a:cs typeface="Arial"/>
                        </a:rPr>
                        <a:t>87.82</a:t>
                      </a:r>
                    </a:p>
                  </a:txBody>
                  <a:tcPr marL="95250" marR="95250" marT="85725" marB="57150" anchor="ctr">
                    <a:lnR w="6668">
                      <a:solidFill>
                        <a:srgbClr val="D9DFDF"/>
                      </a:solidFill>
                      <a:prstDash val="solid"/>
                    </a:lnR>
                    <a:lnB w="6668">
                      <a:solidFill>
                        <a:srgbClr val="D9DFDF"/>
                      </a:solidFill>
                      <a:prstDash val="solid"/>
                    </a:lnB>
                    <a:solidFill>
                      <a:srgbClr val="F7F6F2"/>
                    </a:solidFill>
                  </a:tcPr>
                </a:tc>
              </a:tr>
            </a:tbl>
          </a:graphicData>
        </a:graphic>
      </p:graphicFrame>
      <p:sp>
        <p:nvSpPr>
          <p:cNvPr id="5" name="">
            <a:extLst xmlns:a="http://schemas.openxmlformats.org/drawingml/2006/main">
              <a:ext uri="{FF2B5EF4-FFF2-40B4-BE49-F238E27FC236}">
                <a16:creationId xmlns:a16="http://schemas.microsoft.com/office/drawing/2014/main" id="{FF2C3139-7270-4E19-AB14-9D061EDCED77}"/>
              </a:ext>
            </a:extLst>
          </p:cNvPr>
          <p:cNvSpPr>
            <a:spLocks xmlns:a="http://schemas.openxmlformats.org/drawingml/2006/main" noGrp="1"/>
          </p:cNvSpPr>
          <p:nvPr/>
        </p:nvSpPr>
        <p:spPr>
          <a:xfrm xmlns:a="http://schemas.openxmlformats.org/drawingml/2006/main">
            <a:off x="647700" y="6057900"/>
            <a:ext cx="10763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52656D"/>
                </a:solidFill>
                <a:latin typeface="Arial"/>
                <a:ea typeface="Arial"/>
                <a:cs typeface="Arial"/>
              </a:defRPr>
            </a:defPPr>
            <a:lvl1pPr>
              <a:defRPr sz="1650" b="0">
                <a:solidFill>
                  <a:srgbClr val="52656D"/>
                </a:solidFill>
                <a:latin typeface="Arial"/>
                <a:ea typeface="Arial"/>
                <a:cs typeface="Arial"/>
              </a:defRPr>
            </a:lvl1pPr>
            <a:lvl2pPr>
              <a:defRPr sz="1650" b="0">
                <a:solidFill>
                  <a:srgbClr val="52656D"/>
                </a:solidFill>
                <a:latin typeface="Arial"/>
                <a:ea typeface="Arial"/>
                <a:cs typeface="Arial"/>
              </a:defRPr>
            </a:lvl2pPr>
            <a:lvl3pPr>
              <a:defRPr sz="1650" b="0">
                <a:solidFill>
                  <a:srgbClr val="52656D"/>
                </a:solidFill>
                <a:latin typeface="Arial"/>
                <a:ea typeface="Arial"/>
                <a:cs typeface="Arial"/>
              </a:defRPr>
            </a:lvl3pPr>
            <a:lvl4pPr>
              <a:defRPr sz="1650" b="0">
                <a:solidFill>
                  <a:srgbClr val="52656D"/>
                </a:solidFill>
                <a:latin typeface="Arial"/>
                <a:ea typeface="Arial"/>
                <a:cs typeface="Arial"/>
              </a:defRPr>
            </a:lvl4pPr>
            <a:lvl5pPr>
              <a:defRPr sz="1650" b="0">
                <a:solidFill>
                  <a:srgbClr val="52656D"/>
                </a:solidFill>
                <a:latin typeface="Arial"/>
                <a:ea typeface="Arial"/>
                <a:cs typeface="Arial"/>
              </a:defRPr>
            </a:lvl5pPr>
            <a:lvl6pPr>
              <a:defRPr sz="1650" b="0">
                <a:solidFill>
                  <a:srgbClr val="52656D"/>
                </a:solidFill>
                <a:latin typeface="Arial"/>
                <a:ea typeface="Arial"/>
                <a:cs typeface="Arial"/>
              </a:defRPr>
            </a:lvl6pPr>
            <a:lvl7pPr>
              <a:defRPr sz="1650" b="0">
                <a:solidFill>
                  <a:srgbClr val="52656D"/>
                </a:solidFill>
                <a:latin typeface="Arial"/>
                <a:ea typeface="Arial"/>
                <a:cs typeface="Arial"/>
              </a:defRPr>
            </a:lvl7pPr>
            <a:lvl8pPr>
              <a:defRPr sz="1650" b="0">
                <a:solidFill>
                  <a:srgbClr val="52656D"/>
                </a:solidFill>
                <a:latin typeface="Arial"/>
                <a:ea typeface="Arial"/>
                <a:cs typeface="Arial"/>
              </a:defRPr>
            </a:lvl8pPr>
            <a:lvl9pPr>
              <a:defRPr sz="1650" b="0">
                <a:solidFill>
                  <a:srgbClr val="52656D"/>
                </a:solidFill>
                <a:latin typeface="Arial"/>
                <a:ea typeface="Arial"/>
                <a:cs typeface="Arial"/>
              </a:defRPr>
            </a:lvl9pPr>
          </a:lstStyle>
          <a:p xmlns:a="http://schemas.openxmlformats.org/drawingml/2006/main">
            <a:pPr>
              <a:defRPr sz="1650" b="0">
                <a:solidFill>
                  <a:srgbClr val="52656D"/>
                </a:solidFill>
                <a:latin typeface="Arial"/>
                <a:ea typeface="Arial"/>
                <a:cs typeface="Arial"/>
              </a:defRPr>
            </a:pPr>
            <a:r>
              <a:rPr sz="1650" b="0">
                <a:solidFill>
                  <a:srgbClr val="52656D"/>
                </a:solidFill>
                <a:latin typeface="Arial"/>
                <a:ea typeface="Arial"/>
                <a:cs typeface="Arial"/>
              </a:rPr>
              <a:t>Counts differ by model family. MiB is serialized size, not peak memory.</a:t>
            </a:r>
          </a:p>
        </p:txBody>
      </p:sp>
    </p:spTree>
    <p:extLst>
      <p:ext uri="{BB962C8B-B14F-4D97-AF65-F5344CB8AC3E}">
        <p14:creationId xmlns:p14="http://schemas.microsoft.com/office/powerpoint/2010/main" val="1257758117"/>
      </p:ext>
    </p:extLst>
  </p:cSld>
</p:sld>
</file>

<file path=ppt/slides/slide2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AEADD1A-F3BB-4CB9-830B-409E90CBF301}"/>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42F38"/>
                </a:solidFill>
                <a:latin typeface="Arial"/>
                <a:ea typeface="Arial"/>
                <a:cs typeface="Arial"/>
              </a:defRPr>
            </a:defPPr>
            <a:lvl1pPr>
              <a:defRPr sz="3300" b="1">
                <a:solidFill>
                  <a:srgbClr val="142F38"/>
                </a:solidFill>
                <a:latin typeface="Arial"/>
                <a:ea typeface="Arial"/>
                <a:cs typeface="Arial"/>
              </a:defRPr>
            </a:lvl1pPr>
            <a:lvl2pPr>
              <a:defRPr sz="3300" b="1">
                <a:solidFill>
                  <a:srgbClr val="142F38"/>
                </a:solidFill>
                <a:latin typeface="Arial"/>
                <a:ea typeface="Arial"/>
                <a:cs typeface="Arial"/>
              </a:defRPr>
            </a:lvl2pPr>
            <a:lvl3pPr>
              <a:defRPr sz="3300" b="1">
                <a:solidFill>
                  <a:srgbClr val="142F38"/>
                </a:solidFill>
                <a:latin typeface="Arial"/>
                <a:ea typeface="Arial"/>
                <a:cs typeface="Arial"/>
              </a:defRPr>
            </a:lvl3pPr>
            <a:lvl4pPr>
              <a:defRPr sz="3300" b="1">
                <a:solidFill>
                  <a:srgbClr val="142F38"/>
                </a:solidFill>
                <a:latin typeface="Arial"/>
                <a:ea typeface="Arial"/>
                <a:cs typeface="Arial"/>
              </a:defRPr>
            </a:lvl4pPr>
            <a:lvl5pPr>
              <a:defRPr sz="3300" b="1">
                <a:solidFill>
                  <a:srgbClr val="142F38"/>
                </a:solidFill>
                <a:latin typeface="Arial"/>
                <a:ea typeface="Arial"/>
                <a:cs typeface="Arial"/>
              </a:defRPr>
            </a:lvl5pPr>
            <a:lvl6pPr>
              <a:defRPr sz="3300" b="1">
                <a:solidFill>
                  <a:srgbClr val="142F38"/>
                </a:solidFill>
                <a:latin typeface="Arial"/>
                <a:ea typeface="Arial"/>
                <a:cs typeface="Arial"/>
              </a:defRPr>
            </a:lvl6pPr>
            <a:lvl7pPr>
              <a:defRPr sz="3300" b="1">
                <a:solidFill>
                  <a:srgbClr val="142F38"/>
                </a:solidFill>
                <a:latin typeface="Arial"/>
                <a:ea typeface="Arial"/>
                <a:cs typeface="Arial"/>
              </a:defRPr>
            </a:lvl7pPr>
            <a:lvl8pPr>
              <a:defRPr sz="3300" b="1">
                <a:solidFill>
                  <a:srgbClr val="142F38"/>
                </a:solidFill>
                <a:latin typeface="Arial"/>
                <a:ea typeface="Arial"/>
                <a:cs typeface="Arial"/>
              </a:defRPr>
            </a:lvl8pPr>
            <a:lvl9pPr>
              <a:defRPr sz="3300" b="1">
                <a:solidFill>
                  <a:srgbClr val="142F38"/>
                </a:solidFill>
                <a:latin typeface="Arial"/>
                <a:ea typeface="Arial"/>
                <a:cs typeface="Arial"/>
              </a:defRPr>
            </a:lvl9pPr>
          </a:lstStyle>
          <a:p xmlns:a="http://schemas.openxmlformats.org/drawingml/2006/main">
            <a:pPr>
              <a:defRPr sz="3300" b="1">
                <a:solidFill>
                  <a:srgbClr val="142F38"/>
                </a:solidFill>
                <a:latin typeface="Arial"/>
                <a:ea typeface="Arial"/>
                <a:cs typeface="Arial"/>
              </a:defRPr>
            </a:pPr>
            <a:r>
              <a:rPr sz="3300" b="1">
                <a:solidFill>
                  <a:srgbClr val="142F38"/>
                </a:solidFill>
                <a:latin typeface="Arial"/>
                <a:ea typeface="Arial"/>
                <a:cs typeface="Arial"/>
              </a:rPr>
              <a:t>Viva and saved-prediction demo</a:t>
            </a:r>
          </a:p>
        </p:txBody>
      </p:sp>
      <p:sp>
        <p:nvSpPr>
          <p:cNvPr id="3" name="">
            <a:extLst xmlns:a="http://schemas.openxmlformats.org/drawingml/2006/main">
              <a:ext uri="{FF2B5EF4-FFF2-40B4-BE49-F238E27FC236}">
                <a16:creationId xmlns:a16="http://schemas.microsoft.com/office/drawing/2014/main" id="{12081A31-9BBD-43C4-A866-14536CE1C047}"/>
              </a:ext>
            </a:extLst>
          </p:cNvPr>
          <p:cNvSpPr>
            <a:spLocks xmlns:a="http://schemas.openxmlformats.org/drawingml/2006/main" noGrp="1"/>
          </p:cNvSpPr>
          <p:nvPr/>
        </p:nvSpPr>
        <p:spPr>
          <a:xfrm xmlns:a="http://schemas.openxmlformats.org/drawingml/2006/main">
            <a:off x="10001250" y="644842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2656D"/>
                </a:solidFill>
                <a:latin typeface="Arial"/>
                <a:ea typeface="Arial"/>
                <a:cs typeface="Arial"/>
              </a:defRPr>
            </a:defPPr>
            <a:lvl1pPr>
              <a:defRPr sz="1200" b="0">
                <a:solidFill>
                  <a:srgbClr val="52656D"/>
                </a:solidFill>
                <a:latin typeface="Arial"/>
                <a:ea typeface="Arial"/>
                <a:cs typeface="Arial"/>
              </a:defRPr>
            </a:lvl1pPr>
            <a:lvl2pPr>
              <a:defRPr sz="1200" b="0">
                <a:solidFill>
                  <a:srgbClr val="52656D"/>
                </a:solidFill>
                <a:latin typeface="Arial"/>
                <a:ea typeface="Arial"/>
                <a:cs typeface="Arial"/>
              </a:defRPr>
            </a:lvl2pPr>
            <a:lvl3pPr>
              <a:defRPr sz="1200" b="0">
                <a:solidFill>
                  <a:srgbClr val="52656D"/>
                </a:solidFill>
                <a:latin typeface="Arial"/>
                <a:ea typeface="Arial"/>
                <a:cs typeface="Arial"/>
              </a:defRPr>
            </a:lvl3pPr>
            <a:lvl4pPr>
              <a:defRPr sz="1200" b="0">
                <a:solidFill>
                  <a:srgbClr val="52656D"/>
                </a:solidFill>
                <a:latin typeface="Arial"/>
                <a:ea typeface="Arial"/>
                <a:cs typeface="Arial"/>
              </a:defRPr>
            </a:lvl4pPr>
            <a:lvl5pPr>
              <a:defRPr sz="1200" b="0">
                <a:solidFill>
                  <a:srgbClr val="52656D"/>
                </a:solidFill>
                <a:latin typeface="Arial"/>
                <a:ea typeface="Arial"/>
                <a:cs typeface="Arial"/>
              </a:defRPr>
            </a:lvl5pPr>
            <a:lvl6pPr>
              <a:defRPr sz="1200" b="0">
                <a:solidFill>
                  <a:srgbClr val="52656D"/>
                </a:solidFill>
                <a:latin typeface="Arial"/>
                <a:ea typeface="Arial"/>
                <a:cs typeface="Arial"/>
              </a:defRPr>
            </a:lvl6pPr>
            <a:lvl7pPr>
              <a:defRPr sz="1200" b="0">
                <a:solidFill>
                  <a:srgbClr val="52656D"/>
                </a:solidFill>
                <a:latin typeface="Arial"/>
                <a:ea typeface="Arial"/>
                <a:cs typeface="Arial"/>
              </a:defRPr>
            </a:lvl7pPr>
            <a:lvl8pPr>
              <a:defRPr sz="1200" b="0">
                <a:solidFill>
                  <a:srgbClr val="52656D"/>
                </a:solidFill>
                <a:latin typeface="Arial"/>
                <a:ea typeface="Arial"/>
                <a:cs typeface="Arial"/>
              </a:defRPr>
            </a:lvl8pPr>
            <a:lvl9pPr>
              <a:defRPr sz="1200" b="0">
                <a:solidFill>
                  <a:srgbClr val="52656D"/>
                </a:solidFill>
                <a:latin typeface="Arial"/>
                <a:ea typeface="Arial"/>
                <a:cs typeface="Arial"/>
              </a:defRPr>
            </a:lvl9pPr>
          </a:lstStyle>
          <a:p xmlns:a="http://schemas.openxmlformats.org/drawingml/2006/main">
            <a:pPr>
              <a:defRPr sz="1200" b="0">
                <a:solidFill>
                  <a:srgbClr val="52656D"/>
                </a:solidFill>
                <a:latin typeface="Arial"/>
                <a:ea typeface="Arial"/>
                <a:cs typeface="Arial"/>
              </a:defRPr>
            </a:pPr>
            <a:r>
              <a:rPr sz="1200" b="0">
                <a:solidFill>
                  <a:srgbClr val="52656D"/>
                </a:solidFill>
                <a:latin typeface="Arial"/>
                <a:ea typeface="Arial"/>
                <a:cs typeface="Arial"/>
              </a:rPr>
              <a:t>Backup  /  22</a:t>
            </a:r>
          </a:p>
        </p:txBody>
      </p:sp>
      <p:sp>
        <p:nvSpPr>
          <p:cNvPr id="4" name="">
            <a:extLst xmlns:a="http://schemas.openxmlformats.org/drawingml/2006/main">
              <a:ext uri="{FF2B5EF4-FFF2-40B4-BE49-F238E27FC236}">
                <a16:creationId xmlns:a16="http://schemas.microsoft.com/office/drawing/2014/main" id="{2FEDC5A4-4D2C-4F64-B587-B60EE097584D}"/>
              </a:ext>
            </a:extLst>
          </p:cNvPr>
          <p:cNvSpPr>
            <a:spLocks xmlns:a="http://schemas.openxmlformats.org/drawingml/2006/main" noGrp="1"/>
          </p:cNvSpPr>
          <p:nvPr/>
        </p:nvSpPr>
        <p:spPr>
          <a:xfrm xmlns:a="http://schemas.openxmlformats.org/drawingml/2006/main">
            <a:off x="647700" y="16192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087F82"/>
                </a:solidFill>
                <a:latin typeface="Arial"/>
                <a:ea typeface="Arial"/>
                <a:cs typeface="Arial"/>
              </a:defRPr>
            </a:defPPr>
            <a:lvl1pPr>
              <a:defRPr sz="2250" b="1">
                <a:solidFill>
                  <a:srgbClr val="087F82"/>
                </a:solidFill>
                <a:latin typeface="Arial"/>
                <a:ea typeface="Arial"/>
                <a:cs typeface="Arial"/>
              </a:defRPr>
            </a:lvl1pPr>
            <a:lvl2pPr>
              <a:defRPr sz="2250" b="1">
                <a:solidFill>
                  <a:srgbClr val="087F82"/>
                </a:solidFill>
                <a:latin typeface="Arial"/>
                <a:ea typeface="Arial"/>
                <a:cs typeface="Arial"/>
              </a:defRPr>
            </a:lvl2pPr>
            <a:lvl3pPr>
              <a:defRPr sz="2250" b="1">
                <a:solidFill>
                  <a:srgbClr val="087F82"/>
                </a:solidFill>
                <a:latin typeface="Arial"/>
                <a:ea typeface="Arial"/>
                <a:cs typeface="Arial"/>
              </a:defRPr>
            </a:lvl3pPr>
            <a:lvl4pPr>
              <a:defRPr sz="2250" b="1">
                <a:solidFill>
                  <a:srgbClr val="087F82"/>
                </a:solidFill>
                <a:latin typeface="Arial"/>
                <a:ea typeface="Arial"/>
                <a:cs typeface="Arial"/>
              </a:defRPr>
            </a:lvl4pPr>
            <a:lvl5pPr>
              <a:defRPr sz="2250" b="1">
                <a:solidFill>
                  <a:srgbClr val="087F82"/>
                </a:solidFill>
                <a:latin typeface="Arial"/>
                <a:ea typeface="Arial"/>
                <a:cs typeface="Arial"/>
              </a:defRPr>
            </a:lvl5pPr>
            <a:lvl6pPr>
              <a:defRPr sz="2250" b="1">
                <a:solidFill>
                  <a:srgbClr val="087F82"/>
                </a:solidFill>
                <a:latin typeface="Arial"/>
                <a:ea typeface="Arial"/>
                <a:cs typeface="Arial"/>
              </a:defRPr>
            </a:lvl6pPr>
            <a:lvl7pPr>
              <a:defRPr sz="2250" b="1">
                <a:solidFill>
                  <a:srgbClr val="087F82"/>
                </a:solidFill>
                <a:latin typeface="Arial"/>
                <a:ea typeface="Arial"/>
                <a:cs typeface="Arial"/>
              </a:defRPr>
            </a:lvl7pPr>
            <a:lvl8pPr>
              <a:defRPr sz="2250" b="1">
                <a:solidFill>
                  <a:srgbClr val="087F82"/>
                </a:solidFill>
                <a:latin typeface="Arial"/>
                <a:ea typeface="Arial"/>
                <a:cs typeface="Arial"/>
              </a:defRPr>
            </a:lvl8pPr>
            <a:lvl9pPr>
              <a:defRPr sz="2250" b="1">
                <a:solidFill>
                  <a:srgbClr val="087F82"/>
                </a:solidFill>
                <a:latin typeface="Arial"/>
                <a:ea typeface="Arial"/>
                <a:cs typeface="Arial"/>
              </a:defRPr>
            </a:lvl9pPr>
          </a:lstStyle>
          <a:p xmlns:a="http://schemas.openxmlformats.org/drawingml/2006/main">
            <a:pPr>
              <a:defRPr sz="2250" b="1">
                <a:solidFill>
                  <a:srgbClr val="087F82"/>
                </a:solidFill>
                <a:latin typeface="Arial"/>
                <a:ea typeface="Arial"/>
                <a:cs typeface="Arial"/>
              </a:defRPr>
            </a:pPr>
            <a:r>
              <a:rPr sz="2250" b="1">
                <a:solidFill>
                  <a:srgbClr val="087F82"/>
                </a:solidFill>
                <a:latin typeface="Arial"/>
                <a:ea typeface="Arial"/>
                <a:cs typeface="Arial"/>
              </a:rPr>
              <a:t>Core questions</a:t>
            </a:r>
          </a:p>
        </p:txBody>
      </p:sp>
      <p:sp>
        <p:nvSpPr>
          <p:cNvPr id="5" name="">
            <a:extLst xmlns:a="http://schemas.openxmlformats.org/drawingml/2006/main">
              <a:ext uri="{FF2B5EF4-FFF2-40B4-BE49-F238E27FC236}">
                <a16:creationId xmlns:a16="http://schemas.microsoft.com/office/drawing/2014/main" id="{CCA36366-CD05-4713-AFF2-AB49598F8953}"/>
              </a:ext>
            </a:extLst>
          </p:cNvPr>
          <p:cNvSpPr>
            <a:spLocks xmlns:a="http://schemas.openxmlformats.org/drawingml/2006/main" noGrp="1"/>
          </p:cNvSpPr>
          <p:nvPr/>
        </p:nvSpPr>
        <p:spPr>
          <a:xfrm xmlns:a="http://schemas.openxmlformats.org/drawingml/2006/main">
            <a:off x="647700" y="2162175"/>
            <a:ext cx="4953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42F38"/>
                </a:solidFill>
                <a:latin typeface="Arial"/>
                <a:ea typeface="Arial"/>
                <a:cs typeface="Arial"/>
              </a:defRPr>
            </a:defPPr>
            <a:lvl1pPr>
              <a:defRPr sz="1950" b="0">
                <a:solidFill>
                  <a:srgbClr val="142F38"/>
                </a:solidFill>
                <a:latin typeface="Arial"/>
                <a:ea typeface="Arial"/>
                <a:cs typeface="Arial"/>
              </a:defRPr>
            </a:lvl1pPr>
            <a:lvl2pPr>
              <a:defRPr sz="1950" b="0">
                <a:solidFill>
                  <a:srgbClr val="142F38"/>
                </a:solidFill>
                <a:latin typeface="Arial"/>
                <a:ea typeface="Arial"/>
                <a:cs typeface="Arial"/>
              </a:defRPr>
            </a:lvl2pPr>
            <a:lvl3pPr>
              <a:defRPr sz="1950" b="0">
                <a:solidFill>
                  <a:srgbClr val="142F38"/>
                </a:solidFill>
                <a:latin typeface="Arial"/>
                <a:ea typeface="Arial"/>
                <a:cs typeface="Arial"/>
              </a:defRPr>
            </a:lvl3pPr>
            <a:lvl4pPr>
              <a:defRPr sz="1950" b="0">
                <a:solidFill>
                  <a:srgbClr val="142F38"/>
                </a:solidFill>
                <a:latin typeface="Arial"/>
                <a:ea typeface="Arial"/>
                <a:cs typeface="Arial"/>
              </a:defRPr>
            </a:lvl4pPr>
            <a:lvl5pPr>
              <a:defRPr sz="1950" b="0">
                <a:solidFill>
                  <a:srgbClr val="142F38"/>
                </a:solidFill>
                <a:latin typeface="Arial"/>
                <a:ea typeface="Arial"/>
                <a:cs typeface="Arial"/>
              </a:defRPr>
            </a:lvl5pPr>
            <a:lvl6pPr>
              <a:defRPr sz="1950" b="0">
                <a:solidFill>
                  <a:srgbClr val="142F38"/>
                </a:solidFill>
                <a:latin typeface="Arial"/>
                <a:ea typeface="Arial"/>
                <a:cs typeface="Arial"/>
              </a:defRPr>
            </a:lvl6pPr>
            <a:lvl7pPr>
              <a:defRPr sz="1950" b="0">
                <a:solidFill>
                  <a:srgbClr val="142F38"/>
                </a:solidFill>
                <a:latin typeface="Arial"/>
                <a:ea typeface="Arial"/>
                <a:cs typeface="Arial"/>
              </a:defRPr>
            </a:lvl7pPr>
            <a:lvl8pPr>
              <a:defRPr sz="1950" b="0">
                <a:solidFill>
                  <a:srgbClr val="142F38"/>
                </a:solidFill>
                <a:latin typeface="Arial"/>
                <a:ea typeface="Arial"/>
                <a:cs typeface="Arial"/>
              </a:defRPr>
            </a:lvl8pPr>
            <a:lvl9pPr>
              <a:defRPr sz="1950" b="0">
                <a:solidFill>
                  <a:srgbClr val="142F38"/>
                </a:solidFill>
                <a:latin typeface="Arial"/>
                <a:ea typeface="Arial"/>
                <a:cs typeface="Arial"/>
              </a:defRPr>
            </a:lvl9pPr>
          </a:lstStyle>
          <a:p xmlns:a="http://schemas.openxmlformats.org/drawingml/2006/main">
            <a:pPr>
              <a:defRPr sz="1950" b="0">
                <a:solidFill>
                  <a:srgbClr val="142F38"/>
                </a:solidFill>
                <a:latin typeface="Arial"/>
                <a:ea typeface="Arial"/>
                <a:cs typeface="Arial"/>
              </a:defRPr>
            </a:pPr>
            <a:r>
              <a:rPr sz="1950" b="0">
                <a:solidFill>
                  <a:srgbClr val="142F38"/>
                </a:solidFill>
                <a:latin typeface="Arial"/>
                <a:ea typeface="Arial"/>
                <a:cs typeface="Arial"/>
              </a:rPr>
              <a:t>Why keep validation separate?</a:t>
            </a:r>
          </a:p>
          <a:p xmlns:a="http://schemas.openxmlformats.org/drawingml/2006/main">
            <a:pPr>
              <a:defRPr sz="1950" b="0">
                <a:solidFill>
                  <a:srgbClr val="142F38"/>
                </a:solidFill>
                <a:latin typeface="Arial"/>
                <a:ea typeface="Arial"/>
                <a:cs typeface="Arial"/>
              </a:defRPr>
            </a:pPr>
            <a:r>
              <a:rPr sz="1950" b="0">
                <a:solidFill>
                  <a:srgbClr val="142F38"/>
                </a:solidFill>
                <a:latin typeface="Arial"/>
                <a:ea typeface="Arial"/>
                <a:cs typeface="Arial"/>
              </a:rPr>
              <a:t>Why is HOG 1,296-dimensional?</a:t>
            </a:r>
          </a:p>
          <a:p xmlns:a="http://schemas.openxmlformats.org/drawingml/2006/main">
            <a:pPr>
              <a:defRPr sz="1950" b="0">
                <a:solidFill>
                  <a:srgbClr val="142F38"/>
                </a:solidFill>
                <a:latin typeface="Arial"/>
                <a:ea typeface="Arial"/>
                <a:cs typeface="Arial"/>
              </a:defRPr>
            </a:pPr>
            <a:r>
              <a:rPr sz="1950" b="0">
                <a:solidFill>
                  <a:srgbClr val="142F38"/>
                </a:solidFill>
                <a:latin typeface="Arial"/>
                <a:ea typeface="Arial"/>
                <a:cs typeface="Arial"/>
              </a:rPr>
              <a:t>Why can scaling change kNN?</a:t>
            </a:r>
          </a:p>
        </p:txBody>
      </p:sp>
      <p:sp>
        <p:nvSpPr>
          <p:cNvPr id="6" name="">
            <a:extLst xmlns:a="http://schemas.openxmlformats.org/drawingml/2006/main">
              <a:ext uri="{FF2B5EF4-FFF2-40B4-BE49-F238E27FC236}">
                <a16:creationId xmlns:a16="http://schemas.microsoft.com/office/drawing/2014/main" id="{27F08494-FA6A-4845-8D4D-E1C982B43757}"/>
              </a:ext>
            </a:extLst>
          </p:cNvPr>
          <p:cNvSpPr>
            <a:spLocks xmlns:a="http://schemas.openxmlformats.org/drawingml/2006/main" noGrp="1"/>
          </p:cNvSpPr>
          <p:nvPr/>
        </p:nvSpPr>
        <p:spPr>
          <a:xfrm xmlns:a="http://schemas.openxmlformats.org/drawingml/2006/main">
            <a:off x="6457950" y="16192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087F82"/>
                </a:solidFill>
                <a:latin typeface="Arial"/>
                <a:ea typeface="Arial"/>
                <a:cs typeface="Arial"/>
              </a:defRPr>
            </a:defPPr>
            <a:lvl1pPr>
              <a:defRPr sz="2250" b="1">
                <a:solidFill>
                  <a:srgbClr val="087F82"/>
                </a:solidFill>
                <a:latin typeface="Arial"/>
                <a:ea typeface="Arial"/>
                <a:cs typeface="Arial"/>
              </a:defRPr>
            </a:lvl1pPr>
            <a:lvl2pPr>
              <a:defRPr sz="2250" b="1">
                <a:solidFill>
                  <a:srgbClr val="087F82"/>
                </a:solidFill>
                <a:latin typeface="Arial"/>
                <a:ea typeface="Arial"/>
                <a:cs typeface="Arial"/>
              </a:defRPr>
            </a:lvl2pPr>
            <a:lvl3pPr>
              <a:defRPr sz="2250" b="1">
                <a:solidFill>
                  <a:srgbClr val="087F82"/>
                </a:solidFill>
                <a:latin typeface="Arial"/>
                <a:ea typeface="Arial"/>
                <a:cs typeface="Arial"/>
              </a:defRPr>
            </a:lvl3pPr>
            <a:lvl4pPr>
              <a:defRPr sz="2250" b="1">
                <a:solidFill>
                  <a:srgbClr val="087F82"/>
                </a:solidFill>
                <a:latin typeface="Arial"/>
                <a:ea typeface="Arial"/>
                <a:cs typeface="Arial"/>
              </a:defRPr>
            </a:lvl4pPr>
            <a:lvl5pPr>
              <a:defRPr sz="2250" b="1">
                <a:solidFill>
                  <a:srgbClr val="087F82"/>
                </a:solidFill>
                <a:latin typeface="Arial"/>
                <a:ea typeface="Arial"/>
                <a:cs typeface="Arial"/>
              </a:defRPr>
            </a:lvl5pPr>
            <a:lvl6pPr>
              <a:defRPr sz="2250" b="1">
                <a:solidFill>
                  <a:srgbClr val="087F82"/>
                </a:solidFill>
                <a:latin typeface="Arial"/>
                <a:ea typeface="Arial"/>
                <a:cs typeface="Arial"/>
              </a:defRPr>
            </a:lvl6pPr>
            <a:lvl7pPr>
              <a:defRPr sz="2250" b="1">
                <a:solidFill>
                  <a:srgbClr val="087F82"/>
                </a:solidFill>
                <a:latin typeface="Arial"/>
                <a:ea typeface="Arial"/>
                <a:cs typeface="Arial"/>
              </a:defRPr>
            </a:lvl7pPr>
            <a:lvl8pPr>
              <a:defRPr sz="2250" b="1">
                <a:solidFill>
                  <a:srgbClr val="087F82"/>
                </a:solidFill>
                <a:latin typeface="Arial"/>
                <a:ea typeface="Arial"/>
                <a:cs typeface="Arial"/>
              </a:defRPr>
            </a:lvl8pPr>
            <a:lvl9pPr>
              <a:defRPr sz="2250" b="1">
                <a:solidFill>
                  <a:srgbClr val="087F82"/>
                </a:solidFill>
                <a:latin typeface="Arial"/>
                <a:ea typeface="Arial"/>
                <a:cs typeface="Arial"/>
              </a:defRPr>
            </a:lvl9pPr>
          </a:lstStyle>
          <a:p xmlns:a="http://schemas.openxmlformats.org/drawingml/2006/main">
            <a:pPr>
              <a:defRPr sz="2250" b="1">
                <a:solidFill>
                  <a:srgbClr val="087F82"/>
                </a:solidFill>
                <a:latin typeface="Arial"/>
                <a:ea typeface="Arial"/>
                <a:cs typeface="Arial"/>
              </a:defRPr>
            </a:pPr>
            <a:r>
              <a:rPr sz="2250" b="1">
                <a:solidFill>
                  <a:srgbClr val="087F82"/>
                </a:solidFill>
                <a:latin typeface="Arial"/>
                <a:ea typeface="Arial"/>
                <a:cs typeface="Arial"/>
              </a:rPr>
              <a:t>Offline demonstration</a:t>
            </a:r>
          </a:p>
        </p:txBody>
      </p:sp>
      <p:sp>
        <p:nvSpPr>
          <p:cNvPr id="7" name="">
            <a:extLst xmlns:a="http://schemas.openxmlformats.org/drawingml/2006/main">
              <a:ext uri="{FF2B5EF4-FFF2-40B4-BE49-F238E27FC236}">
                <a16:creationId xmlns:a16="http://schemas.microsoft.com/office/drawing/2014/main" id="{DD87180B-F04B-455B-B28C-6C5726EFD2A2}"/>
              </a:ext>
            </a:extLst>
          </p:cNvPr>
          <p:cNvSpPr>
            <a:spLocks xmlns:a="http://schemas.openxmlformats.org/drawingml/2006/main" noGrp="1"/>
          </p:cNvSpPr>
          <p:nvPr/>
        </p:nvSpPr>
        <p:spPr>
          <a:xfrm xmlns:a="http://schemas.openxmlformats.org/drawingml/2006/main">
            <a:off x="6457950" y="2162175"/>
            <a:ext cx="4953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42F38"/>
                </a:solidFill>
                <a:latin typeface="Arial"/>
                <a:ea typeface="Arial"/>
                <a:cs typeface="Arial"/>
              </a:defRPr>
            </a:defPPr>
            <a:lvl1pPr>
              <a:defRPr sz="1950" b="0">
                <a:solidFill>
                  <a:srgbClr val="142F38"/>
                </a:solidFill>
                <a:latin typeface="Arial"/>
                <a:ea typeface="Arial"/>
                <a:cs typeface="Arial"/>
              </a:defRPr>
            </a:lvl1pPr>
            <a:lvl2pPr>
              <a:defRPr sz="1950" b="0">
                <a:solidFill>
                  <a:srgbClr val="142F38"/>
                </a:solidFill>
                <a:latin typeface="Arial"/>
                <a:ea typeface="Arial"/>
                <a:cs typeface="Arial"/>
              </a:defRPr>
            </a:lvl2pPr>
            <a:lvl3pPr>
              <a:defRPr sz="1950" b="0">
                <a:solidFill>
                  <a:srgbClr val="142F38"/>
                </a:solidFill>
                <a:latin typeface="Arial"/>
                <a:ea typeface="Arial"/>
                <a:cs typeface="Arial"/>
              </a:defRPr>
            </a:lvl3pPr>
            <a:lvl4pPr>
              <a:defRPr sz="1950" b="0">
                <a:solidFill>
                  <a:srgbClr val="142F38"/>
                </a:solidFill>
                <a:latin typeface="Arial"/>
                <a:ea typeface="Arial"/>
                <a:cs typeface="Arial"/>
              </a:defRPr>
            </a:lvl4pPr>
            <a:lvl5pPr>
              <a:defRPr sz="1950" b="0">
                <a:solidFill>
                  <a:srgbClr val="142F38"/>
                </a:solidFill>
                <a:latin typeface="Arial"/>
                <a:ea typeface="Arial"/>
                <a:cs typeface="Arial"/>
              </a:defRPr>
            </a:lvl5pPr>
            <a:lvl6pPr>
              <a:defRPr sz="1950" b="0">
                <a:solidFill>
                  <a:srgbClr val="142F38"/>
                </a:solidFill>
                <a:latin typeface="Arial"/>
                <a:ea typeface="Arial"/>
                <a:cs typeface="Arial"/>
              </a:defRPr>
            </a:lvl6pPr>
            <a:lvl7pPr>
              <a:defRPr sz="1950" b="0">
                <a:solidFill>
                  <a:srgbClr val="142F38"/>
                </a:solidFill>
                <a:latin typeface="Arial"/>
                <a:ea typeface="Arial"/>
                <a:cs typeface="Arial"/>
              </a:defRPr>
            </a:lvl7pPr>
            <a:lvl8pPr>
              <a:defRPr sz="1950" b="0">
                <a:solidFill>
                  <a:srgbClr val="142F38"/>
                </a:solidFill>
                <a:latin typeface="Arial"/>
                <a:ea typeface="Arial"/>
                <a:cs typeface="Arial"/>
              </a:defRPr>
            </a:lvl8pPr>
            <a:lvl9pPr>
              <a:defRPr sz="1950" b="0">
                <a:solidFill>
                  <a:srgbClr val="142F38"/>
                </a:solidFill>
                <a:latin typeface="Arial"/>
                <a:ea typeface="Arial"/>
                <a:cs typeface="Arial"/>
              </a:defRPr>
            </a:lvl9pPr>
          </a:lstStyle>
          <a:p xmlns:a="http://schemas.openxmlformats.org/drawingml/2006/main">
            <a:pPr>
              <a:defRPr sz="1950" b="0">
                <a:solidFill>
                  <a:srgbClr val="142F38"/>
                </a:solidFill>
                <a:latin typeface="Arial"/>
                <a:ea typeface="Arial"/>
                <a:cs typeface="Arial"/>
              </a:defRPr>
            </a:pPr>
            <a:r>
              <a:rPr sz="1950" b="0">
                <a:solidFill>
                  <a:srgbClr val="142F38"/>
                </a:solidFill>
                <a:latin typeface="Arial"/>
                <a:ea typeface="Arial"/>
                <a:cs typeface="Arial"/>
              </a:rPr>
              <a:t>Open the executed notebook.</a:t>
            </a:r>
          </a:p>
          <a:p xmlns:a="http://schemas.openxmlformats.org/drawingml/2006/main">
            <a:pPr>
              <a:defRPr sz="1950" b="0">
                <a:solidFill>
                  <a:srgbClr val="142F38"/>
                </a:solidFill>
                <a:latin typeface="Arial"/>
                <a:ea typeface="Arial"/>
                <a:cs typeface="Arial"/>
              </a:defRPr>
            </a:pPr>
            <a:r>
              <a:rPr sz="1950" b="0">
                <a:solidFill>
                  <a:srgbClr val="142F38"/>
                </a:solidFill>
                <a:latin typeface="Arial"/>
                <a:ea typeface="Arial"/>
                <a:cs typeface="Arial"/>
              </a:rPr>
              <a:t>Inspect original test ID 0.</a:t>
            </a:r>
          </a:p>
          <a:p xmlns:a="http://schemas.openxmlformats.org/drawingml/2006/main">
            <a:pPr>
              <a:defRPr sz="1950" b="0">
                <a:solidFill>
                  <a:srgbClr val="142F38"/>
                </a:solidFill>
                <a:latin typeface="Arial"/>
                <a:ea typeface="Arial"/>
                <a:cs typeface="Arial"/>
              </a:defRPr>
            </a:pPr>
            <a:r>
              <a:rPr sz="1950" b="0">
                <a:solidFill>
                  <a:srgbClr val="142F38"/>
                </a:solidFill>
                <a:latin typeface="Arial"/>
                <a:ea typeface="Arial"/>
                <a:cs typeface="Arial"/>
              </a:rPr>
              <a:t>Recompute a saved metric.</a:t>
            </a:r>
          </a:p>
        </p:txBody>
      </p:sp>
      <p:sp>
        <p:nvSpPr>
          <p:cNvPr id="8" name="">
            <a:extLst xmlns:a="http://schemas.openxmlformats.org/drawingml/2006/main">
              <a:ext uri="{FF2B5EF4-FFF2-40B4-BE49-F238E27FC236}">
                <a16:creationId xmlns:a16="http://schemas.microsoft.com/office/drawing/2014/main" id="{DC0AD1EC-464E-4F4A-A64D-0C74A65E18EC}"/>
              </a:ext>
            </a:extLst>
          </p:cNvPr>
          <p:cNvSpPr>
            <a:spLocks xmlns:a="http://schemas.openxmlformats.org/drawingml/2006/main" noGrp="1"/>
          </p:cNvSpPr>
          <p:nvPr/>
        </p:nvSpPr>
        <p:spPr>
          <a:xfrm xmlns:a="http://schemas.openxmlformats.org/drawingml/2006/main">
            <a:off x="647700" y="4781550"/>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850" b="1">
                <a:solidFill>
                  <a:srgbClr val="087F82"/>
                </a:solidFill>
                <a:latin typeface="Arial"/>
                <a:ea typeface="Arial"/>
                <a:cs typeface="Arial"/>
              </a:defRPr>
            </a:defPPr>
            <a:lvl1pPr>
              <a:defRPr sz="2850" b="1">
                <a:solidFill>
                  <a:srgbClr val="087F82"/>
                </a:solidFill>
                <a:latin typeface="Arial"/>
                <a:ea typeface="Arial"/>
                <a:cs typeface="Arial"/>
              </a:defRPr>
            </a:lvl1pPr>
            <a:lvl2pPr>
              <a:defRPr sz="2850" b="1">
                <a:solidFill>
                  <a:srgbClr val="087F82"/>
                </a:solidFill>
                <a:latin typeface="Arial"/>
                <a:ea typeface="Arial"/>
                <a:cs typeface="Arial"/>
              </a:defRPr>
            </a:lvl2pPr>
            <a:lvl3pPr>
              <a:defRPr sz="2850" b="1">
                <a:solidFill>
                  <a:srgbClr val="087F82"/>
                </a:solidFill>
                <a:latin typeface="Arial"/>
                <a:ea typeface="Arial"/>
                <a:cs typeface="Arial"/>
              </a:defRPr>
            </a:lvl3pPr>
            <a:lvl4pPr>
              <a:defRPr sz="2850" b="1">
                <a:solidFill>
                  <a:srgbClr val="087F82"/>
                </a:solidFill>
                <a:latin typeface="Arial"/>
                <a:ea typeface="Arial"/>
                <a:cs typeface="Arial"/>
              </a:defRPr>
            </a:lvl4pPr>
            <a:lvl5pPr>
              <a:defRPr sz="2850" b="1">
                <a:solidFill>
                  <a:srgbClr val="087F82"/>
                </a:solidFill>
                <a:latin typeface="Arial"/>
                <a:ea typeface="Arial"/>
                <a:cs typeface="Arial"/>
              </a:defRPr>
            </a:lvl5pPr>
            <a:lvl6pPr>
              <a:defRPr sz="2850" b="1">
                <a:solidFill>
                  <a:srgbClr val="087F82"/>
                </a:solidFill>
                <a:latin typeface="Arial"/>
                <a:ea typeface="Arial"/>
                <a:cs typeface="Arial"/>
              </a:defRPr>
            </a:lvl6pPr>
            <a:lvl7pPr>
              <a:defRPr sz="2850" b="1">
                <a:solidFill>
                  <a:srgbClr val="087F82"/>
                </a:solidFill>
                <a:latin typeface="Arial"/>
                <a:ea typeface="Arial"/>
                <a:cs typeface="Arial"/>
              </a:defRPr>
            </a:lvl7pPr>
            <a:lvl8pPr>
              <a:defRPr sz="2850" b="1">
                <a:solidFill>
                  <a:srgbClr val="087F82"/>
                </a:solidFill>
                <a:latin typeface="Arial"/>
                <a:ea typeface="Arial"/>
                <a:cs typeface="Arial"/>
              </a:defRPr>
            </a:lvl8pPr>
            <a:lvl9pPr>
              <a:defRPr sz="2850" b="1">
                <a:solidFill>
                  <a:srgbClr val="087F82"/>
                </a:solidFill>
                <a:latin typeface="Arial"/>
                <a:ea typeface="Arial"/>
                <a:cs typeface="Arial"/>
              </a:defRPr>
            </a:lvl9pPr>
          </a:lstStyle>
          <a:p xmlns:a="http://schemas.openxmlformats.org/drawingml/2006/main">
            <a:pPr>
              <a:defRPr sz="2850" b="1">
                <a:solidFill>
                  <a:srgbClr val="087F82"/>
                </a:solidFill>
                <a:latin typeface="Arial"/>
                <a:ea typeface="Arial"/>
                <a:cs typeface="Arial"/>
              </a:defRPr>
            </a:pPr>
            <a:r>
              <a:rPr sz="2850" b="1">
                <a:solidFill>
                  <a:srgbClr val="087F82"/>
                </a:solidFill>
                <a:latin typeface="Arial"/>
                <a:ea typeface="Arial"/>
                <a:cs typeface="Arial"/>
              </a:rPr>
              <a:t>Explain one error and one limitation in your own words</a:t>
            </a:r>
          </a:p>
        </p:txBody>
      </p:sp>
    </p:spTree>
    <p:extLst>
      <p:ext uri="{BB962C8B-B14F-4D97-AF65-F5344CB8AC3E}">
        <p14:creationId xmlns:p14="http://schemas.microsoft.com/office/powerpoint/2010/main" val="6137197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2026-10-27T19:17:06.5190000Z</dcterms:created>
  <dcterms:modified xsi:type="dcterms:W3CDTF">2026-10-27T19:17:06.5190000Z</dcterms:modified>
</coreProperties>
</file>